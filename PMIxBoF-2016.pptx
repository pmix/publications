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  <p:sldMasterId id="2147483793" r:id="rId2"/>
  </p:sldMasterIdLst>
  <p:notesMasterIdLst>
    <p:notesMasterId r:id="rId37"/>
  </p:notesMasterIdLst>
  <p:sldIdLst>
    <p:sldId id="256" r:id="rId3"/>
    <p:sldId id="265" r:id="rId4"/>
    <p:sldId id="274" r:id="rId5"/>
    <p:sldId id="268" r:id="rId6"/>
    <p:sldId id="269" r:id="rId7"/>
    <p:sldId id="286" r:id="rId8"/>
    <p:sldId id="270" r:id="rId9"/>
    <p:sldId id="271" r:id="rId10"/>
    <p:sldId id="302" r:id="rId11"/>
    <p:sldId id="296" r:id="rId12"/>
    <p:sldId id="272" r:id="rId13"/>
    <p:sldId id="266" r:id="rId14"/>
    <p:sldId id="309" r:id="rId15"/>
    <p:sldId id="310" r:id="rId16"/>
    <p:sldId id="287" r:id="rId17"/>
    <p:sldId id="311" r:id="rId18"/>
    <p:sldId id="312" r:id="rId19"/>
    <p:sldId id="313" r:id="rId20"/>
    <p:sldId id="314" r:id="rId21"/>
    <p:sldId id="315" r:id="rId22"/>
    <p:sldId id="281" r:id="rId23"/>
    <p:sldId id="276" r:id="rId24"/>
    <p:sldId id="282" r:id="rId25"/>
    <p:sldId id="280" r:id="rId26"/>
    <p:sldId id="291" r:id="rId27"/>
    <p:sldId id="284" r:id="rId28"/>
    <p:sldId id="285" r:id="rId29"/>
    <p:sldId id="316" r:id="rId30"/>
    <p:sldId id="293" r:id="rId31"/>
    <p:sldId id="267" r:id="rId32"/>
    <p:sldId id="289" r:id="rId33"/>
    <p:sldId id="290" r:id="rId34"/>
    <p:sldId id="288" r:id="rId35"/>
    <p:sldId id="292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9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EBCD"/>
    <a:srgbClr val="FFFFCC"/>
    <a:srgbClr val="F0FFFF"/>
    <a:srgbClr val="E8FFFF"/>
    <a:srgbClr val="EAFFCD"/>
    <a:srgbClr val="33CC33"/>
    <a:srgbClr val="FFFF66"/>
    <a:srgbClr val="FF6699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94"/>
    <p:restoredTop sz="95958" autoAdjust="0"/>
  </p:normalViewPr>
  <p:slideViewPr>
    <p:cSldViewPr showGuides="1">
      <p:cViewPr varScale="1">
        <p:scale>
          <a:sx n="107" d="100"/>
          <a:sy n="107" d="100"/>
        </p:scale>
        <p:origin x="1328" y="168"/>
      </p:cViewPr>
      <p:guideLst>
        <p:guide orient="horz" pos="259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9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9" Type="http://schemas.openxmlformats.org/officeDocument/2006/relationships/slide" Target="slides/slide7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4952FFB-B93B-3541-AEF4-FEC6167C54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511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11356A-E6C0-5244-B2D1-39192D968FD5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803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952FFB-B93B-3541-AEF4-FEC6167C54F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0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952FFB-B93B-3541-AEF4-FEC6167C54F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44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52400" y="2362200"/>
            <a:ext cx="8839200" cy="1295400"/>
            <a:chOff x="288" y="1632"/>
            <a:chExt cx="5232" cy="816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pitchFamily="-65" charset="0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438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133600" y="6248400"/>
            <a:ext cx="4876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83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90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230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30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959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018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38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4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81000"/>
            <a:ext cx="20764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769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48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04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 userDrawn="1"/>
        </p:nvSpPr>
        <p:spPr bwMode="auto">
          <a:xfrm>
            <a:off x="8839200" y="152400"/>
            <a:ext cx="180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fld id="{F95A78A6-AC48-1C4C-9FB1-42EA8340B8EA}" type="slidenum">
              <a:rPr lang="fr-FR" sz="1100">
                <a:solidFill>
                  <a:srgbClr val="003980"/>
                </a:solidFill>
                <a:latin typeface="Arial" charset="0"/>
              </a:rPr>
              <a:pPr/>
              <a:t>‹#›</a:t>
            </a:fld>
            <a:endParaRPr lang="fr-FR" sz="1100">
              <a:solidFill>
                <a:schemeClr val="bg1"/>
              </a:solidFill>
              <a:latin typeface="Times" charset="0"/>
            </a:endParaRPr>
          </a:p>
        </p:txBody>
      </p:sp>
      <p:pic>
        <p:nvPicPr>
          <p:cNvPr id="4" name="Picture 24" descr="fond-masque-titre-bordeaux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16300"/>
            <a:ext cx="914400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5325" y="252413"/>
            <a:ext cx="7202488" cy="2962275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814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NVLogo_3D_H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38" y="5943600"/>
            <a:ext cx="2227262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81000" y="3957935"/>
            <a:ext cx="4954587" cy="11181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82587" y="5253335"/>
            <a:ext cx="4954587" cy="461665"/>
          </a:xfrm>
        </p:spPr>
        <p:txBody>
          <a:bodyPr>
            <a:sp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19876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941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0566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9616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097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6796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0240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196828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335554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62083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0499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0499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6504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13" Type="http://schemas.openxmlformats.org/officeDocument/2006/relationships/image" Target="../media/image3.jpeg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305800" cy="4876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grpSp>
        <p:nvGrpSpPr>
          <p:cNvPr id="1028" name="Group 2"/>
          <p:cNvGrpSpPr>
            <a:grpSpLocks/>
          </p:cNvGrpSpPr>
          <p:nvPr/>
        </p:nvGrpSpPr>
        <p:grpSpPr bwMode="auto">
          <a:xfrm>
            <a:off x="152400" y="304800"/>
            <a:ext cx="8839200" cy="1295400"/>
            <a:chOff x="288" y="1632"/>
            <a:chExt cx="5232" cy="816"/>
          </a:xfrm>
        </p:grpSpPr>
        <p:sp>
          <p:nvSpPr>
            <p:cNvPr id="307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1031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83791"/>
            <a:ext cx="1591055" cy="5980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2" r:id="rId13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120000"/>
        <a:buFont typeface="Arial" charset="0"/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800">
          <a:solidFill>
            <a:schemeClr val="tx1"/>
          </a:solidFill>
          <a:latin typeface="+mn-lt"/>
          <a:ea typeface="ＭＳ Ｐゴシック" pitchFamily="-65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ＭＳ Ｐゴシック" pitchFamily="-65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739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42900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000" b="1">
          <a:solidFill>
            <a:schemeClr val="tx1"/>
          </a:solidFill>
          <a:latin typeface="+mn-lt"/>
        </a:defRPr>
      </a:lvl2pPr>
      <a:lvl3pPr marL="1371600" indent="-282575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</a:defRPr>
      </a:lvl3pPr>
      <a:lvl4pPr marL="177482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Relationship Id="rId3" Type="http://schemas.openxmlformats.org/officeDocument/2006/relationships/hyperlink" Target="https://github.com/pmix/master/tree/master/contrib/perf_tools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mix.github.io/master" TargetMode="External"/><Relationship Id="rId3" Type="http://schemas.openxmlformats.org/officeDocument/2006/relationships/hyperlink" Target="https://github.com/pmi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  <a:t>Process Management</a:t>
            </a:r>
            <a:b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  <a:t>Interface – </a:t>
            </a:r>
            <a:r>
              <a:rPr lang="en-US" sz="4000" dirty="0" err="1" smtClean="0">
                <a:latin typeface="Arial" charset="0"/>
                <a:ea typeface="ＭＳ Ｐゴシック" charset="0"/>
                <a:cs typeface="ＭＳ Ｐゴシック" charset="0"/>
              </a:rPr>
              <a:t>Exascale</a:t>
            </a:r>
            <a:endParaRPr lang="en-US" sz="4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424065"/>
            <a:ext cx="5477998" cy="20589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Since we last met</a:t>
            </a:r>
            <a:r>
              <a:rPr lang="is-IS" sz="2400" dirty="0" smtClean="0"/>
              <a:t>…</a:t>
            </a:r>
          </a:p>
          <a:p>
            <a:pPr lvl="1"/>
            <a:r>
              <a:rPr lang="en-US" sz="2000" dirty="0" smtClean="0"/>
              <a:t>A</a:t>
            </a:r>
            <a:r>
              <a:rPr lang="is-IS" sz="2000" dirty="0" smtClean="0"/>
              <a:t>ddress some common questions</a:t>
            </a:r>
          </a:p>
          <a:p>
            <a:pPr lvl="1"/>
            <a:r>
              <a:rPr lang="is-IS" sz="2000" dirty="0" smtClean="0"/>
              <a:t>Outline PMIx standards process</a:t>
            </a:r>
          </a:p>
          <a:p>
            <a:r>
              <a:rPr lang="is-IS" sz="2400" dirty="0" smtClean="0"/>
              <a:t>PMIx v1.x release series</a:t>
            </a:r>
          </a:p>
          <a:p>
            <a:pPr lvl="1"/>
            <a:r>
              <a:rPr lang="en-US" sz="2000" dirty="0" smtClean="0"/>
              <a:t>W</a:t>
            </a:r>
            <a:r>
              <a:rPr lang="is-IS" sz="2000" dirty="0" smtClean="0"/>
              <a:t>hat has been included and planned</a:t>
            </a:r>
          </a:p>
          <a:p>
            <a:pPr lvl="1"/>
            <a:r>
              <a:rPr lang="en-US" sz="2000" dirty="0" smtClean="0"/>
              <a:t>R</a:t>
            </a:r>
            <a:r>
              <a:rPr lang="is-IS" sz="2000" dirty="0" smtClean="0"/>
              <a:t>eview launch performance status</a:t>
            </a:r>
          </a:p>
          <a:p>
            <a:r>
              <a:rPr lang="is-IS" sz="2400" dirty="0" smtClean="0"/>
              <a:t>Roadmap</a:t>
            </a:r>
          </a:p>
          <a:p>
            <a:pPr lvl="1"/>
            <a:r>
              <a:rPr lang="en-US" sz="2000" dirty="0" smtClean="0"/>
              <a:t>F</a:t>
            </a:r>
            <a:r>
              <a:rPr lang="is-IS" sz="2000" dirty="0" smtClean="0"/>
              <a:t>eatures in the pipeline</a:t>
            </a:r>
          </a:p>
          <a:p>
            <a:pPr lvl="1"/>
            <a:r>
              <a:rPr lang="en-US" sz="2000" dirty="0" smtClean="0"/>
              <a:t>P</a:t>
            </a:r>
            <a:r>
              <a:rPr lang="is-IS" sz="2000" dirty="0" smtClean="0"/>
              <a:t>otential future features</a:t>
            </a:r>
          </a:p>
          <a:p>
            <a:r>
              <a:rPr lang="is-IS" sz="2400" dirty="0" smtClean="0"/>
              <a:t>Questions/comments/discussion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25832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Charter?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Define</a:t>
            </a:r>
            <a:endParaRPr lang="en-US" sz="2400" dirty="0" smtClean="0"/>
          </a:p>
          <a:p>
            <a:pPr lvl="1"/>
            <a:r>
              <a:rPr lang="en-US" sz="1800" dirty="0" smtClean="0"/>
              <a:t>set </a:t>
            </a:r>
            <a:r>
              <a:rPr lang="en-US" sz="1800" dirty="0"/>
              <a:t>of agnostic APIs (not affiliated with </a:t>
            </a:r>
            <a:r>
              <a:rPr lang="en-US" sz="1800" dirty="0" smtClean="0"/>
              <a:t>specific model </a:t>
            </a:r>
            <a:r>
              <a:rPr lang="en-US" sz="1800" dirty="0"/>
              <a:t>code </a:t>
            </a:r>
            <a:r>
              <a:rPr lang="en-US" sz="1800" dirty="0" smtClean="0"/>
              <a:t>base) to support application </a:t>
            </a:r>
            <a:r>
              <a:rPr lang="en-US" sz="1800" dirty="0" smtClean="0">
                <a:sym typeface="Wingdings"/>
              </a:rPr>
              <a:t></a:t>
            </a:r>
            <a:r>
              <a:rPr lang="en-US" sz="1800" dirty="0" smtClean="0"/>
              <a:t> </a:t>
            </a:r>
            <a:r>
              <a:rPr lang="en-US" sz="1800" dirty="0"/>
              <a:t>system </a:t>
            </a:r>
            <a:r>
              <a:rPr lang="en-US" sz="1800" dirty="0" err="1" smtClean="0"/>
              <a:t>mgmt</a:t>
            </a:r>
            <a:r>
              <a:rPr lang="en-US" sz="1800" dirty="0" smtClean="0"/>
              <a:t> software (</a:t>
            </a:r>
            <a:r>
              <a:rPr lang="en-US" sz="1800" dirty="0"/>
              <a:t>SMS</a:t>
            </a:r>
            <a:r>
              <a:rPr lang="en-US" sz="1800" dirty="0" smtClean="0"/>
              <a:t>) </a:t>
            </a:r>
            <a:r>
              <a:rPr lang="en-US" sz="2000" dirty="0"/>
              <a:t>interactions</a:t>
            </a:r>
          </a:p>
          <a:p>
            <a:r>
              <a:rPr lang="en-US" sz="2400" b="1" dirty="0" smtClean="0"/>
              <a:t>Develop</a:t>
            </a:r>
            <a:endParaRPr lang="en-US" sz="2400" dirty="0" smtClean="0"/>
          </a:p>
          <a:p>
            <a:pPr lvl="1"/>
            <a:r>
              <a:rPr lang="en-US" sz="1800" dirty="0" smtClean="0"/>
              <a:t>an </a:t>
            </a:r>
            <a:r>
              <a:rPr lang="en-US" sz="1800" dirty="0"/>
              <a:t>open source (non-copy-left licensed) standalone “convenience” library to facilitate </a:t>
            </a:r>
            <a:r>
              <a:rPr lang="en-US" sz="1800" dirty="0" smtClean="0"/>
              <a:t>adoption</a:t>
            </a:r>
          </a:p>
          <a:p>
            <a:r>
              <a:rPr lang="en-US" sz="2400" b="1" dirty="0" smtClean="0"/>
              <a:t>Retain</a:t>
            </a:r>
            <a:endParaRPr lang="en-US" sz="2400" dirty="0" smtClean="0"/>
          </a:p>
          <a:p>
            <a:pPr lvl="1"/>
            <a:r>
              <a:rPr lang="en-US" sz="1800" dirty="0" smtClean="0"/>
              <a:t>transparent compatibility across </a:t>
            </a:r>
            <a:r>
              <a:rPr lang="en-US" sz="1800" dirty="0"/>
              <a:t>all </a:t>
            </a:r>
            <a:r>
              <a:rPr lang="en-US" sz="1800" dirty="0" smtClean="0"/>
              <a:t>PMI/</a:t>
            </a:r>
            <a:r>
              <a:rPr lang="en-US" sz="1800" dirty="0" err="1" smtClean="0"/>
              <a:t>PMIx</a:t>
            </a:r>
            <a:r>
              <a:rPr lang="en-US" sz="1800" dirty="0" smtClean="0"/>
              <a:t> </a:t>
            </a:r>
            <a:r>
              <a:rPr lang="en-US" sz="1800" dirty="0"/>
              <a:t>versions</a:t>
            </a:r>
          </a:p>
          <a:p>
            <a:r>
              <a:rPr lang="en-US" sz="2400" b="1" dirty="0" smtClean="0"/>
              <a:t>Support</a:t>
            </a:r>
            <a:endParaRPr lang="en-US" sz="2400" dirty="0" smtClean="0"/>
          </a:p>
          <a:p>
            <a:pPr lvl="1"/>
            <a:r>
              <a:rPr lang="en-US" sz="1800" dirty="0" smtClean="0"/>
              <a:t>the </a:t>
            </a:r>
            <a:r>
              <a:rPr lang="en-US" sz="1800" i="1" dirty="0"/>
              <a:t>Instant On</a:t>
            </a:r>
            <a:r>
              <a:rPr lang="en-US" sz="1800" dirty="0"/>
              <a:t> </a:t>
            </a:r>
            <a:r>
              <a:rPr lang="en-US" sz="1800" dirty="0" smtClean="0"/>
              <a:t>initiative</a:t>
            </a:r>
            <a:endParaRPr lang="en-US" sz="1800" dirty="0"/>
          </a:p>
          <a:p>
            <a:r>
              <a:rPr lang="en-US" sz="2400" b="1" dirty="0" smtClean="0"/>
              <a:t>Work</a:t>
            </a:r>
          </a:p>
          <a:p>
            <a:pPr lvl="1"/>
            <a:r>
              <a:rPr lang="en-US" sz="1800" dirty="0" smtClean="0"/>
              <a:t>to define/implement new APIs for evolving </a:t>
            </a:r>
            <a:r>
              <a:rPr lang="en-US" sz="1800" dirty="0"/>
              <a:t>programming </a:t>
            </a:r>
            <a:r>
              <a:rPr lang="en-US" sz="1800" dirty="0" smtClean="0"/>
              <a:t>models.</a:t>
            </a:r>
            <a:endParaRPr lang="en-US" sz="1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3141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PMIx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Standardized APIs</a:t>
            </a:r>
          </a:p>
          <a:p>
            <a:pPr lvl="1"/>
            <a:r>
              <a:rPr lang="en-US" dirty="0" smtClean="0"/>
              <a:t>Four header files (client, server, common, tool)</a:t>
            </a:r>
          </a:p>
          <a:p>
            <a:pPr lvl="1"/>
            <a:r>
              <a:rPr lang="en-US" dirty="0" smtClean="0"/>
              <a:t>Enable portability across environments</a:t>
            </a:r>
          </a:p>
          <a:p>
            <a:pPr lvl="1"/>
            <a:r>
              <a:rPr lang="en-US" dirty="0" smtClean="0"/>
              <a:t>Support interactions between applications and system management stack</a:t>
            </a:r>
          </a:p>
          <a:p>
            <a:r>
              <a:rPr lang="en-US" dirty="0" smtClean="0"/>
              <a:t>Convenience library</a:t>
            </a:r>
          </a:p>
          <a:p>
            <a:pPr lvl="1"/>
            <a:r>
              <a:rPr lang="en-US" dirty="0" smtClean="0"/>
              <a:t>Facilitate adoption</a:t>
            </a:r>
          </a:p>
          <a:p>
            <a:pPr lvl="1"/>
            <a:r>
              <a:rPr lang="en-US" dirty="0" smtClean="0"/>
              <a:t>Serves as validation platform for standard</a:t>
            </a:r>
          </a:p>
          <a:p>
            <a:r>
              <a:rPr lang="en-US" dirty="0" smtClean="0"/>
              <a:t>Community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978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PMIx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Standardized APIs</a:t>
            </a:r>
          </a:p>
          <a:p>
            <a:pPr lvl="1"/>
            <a:r>
              <a:rPr lang="en-US" dirty="0" smtClean="0"/>
              <a:t>Four header files (client, server, common, tool)</a:t>
            </a:r>
          </a:p>
          <a:p>
            <a:pPr lvl="1"/>
            <a:r>
              <a:rPr lang="en-US" dirty="0" smtClean="0"/>
              <a:t>Enable portability across environments</a:t>
            </a:r>
          </a:p>
          <a:p>
            <a:pPr lvl="1"/>
            <a:r>
              <a:rPr lang="en-US" dirty="0" smtClean="0"/>
              <a:t>Support interactions between applications and system management stack</a:t>
            </a:r>
          </a:p>
          <a:p>
            <a:r>
              <a:rPr lang="en-US" dirty="0" smtClean="0"/>
              <a:t>Convenience library</a:t>
            </a:r>
          </a:p>
          <a:p>
            <a:pPr lvl="1"/>
            <a:r>
              <a:rPr lang="en-US" dirty="0" smtClean="0"/>
              <a:t>Facilitate adoption</a:t>
            </a:r>
          </a:p>
          <a:p>
            <a:pPr lvl="1"/>
            <a:r>
              <a:rPr lang="en-US" dirty="0" smtClean="0"/>
              <a:t>Serves as validation platform for standard</a:t>
            </a:r>
          </a:p>
          <a:p>
            <a:r>
              <a:rPr lang="en-US" dirty="0" smtClean="0"/>
              <a:t>Community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 bwMode="auto">
          <a:xfrm>
            <a:off x="838200" y="4419600"/>
            <a:ext cx="7315200" cy="1524000"/>
          </a:xfrm>
          <a:prstGeom prst="rect">
            <a:avLst/>
          </a:prstGeom>
          <a:solidFill>
            <a:schemeClr val="bg1">
              <a:alpha val="62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 rot="20006526">
            <a:off x="1339320" y="4872730"/>
            <a:ext cx="32311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smtClean="0">
                <a:solidFill>
                  <a:srgbClr val="FF0000"/>
                </a:solidFill>
                <a:latin typeface="Marker Felt Thin" charset="0"/>
                <a:ea typeface="Marker Felt Thin" charset="0"/>
                <a:cs typeface="Marker Felt Thin" charset="0"/>
              </a:rPr>
              <a:t>Not Required!</a:t>
            </a:r>
            <a:endParaRPr lang="en-US" sz="4400">
              <a:solidFill>
                <a:srgbClr val="FF0000"/>
              </a:solidFill>
              <a:latin typeface="Marker Felt Thin" charset="0"/>
              <a:ea typeface="Marker Felt Thin" charset="0"/>
              <a:cs typeface="Marker Felt Th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51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Required: Caveat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Containerized operations</a:t>
            </a:r>
          </a:p>
          <a:p>
            <a:pPr lvl="1"/>
            <a:r>
              <a:rPr lang="en-US" sz="2400" dirty="0" smtClean="0"/>
              <a:t>Require cross-boundary compatibility</a:t>
            </a:r>
          </a:p>
          <a:p>
            <a:pPr lvl="1"/>
            <a:r>
              <a:rPr lang="en-US" sz="2400" dirty="0" err="1" smtClean="0"/>
              <a:t>Wireup</a:t>
            </a:r>
            <a:r>
              <a:rPr lang="en-US" sz="2400" dirty="0" smtClean="0"/>
              <a:t> library of containerized app must be compatible with the local resource manager</a:t>
            </a:r>
          </a:p>
          <a:p>
            <a:r>
              <a:rPr lang="en-US" sz="2800" dirty="0" smtClean="0"/>
              <a:t>Issues occur when migrating</a:t>
            </a:r>
          </a:p>
          <a:p>
            <a:pPr lvl="1"/>
            <a:r>
              <a:rPr lang="en-US" sz="2400" dirty="0" smtClean="0"/>
              <a:t>Build under one environment using custom implementation</a:t>
            </a:r>
          </a:p>
          <a:p>
            <a:pPr lvl="1"/>
            <a:r>
              <a:rPr lang="en-US" sz="2400" dirty="0" smtClean="0"/>
              <a:t>Move to another environment using different implementation</a:t>
            </a:r>
          </a:p>
          <a:p>
            <a:r>
              <a:rPr lang="en-US" sz="2800" dirty="0" smtClean="0"/>
              <a:t>Convenience library mitigates the problem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7377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 Part of MPI Forum?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is agnostic</a:t>
            </a:r>
          </a:p>
          <a:p>
            <a:pPr lvl="1"/>
            <a:r>
              <a:rPr lang="en-US" dirty="0" smtClean="0"/>
              <a:t>No concept of “communicator”</a:t>
            </a:r>
          </a:p>
          <a:p>
            <a:pPr lvl="1"/>
            <a:r>
              <a:rPr lang="en-US" dirty="0" smtClean="0"/>
              <a:t>No understanding of MPI</a:t>
            </a:r>
          </a:p>
          <a:p>
            <a:pPr lvl="1"/>
            <a:r>
              <a:rPr lang="en-US" dirty="0" smtClean="0"/>
              <a:t>Used by non-MPI libraries</a:t>
            </a:r>
          </a:p>
          <a:p>
            <a:r>
              <a:rPr lang="en-US" dirty="0" smtClean="0"/>
              <a:t>Discussions underway</a:t>
            </a:r>
          </a:p>
          <a:p>
            <a:pPr lvl="1"/>
            <a:r>
              <a:rPr lang="en-US" dirty="0" smtClean="0"/>
              <a:t>Bring it into Forum process in </a:t>
            </a:r>
            <a:r>
              <a:rPr lang="en-US" smtClean="0"/>
              <a:t>some appropriate fashion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66589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“Standards”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Modifications/additions</a:t>
            </a:r>
          </a:p>
          <a:p>
            <a:pPr lvl="1"/>
            <a:r>
              <a:rPr lang="en-US" sz="2400" dirty="0" smtClean="0"/>
              <a:t>Proposed as RFC</a:t>
            </a:r>
          </a:p>
          <a:p>
            <a:pPr lvl="1"/>
            <a:r>
              <a:rPr lang="en-US" sz="2400" dirty="0" smtClean="0"/>
              <a:t>Include prototype implementation</a:t>
            </a:r>
          </a:p>
          <a:p>
            <a:pPr lvl="2"/>
            <a:r>
              <a:rPr lang="en-US" sz="2000" dirty="0" smtClean="0"/>
              <a:t>Pull request to convenience library</a:t>
            </a:r>
          </a:p>
          <a:p>
            <a:pPr lvl="1"/>
            <a:r>
              <a:rPr lang="en-US" sz="2400" dirty="0" smtClean="0"/>
              <a:t>Notification sent to mailing list</a:t>
            </a:r>
          </a:p>
          <a:p>
            <a:r>
              <a:rPr lang="en-US" sz="2800" dirty="0" smtClean="0"/>
              <a:t>Reviews conducted</a:t>
            </a:r>
          </a:p>
          <a:p>
            <a:pPr lvl="1"/>
            <a:r>
              <a:rPr lang="en-US" sz="2400" dirty="0" smtClean="0"/>
              <a:t>RFC and implementation</a:t>
            </a:r>
          </a:p>
          <a:p>
            <a:pPr lvl="1"/>
            <a:r>
              <a:rPr lang="en-US" sz="2400" dirty="0" smtClean="0"/>
              <a:t>Continues until consensus emerges</a:t>
            </a:r>
          </a:p>
          <a:p>
            <a:r>
              <a:rPr lang="en-US" sz="2800" dirty="0" smtClean="0"/>
              <a:t>Approval given</a:t>
            </a:r>
          </a:p>
          <a:p>
            <a:pPr lvl="1"/>
            <a:r>
              <a:rPr lang="en-US" sz="2400" dirty="0" smtClean="0"/>
              <a:t>Developer </a:t>
            </a:r>
            <a:r>
              <a:rPr lang="en-US" sz="2400" dirty="0" err="1" smtClean="0"/>
              <a:t>telecon</a:t>
            </a:r>
            <a:r>
              <a:rPr lang="en-US" sz="2400" dirty="0" smtClean="0"/>
              <a:t> (2x/week)</a:t>
            </a:r>
          </a:p>
        </p:txBody>
      </p:sp>
    </p:spTree>
    <p:extLst>
      <p:ext uri="{BB962C8B-B14F-4D97-AF65-F5344CB8AC3E}">
        <p14:creationId xmlns:p14="http://schemas.microsoft.com/office/powerpoint/2010/main" val="1673120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Numbering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49709" y="3505200"/>
            <a:ext cx="4301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00FF"/>
                </a:solidFill>
                <a:latin typeface="+mn-lt"/>
                <a:ea typeface="Apple Chancery" charset="0"/>
                <a:cs typeface="Apple Chancery" charset="0"/>
              </a:rPr>
              <a:t>Major  .  Minor  .  Release</a:t>
            </a:r>
            <a:endParaRPr lang="en-US" sz="2800" dirty="0">
              <a:solidFill>
                <a:srgbClr val="0000FF"/>
              </a:solidFill>
              <a:latin typeface="+mn-lt"/>
              <a:ea typeface="Apple Chancery" charset="0"/>
              <a:cs typeface="Apple Chancery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58466" y="2514600"/>
            <a:ext cx="2749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Apple Chancery" charset="0"/>
                <a:ea typeface="Apple Chancery" charset="0"/>
                <a:cs typeface="Apple Chancery" charset="0"/>
              </a:rPr>
              <a:t>Version of Standard</a:t>
            </a:r>
            <a:endParaRPr lang="en-US" dirty="0">
              <a:solidFill>
                <a:srgbClr val="FF0000"/>
              </a:solidFill>
              <a:latin typeface="Apple Chancery" charset="0"/>
              <a:ea typeface="Apple Chancery" charset="0"/>
              <a:cs typeface="Apple Chancery" charset="0"/>
            </a:endParaRPr>
          </a:p>
        </p:txBody>
      </p:sp>
      <p:cxnSp>
        <p:nvCxnSpPr>
          <p:cNvPr id="7" name="Straight Arrow Connector 6"/>
          <p:cNvCxnSpPr>
            <a:stCxn id="5" idx="2"/>
          </p:cNvCxnSpPr>
          <p:nvPr/>
        </p:nvCxnSpPr>
        <p:spPr bwMode="auto">
          <a:xfrm flipH="1">
            <a:off x="2832400" y="2976265"/>
            <a:ext cx="802" cy="60513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Right Brace 8"/>
          <p:cNvSpPr/>
          <p:nvPr/>
        </p:nvSpPr>
        <p:spPr bwMode="auto">
          <a:xfrm rot="5400000">
            <a:off x="4831033" y="2931187"/>
            <a:ext cx="472534" cy="2667000"/>
          </a:xfrm>
          <a:prstGeom prst="righ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94937" y="4558728"/>
            <a:ext cx="2544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mtClean="0">
                <a:solidFill>
                  <a:srgbClr val="FF0000"/>
                </a:solidFill>
                <a:latin typeface="Apple Chancery" charset="0"/>
                <a:ea typeface="Apple Chancery" charset="0"/>
                <a:cs typeface="Apple Chancery" charset="0"/>
              </a:rPr>
              <a:t>Track convenience library revisions</a:t>
            </a:r>
            <a:endParaRPr lang="en-US" dirty="0">
              <a:solidFill>
                <a:srgbClr val="FF0000"/>
              </a:solidFill>
              <a:latin typeface="Apple Chancery" charset="0"/>
              <a:ea typeface="Apple Chancery" charset="0"/>
              <a:cs typeface="Apple Chancer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006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Regression Testing?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Limited direct capability</a:t>
            </a:r>
          </a:p>
          <a:p>
            <a:pPr lvl="1"/>
            <a:r>
              <a:rPr lang="en-US" dirty="0" smtClean="0"/>
              <a:t>Run basic API tests on each PR</a:t>
            </a:r>
          </a:p>
          <a:p>
            <a:r>
              <a:rPr lang="en-US" dirty="0" smtClean="0"/>
              <a:t>Extensive embedded testing</a:t>
            </a:r>
          </a:p>
          <a:p>
            <a:pPr lvl="1"/>
            <a:r>
              <a:rPr lang="en-US" dirty="0" smtClean="0"/>
              <a:t>Open MPI includes </a:t>
            </a:r>
            <a:r>
              <a:rPr lang="en-US" dirty="0" err="1" smtClean="0"/>
              <a:t>PMIx</a:t>
            </a:r>
            <a:r>
              <a:rPr lang="en-US" dirty="0" smtClean="0"/>
              <a:t> master, regularly updated</a:t>
            </a:r>
          </a:p>
          <a:p>
            <a:pPr lvl="1"/>
            <a:r>
              <a:rPr lang="en-US" dirty="0" smtClean="0"/>
              <a:t>20k</a:t>
            </a:r>
            <a:r>
              <a:rPr lang="en-US" baseline="30000" dirty="0" smtClean="0"/>
              <a:t>+</a:t>
            </a:r>
            <a:r>
              <a:rPr lang="en-US" dirty="0" smtClean="0"/>
              <a:t> tests run every night</a:t>
            </a:r>
          </a:p>
          <a:p>
            <a:pPr lvl="2"/>
            <a:r>
              <a:rPr lang="en-US" dirty="0" smtClean="0"/>
              <a:t>Tests all spawn, </a:t>
            </a:r>
            <a:r>
              <a:rPr lang="en-US" dirty="0" err="1" smtClean="0"/>
              <a:t>wireup</a:t>
            </a:r>
            <a:r>
              <a:rPr lang="en-US" dirty="0" smtClean="0"/>
              <a:t>, publish/lookup, connect/disconnect APIs</a:t>
            </a:r>
          </a:p>
          <a:p>
            <a:pPr lvl="2"/>
            <a:r>
              <a:rPr lang="en-US" dirty="0" smtClean="0"/>
              <a:t>Not 100% code coverage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006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Adoption?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Already released</a:t>
            </a:r>
          </a:p>
          <a:p>
            <a:pPr lvl="1"/>
            <a:r>
              <a:rPr lang="en-US" sz="2400" dirty="0" smtClean="0"/>
              <a:t>SLURM 16.05 (</a:t>
            </a:r>
            <a:r>
              <a:rPr lang="en-US" sz="2400" dirty="0" err="1" smtClean="0"/>
              <a:t>PMIx</a:t>
            </a:r>
            <a:r>
              <a:rPr lang="en-US" sz="2400" dirty="0" smtClean="0"/>
              <a:t> v1.1.5)</a:t>
            </a:r>
          </a:p>
          <a:p>
            <a:r>
              <a:rPr lang="en-US" sz="2800" dirty="0" smtClean="0"/>
              <a:t>Planned</a:t>
            </a:r>
          </a:p>
          <a:p>
            <a:pPr lvl="1"/>
            <a:r>
              <a:rPr lang="en-US" sz="2400" dirty="0" smtClean="0"/>
              <a:t>IBM, Fujitsu, Adaptive Solutions, Altair, Microsoft</a:t>
            </a:r>
          </a:p>
          <a:p>
            <a:r>
              <a:rPr lang="en-US" sz="2800" dirty="0" smtClean="0"/>
              <a:t>Reference server</a:t>
            </a:r>
          </a:p>
          <a:p>
            <a:pPr lvl="1"/>
            <a:r>
              <a:rPr lang="en-US" sz="2400" dirty="0" smtClean="0"/>
              <a:t>Provides surrogate support until native support becomes available</a:t>
            </a:r>
          </a:p>
          <a:p>
            <a:pPr lvl="1"/>
            <a:r>
              <a:rPr lang="en-US" sz="2400" dirty="0" smtClean="0"/>
              <a:t>Supports full </a:t>
            </a:r>
            <a:r>
              <a:rPr lang="en-US" sz="2400" dirty="0" err="1" smtClean="0"/>
              <a:t>PMIx</a:t>
            </a:r>
            <a:r>
              <a:rPr lang="en-US" sz="2400" dirty="0" smtClean="0"/>
              <a:t> standard, limited by RM capabilities</a:t>
            </a:r>
          </a:p>
          <a:p>
            <a:pPr lvl="1"/>
            <a:r>
              <a:rPr lang="en-US" sz="2400" dirty="0" smtClean="0"/>
              <a:t>Launches network of PMIx servers across </a:t>
            </a:r>
            <a:r>
              <a:rPr lang="en-US" sz="2400" dirty="0" smtClean="0"/>
              <a:t>allocation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686302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Since we last met</a:t>
            </a:r>
            <a:r>
              <a:rPr lang="is-IS" sz="2400" dirty="0" smtClean="0"/>
              <a:t>…</a:t>
            </a:r>
          </a:p>
          <a:p>
            <a:pPr lvl="1"/>
            <a:r>
              <a:rPr lang="en-US" sz="2000" dirty="0" smtClean="0"/>
              <a:t>A</a:t>
            </a:r>
            <a:r>
              <a:rPr lang="is-IS" sz="2000" dirty="0" smtClean="0"/>
              <a:t>ddress some common questions</a:t>
            </a:r>
          </a:p>
          <a:p>
            <a:pPr lvl="1"/>
            <a:r>
              <a:rPr lang="is-IS" sz="2000" dirty="0" smtClean="0"/>
              <a:t>Outline PMIx standards process</a:t>
            </a:r>
          </a:p>
          <a:p>
            <a:r>
              <a:rPr lang="is-IS" sz="2400" dirty="0" smtClean="0">
                <a:solidFill>
                  <a:srgbClr val="FF0000"/>
                </a:solidFill>
              </a:rPr>
              <a:t>PMIx v1.x release series (Artem Polyakov, Mellanox)</a:t>
            </a:r>
          </a:p>
          <a:p>
            <a:pPr lvl="1"/>
            <a:r>
              <a:rPr lang="en-US" sz="2000" dirty="0" smtClean="0"/>
              <a:t>W</a:t>
            </a:r>
            <a:r>
              <a:rPr lang="is-IS" sz="2000" dirty="0" smtClean="0"/>
              <a:t>hat has been included and planned</a:t>
            </a:r>
          </a:p>
          <a:p>
            <a:pPr lvl="1"/>
            <a:r>
              <a:rPr lang="en-US" sz="2000" dirty="0" smtClean="0"/>
              <a:t>R</a:t>
            </a:r>
            <a:r>
              <a:rPr lang="is-IS" sz="2000" dirty="0" smtClean="0"/>
              <a:t>eview launch performance status</a:t>
            </a:r>
          </a:p>
          <a:p>
            <a:r>
              <a:rPr lang="is-IS" sz="2400" dirty="0" smtClean="0">
                <a:solidFill>
                  <a:schemeClr val="bg2"/>
                </a:solidFill>
              </a:rPr>
              <a:t>Roadmap</a:t>
            </a:r>
          </a:p>
          <a:p>
            <a:pPr lvl="1"/>
            <a:r>
              <a:rPr lang="en-US" sz="2000" dirty="0" smtClean="0"/>
              <a:t>F</a:t>
            </a:r>
            <a:r>
              <a:rPr lang="is-IS" sz="2000" dirty="0" smtClean="0"/>
              <a:t>eatures in the pipeline</a:t>
            </a:r>
          </a:p>
          <a:p>
            <a:pPr lvl="1"/>
            <a:r>
              <a:rPr lang="en-US" sz="2000" dirty="0" smtClean="0">
                <a:solidFill>
                  <a:schemeClr val="bg2"/>
                </a:solidFill>
              </a:rPr>
              <a:t>P</a:t>
            </a:r>
            <a:r>
              <a:rPr lang="is-IS" sz="2000" dirty="0" smtClean="0">
                <a:solidFill>
                  <a:schemeClr val="bg2"/>
                </a:solidFill>
              </a:rPr>
              <a:t>otential future features</a:t>
            </a:r>
          </a:p>
          <a:p>
            <a:r>
              <a:rPr lang="is-IS" sz="2400" dirty="0" smtClean="0"/>
              <a:t>Questions/comments/discussion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7407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79697"/>
            <a:ext cx="6297946" cy="41998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 smtClean="0"/>
              <a:t>PMIx</a:t>
            </a:r>
            <a:r>
              <a:rPr lang="en-US" sz="2800" dirty="0" smtClean="0"/>
              <a:t>/UCX job-start use case</a:t>
            </a:r>
            <a:endParaRPr lang="en-US" sz="2800" dirty="0"/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6858000" y="2819399"/>
            <a:ext cx="2133600" cy="1447801"/>
          </a:xfrm>
          <a:prstGeom prst="wedgeRoundRectCallout">
            <a:avLst>
              <a:gd name="adj1" fmla="val -53747"/>
              <a:gd name="adj2" fmla="val -10641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 b="1" dirty="0" smtClean="0"/>
              <a:t>Hardware</a:t>
            </a:r>
            <a:r>
              <a:rPr lang="en-US" sz="1400" dirty="0"/>
              <a:t>:</a:t>
            </a:r>
          </a:p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400" dirty="0" smtClean="0"/>
              <a:t>32 nodes</a:t>
            </a:r>
            <a:endParaRPr lang="en-US" sz="1400" dirty="0"/>
          </a:p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400" dirty="0"/>
              <a:t>2 </a:t>
            </a:r>
            <a:r>
              <a:rPr lang="en-US" sz="1400" dirty="0" smtClean="0"/>
              <a:t>processors</a:t>
            </a:r>
            <a:br>
              <a:rPr lang="en-US" sz="1400" dirty="0" smtClean="0"/>
            </a:br>
            <a:r>
              <a:rPr lang="en-US" sz="1400" dirty="0" smtClean="0"/>
              <a:t>(Xeon </a:t>
            </a:r>
            <a:r>
              <a:rPr lang="en-US" sz="1400" dirty="0"/>
              <a:t>E5-2680 </a:t>
            </a:r>
            <a:r>
              <a:rPr lang="en-US" sz="1400" dirty="0" smtClean="0"/>
              <a:t>v2)</a:t>
            </a:r>
            <a:endParaRPr lang="en-US" sz="1400" dirty="0"/>
          </a:p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400" dirty="0" smtClean="0"/>
              <a:t>20 cores per node</a:t>
            </a:r>
            <a:endParaRPr lang="en-US" sz="1400" dirty="0"/>
          </a:p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400" dirty="0" smtClean="0"/>
              <a:t>1 </a:t>
            </a:r>
            <a:r>
              <a:rPr lang="en-US" sz="1400" dirty="0"/>
              <a:t>proc per </a:t>
            </a:r>
            <a:r>
              <a:rPr lang="en-US" sz="1400" dirty="0" smtClean="0"/>
              <a:t>core</a:t>
            </a:r>
            <a:endParaRPr lang="en-US" sz="1400" dirty="0"/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2971800" y="4267200"/>
            <a:ext cx="3886200" cy="1038748"/>
          </a:xfrm>
          <a:prstGeom prst="wedgeRoundRectCallout">
            <a:avLst>
              <a:gd name="adj1" fmla="val -24995"/>
              <a:gd name="adj2" fmla="val -61230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Open MPI v2.1 (modified to enable ability to avoid the barrier at the end of </a:t>
            </a:r>
            <a:r>
              <a:rPr lang="en-US" sz="1400" dirty="0" err="1" smtClean="0"/>
              <a:t>MPI_Init</a:t>
            </a:r>
            <a:r>
              <a:rPr lang="en-US" sz="14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 smtClean="0"/>
              <a:t>PMIx</a:t>
            </a:r>
            <a:r>
              <a:rPr lang="en-US" sz="1400" dirty="0" smtClean="0"/>
              <a:t> v1.1.5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UCX </a:t>
            </a:r>
            <a:r>
              <a:rPr lang="en-US" sz="1400" dirty="0" smtClean="0"/>
              <a:t>(f3f9ad7)</a:t>
            </a:r>
            <a:endParaRPr 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6858000" y="2176046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*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1295400" y="6308500"/>
            <a:ext cx="670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* </a:t>
            </a:r>
            <a:r>
              <a:rPr lang="en-US" sz="1400" b="1" dirty="0" smtClean="0"/>
              <a:t>direct-fetch/</a:t>
            </a:r>
            <a:r>
              <a:rPr lang="en-US" sz="1400" b="1" dirty="0" err="1" smtClean="0"/>
              <a:t>async</a:t>
            </a:r>
            <a:r>
              <a:rPr lang="en-US" sz="1400" dirty="0" smtClean="0"/>
              <a:t> assumes no synchronization barrier inside </a:t>
            </a:r>
            <a:r>
              <a:rPr lang="en-US" sz="1400" dirty="0" err="1" smtClean="0"/>
              <a:t>MPI_Init</a:t>
            </a:r>
            <a:r>
              <a:rPr lang="en-US" sz="1400" dirty="0" smtClean="0"/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1869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79697"/>
            <a:ext cx="6297946" cy="41998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PMIx</a:t>
            </a:r>
            <a:r>
              <a:rPr lang="en-US" sz="2800" dirty="0"/>
              <a:t>/UCX job-start </a:t>
            </a:r>
            <a:r>
              <a:rPr lang="en-US" sz="2800" dirty="0" err="1"/>
              <a:t>usecase</a:t>
            </a:r>
            <a:endParaRPr lang="en-US" sz="2800" dirty="0"/>
          </a:p>
        </p:txBody>
      </p:sp>
      <p:grpSp>
        <p:nvGrpSpPr>
          <p:cNvPr id="20" name="Group 19"/>
          <p:cNvGrpSpPr/>
          <p:nvPr/>
        </p:nvGrpSpPr>
        <p:grpSpPr>
          <a:xfrm rot="10800000">
            <a:off x="6294397" y="3227076"/>
            <a:ext cx="609600" cy="1066800"/>
            <a:chOff x="6550817" y="3048000"/>
            <a:chExt cx="609600" cy="1066800"/>
          </a:xfrm>
        </p:grpSpPr>
        <p:cxnSp>
          <p:nvCxnSpPr>
            <p:cNvPr id="6" name="Straight Connector 5"/>
            <p:cNvCxnSpPr/>
            <p:nvPr/>
          </p:nvCxnSpPr>
          <p:spPr bwMode="auto">
            <a:xfrm>
              <a:off x="6550817" y="3432468"/>
              <a:ext cx="609600" cy="0"/>
            </a:xfrm>
            <a:prstGeom prst="line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Straight Connector 8"/>
            <p:cNvCxnSpPr/>
            <p:nvPr/>
          </p:nvCxnSpPr>
          <p:spPr bwMode="auto">
            <a:xfrm>
              <a:off x="6550817" y="3795712"/>
              <a:ext cx="609600" cy="0"/>
            </a:xfrm>
            <a:prstGeom prst="line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/>
            <p:cNvCxnSpPr/>
            <p:nvPr/>
          </p:nvCxnSpPr>
          <p:spPr bwMode="auto">
            <a:xfrm rot="10800000" flipV="1">
              <a:off x="6954838" y="3048000"/>
              <a:ext cx="1" cy="1066800"/>
            </a:xfrm>
            <a:prstGeom prst="line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Straight Arrow Connector 12"/>
            <p:cNvCxnSpPr/>
            <p:nvPr/>
          </p:nvCxnSpPr>
          <p:spPr bwMode="auto">
            <a:xfrm flipV="1">
              <a:off x="6954838" y="3802856"/>
              <a:ext cx="0" cy="311944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17" name="Straight Arrow Connector 16"/>
            <p:cNvCxnSpPr/>
            <p:nvPr/>
          </p:nvCxnSpPr>
          <p:spPr bwMode="auto">
            <a:xfrm>
              <a:off x="6954838" y="3048000"/>
              <a:ext cx="0" cy="366712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  <p:grpSp>
        <p:nvGrpSpPr>
          <p:cNvPr id="22" name="Group 21"/>
          <p:cNvGrpSpPr/>
          <p:nvPr/>
        </p:nvGrpSpPr>
        <p:grpSpPr>
          <a:xfrm>
            <a:off x="6294397" y="2504693"/>
            <a:ext cx="609600" cy="1301122"/>
            <a:chOff x="6550817" y="2813678"/>
            <a:chExt cx="609600" cy="1301122"/>
          </a:xfrm>
        </p:grpSpPr>
        <p:cxnSp>
          <p:nvCxnSpPr>
            <p:cNvPr id="23" name="Straight Connector 22"/>
            <p:cNvCxnSpPr/>
            <p:nvPr/>
          </p:nvCxnSpPr>
          <p:spPr bwMode="auto">
            <a:xfrm>
              <a:off x="6550817" y="3141682"/>
              <a:ext cx="609600" cy="0"/>
            </a:xfrm>
            <a:prstGeom prst="line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6550817" y="3854873"/>
              <a:ext cx="609600" cy="0"/>
            </a:xfrm>
            <a:prstGeom prst="line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6954838" y="2813678"/>
              <a:ext cx="0" cy="1301122"/>
            </a:xfrm>
            <a:prstGeom prst="line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Arrow Connector 25"/>
            <p:cNvCxnSpPr/>
            <p:nvPr/>
          </p:nvCxnSpPr>
          <p:spPr bwMode="auto">
            <a:xfrm flipV="1">
              <a:off x="6954838" y="3802856"/>
              <a:ext cx="0" cy="311944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27" name="Straight Arrow Connector 26"/>
            <p:cNvCxnSpPr/>
            <p:nvPr/>
          </p:nvCxnSpPr>
          <p:spPr bwMode="auto">
            <a:xfrm>
              <a:off x="6954838" y="2819400"/>
              <a:ext cx="0" cy="366712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  <p:sp>
        <p:nvSpPr>
          <p:cNvPr id="30" name="Rounded Rectangular Callout 29"/>
          <p:cNvSpPr/>
          <p:nvPr/>
        </p:nvSpPr>
        <p:spPr bwMode="auto">
          <a:xfrm>
            <a:off x="6903997" y="2851105"/>
            <a:ext cx="1646243" cy="608297"/>
          </a:xfrm>
          <a:prstGeom prst="wedgeRoundRectCallout">
            <a:avLst>
              <a:gd name="adj1" fmla="val -53747"/>
              <a:gd name="adj2" fmla="val -10641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 dirty="0" smtClean="0"/>
              <a:t>“</a:t>
            </a:r>
            <a:r>
              <a:rPr lang="en-US" sz="1400" dirty="0" err="1" smtClean="0"/>
              <a:t>allgatherv</a:t>
            </a:r>
            <a:r>
              <a:rPr lang="en-US" sz="1400" dirty="0" smtClean="0"/>
              <a:t>” on all submitted keys</a:t>
            </a:r>
            <a:endParaRPr lang="en-US" sz="1400" dirty="0"/>
          </a:p>
        </p:txBody>
      </p:sp>
      <p:sp>
        <p:nvSpPr>
          <p:cNvPr id="31" name="Rounded Rectangular Callout 30"/>
          <p:cNvSpPr/>
          <p:nvPr/>
        </p:nvSpPr>
        <p:spPr bwMode="auto">
          <a:xfrm>
            <a:off x="6903997" y="4026661"/>
            <a:ext cx="1646243" cy="608297"/>
          </a:xfrm>
          <a:prstGeom prst="wedgeRoundRectCallout">
            <a:avLst>
              <a:gd name="adj1" fmla="val -65611"/>
              <a:gd name="adj2" fmla="val -38370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 dirty="0" smtClean="0"/>
              <a:t>Synchronization overhead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8056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en-US" dirty="0" smtClean="0"/>
              <a:t>1.2.0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Extension of v1.1.5</a:t>
            </a:r>
          </a:p>
          <a:p>
            <a:pPr lvl="1"/>
            <a:r>
              <a:rPr lang="en-US" dirty="0" smtClean="0"/>
              <a:t>v1.1.5</a:t>
            </a:r>
          </a:p>
          <a:p>
            <a:pPr lvl="2"/>
            <a:r>
              <a:rPr lang="en-US" dirty="0" smtClean="0"/>
              <a:t>Each proc stores own copy of data</a:t>
            </a:r>
          </a:p>
          <a:p>
            <a:pPr lvl="1"/>
            <a:r>
              <a:rPr lang="en-US" dirty="0" smtClean="0"/>
              <a:t>v1.2</a:t>
            </a:r>
          </a:p>
          <a:p>
            <a:pPr lvl="2"/>
            <a:r>
              <a:rPr lang="en-US" dirty="0" smtClean="0"/>
              <a:t>Data stored in shared memory owned by </a:t>
            </a:r>
            <a:r>
              <a:rPr lang="en-US" dirty="0" err="1" smtClean="0"/>
              <a:t>PMIx</a:t>
            </a:r>
            <a:r>
              <a:rPr lang="en-US" dirty="0" smtClean="0"/>
              <a:t> server</a:t>
            </a:r>
          </a:p>
          <a:p>
            <a:pPr lvl="2"/>
            <a:r>
              <a:rPr lang="en-US" dirty="0" smtClean="0"/>
              <a:t>Each proc has read-only access</a:t>
            </a:r>
          </a:p>
          <a:p>
            <a:r>
              <a:rPr lang="en-US" dirty="0" smtClean="0"/>
              <a:t>Benefits</a:t>
            </a:r>
          </a:p>
          <a:p>
            <a:pPr lvl="1"/>
            <a:r>
              <a:rPr lang="en-US" dirty="0" smtClean="0"/>
              <a:t>Minimizes </a:t>
            </a:r>
            <a:r>
              <a:rPr lang="en-US" dirty="0"/>
              <a:t>memory </a:t>
            </a:r>
            <a:r>
              <a:rPr lang="en-US" dirty="0" smtClean="0"/>
              <a:t>footprint</a:t>
            </a:r>
          </a:p>
          <a:p>
            <a:pPr lvl="1"/>
            <a:r>
              <a:rPr lang="en-US" dirty="0" smtClean="0"/>
              <a:t>Faster launch times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549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Shared memory data storage</a:t>
            </a:r>
            <a:br>
              <a:rPr lang="en-US" sz="2800" dirty="0" smtClean="0"/>
            </a:br>
            <a:r>
              <a:rPr lang="en-US" sz="2800" dirty="0" smtClean="0"/>
              <a:t>(architecture)</a:t>
            </a:r>
            <a:endParaRPr lang="en-US" sz="2800" dirty="0"/>
          </a:p>
        </p:txBody>
      </p:sp>
      <p:grpSp>
        <p:nvGrpSpPr>
          <p:cNvPr id="5" name="Группа 86"/>
          <p:cNvGrpSpPr/>
          <p:nvPr/>
        </p:nvGrpSpPr>
        <p:grpSpPr>
          <a:xfrm>
            <a:off x="1676400" y="1828800"/>
            <a:ext cx="5791200" cy="2667000"/>
            <a:chOff x="228600" y="1752600"/>
            <a:chExt cx="5181600" cy="2286000"/>
          </a:xfrm>
        </p:grpSpPr>
        <p:sp>
          <p:nvSpPr>
            <p:cNvPr id="6" name="Rounded Rectangle 5"/>
            <p:cNvSpPr/>
            <p:nvPr/>
          </p:nvSpPr>
          <p:spPr bwMode="auto">
            <a:xfrm>
              <a:off x="228600" y="1752600"/>
              <a:ext cx="5181600" cy="2286000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35000">
                  <a:schemeClr val="accent2">
                    <a:tint val="37000"/>
                    <a:satMod val="300000"/>
                  </a:schemeClr>
                </a:gs>
                <a:gs pos="100000">
                  <a:schemeClr val="accent2">
                    <a:tint val="15000"/>
                    <a:satMod val="350000"/>
                  </a:schemeClr>
                </a:gs>
              </a:gsLst>
            </a:gradFill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pic>
          <p:nvPicPr>
            <p:cNvPr id="9" name="Picture 8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0999" y="1905000"/>
              <a:ext cx="4876800" cy="20348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3" name="TextBox 2"/>
          <p:cNvSpPr txBox="1"/>
          <p:nvPr/>
        </p:nvSpPr>
        <p:spPr>
          <a:xfrm>
            <a:off x="685800" y="4772025"/>
            <a:ext cx="7848600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Server provides all the data through the shared memory</a:t>
            </a:r>
          </a:p>
          <a:p>
            <a:pPr marL="285750" indent="-285750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Each process can fetch all the data with </a:t>
            </a:r>
            <a:r>
              <a:rPr lang="en-US" sz="1800" b="1" dirty="0" smtClean="0">
                <a:solidFill>
                  <a:srgbClr val="C00000"/>
                </a:solidFill>
              </a:rPr>
              <a:t>0 server-side CPU cycles!</a:t>
            </a:r>
          </a:p>
          <a:p>
            <a:pPr marL="285750" indent="-285750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In the case of direct key fetching if a key is not found in the shared memory – a process will request it from the server using regular messaging mechanism.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24689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Shared memory data storage</a:t>
            </a:r>
            <a:br>
              <a:rPr lang="en-US" sz="2800" dirty="0" smtClean="0"/>
            </a:br>
            <a:r>
              <a:rPr lang="en-US" sz="2800" dirty="0" smtClean="0"/>
              <a:t>(architecture)</a:t>
            </a:r>
            <a:endParaRPr lang="en-US" sz="2800" dirty="0"/>
          </a:p>
        </p:txBody>
      </p:sp>
      <p:grpSp>
        <p:nvGrpSpPr>
          <p:cNvPr id="5" name="Группа 86"/>
          <p:cNvGrpSpPr/>
          <p:nvPr/>
        </p:nvGrpSpPr>
        <p:grpSpPr>
          <a:xfrm>
            <a:off x="1676400" y="1828800"/>
            <a:ext cx="5791200" cy="2667000"/>
            <a:chOff x="228600" y="1752600"/>
            <a:chExt cx="5181600" cy="2286000"/>
          </a:xfrm>
        </p:grpSpPr>
        <p:sp>
          <p:nvSpPr>
            <p:cNvPr id="6" name="Rounded Rectangle 5"/>
            <p:cNvSpPr/>
            <p:nvPr/>
          </p:nvSpPr>
          <p:spPr bwMode="auto">
            <a:xfrm>
              <a:off x="228600" y="1752600"/>
              <a:ext cx="5181600" cy="2286000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35000">
                  <a:schemeClr val="accent2">
                    <a:tint val="37000"/>
                    <a:satMod val="300000"/>
                  </a:schemeClr>
                </a:gs>
                <a:gs pos="100000">
                  <a:schemeClr val="accent2">
                    <a:tint val="15000"/>
                    <a:satMod val="350000"/>
                  </a:schemeClr>
                </a:gs>
              </a:gsLst>
            </a:gradFill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pic>
          <p:nvPicPr>
            <p:cNvPr id="9" name="Picture 8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0999" y="1905000"/>
              <a:ext cx="4876800" cy="20348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3" name="TextBox 2"/>
          <p:cNvSpPr txBox="1"/>
          <p:nvPr/>
        </p:nvSpPr>
        <p:spPr>
          <a:xfrm>
            <a:off x="685800" y="4772025"/>
            <a:ext cx="7848600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Server provides all the data through the shared memory</a:t>
            </a:r>
          </a:p>
          <a:p>
            <a:pPr marL="285750" indent="-285750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Each process can fetch all the data with </a:t>
            </a:r>
            <a:r>
              <a:rPr lang="en-US" sz="1800" b="1" dirty="0" smtClean="0">
                <a:solidFill>
                  <a:srgbClr val="C00000"/>
                </a:solidFill>
              </a:rPr>
              <a:t>0 server-side CPU cycles!</a:t>
            </a:r>
          </a:p>
          <a:p>
            <a:pPr marL="285750" indent="-285750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In the case of direct key fetching if a key is not found in the shared memory – a process will request it from the server using regular messaging mechanism.</a:t>
            </a:r>
            <a:endParaRPr lang="en-US" sz="1800" dirty="0"/>
          </a:p>
        </p:txBody>
      </p:sp>
      <p:sp>
        <p:nvSpPr>
          <p:cNvPr id="7" name="Rectangle 6"/>
          <p:cNvSpPr/>
          <p:nvPr/>
        </p:nvSpPr>
        <p:spPr>
          <a:xfrm rot="20162477">
            <a:off x="568887" y="3112106"/>
            <a:ext cx="1642181" cy="52322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C00000"/>
                </a:solidFill>
              </a:rPr>
              <a:t>Coming soon with </a:t>
            </a:r>
            <a:r>
              <a:rPr lang="en-US" sz="1400" b="1" dirty="0" err="1" smtClean="0">
                <a:solidFill>
                  <a:srgbClr val="C00000"/>
                </a:solidFill>
              </a:rPr>
              <a:t>PMIx</a:t>
            </a:r>
            <a:r>
              <a:rPr lang="en-US" sz="1400" b="1" dirty="0" smtClean="0">
                <a:solidFill>
                  <a:srgbClr val="C00000"/>
                </a:solidFill>
              </a:rPr>
              <a:t> v1.2.0</a:t>
            </a:r>
            <a:endParaRPr 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38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06" y="1981200"/>
            <a:ext cx="8086700" cy="42853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Shared memory data storage</a:t>
            </a:r>
            <a:br>
              <a:rPr lang="en-US" sz="2800" dirty="0" smtClean="0"/>
            </a:br>
            <a:r>
              <a:rPr lang="en-US" sz="2800" dirty="0" smtClean="0"/>
              <a:t>(synthetic performance test)</a:t>
            </a:r>
            <a:endParaRPr lang="en-US" sz="2800" dirty="0"/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6705600" y="2133600"/>
            <a:ext cx="2362200" cy="1524000"/>
          </a:xfrm>
          <a:prstGeom prst="wedgeRoundRectCallout">
            <a:avLst>
              <a:gd name="adj1" fmla="val -56961"/>
              <a:gd name="adj2" fmla="val 32895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5888" indent="-115888"/>
            <a:r>
              <a:rPr lang="en-US" sz="1400" b="1" dirty="0" smtClean="0"/>
              <a:t>Hardware</a:t>
            </a:r>
            <a:r>
              <a:rPr lang="en-US" sz="1400" dirty="0"/>
              <a:t>: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 smtClean="0"/>
              <a:t>32 nodes</a:t>
            </a:r>
            <a:endParaRPr lang="en-US" sz="1400" dirty="0"/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/>
              <a:t>2 </a:t>
            </a:r>
            <a:r>
              <a:rPr lang="en-US" sz="1400" dirty="0" smtClean="0"/>
              <a:t>processors</a:t>
            </a:r>
            <a:br>
              <a:rPr lang="en-US" sz="1400" dirty="0" smtClean="0"/>
            </a:br>
            <a:r>
              <a:rPr lang="en-US" sz="1400" dirty="0" smtClean="0"/>
              <a:t>(Intel Xeon E5-2680 v2)</a:t>
            </a:r>
            <a:endParaRPr lang="en-US" sz="1400" dirty="0"/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 smtClean="0"/>
              <a:t>20 cores per node</a:t>
            </a:r>
            <a:endParaRPr lang="en-US" sz="1400" dirty="0"/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 smtClean="0"/>
              <a:t>1 </a:t>
            </a:r>
            <a:r>
              <a:rPr lang="en-US" sz="1400" dirty="0"/>
              <a:t>proc per </a:t>
            </a:r>
            <a:r>
              <a:rPr lang="en-US" sz="1400" dirty="0" smtClean="0"/>
              <a:t>core</a:t>
            </a:r>
            <a:endParaRPr lang="en-US" sz="1400" dirty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1700457" y="2893164"/>
            <a:ext cx="1931996" cy="632595"/>
          </a:xfrm>
          <a:prstGeom prst="wedgeRoundRectCallout">
            <a:avLst>
              <a:gd name="adj1" fmla="val 38417"/>
              <a:gd name="adj2" fmla="val 66477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Open MPI v2.1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 smtClean="0"/>
              <a:t>PMIx</a:t>
            </a:r>
            <a:r>
              <a:rPr lang="en-US" sz="1400" dirty="0" smtClean="0"/>
              <a:t> v1.2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7900" y="6418923"/>
            <a:ext cx="46482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</a:t>
            </a:r>
            <a:r>
              <a:rPr lang="en-US" sz="1200" dirty="0" smtClean="0">
                <a:hlinkClick r:id="rId3"/>
              </a:rPr>
              <a:t>github.com/pmix/master/tree/master/contrib/perf_tools</a:t>
            </a:r>
            <a:endParaRPr lang="en-US" sz="1200" dirty="0"/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3810000" y="2131164"/>
            <a:ext cx="2362200" cy="762000"/>
          </a:xfrm>
          <a:prstGeom prst="wedgeRoundRectCallout">
            <a:avLst>
              <a:gd name="adj1" fmla="val 31733"/>
              <a:gd name="adj2" fmla="val 71341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 smtClean="0"/>
              <a:t>10 keys per process</a:t>
            </a:r>
            <a:endParaRPr lang="en-US" sz="1400" dirty="0"/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 smtClean="0"/>
              <a:t>100-element arrays of integers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8528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Shared memory data storage</a:t>
            </a:r>
            <a:br>
              <a:rPr lang="en-US" sz="2800" dirty="0" smtClean="0"/>
            </a:br>
            <a:r>
              <a:rPr lang="en-US" sz="2800" dirty="0" smtClean="0"/>
              <a:t>(synthetic performance test) [2]</a:t>
            </a:r>
            <a:endParaRPr lang="en-US" sz="28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1523999" y="1752600"/>
          <a:ext cx="6096000" cy="2590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920151"/>
                <a:gridCol w="920151"/>
                <a:gridCol w="963284"/>
                <a:gridCol w="1121433"/>
                <a:gridCol w="1049548"/>
                <a:gridCol w="1121433"/>
              </a:tblGrid>
              <a:tr h="3238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Nodes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procs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Messages (us)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Shmem (us)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local key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remote key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local key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remote key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3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8.8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6.4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3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8.9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9.2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6.5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6.5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3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80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8.8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9.2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6.5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6.5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3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160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9.2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6.4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6.4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3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8.4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9.2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6.5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6.5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3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640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9.2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6.5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6.5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3999" y="4572000"/>
            <a:ext cx="60960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en-US" sz="1800" b="1" dirty="0" smtClean="0"/>
              <a:t>Advantages: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Stable timings for a separate key access(no difference between local and remote key access)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Up to 30% improvement for the remote key fetch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Significant CPU offload on the SMP systems with large core count.</a:t>
            </a:r>
            <a:endParaRPr lang="en-US" sz="18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28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Shared memory data storage</a:t>
            </a:r>
            <a:br>
              <a:rPr lang="en-US" sz="2800" dirty="0" smtClean="0"/>
            </a:br>
            <a:r>
              <a:rPr lang="en-US" sz="2800" dirty="0" smtClean="0"/>
              <a:t>(synthetic performance test) [3]</a:t>
            </a:r>
            <a:endParaRPr lang="en-US" sz="28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36420"/>
            <a:ext cx="2492631" cy="219456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36420"/>
            <a:ext cx="2513367" cy="2194560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 bwMode="auto">
          <a:xfrm>
            <a:off x="228600" y="4191000"/>
            <a:ext cx="85344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Rounded Rectangular Callout 20"/>
          <p:cNvSpPr/>
          <p:nvPr/>
        </p:nvSpPr>
        <p:spPr bwMode="auto">
          <a:xfrm>
            <a:off x="6019800" y="2514599"/>
            <a:ext cx="2615184" cy="1447801"/>
          </a:xfrm>
          <a:prstGeom prst="wedgeRoundRectCallout">
            <a:avLst>
              <a:gd name="adj1" fmla="val -54924"/>
              <a:gd name="adj2" fmla="val 12047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 b="1" dirty="0" smtClean="0"/>
              <a:t>CL1 Hardware</a:t>
            </a:r>
            <a:r>
              <a:rPr lang="en-US" sz="14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15 nodes</a:t>
            </a: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2 </a:t>
            </a:r>
            <a:r>
              <a:rPr lang="en-US" sz="1400" dirty="0" smtClean="0"/>
              <a:t>processors</a:t>
            </a:r>
            <a:br>
              <a:rPr lang="en-US" sz="1400" dirty="0" smtClean="0"/>
            </a:br>
            <a:r>
              <a:rPr lang="en-US" sz="1400" dirty="0"/>
              <a:t>(</a:t>
            </a:r>
            <a:r>
              <a:rPr lang="en-US" sz="1400" dirty="0" smtClean="0"/>
              <a:t>Intel Xeon X5570</a:t>
            </a:r>
            <a:r>
              <a:rPr lang="en-US" sz="1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8 cores per node</a:t>
            </a: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1 </a:t>
            </a:r>
            <a:r>
              <a:rPr lang="en-US" sz="1400" dirty="0"/>
              <a:t>proc per </a:t>
            </a:r>
            <a:r>
              <a:rPr lang="en-US" sz="1400" dirty="0" smtClean="0"/>
              <a:t>core</a:t>
            </a:r>
            <a:endParaRPr lang="en-US" sz="1400" dirty="0"/>
          </a:p>
        </p:txBody>
      </p:sp>
      <p:sp>
        <p:nvSpPr>
          <p:cNvPr id="22" name="Rounded Rectangular Callout 21"/>
          <p:cNvSpPr/>
          <p:nvPr/>
        </p:nvSpPr>
        <p:spPr bwMode="auto">
          <a:xfrm>
            <a:off x="6021635" y="4728911"/>
            <a:ext cx="2611515" cy="1447801"/>
          </a:xfrm>
          <a:prstGeom prst="wedgeRoundRectCallout">
            <a:avLst>
              <a:gd name="adj1" fmla="val -55601"/>
              <a:gd name="adj2" fmla="val -8188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 b="1" dirty="0" smtClean="0"/>
              <a:t>CL2 Hardware</a:t>
            </a:r>
            <a:r>
              <a:rPr lang="en-US" sz="14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64 nodes</a:t>
            </a: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2 </a:t>
            </a:r>
            <a:r>
              <a:rPr lang="en-US" sz="1400" dirty="0" smtClean="0"/>
              <a:t>processors</a:t>
            </a:r>
            <a:br>
              <a:rPr lang="en-US" sz="1400" dirty="0" smtClean="0"/>
            </a:br>
            <a:r>
              <a:rPr lang="en-US" sz="1400" dirty="0"/>
              <a:t>(Intel </a:t>
            </a:r>
            <a:r>
              <a:rPr lang="en-US" sz="1400" dirty="0" smtClean="0"/>
              <a:t>Xeon </a:t>
            </a:r>
            <a:r>
              <a:rPr lang="en-US" sz="1400" dirty="0"/>
              <a:t>E5-2697 v3)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28 cores per node</a:t>
            </a: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1 </a:t>
            </a:r>
            <a:r>
              <a:rPr lang="en-US" sz="1400" dirty="0"/>
              <a:t>proc per </a:t>
            </a:r>
            <a:r>
              <a:rPr lang="en-US" sz="1400" dirty="0" smtClean="0"/>
              <a:t>core</a:t>
            </a:r>
            <a:endParaRPr lang="en-US" sz="1400" dirty="0"/>
          </a:p>
        </p:txBody>
      </p:sp>
      <p:sp>
        <p:nvSpPr>
          <p:cNvPr id="24" name="Rectangle 23"/>
          <p:cNvSpPr/>
          <p:nvPr/>
        </p:nvSpPr>
        <p:spPr>
          <a:xfrm rot="20162477">
            <a:off x="5421605" y="1850507"/>
            <a:ext cx="1124876" cy="52322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C00000"/>
                </a:solidFill>
              </a:rPr>
              <a:t>SLURM</a:t>
            </a:r>
            <a:br>
              <a:rPr lang="en-US" sz="1400" b="1" dirty="0" smtClean="0">
                <a:solidFill>
                  <a:srgbClr val="C00000"/>
                </a:solidFill>
              </a:rPr>
            </a:br>
            <a:r>
              <a:rPr lang="en-US" sz="1400" b="1" dirty="0" smtClean="0">
                <a:solidFill>
                  <a:srgbClr val="C00000"/>
                </a:solidFill>
              </a:rPr>
              <a:t>plugins</a:t>
            </a:r>
            <a:endParaRPr lang="en-US" sz="1400" dirty="0">
              <a:solidFill>
                <a:srgbClr val="C00000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307150"/>
            <a:ext cx="2481256" cy="219456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307150"/>
            <a:ext cx="2513367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1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Roadmap</a:t>
            </a:r>
            <a:endParaRPr lang="en-US" dirty="0"/>
          </a:p>
        </p:txBody>
      </p:sp>
      <p:sp>
        <p:nvSpPr>
          <p:cNvPr id="5" name="Striped Right Arrow 4"/>
          <p:cNvSpPr/>
          <p:nvPr/>
        </p:nvSpPr>
        <p:spPr bwMode="auto">
          <a:xfrm>
            <a:off x="399481" y="2955544"/>
            <a:ext cx="609600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6182" y="2772569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2014</a:t>
            </a:r>
            <a:endParaRPr lang="en-US" sz="1400"/>
          </a:p>
        </p:txBody>
      </p:sp>
      <p:sp>
        <p:nvSpPr>
          <p:cNvPr id="7" name="TextBox 6"/>
          <p:cNvSpPr txBox="1"/>
          <p:nvPr/>
        </p:nvSpPr>
        <p:spPr>
          <a:xfrm>
            <a:off x="576294" y="237203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1/2016</a:t>
            </a:r>
            <a:endParaRPr lang="en-US" sz="1800" dirty="0"/>
          </a:p>
        </p:txBody>
      </p:sp>
      <p:cxnSp>
        <p:nvCxnSpPr>
          <p:cNvPr id="9" name="Straight Connector 8"/>
          <p:cNvCxnSpPr>
            <a:stCxn id="7" idx="2"/>
          </p:cNvCxnSpPr>
          <p:nvPr/>
        </p:nvCxnSpPr>
        <p:spPr bwMode="auto">
          <a:xfrm flipH="1">
            <a:off x="1014293" y="2741364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71203" y="36576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1.1.3</a:t>
            </a:r>
            <a:endParaRPr lang="en-US" sz="1800"/>
          </a:p>
        </p:txBody>
      </p:sp>
      <p:sp>
        <p:nvSpPr>
          <p:cNvPr id="3" name="TextBox 2"/>
          <p:cNvSpPr txBox="1"/>
          <p:nvPr/>
        </p:nvSpPr>
        <p:spPr>
          <a:xfrm>
            <a:off x="4648813" y="2372032"/>
            <a:ext cx="1001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11/2016</a:t>
            </a:r>
            <a:endParaRPr lang="en-US" sz="1800" dirty="0"/>
          </a:p>
        </p:txBody>
      </p:sp>
      <p:cxnSp>
        <p:nvCxnSpPr>
          <p:cNvPr id="13" name="Straight Connector 12"/>
          <p:cNvCxnSpPr/>
          <p:nvPr/>
        </p:nvCxnSpPr>
        <p:spPr bwMode="auto">
          <a:xfrm flipH="1">
            <a:off x="5099018" y="2741364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750204" y="36576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1.2.0</a:t>
            </a:r>
            <a:endParaRPr lang="en-US" sz="1800" dirty="0"/>
          </a:p>
        </p:txBody>
      </p:sp>
      <p:sp>
        <p:nvSpPr>
          <p:cNvPr id="14" name="TextBox 13"/>
          <p:cNvSpPr txBox="1"/>
          <p:nvPr/>
        </p:nvSpPr>
        <p:spPr>
          <a:xfrm>
            <a:off x="1904280" y="237203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6</a:t>
            </a:r>
            <a:r>
              <a:rPr lang="en-US" sz="1800" dirty="0" smtClean="0"/>
              <a:t>/2016</a:t>
            </a:r>
            <a:endParaRPr lang="en-US" sz="1800" dirty="0"/>
          </a:p>
        </p:txBody>
      </p:sp>
      <p:cxnSp>
        <p:nvCxnSpPr>
          <p:cNvPr id="15" name="Straight Connector 14"/>
          <p:cNvCxnSpPr/>
          <p:nvPr/>
        </p:nvCxnSpPr>
        <p:spPr bwMode="auto">
          <a:xfrm flipH="1">
            <a:off x="2342279" y="2741364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1993465" y="36576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1.1.4</a:t>
            </a:r>
            <a:endParaRPr lang="en-US" sz="1800" dirty="0"/>
          </a:p>
        </p:txBody>
      </p:sp>
      <p:sp>
        <p:nvSpPr>
          <p:cNvPr id="17" name="Striped Right Arrow 16"/>
          <p:cNvSpPr/>
          <p:nvPr/>
        </p:nvSpPr>
        <p:spPr bwMode="auto">
          <a:xfrm>
            <a:off x="1045382" y="2955544"/>
            <a:ext cx="1265104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23841" y="1796067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RM Production Releases</a:t>
            </a:r>
            <a:endParaRPr lang="en-US" sz="1800" dirty="0"/>
          </a:p>
        </p:txBody>
      </p:sp>
      <p:sp>
        <p:nvSpPr>
          <p:cNvPr id="19" name="Left-Right Arrow 18"/>
          <p:cNvSpPr/>
          <p:nvPr/>
        </p:nvSpPr>
        <p:spPr bwMode="auto">
          <a:xfrm>
            <a:off x="2362200" y="2165399"/>
            <a:ext cx="6096000" cy="177709"/>
          </a:xfrm>
          <a:prstGeom prst="left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69446" y="399128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Bug fixes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1799" y="237040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8</a:t>
            </a:r>
            <a:r>
              <a:rPr lang="en-US" sz="1800" dirty="0" smtClean="0"/>
              <a:t>/2016</a:t>
            </a:r>
            <a:endParaRPr lang="en-US" sz="1800" dirty="0"/>
          </a:p>
        </p:txBody>
      </p:sp>
      <p:cxnSp>
        <p:nvCxnSpPr>
          <p:cNvPr id="23" name="Straight Connector 22"/>
          <p:cNvCxnSpPr/>
          <p:nvPr/>
        </p:nvCxnSpPr>
        <p:spPr bwMode="auto">
          <a:xfrm flipH="1">
            <a:off x="3649798" y="2739740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3300984" y="365597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1.1.5</a:t>
            </a:r>
            <a:endParaRPr lang="en-US" sz="1800" dirty="0"/>
          </a:p>
        </p:txBody>
      </p:sp>
      <p:sp>
        <p:nvSpPr>
          <p:cNvPr id="25" name="Striped Right Arrow 24"/>
          <p:cNvSpPr/>
          <p:nvPr/>
        </p:nvSpPr>
        <p:spPr bwMode="auto">
          <a:xfrm>
            <a:off x="2352901" y="2955544"/>
            <a:ext cx="1265104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76965" y="398965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Bug fixes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9481" y="3989656"/>
            <a:ext cx="14531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2100" algn="ctr"/>
            <a:r>
              <a:rPr lang="en-US" sz="1800"/>
              <a:t>Shared </a:t>
            </a:r>
            <a:r>
              <a:rPr lang="en-US" sz="1800" smtClean="0"/>
              <a:t>memory</a:t>
            </a:r>
          </a:p>
          <a:p>
            <a:pPr marL="292100" algn="ctr"/>
            <a:r>
              <a:rPr lang="en-US" sz="1800" dirty="0" err="1" smtClean="0"/>
              <a:t>datastore</a:t>
            </a:r>
            <a:endParaRPr lang="en-US" sz="1800" dirty="0"/>
          </a:p>
        </p:txBody>
      </p:sp>
      <p:sp>
        <p:nvSpPr>
          <p:cNvPr id="28" name="Striped Right Arrow 27"/>
          <p:cNvSpPr/>
          <p:nvPr/>
        </p:nvSpPr>
        <p:spPr bwMode="auto">
          <a:xfrm>
            <a:off x="3745353" y="2955544"/>
            <a:ext cx="1265104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9" name="Striped Right Arrow 28"/>
          <p:cNvSpPr/>
          <p:nvPr/>
        </p:nvSpPr>
        <p:spPr bwMode="auto">
          <a:xfrm>
            <a:off x="5194574" y="2961705"/>
            <a:ext cx="1587226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70361" y="2878035"/>
            <a:ext cx="1624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 Pipeline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793103" y="3425143"/>
            <a:ext cx="15888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David </a:t>
            </a:r>
            <a:r>
              <a:rPr lang="en-US" dirty="0" err="1" smtClean="0">
                <a:solidFill>
                  <a:srgbClr val="FF0000"/>
                </a:solidFill>
              </a:rPr>
              <a:t>Solt</a:t>
            </a:r>
            <a:endParaRPr lang="en-US" dirty="0" smtClean="0">
              <a:solidFill>
                <a:srgbClr val="FF0000"/>
              </a:solidFill>
            </a:endParaRP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IBM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60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 bwMode="auto">
          <a:xfrm>
            <a:off x="2856458" y="3505200"/>
            <a:ext cx="3239542" cy="914400"/>
          </a:xfrm>
          <a:prstGeom prst="rect">
            <a:avLst/>
          </a:prstGeom>
          <a:solidFill>
            <a:srgbClr val="FFEBC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305800" cy="1676400"/>
          </a:xfrm>
        </p:spPr>
        <p:txBody>
          <a:bodyPr/>
          <a:lstStyle/>
          <a:p>
            <a:r>
              <a:rPr lang="en-US" dirty="0" smtClean="0"/>
              <a:t>Tool connection support</a:t>
            </a:r>
          </a:p>
          <a:p>
            <a:pPr lvl="1"/>
            <a:r>
              <a:rPr lang="en-US" dirty="0" smtClean="0"/>
              <a:t>Allow tools to connect to local </a:t>
            </a:r>
            <a:r>
              <a:rPr lang="en-US" dirty="0" err="1" smtClean="0"/>
              <a:t>PMIx</a:t>
            </a:r>
            <a:r>
              <a:rPr lang="en-US" dirty="0" smtClean="0"/>
              <a:t> server</a:t>
            </a:r>
          </a:p>
          <a:p>
            <a:pPr lvl="1"/>
            <a:r>
              <a:rPr lang="en-US" dirty="0" smtClean="0"/>
              <a:t>Specify system vs application</a:t>
            </a:r>
          </a:p>
        </p:txBody>
      </p:sp>
      <p:sp>
        <p:nvSpPr>
          <p:cNvPr id="4" name="Hexagon 3"/>
          <p:cNvSpPr/>
          <p:nvPr/>
        </p:nvSpPr>
        <p:spPr bwMode="auto">
          <a:xfrm>
            <a:off x="3195814" y="3634969"/>
            <a:ext cx="1828800" cy="685800"/>
          </a:xfrm>
          <a:prstGeom prst="hexag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System </a:t>
            </a:r>
            <a:r>
              <a:rPr lang="en-US" sz="1800" dirty="0" err="1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PMIx</a:t>
            </a:r>
            <a:r>
              <a:rPr lang="en-US" sz="1800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server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715000" y="4648200"/>
            <a:ext cx="1143000" cy="685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Mpirun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/</a:t>
            </a:r>
            <a:endParaRPr lang="en-US" sz="1800" dirty="0">
              <a:solidFill>
                <a:schemeClr val="bg1"/>
              </a:solidFill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orted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5791200" y="5638800"/>
            <a:ext cx="381000" cy="381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6324600" y="5638800"/>
            <a:ext cx="381000" cy="381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10" name="Straight Connector 9"/>
          <p:cNvCxnSpPr>
            <a:stCxn id="5" idx="2"/>
            <a:endCxn id="7" idx="0"/>
          </p:cNvCxnSpPr>
          <p:nvPr/>
        </p:nvCxnSpPr>
        <p:spPr bwMode="auto">
          <a:xfrm flipH="1">
            <a:off x="5981700" y="5334000"/>
            <a:ext cx="304800" cy="304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>
            <a:stCxn id="5" idx="2"/>
            <a:endCxn id="8" idx="0"/>
          </p:cNvCxnSpPr>
          <p:nvPr/>
        </p:nvCxnSpPr>
        <p:spPr bwMode="auto">
          <a:xfrm>
            <a:off x="6286500" y="5334000"/>
            <a:ext cx="228600" cy="304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0600" y="5154612"/>
            <a:ext cx="2056358" cy="12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 bwMode="auto">
          <a:xfrm>
            <a:off x="2856458" y="5025249"/>
            <a:ext cx="685800" cy="457200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Tool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16" name="Straight Arrow Connector 15"/>
          <p:cNvCxnSpPr>
            <a:stCxn id="14" idx="3"/>
          </p:cNvCxnSpPr>
          <p:nvPr/>
        </p:nvCxnSpPr>
        <p:spPr bwMode="auto">
          <a:xfrm flipV="1">
            <a:off x="3542258" y="4320769"/>
            <a:ext cx="567956" cy="93308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>
            <a:stCxn id="14" idx="3"/>
          </p:cNvCxnSpPr>
          <p:nvPr/>
        </p:nvCxnSpPr>
        <p:spPr bwMode="auto">
          <a:xfrm flipV="1">
            <a:off x="3542258" y="5154612"/>
            <a:ext cx="2172742" cy="9923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 flipV="1">
            <a:off x="2619636" y="5482449"/>
            <a:ext cx="236822" cy="15635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5275050" y="3747036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RM</a:t>
            </a:r>
            <a:endParaRPr lang="en-US"/>
          </a:p>
        </p:txBody>
      </p:sp>
      <p:sp>
        <p:nvSpPr>
          <p:cNvPr id="30" name="Rectangle 29"/>
          <p:cNvSpPr/>
          <p:nvPr/>
        </p:nvSpPr>
        <p:spPr bwMode="auto">
          <a:xfrm>
            <a:off x="5715000" y="5025249"/>
            <a:ext cx="266700" cy="30875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4697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Query</a:t>
            </a:r>
          </a:p>
          <a:p>
            <a:pPr lvl="1"/>
            <a:r>
              <a:rPr lang="en-US" sz="2400" dirty="0" smtClean="0"/>
              <a:t>Network topology</a:t>
            </a:r>
          </a:p>
          <a:p>
            <a:pPr lvl="2"/>
            <a:r>
              <a:rPr lang="en-US" sz="2000" dirty="0" smtClean="0"/>
              <a:t>Array of proc network-relative locations</a:t>
            </a:r>
          </a:p>
          <a:p>
            <a:pPr lvl="2"/>
            <a:r>
              <a:rPr lang="en-US" sz="2000" dirty="0" smtClean="0"/>
              <a:t>Overall topology (e.g., “dragonfly”)</a:t>
            </a:r>
          </a:p>
          <a:p>
            <a:pPr lvl="1"/>
            <a:r>
              <a:rPr lang="en-US" sz="2400" dirty="0" smtClean="0"/>
              <a:t>Running jobs</a:t>
            </a:r>
          </a:p>
          <a:p>
            <a:pPr lvl="2"/>
            <a:r>
              <a:rPr lang="en-US" sz="2000" dirty="0" smtClean="0"/>
              <a:t>Currently executing job namespaces</a:t>
            </a:r>
          </a:p>
          <a:p>
            <a:pPr lvl="2"/>
            <a:r>
              <a:rPr lang="en-US" sz="2000" dirty="0" smtClean="0"/>
              <a:t>Array of proc location, status, PID</a:t>
            </a:r>
          </a:p>
          <a:p>
            <a:pPr lvl="1"/>
            <a:r>
              <a:rPr lang="en-US" sz="2400" dirty="0" smtClean="0"/>
              <a:t>Resources</a:t>
            </a:r>
          </a:p>
          <a:p>
            <a:pPr lvl="2"/>
            <a:r>
              <a:rPr lang="en-US" sz="2000" dirty="0" smtClean="0"/>
              <a:t>Available system resources</a:t>
            </a:r>
          </a:p>
          <a:p>
            <a:pPr lvl="2"/>
            <a:r>
              <a:rPr lang="en-US" sz="2000" dirty="0" smtClean="0"/>
              <a:t>Array of proc location, resource utilization (ala “top”)</a:t>
            </a:r>
          </a:p>
          <a:p>
            <a:pPr lvl="1"/>
            <a:r>
              <a:rPr lang="en-US" sz="2400" dirty="0" smtClean="0"/>
              <a:t>Queue status</a:t>
            </a:r>
          </a:p>
          <a:p>
            <a:pPr lvl="2"/>
            <a:r>
              <a:rPr lang="en-US" sz="2000" dirty="0" smtClean="0"/>
              <a:t>Current scheduler queue backlog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3739080" y="1752600"/>
            <a:ext cx="1665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smtClean="0">
                <a:solidFill>
                  <a:srgbClr val="FF0000"/>
                </a:solidFill>
                <a:latin typeface="Matura MT Script Capitals" charset="0"/>
                <a:ea typeface="Matura MT Script Capitals" charset="0"/>
                <a:cs typeface="Matura MT Script Capitals" charset="0"/>
              </a:rPr>
              <a:t>Examples</a:t>
            </a:r>
            <a:endParaRPr lang="en-US" sz="2800">
              <a:solidFill>
                <a:srgbClr val="FF0000"/>
              </a:solidFill>
              <a:latin typeface="Matura MT Script Capitals" charset="0"/>
              <a:ea typeface="Matura MT Script Capitals" charset="0"/>
              <a:cs typeface="Matura MT Script Capitals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0" y="4005590"/>
            <a:ext cx="18710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smtClean="0">
                <a:solidFill>
                  <a:srgbClr val="0000FF"/>
                </a:solidFill>
                <a:latin typeface="Apple Chancery" charset="0"/>
                <a:ea typeface="Apple Chancery" charset="0"/>
                <a:cs typeface="Apple Chancery" charset="0"/>
              </a:rPr>
              <a:t>Debuggers?</a:t>
            </a:r>
            <a:endParaRPr lang="en-US" sz="2800" dirty="0">
              <a:solidFill>
                <a:srgbClr val="0000FF"/>
              </a:solidFill>
              <a:latin typeface="Apple Chancery" charset="0"/>
              <a:ea typeface="Apple Chancery" charset="0"/>
              <a:cs typeface="Apple Chancer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677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Flexibility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Plugin architecture</a:t>
            </a:r>
          </a:p>
          <a:p>
            <a:pPr lvl="1"/>
            <a:r>
              <a:rPr lang="en-US" sz="2400" dirty="0" smtClean="0"/>
              <a:t>DLL-based system</a:t>
            </a:r>
          </a:p>
          <a:p>
            <a:pPr lvl="1"/>
            <a:r>
              <a:rPr lang="en-US" sz="2400" dirty="0" smtClean="0"/>
              <a:t>Supports proprietary binary components</a:t>
            </a:r>
          </a:p>
          <a:p>
            <a:pPr lvl="1"/>
            <a:r>
              <a:rPr lang="en-US" sz="2400" dirty="0" smtClean="0"/>
              <a:t>Allows multiple implementations of common functionality</a:t>
            </a:r>
          </a:p>
          <a:p>
            <a:pPr lvl="2"/>
            <a:r>
              <a:rPr lang="en-US" sz="2000" dirty="0" smtClean="0"/>
              <a:t>Buffer pack/unpack operations</a:t>
            </a:r>
          </a:p>
          <a:p>
            <a:pPr lvl="2"/>
            <a:r>
              <a:rPr lang="en-US" sz="2000" dirty="0" smtClean="0"/>
              <a:t>Communications (TCP, shared memory,</a:t>
            </a:r>
            <a:r>
              <a:rPr lang="mr-IN" sz="2000" dirty="0" smtClean="0"/>
              <a:t>…</a:t>
            </a:r>
            <a:r>
              <a:rPr lang="en-US" sz="2000" dirty="0" smtClean="0"/>
              <a:t>)</a:t>
            </a:r>
          </a:p>
          <a:p>
            <a:pPr lvl="2"/>
            <a:r>
              <a:rPr lang="en-US" sz="2000" dirty="0" smtClean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3727560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Obsolescence Protection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Plugin architecture</a:t>
            </a:r>
          </a:p>
          <a:p>
            <a:r>
              <a:rPr lang="en-US" sz="2800" dirty="0" smtClean="0"/>
              <a:t>Cross-version support</a:t>
            </a:r>
          </a:p>
          <a:p>
            <a:pPr lvl="1"/>
            <a:r>
              <a:rPr lang="en-US" sz="2400" dirty="0" smtClean="0"/>
              <a:t>Automatic detection of client/server version</a:t>
            </a:r>
          </a:p>
          <a:p>
            <a:pPr lvl="1"/>
            <a:r>
              <a:rPr lang="en-US" sz="2400" dirty="0" smtClean="0"/>
              <a:t>Properly adjust for changes in structures, protocols</a:t>
            </a:r>
          </a:p>
          <a:p>
            <a:pPr lvl="1"/>
            <a:r>
              <a:rPr lang="en-US" sz="2400" dirty="0" smtClean="0"/>
              <a:t>Ensure clients always get what they can understand</a:t>
            </a:r>
          </a:p>
          <a:p>
            <a:pPr lvl="1"/>
            <a:r>
              <a:rPr lang="en-US" sz="2400" dirty="0" smtClean="0"/>
              <a:t>Backward support to the v1.1.5 level</a:t>
            </a:r>
          </a:p>
        </p:txBody>
      </p:sp>
    </p:spTree>
    <p:extLst>
      <p:ext uri="{BB962C8B-B14F-4D97-AF65-F5344CB8AC3E}">
        <p14:creationId xmlns:p14="http://schemas.microsoft.com/office/powerpoint/2010/main" val="9907819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Plugin architecture</a:t>
            </a:r>
          </a:p>
          <a:p>
            <a:r>
              <a:rPr lang="en-US" sz="2800" dirty="0" smtClean="0"/>
              <a:t>Cross-version support</a:t>
            </a:r>
          </a:p>
          <a:p>
            <a:r>
              <a:rPr lang="en-US" sz="2800" dirty="0" smtClean="0"/>
              <a:t>Event notification</a:t>
            </a:r>
          </a:p>
          <a:p>
            <a:pPr lvl="1"/>
            <a:r>
              <a:rPr lang="en-US" sz="2400" dirty="0" smtClean="0"/>
              <a:t>System generated, app generated</a:t>
            </a:r>
          </a:p>
          <a:p>
            <a:pPr lvl="1"/>
            <a:r>
              <a:rPr lang="en-US" sz="2400" dirty="0" smtClean="0"/>
              <a:t>Resolves issues in original API, implementation</a:t>
            </a:r>
          </a:p>
          <a:p>
            <a:pPr lvl="1"/>
            <a:r>
              <a:rPr lang="en-US" sz="2400" dirty="0" smtClean="0"/>
              <a:t>Register for broad range of events</a:t>
            </a:r>
          </a:p>
          <a:p>
            <a:pPr lvl="2"/>
            <a:r>
              <a:rPr lang="en-US" sz="2000" dirty="0" smtClean="0"/>
              <a:t>Constrained by availability of backend support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9958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Logging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Plugin architecture</a:t>
            </a:r>
          </a:p>
          <a:p>
            <a:r>
              <a:rPr lang="en-US" sz="2800" dirty="0" smtClean="0"/>
              <a:t>Cross-version support</a:t>
            </a:r>
          </a:p>
          <a:p>
            <a:r>
              <a:rPr lang="en-US" sz="2800" dirty="0" smtClean="0"/>
              <a:t>Event notification</a:t>
            </a:r>
          </a:p>
          <a:p>
            <a:r>
              <a:rPr lang="en-US" sz="2800" dirty="0" smtClean="0"/>
              <a:t>Log data</a:t>
            </a:r>
          </a:p>
          <a:p>
            <a:pPr lvl="1"/>
            <a:r>
              <a:rPr lang="en-US" sz="2400" dirty="0" smtClean="0"/>
              <a:t>Store desired data in system data store(s)</a:t>
            </a:r>
          </a:p>
          <a:p>
            <a:pPr lvl="2"/>
            <a:r>
              <a:rPr lang="en-US" sz="2000" dirty="0" smtClean="0"/>
              <a:t>Specify hot/warm/cold, local/remote, database and type of database, </a:t>
            </a:r>
            <a:r>
              <a:rPr lang="mr-IN" sz="2000" dirty="0" smtClean="0"/>
              <a:t>…</a:t>
            </a:r>
            <a:endParaRPr lang="en-US" sz="2000" dirty="0" smtClean="0"/>
          </a:p>
          <a:p>
            <a:pPr lvl="1"/>
            <a:r>
              <a:rPr lang="en-US" sz="2400" dirty="0" smtClean="0"/>
              <a:t>Log output to </a:t>
            </a:r>
            <a:r>
              <a:rPr lang="en-US" sz="2400" dirty="0" err="1" smtClean="0"/>
              <a:t>stdout</a:t>
            </a:r>
            <a:r>
              <a:rPr lang="en-US" sz="2400" dirty="0" smtClean="0"/>
              <a:t>/err</a:t>
            </a:r>
          </a:p>
          <a:p>
            <a:pPr lvl="1"/>
            <a:r>
              <a:rPr lang="en-US" sz="2400" dirty="0" smtClean="0"/>
              <a:t>Supports binary and non-binary data</a:t>
            </a:r>
          </a:p>
          <a:p>
            <a:pPr lvl="2"/>
            <a:r>
              <a:rPr lang="en-US" sz="2000" dirty="0" smtClean="0"/>
              <a:t>Heterogeneity taken care of for you</a:t>
            </a:r>
          </a:p>
          <a:p>
            <a:pPr lvl="1"/>
            <a:endParaRPr lang="en-US" sz="2400" dirty="0" smtClean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41709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Roadmap</a:t>
            </a:r>
            <a:endParaRPr lang="en-US" dirty="0"/>
          </a:p>
        </p:txBody>
      </p:sp>
      <p:sp>
        <p:nvSpPr>
          <p:cNvPr id="5" name="Striped Right Arrow 4"/>
          <p:cNvSpPr/>
          <p:nvPr/>
        </p:nvSpPr>
        <p:spPr bwMode="auto">
          <a:xfrm>
            <a:off x="399481" y="2955544"/>
            <a:ext cx="609600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6182" y="2772569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2014</a:t>
            </a:r>
            <a:endParaRPr lang="en-US" sz="1400"/>
          </a:p>
        </p:txBody>
      </p:sp>
      <p:sp>
        <p:nvSpPr>
          <p:cNvPr id="7" name="TextBox 6"/>
          <p:cNvSpPr txBox="1"/>
          <p:nvPr/>
        </p:nvSpPr>
        <p:spPr>
          <a:xfrm>
            <a:off x="576294" y="237203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1/2016</a:t>
            </a:r>
            <a:endParaRPr lang="en-US" sz="1800" dirty="0"/>
          </a:p>
        </p:txBody>
      </p:sp>
      <p:cxnSp>
        <p:nvCxnSpPr>
          <p:cNvPr id="9" name="Straight Connector 8"/>
          <p:cNvCxnSpPr>
            <a:stCxn id="7" idx="2"/>
          </p:cNvCxnSpPr>
          <p:nvPr/>
        </p:nvCxnSpPr>
        <p:spPr bwMode="auto">
          <a:xfrm flipH="1">
            <a:off x="1014293" y="2741364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71203" y="36576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1.1.3</a:t>
            </a:r>
            <a:endParaRPr lang="en-US" sz="1800"/>
          </a:p>
        </p:txBody>
      </p:sp>
      <p:sp>
        <p:nvSpPr>
          <p:cNvPr id="3" name="TextBox 2"/>
          <p:cNvSpPr txBox="1"/>
          <p:nvPr/>
        </p:nvSpPr>
        <p:spPr>
          <a:xfrm>
            <a:off x="4648813" y="2372032"/>
            <a:ext cx="1001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11/2016</a:t>
            </a:r>
            <a:endParaRPr lang="en-US" sz="1800" dirty="0"/>
          </a:p>
        </p:txBody>
      </p:sp>
      <p:cxnSp>
        <p:nvCxnSpPr>
          <p:cNvPr id="13" name="Straight Connector 12"/>
          <p:cNvCxnSpPr/>
          <p:nvPr/>
        </p:nvCxnSpPr>
        <p:spPr bwMode="auto">
          <a:xfrm flipH="1">
            <a:off x="5099018" y="2741364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750204" y="36576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1.2.0</a:t>
            </a:r>
            <a:endParaRPr lang="en-US" sz="1800" dirty="0"/>
          </a:p>
        </p:txBody>
      </p:sp>
      <p:sp>
        <p:nvSpPr>
          <p:cNvPr id="14" name="TextBox 13"/>
          <p:cNvSpPr txBox="1"/>
          <p:nvPr/>
        </p:nvSpPr>
        <p:spPr>
          <a:xfrm>
            <a:off x="1904280" y="237203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6</a:t>
            </a:r>
            <a:r>
              <a:rPr lang="en-US" sz="1800" dirty="0" smtClean="0"/>
              <a:t>/2016</a:t>
            </a:r>
            <a:endParaRPr lang="en-US" sz="1800" dirty="0"/>
          </a:p>
        </p:txBody>
      </p:sp>
      <p:cxnSp>
        <p:nvCxnSpPr>
          <p:cNvPr id="15" name="Straight Connector 14"/>
          <p:cNvCxnSpPr/>
          <p:nvPr/>
        </p:nvCxnSpPr>
        <p:spPr bwMode="auto">
          <a:xfrm flipH="1">
            <a:off x="2342279" y="2741364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1993465" y="36576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1.1.4</a:t>
            </a:r>
            <a:endParaRPr lang="en-US" sz="1800" dirty="0"/>
          </a:p>
        </p:txBody>
      </p:sp>
      <p:sp>
        <p:nvSpPr>
          <p:cNvPr id="17" name="Striped Right Arrow 16"/>
          <p:cNvSpPr/>
          <p:nvPr/>
        </p:nvSpPr>
        <p:spPr bwMode="auto">
          <a:xfrm>
            <a:off x="1045382" y="2955544"/>
            <a:ext cx="1265104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23841" y="1796067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RM Production Releases</a:t>
            </a:r>
            <a:endParaRPr lang="en-US" sz="1800" dirty="0"/>
          </a:p>
        </p:txBody>
      </p:sp>
      <p:sp>
        <p:nvSpPr>
          <p:cNvPr id="19" name="Left-Right Arrow 18"/>
          <p:cNvSpPr/>
          <p:nvPr/>
        </p:nvSpPr>
        <p:spPr bwMode="auto">
          <a:xfrm>
            <a:off x="2362200" y="2165399"/>
            <a:ext cx="6096000" cy="177709"/>
          </a:xfrm>
          <a:prstGeom prst="left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69446" y="399128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Bug fixes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1799" y="237040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8</a:t>
            </a:r>
            <a:r>
              <a:rPr lang="en-US" sz="1800" dirty="0" smtClean="0"/>
              <a:t>/2016</a:t>
            </a:r>
            <a:endParaRPr lang="en-US" sz="1800" dirty="0"/>
          </a:p>
        </p:txBody>
      </p:sp>
      <p:cxnSp>
        <p:nvCxnSpPr>
          <p:cNvPr id="23" name="Straight Connector 22"/>
          <p:cNvCxnSpPr/>
          <p:nvPr/>
        </p:nvCxnSpPr>
        <p:spPr bwMode="auto">
          <a:xfrm flipH="1">
            <a:off x="3649798" y="2739740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3300984" y="365597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1.1.5</a:t>
            </a:r>
            <a:endParaRPr lang="en-US" sz="1800" dirty="0"/>
          </a:p>
        </p:txBody>
      </p:sp>
      <p:sp>
        <p:nvSpPr>
          <p:cNvPr id="25" name="Striped Right Arrow 24"/>
          <p:cNvSpPr/>
          <p:nvPr/>
        </p:nvSpPr>
        <p:spPr bwMode="auto">
          <a:xfrm>
            <a:off x="2352901" y="2955544"/>
            <a:ext cx="1265104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76965" y="398965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Bug fixes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9481" y="3989656"/>
            <a:ext cx="14531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2100" algn="ctr"/>
            <a:r>
              <a:rPr lang="en-US" sz="1800"/>
              <a:t>Shared </a:t>
            </a:r>
            <a:r>
              <a:rPr lang="en-US" sz="1800" smtClean="0"/>
              <a:t>memory</a:t>
            </a:r>
          </a:p>
          <a:p>
            <a:pPr marL="292100" algn="ctr"/>
            <a:r>
              <a:rPr lang="en-US" sz="1800" dirty="0" err="1" smtClean="0"/>
              <a:t>datastore</a:t>
            </a:r>
            <a:endParaRPr lang="en-US" sz="1800" dirty="0"/>
          </a:p>
        </p:txBody>
      </p:sp>
      <p:sp>
        <p:nvSpPr>
          <p:cNvPr id="28" name="Striped Right Arrow 27"/>
          <p:cNvSpPr/>
          <p:nvPr/>
        </p:nvSpPr>
        <p:spPr bwMode="auto">
          <a:xfrm>
            <a:off x="3745353" y="2955544"/>
            <a:ext cx="1265104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9" name="Striped Right Arrow 28"/>
          <p:cNvSpPr/>
          <p:nvPr/>
        </p:nvSpPr>
        <p:spPr bwMode="auto">
          <a:xfrm>
            <a:off x="5194574" y="2961705"/>
            <a:ext cx="2273026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56161" y="2877111"/>
            <a:ext cx="1074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Future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969033" y="3508973"/>
            <a:ext cx="21210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Ralph Castain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Intel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1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u="sng" dirty="0" smtClean="0"/>
              <a:t>Reference </a:t>
            </a:r>
            <a:r>
              <a:rPr lang="en-US" u="sng" dirty="0"/>
              <a:t>S</a:t>
            </a:r>
            <a:r>
              <a:rPr lang="en-US" u="sng" dirty="0" smtClean="0"/>
              <a:t>erver</a:t>
            </a:r>
          </a:p>
          <a:p>
            <a:r>
              <a:rPr lang="en-US" dirty="0" smtClean="0"/>
              <a:t>Initial version: DVM</a:t>
            </a:r>
          </a:p>
          <a:p>
            <a:pPr lvl="1"/>
            <a:r>
              <a:rPr lang="en-US" dirty="0" smtClean="0"/>
              <a:t>Interconnected PMIx </a:t>
            </a:r>
            <a:r>
              <a:rPr lang="en-US" dirty="0" smtClean="0"/>
              <a:t>servers</a:t>
            </a:r>
          </a:p>
          <a:p>
            <a:pPr lvl="1"/>
            <a:r>
              <a:rPr lang="en-US" dirty="0" smtClean="0"/>
              <a:t>High-speed, resilient collectives</a:t>
            </a:r>
          </a:p>
          <a:p>
            <a:pPr lvl="2"/>
            <a:r>
              <a:rPr lang="en-US" dirty="0" err="1" smtClean="0"/>
              <a:t>bcast</a:t>
            </a:r>
            <a:r>
              <a:rPr lang="en-US" dirty="0" smtClean="0"/>
              <a:t>, </a:t>
            </a:r>
            <a:r>
              <a:rPr lang="en-US" dirty="0" err="1" smtClean="0"/>
              <a:t>allgather</a:t>
            </a:r>
            <a:r>
              <a:rPr lang="en-US" dirty="0" smtClean="0"/>
              <a:t>/barrier</a:t>
            </a:r>
            <a:endParaRPr lang="en-US" dirty="0" smtClean="0"/>
          </a:p>
          <a:p>
            <a:r>
              <a:rPr lang="en-US" dirty="0" smtClean="0"/>
              <a:t>Future updates: ”fill” mode</a:t>
            </a:r>
          </a:p>
          <a:p>
            <a:pPr lvl="1"/>
            <a:r>
              <a:rPr lang="en-US" dirty="0" smtClean="0"/>
              <a:t>Servers proxy clients to host </a:t>
            </a:r>
            <a:r>
              <a:rPr lang="en-US" dirty="0" smtClean="0"/>
              <a:t>RM</a:t>
            </a:r>
          </a:p>
          <a:p>
            <a:pPr lvl="1"/>
            <a:r>
              <a:rPr lang="en-US" dirty="0" smtClean="0"/>
              <a:t>Complete </a:t>
            </a:r>
            <a:r>
              <a:rPr lang="en-US" dirty="0" smtClean="0"/>
              <a:t>missing host functionality</a:t>
            </a:r>
          </a:p>
          <a:p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3549126" y="6019800"/>
            <a:ext cx="20457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00FF"/>
                </a:solidFill>
                <a:latin typeface="Apple Chancery" charset="0"/>
                <a:ea typeface="Apple Chancery" charset="0"/>
                <a:cs typeface="Apple Chancery" charset="0"/>
              </a:rPr>
              <a:t>Winter 2017</a:t>
            </a:r>
            <a:endParaRPr lang="en-US" sz="2800" dirty="0">
              <a:solidFill>
                <a:srgbClr val="0000FF"/>
              </a:solidFill>
              <a:latin typeface="Apple Chancery" charset="0"/>
              <a:ea typeface="Apple Chancery" charset="0"/>
              <a:cs typeface="Apple Chancer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8301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u="sng" dirty="0" smtClean="0"/>
              <a:t>Debugger Support</a:t>
            </a:r>
          </a:p>
          <a:p>
            <a:r>
              <a:rPr lang="en-US" sz="2400" dirty="0" smtClean="0"/>
              <a:t>Ongoing discussions with MPI Forum Tools WG</a:t>
            </a:r>
          </a:p>
          <a:p>
            <a:pPr lvl="1"/>
            <a:r>
              <a:rPr lang="en-US" sz="2000" dirty="0" smtClean="0"/>
              <a:t>Implement </a:t>
            </a:r>
            <a:r>
              <a:rPr lang="en-US" sz="2000" dirty="0" smtClean="0"/>
              <a:t>proposed MPIR2 </a:t>
            </a:r>
            <a:r>
              <a:rPr lang="en-US" sz="2000" dirty="0" smtClean="0"/>
              <a:t>interface</a:t>
            </a:r>
          </a:p>
          <a:p>
            <a:pPr lvl="1"/>
            <a:r>
              <a:rPr lang="en-US" sz="2000" dirty="0" smtClean="0"/>
              <a:t>Enhance scalability</a:t>
            </a:r>
          </a:p>
          <a:p>
            <a:r>
              <a:rPr lang="en-US" sz="2400" dirty="0" smtClean="0"/>
              <a:t>Exploit tool connection</a:t>
            </a:r>
          </a:p>
          <a:p>
            <a:pPr lvl="1"/>
            <a:r>
              <a:rPr lang="en-US" sz="2000" dirty="0" smtClean="0"/>
              <a:t>Obtain </a:t>
            </a:r>
            <a:r>
              <a:rPr lang="en-US" sz="2000" dirty="0" err="1" smtClean="0"/>
              <a:t>proctable</a:t>
            </a:r>
            <a:r>
              <a:rPr lang="en-US" sz="2000" dirty="0" smtClean="0"/>
              <a:t> info</a:t>
            </a:r>
          </a:p>
          <a:p>
            <a:pPr lvl="1"/>
            <a:r>
              <a:rPr lang="en-US" sz="2000" dirty="0" smtClean="0"/>
              <a:t>Use </a:t>
            </a:r>
            <a:r>
              <a:rPr lang="en-US" sz="2000" dirty="0" err="1" smtClean="0"/>
              <a:t>PMIx_Spawn</a:t>
            </a:r>
            <a:r>
              <a:rPr lang="en-US" sz="2000" dirty="0" smtClean="0"/>
              <a:t> to launch daemons, auto-</a:t>
            </a:r>
            <a:r>
              <a:rPr lang="en-US" sz="2000" dirty="0" err="1" smtClean="0"/>
              <a:t>wireup</a:t>
            </a:r>
            <a:r>
              <a:rPr lang="en-US" sz="2000" dirty="0" smtClean="0"/>
              <a:t>, localize </a:t>
            </a:r>
            <a:r>
              <a:rPr lang="en-US" sz="2000" dirty="0" err="1" smtClean="0"/>
              <a:t>proctable</a:t>
            </a:r>
            <a:r>
              <a:rPr lang="en-US" sz="2000" dirty="0" smtClean="0"/>
              <a:t> retrieval</a:t>
            </a:r>
          </a:p>
          <a:p>
            <a:r>
              <a:rPr lang="en-US" sz="2400" dirty="0" smtClean="0"/>
              <a:t>Extend available supporting info</a:t>
            </a:r>
          </a:p>
          <a:p>
            <a:pPr lvl="1"/>
            <a:r>
              <a:rPr lang="en-US" sz="2000" dirty="0" smtClean="0"/>
              <a:t>Network topology, bandwidth utilization</a:t>
            </a:r>
          </a:p>
          <a:p>
            <a:pPr lvl="1"/>
            <a:r>
              <a:rPr lang="en-US" sz="2000" dirty="0" smtClean="0"/>
              <a:t>Event notification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549126" y="6019800"/>
            <a:ext cx="20457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00FF"/>
                </a:solidFill>
                <a:latin typeface="Apple Chancery" charset="0"/>
                <a:ea typeface="Apple Chancery" charset="0"/>
                <a:cs typeface="Apple Chancery" charset="0"/>
              </a:rPr>
              <a:t>Winter 2017</a:t>
            </a:r>
            <a:endParaRPr lang="en-US" sz="2800" dirty="0">
              <a:solidFill>
                <a:srgbClr val="0000FF"/>
              </a:solidFill>
              <a:latin typeface="Apple Chancery" charset="0"/>
              <a:ea typeface="Apple Chancery" charset="0"/>
              <a:cs typeface="Apple Chancer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522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</a:t>
            </a:r>
            <a:r>
              <a:rPr lang="en-US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u="sng" dirty="0" smtClean="0"/>
              <a:t>Network Support Framework</a:t>
            </a:r>
          </a:p>
          <a:p>
            <a:r>
              <a:rPr lang="en-US" sz="2800" dirty="0" smtClean="0"/>
              <a:t>Interface to 3</a:t>
            </a:r>
            <a:r>
              <a:rPr lang="en-US" sz="2800" baseline="30000" dirty="0" smtClean="0"/>
              <a:t>rd</a:t>
            </a:r>
            <a:r>
              <a:rPr lang="en-US" sz="2800" dirty="0" smtClean="0"/>
              <a:t> party libraries</a:t>
            </a:r>
          </a:p>
          <a:p>
            <a:r>
              <a:rPr lang="en-US" sz="2800" dirty="0" smtClean="0"/>
              <a:t>Enable support for network features</a:t>
            </a:r>
          </a:p>
          <a:p>
            <a:pPr lvl="1"/>
            <a:r>
              <a:rPr lang="en-US" sz="2400" dirty="0" smtClean="0"/>
              <a:t>Precondition of network security keys</a:t>
            </a:r>
          </a:p>
          <a:p>
            <a:pPr lvl="1"/>
            <a:r>
              <a:rPr lang="en-US" sz="2400" dirty="0" smtClean="0"/>
              <a:t>Retrieval of endpoint assignments, topology</a:t>
            </a:r>
          </a:p>
          <a:p>
            <a:r>
              <a:rPr lang="en-US" sz="2800" dirty="0" smtClean="0"/>
              <a:t>Data made available</a:t>
            </a:r>
          </a:p>
          <a:p>
            <a:pPr lvl="1"/>
            <a:r>
              <a:rPr lang="en-US" sz="2400" dirty="0" smtClean="0"/>
              <a:t>In initial job info returned at proc start</a:t>
            </a:r>
          </a:p>
          <a:p>
            <a:pPr lvl="1"/>
            <a:r>
              <a:rPr lang="en-US" sz="2400" dirty="0" smtClean="0"/>
              <a:t>Retrieved by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3169" y="6019800"/>
            <a:ext cx="1997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smtClean="0">
                <a:solidFill>
                  <a:srgbClr val="0000FF"/>
                </a:solidFill>
                <a:latin typeface="Apple Chancery" charset="0"/>
                <a:ea typeface="Apple Chancery" charset="0"/>
                <a:cs typeface="Apple Chancery" charset="0"/>
              </a:rPr>
              <a:t>Spring 2017</a:t>
            </a:r>
            <a:endParaRPr lang="en-US" sz="2800" dirty="0">
              <a:solidFill>
                <a:srgbClr val="0000FF"/>
              </a:solidFill>
              <a:latin typeface="Apple Chancery" charset="0"/>
              <a:ea typeface="Apple Chancery" charset="0"/>
              <a:cs typeface="Apple Chancer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3652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</a:t>
            </a:r>
            <a:r>
              <a:rPr lang="en-US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 u="sng" dirty="0" smtClean="0"/>
              <a:t>IO Support</a:t>
            </a:r>
          </a:p>
          <a:p>
            <a:r>
              <a:rPr lang="en-US" sz="2400" dirty="0" smtClean="0"/>
              <a:t>Reduce launch time</a:t>
            </a:r>
          </a:p>
          <a:p>
            <a:pPr lvl="1"/>
            <a:r>
              <a:rPr lang="en-US" sz="2000" dirty="0" smtClean="0"/>
              <a:t>Current practices</a:t>
            </a:r>
          </a:p>
          <a:p>
            <a:pPr lvl="2"/>
            <a:r>
              <a:rPr lang="en-US" sz="1800" dirty="0" smtClean="0"/>
              <a:t>Reactive cache/forward</a:t>
            </a:r>
          </a:p>
          <a:p>
            <a:pPr lvl="2"/>
            <a:r>
              <a:rPr lang="en-US" sz="1800" dirty="0" smtClean="0"/>
              <a:t>Static builds</a:t>
            </a:r>
          </a:p>
          <a:p>
            <a:pPr lvl="1"/>
            <a:r>
              <a:rPr lang="en-US" sz="2000" dirty="0" smtClean="0"/>
              <a:t>Proactive pre-positioning</a:t>
            </a:r>
          </a:p>
          <a:p>
            <a:pPr lvl="2"/>
            <a:r>
              <a:rPr lang="en-US" sz="1800" dirty="0" smtClean="0"/>
              <a:t>Examine provided job/script</a:t>
            </a:r>
          </a:p>
          <a:p>
            <a:pPr lvl="2"/>
            <a:r>
              <a:rPr lang="en-US" sz="1800" dirty="0"/>
              <a:t>R</a:t>
            </a:r>
            <a:r>
              <a:rPr lang="en-US" sz="1800" dirty="0" smtClean="0"/>
              <a:t>eturn array of binaries and libraries required for execution</a:t>
            </a:r>
          </a:p>
          <a:p>
            <a:r>
              <a:rPr lang="en-US" sz="2400" dirty="0" smtClean="0"/>
              <a:t>Enhance execution</a:t>
            </a:r>
          </a:p>
          <a:p>
            <a:pPr lvl="1"/>
            <a:r>
              <a:rPr lang="en-US" sz="2000" dirty="0" smtClean="0"/>
              <a:t>Request </a:t>
            </a:r>
            <a:r>
              <a:rPr lang="en-US" sz="2000" dirty="0" err="1" smtClean="0"/>
              <a:t>async</a:t>
            </a:r>
            <a:r>
              <a:rPr lang="en-US" sz="2000" dirty="0" smtClean="0"/>
              <a:t> file positioning</a:t>
            </a:r>
          </a:p>
          <a:p>
            <a:pPr lvl="2"/>
            <a:r>
              <a:rPr lang="en-US" sz="1800" dirty="0"/>
              <a:t>C</a:t>
            </a:r>
            <a:r>
              <a:rPr lang="en-US" sz="1800" dirty="0" smtClean="0"/>
              <a:t>allback when ready</a:t>
            </a:r>
          </a:p>
          <a:p>
            <a:pPr lvl="1"/>
            <a:r>
              <a:rPr lang="en-US" sz="2000" dirty="0" smtClean="0"/>
              <a:t>Specify persistence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48135" y="6258580"/>
            <a:ext cx="2247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00FF"/>
                </a:solidFill>
                <a:latin typeface="Apple Chancery" charset="0"/>
                <a:ea typeface="Apple Chancery" charset="0"/>
                <a:cs typeface="Apple Chancery" charset="0"/>
              </a:rPr>
              <a:t>Summer 2017</a:t>
            </a:r>
            <a:endParaRPr lang="en-US" sz="2800" dirty="0">
              <a:solidFill>
                <a:srgbClr val="0000FF"/>
              </a:solidFill>
              <a:latin typeface="Apple Chancery" charset="0"/>
              <a:ea typeface="Apple Chancery" charset="0"/>
              <a:cs typeface="Apple Chancer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4408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</a:t>
            </a:r>
            <a:r>
              <a:rPr lang="en-US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u="sng" dirty="0" smtClean="0"/>
              <a:t>Generalized Data Store (GDS)</a:t>
            </a:r>
          </a:p>
          <a:p>
            <a:r>
              <a:rPr lang="en-US" sz="2800" dirty="0" smtClean="0"/>
              <a:t>Abstracted view of data store</a:t>
            </a:r>
          </a:p>
          <a:p>
            <a:pPr lvl="1"/>
            <a:r>
              <a:rPr lang="en-US" sz="2400" dirty="0"/>
              <a:t>M</a:t>
            </a:r>
            <a:r>
              <a:rPr lang="en-US" sz="2400" dirty="0" smtClean="0"/>
              <a:t>ultiple plugins for different implementations</a:t>
            </a:r>
          </a:p>
          <a:p>
            <a:pPr lvl="2"/>
            <a:r>
              <a:rPr lang="en-US" sz="2000" dirty="0" smtClean="0"/>
              <a:t>Local (hot) storage</a:t>
            </a:r>
          </a:p>
          <a:p>
            <a:pPr lvl="2"/>
            <a:r>
              <a:rPr lang="en-US" sz="2000" dirty="0" smtClean="0"/>
              <a:t>Distributed (warm) models</a:t>
            </a:r>
          </a:p>
          <a:p>
            <a:pPr lvl="2"/>
            <a:r>
              <a:rPr lang="en-US" sz="2000" dirty="0" smtClean="0"/>
              <a:t>Database (cold) storage</a:t>
            </a:r>
          </a:p>
          <a:p>
            <a:r>
              <a:rPr lang="en-US" sz="2800" dirty="0" smtClean="0"/>
              <a:t>Explore alternative paradigms</a:t>
            </a:r>
          </a:p>
          <a:p>
            <a:pPr lvl="1"/>
            <a:r>
              <a:rPr lang="en-US" sz="2400" dirty="0" smtClean="0"/>
              <a:t>Job info, </a:t>
            </a:r>
            <a:r>
              <a:rPr lang="en-US" sz="2400" dirty="0" err="1" smtClean="0"/>
              <a:t>wireup</a:t>
            </a:r>
            <a:r>
              <a:rPr lang="en-US" sz="2400" dirty="0" smtClean="0"/>
              <a:t> data</a:t>
            </a:r>
          </a:p>
          <a:p>
            <a:pPr lvl="1"/>
            <a:r>
              <a:rPr lang="en-US" sz="2400" dirty="0" smtClean="0"/>
              <a:t>Publish/lookup</a:t>
            </a:r>
          </a:p>
          <a:p>
            <a:pPr lvl="1"/>
            <a:r>
              <a:rPr lang="en-US" sz="2400" dirty="0" smtClean="0"/>
              <a:t>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54309" y="6019800"/>
            <a:ext cx="16353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00FF"/>
                </a:solidFill>
                <a:latin typeface="Apple Chancery" charset="0"/>
                <a:ea typeface="Apple Chancery" charset="0"/>
                <a:cs typeface="Apple Chancery" charset="0"/>
              </a:rPr>
              <a:t>Fall 2017</a:t>
            </a:r>
            <a:endParaRPr lang="en-US" sz="2800" dirty="0">
              <a:solidFill>
                <a:srgbClr val="0000FF"/>
              </a:solidFill>
              <a:latin typeface="Apple Chancery" charset="0"/>
              <a:ea typeface="Apple Chancery" charset="0"/>
              <a:cs typeface="Apple Chancer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1268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Discussion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19100" y="2057400"/>
            <a:ext cx="8305800" cy="13716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We now have an interface library the RMs will support for application-directed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0700" y="3810000"/>
            <a:ext cx="5562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>
                <a:solidFill>
                  <a:srgbClr val="FF0000"/>
                </a:solidFill>
              </a:rPr>
              <a:t>Need to collaboratively define what we want to do with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5268218"/>
            <a:ext cx="7048500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2800" b="1" dirty="0"/>
              <a:t>Project: </a:t>
            </a:r>
            <a:r>
              <a:rPr lang="en-US" sz="2800" b="1" dirty="0">
                <a:hlinkClick r:id="rId2"/>
              </a:rPr>
              <a:t>https://pmix.github.io/master</a:t>
            </a:r>
            <a:endParaRPr lang="en-US" sz="2800" b="1" dirty="0"/>
          </a:p>
          <a:p>
            <a:pPr>
              <a:spcBef>
                <a:spcPts val="300"/>
              </a:spcBef>
            </a:pPr>
            <a:r>
              <a:rPr lang="en-US" sz="2800" b="1" dirty="0"/>
              <a:t>Code: </a:t>
            </a:r>
            <a:r>
              <a:rPr lang="en-US" sz="2800" b="1" dirty="0">
                <a:solidFill>
                  <a:srgbClr val="00B050"/>
                </a:solidFill>
                <a:hlinkClick r:id="rId3"/>
              </a:rPr>
              <a:t>https://github.com/pmix</a:t>
            </a:r>
            <a:endParaRPr lang="en-US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8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mpi-workshop-template">
  <a:themeElements>
    <a:clrScheme name="ompi-workshop-template 3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5B87F2"/>
      </a:accent1>
      <a:accent2>
        <a:srgbClr val="555555"/>
      </a:accent2>
      <a:accent3>
        <a:srgbClr val="FFFFFF"/>
      </a:accent3>
      <a:accent4>
        <a:srgbClr val="000000"/>
      </a:accent4>
      <a:accent5>
        <a:srgbClr val="B5C3F7"/>
      </a:accent5>
      <a:accent6>
        <a:srgbClr val="4C4C4C"/>
      </a:accent6>
      <a:hlink>
        <a:srgbClr val="5DA31E"/>
      </a:hlink>
      <a:folHlink>
        <a:srgbClr val="BAD41A"/>
      </a:folHlink>
    </a:clrScheme>
    <a:fontScheme name="ompi-workshop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lnDef>
  </a:objectDefaults>
  <a:extraClrSchemeLst>
    <a:extraClrScheme>
      <a:clrScheme name="ompi-workshop-template 1">
        <a:dk1>
          <a:srgbClr val="000000"/>
        </a:dk1>
        <a:lt1>
          <a:srgbClr val="FFFFFF"/>
        </a:lt1>
        <a:dk2>
          <a:srgbClr val="003366"/>
        </a:dk2>
        <a:lt2>
          <a:srgbClr val="AAAAAA"/>
        </a:lt2>
        <a:accent1>
          <a:srgbClr val="EEEEEE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F5F5F5"/>
        </a:accent5>
        <a:accent6>
          <a:srgbClr val="002D5C"/>
        </a:accent6>
        <a:hlink>
          <a:srgbClr val="5B87F2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2">
        <a:dk1>
          <a:srgbClr val="000000"/>
        </a:dk1>
        <a:lt1>
          <a:srgbClr val="FFFFFF"/>
        </a:lt1>
        <a:dk2>
          <a:srgbClr val="FFFFFF"/>
        </a:dk2>
        <a:lt2>
          <a:srgbClr val="888888"/>
        </a:lt2>
        <a:accent1>
          <a:srgbClr val="BAD41A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D9E6AB"/>
        </a:accent5>
        <a:accent6>
          <a:srgbClr val="744BBD"/>
        </a:accent6>
        <a:hlink>
          <a:srgbClr val="5DA31E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3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5B87F2"/>
        </a:accent1>
        <a:accent2>
          <a:srgbClr val="555555"/>
        </a:accent2>
        <a:accent3>
          <a:srgbClr val="FFFFFF"/>
        </a:accent3>
        <a:accent4>
          <a:srgbClr val="000000"/>
        </a:accent4>
        <a:accent5>
          <a:srgbClr val="B5C3F7"/>
        </a:accent5>
        <a:accent6>
          <a:srgbClr val="4C4C4C"/>
        </a:accent6>
        <a:hlink>
          <a:srgbClr val="5DA31E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4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A8A8"/>
        </a:accent1>
        <a:accent2>
          <a:srgbClr val="FFCC18"/>
        </a:accent2>
        <a:accent3>
          <a:srgbClr val="FFFFFF"/>
        </a:accent3>
        <a:accent4>
          <a:srgbClr val="000000"/>
        </a:accent4>
        <a:accent5>
          <a:srgbClr val="FFD1D1"/>
        </a:accent5>
        <a:accent6>
          <a:srgbClr val="E7B915"/>
        </a:accent6>
        <a:hlink>
          <a:srgbClr val="6876E7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5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6E658"/>
        </a:accent1>
        <a:accent2>
          <a:srgbClr val="8CBC1C"/>
        </a:accent2>
        <a:accent3>
          <a:srgbClr val="FFFFFF"/>
        </a:accent3>
        <a:accent4>
          <a:srgbClr val="000000"/>
        </a:accent4>
        <a:accent5>
          <a:srgbClr val="F0F0B4"/>
        </a:accent5>
        <a:accent6>
          <a:srgbClr val="7EAA18"/>
        </a:accent6>
        <a:hlink>
          <a:srgbClr val="6876E7"/>
        </a:hlink>
        <a:folHlink>
          <a:srgbClr val="5FBD7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6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5918BB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B5ABDA"/>
        </a:accent5>
        <a:accent6>
          <a:srgbClr val="744BBD"/>
        </a:accent6>
        <a:hlink>
          <a:srgbClr val="DC54AD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7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FF7518"/>
        </a:accent1>
        <a:accent2>
          <a:srgbClr val="888888"/>
        </a:accent2>
        <a:accent3>
          <a:srgbClr val="FFFFFF"/>
        </a:accent3>
        <a:accent4>
          <a:srgbClr val="000000"/>
        </a:accent4>
        <a:accent5>
          <a:srgbClr val="FFBDAB"/>
        </a:accent5>
        <a:accent6>
          <a:srgbClr val="7B7B7B"/>
        </a:accent6>
        <a:hlink>
          <a:srgbClr val="8CBC1C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mpi-bof-template" id="{2CC4CF84-ED86-4C43-90A3-CA953FF9559E}" vid="{37556C59-F0C7-6645-B5AB-2707A1FED1F8}"/>
    </a:ext>
  </a:extLst>
</a:theme>
</file>

<file path=ppt/theme/theme2.xml><?xml version="1.0" encoding="utf-8"?>
<a:theme xmlns:a="http://schemas.openxmlformats.org/drawingml/2006/main" name="PPT_Temp_Corp_4x3_BLK_2007 - Copy">
  <a:themeElements>
    <a:clrScheme name="PPT_Template_Corp_4x3_rev1 1">
      <a:dk1>
        <a:srgbClr val="808080"/>
      </a:dk1>
      <a:lt1>
        <a:srgbClr val="FFFFFF"/>
      </a:lt1>
      <a:dk2>
        <a:srgbClr val="000000"/>
      </a:dk2>
      <a:lt2>
        <a:srgbClr val="B9E700"/>
      </a:lt2>
      <a:accent1>
        <a:srgbClr val="33CCCC"/>
      </a:accent1>
      <a:accent2>
        <a:srgbClr val="FF9933"/>
      </a:accent2>
      <a:accent3>
        <a:srgbClr val="AAAAAA"/>
      </a:accent3>
      <a:accent4>
        <a:srgbClr val="DADADA"/>
      </a:accent4>
      <a:accent5>
        <a:srgbClr val="ADE2E2"/>
      </a:accent5>
      <a:accent6>
        <a:srgbClr val="E78A2D"/>
      </a:accent6>
      <a:hlink>
        <a:srgbClr val="99CCFF"/>
      </a:hlink>
      <a:folHlink>
        <a:srgbClr val="0000FF"/>
      </a:folHlink>
    </a:clrScheme>
    <a:fontScheme name="PPT_Template_Corp_4x3_re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Corp_4x3_rev1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mpi-bof-template" id="{2CC4CF84-ED86-4C43-90A3-CA953FF9559E}" vid="{3098944D-4998-DA4A-B120-6A0C919751F7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pmix-bof-template</Template>
  <TotalTime>32265</TotalTime>
  <Words>1336</Words>
  <Application>Microsoft Macintosh PowerPoint</Application>
  <PresentationFormat>On-screen Show (4:3)</PresentationFormat>
  <Paragraphs>363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Apple Chancery</vt:lpstr>
      <vt:lpstr>Calibri</vt:lpstr>
      <vt:lpstr>Marker Felt Thin</vt:lpstr>
      <vt:lpstr>Matura MT Script Capitals</vt:lpstr>
      <vt:lpstr>ＭＳ Ｐゴシック</vt:lpstr>
      <vt:lpstr>Times</vt:lpstr>
      <vt:lpstr>Wingdings</vt:lpstr>
      <vt:lpstr>Arial</vt:lpstr>
      <vt:lpstr>ompi-workshop-template</vt:lpstr>
      <vt:lpstr>PPT_Temp_Corp_4x3_BLK_2007 - Copy</vt:lpstr>
      <vt:lpstr>Process Management Interface – Exascale</vt:lpstr>
      <vt:lpstr>Agenda</vt:lpstr>
      <vt:lpstr>Charter?</vt:lpstr>
      <vt:lpstr>What Is PMIx?</vt:lpstr>
      <vt:lpstr>What Is PMIx?</vt:lpstr>
      <vt:lpstr>Required: Caveat</vt:lpstr>
      <vt:lpstr>Why Not Part of MPI Forum?</vt:lpstr>
      <vt:lpstr>PMIx “Standards” Process</vt:lpstr>
      <vt:lpstr>PMIx Numbering</vt:lpstr>
      <vt:lpstr>Regression Testing?</vt:lpstr>
      <vt:lpstr>Adoption?</vt:lpstr>
      <vt:lpstr>Agenda</vt:lpstr>
      <vt:lpstr>PMIx/UCX job-start use case</vt:lpstr>
      <vt:lpstr>PMIx/UCX job-start usecase</vt:lpstr>
      <vt:lpstr>v1.2.0</vt:lpstr>
      <vt:lpstr>Shared memory data storage (architecture)</vt:lpstr>
      <vt:lpstr>Shared memory data storage (architecture)</vt:lpstr>
      <vt:lpstr>Shared memory data storage (synthetic performance test)</vt:lpstr>
      <vt:lpstr>Shared memory data storage (synthetic performance test) [2]</vt:lpstr>
      <vt:lpstr>Shared memory data storage (synthetic performance test) [3]</vt:lpstr>
      <vt:lpstr>PMIx Roadmap</vt:lpstr>
      <vt:lpstr>Tool Support</vt:lpstr>
      <vt:lpstr>Tool Support</vt:lpstr>
      <vt:lpstr>New Flexibility</vt:lpstr>
      <vt:lpstr>Obsolescence Protection</vt:lpstr>
      <vt:lpstr>Notification</vt:lpstr>
      <vt:lpstr>Logging</vt:lpstr>
      <vt:lpstr>PMIx Roadmap</vt:lpstr>
      <vt:lpstr>Future Features</vt:lpstr>
      <vt:lpstr>Future Features</vt:lpstr>
      <vt:lpstr>Future Features</vt:lpstr>
      <vt:lpstr>Future Features</vt:lpstr>
      <vt:lpstr>Future Features</vt:lpstr>
      <vt:lpstr>Open Discussion</vt:lpstr>
    </vt:vector>
  </TitlesOfParts>
  <LinksUpToDate>false</LinksUpToDate>
  <SharedDoc>false</SharedDoc>
  <HyperlinksChanged>false</HyperlinksChanged>
  <AppVersion>15.0028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PMIx</dc:title>
  <dc:creator>Ralph Castain</dc:creator>
  <cp:lastModifiedBy>Microsoft Office User</cp:lastModifiedBy>
  <cp:revision>383</cp:revision>
  <cp:lastPrinted>2015-11-19T21:30:51Z</cp:lastPrinted>
  <dcterms:created xsi:type="dcterms:W3CDTF">2015-11-04T14:50:44Z</dcterms:created>
  <dcterms:modified xsi:type="dcterms:W3CDTF">2016-11-16T15:47:52Z</dcterms:modified>
</cp:coreProperties>
</file>