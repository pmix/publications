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tiff" ContentType="image/tiff"/>
  <Default Extension="rels" ContentType="application/vnd.openxmlformats-package.relationships+xml"/>
  <Default Extension="vml" ContentType="application/vnd.openxmlformats-officedocument.vmlDrawing"/>
  <Default Extension="xls" ContentType="application/vnd.ms-exce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9" r:id="rId2"/>
    <p:sldId id="306" r:id="rId3"/>
    <p:sldId id="281" r:id="rId4"/>
    <p:sldId id="321" r:id="rId5"/>
    <p:sldId id="399" r:id="rId6"/>
    <p:sldId id="423" r:id="rId7"/>
    <p:sldId id="310" r:id="rId8"/>
    <p:sldId id="409" r:id="rId9"/>
    <p:sldId id="410" r:id="rId10"/>
    <p:sldId id="412" r:id="rId11"/>
    <p:sldId id="413" r:id="rId12"/>
    <p:sldId id="414" r:id="rId13"/>
    <p:sldId id="415" r:id="rId14"/>
    <p:sldId id="417" r:id="rId15"/>
    <p:sldId id="418" r:id="rId16"/>
    <p:sldId id="419" r:id="rId17"/>
    <p:sldId id="420" r:id="rId18"/>
    <p:sldId id="421" r:id="rId19"/>
    <p:sldId id="422" r:id="rId20"/>
    <p:sldId id="402" r:id="rId21"/>
    <p:sldId id="316" r:id="rId22"/>
    <p:sldId id="381" r:id="rId23"/>
    <p:sldId id="356" r:id="rId24"/>
    <p:sldId id="389" r:id="rId25"/>
    <p:sldId id="393" r:id="rId26"/>
    <p:sldId id="297" r:id="rId27"/>
    <p:sldId id="355" r:id="rId28"/>
    <p:sldId id="375" r:id="rId29"/>
    <p:sldId id="331" r:id="rId30"/>
    <p:sldId id="390" r:id="rId31"/>
    <p:sldId id="383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00080"/>
    <a:srgbClr val="00FF00"/>
    <a:srgbClr val="00FF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35" autoAdjust="0"/>
    <p:restoredTop sz="91114" autoAdjust="0"/>
  </p:normalViewPr>
  <p:slideViewPr>
    <p:cSldViewPr snapToGrid="0">
      <p:cViewPr>
        <p:scale>
          <a:sx n="90" d="100"/>
          <a:sy n="90" d="100"/>
        </p:scale>
        <p:origin x="-1024" y="-624"/>
      </p:cViewPr>
      <p:guideLst>
        <p:guide orient="horz" pos="2160"/>
        <p:guide orient="horz" pos="576"/>
        <p:guide pos="2880"/>
        <p:guide pos="288"/>
      </p:guideLst>
    </p:cSldViewPr>
  </p:slideViewPr>
  <p:outlineViewPr>
    <p:cViewPr>
      <p:scale>
        <a:sx n="33" d="100"/>
        <a:sy n="33" d="100"/>
      </p:scale>
      <p:origin x="0" y="9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interSettings" Target="printerSettings/printerSettings1.bin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3E0E8-2936-0B45-A253-98FEF0DF28DB}" type="datetimeFigureOut">
              <a:rPr lang="en-US" smtClean="0"/>
              <a:t>1/17/16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2F6DC-5E6E-CE46-8690-CBF547389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545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506C0-3FFE-45A5-803D-9F4FC5464A70}" type="datetimeFigureOut">
              <a:rPr lang="en-US" smtClean="0"/>
              <a:t>1/17/16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46707-6BBD-41A9-B4DF-0C76A73A2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2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F3F042-EBB4-9144-9D49-6F74CE697EC5}" type="slidenum">
              <a:rPr lang="en-US"/>
              <a:pPr/>
              <a:t>29</a:t>
            </a:fld>
            <a:endParaRPr lang="en-US"/>
          </a:p>
        </p:txBody>
      </p:sp>
      <p:sp>
        <p:nvSpPr>
          <p:cNvPr id="137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37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733203"/>
            <a:ext cx="9144000" cy="61247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7000" y="1295400"/>
            <a:ext cx="901373" cy="901373"/>
          </a:xfrm>
          <a:prstGeom prst="ellipse">
            <a:avLst/>
          </a:prstGeom>
          <a:ln>
            <a:noFill/>
          </a:ln>
          <a:effectLst>
            <a:outerShdw blurRad="292100" dist="76200" dir="2700000" algn="tl" rotWithShape="0">
              <a:srgbClr val="333333">
                <a:alpha val="50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1200" y="1905000"/>
            <a:ext cx="1240461" cy="1240461"/>
          </a:xfrm>
          <a:prstGeom prst="ellipse">
            <a:avLst/>
          </a:prstGeom>
          <a:ln>
            <a:noFill/>
          </a:ln>
          <a:effectLst>
            <a:outerShdw blurRad="292100" dist="76200" dir="2700000" algn="tl" rotWithShape="0">
              <a:srgbClr val="333333">
                <a:alpha val="50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05600" y="2209800"/>
            <a:ext cx="1828800" cy="1828800"/>
          </a:xfrm>
          <a:prstGeom prst="ellipse">
            <a:avLst/>
          </a:prstGeom>
          <a:ln>
            <a:noFill/>
          </a:ln>
          <a:effectLst>
            <a:outerShdw blurRad="292100" dist="76200" dir="2700000" algn="tl" rotWithShape="0">
              <a:srgbClr val="333333">
                <a:alpha val="50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381001"/>
            <a:ext cx="7772400" cy="761999"/>
          </a:xfrm>
        </p:spPr>
        <p:txBody>
          <a:bodyPr anchor="t"/>
          <a:lstStyle>
            <a:lvl1pPr algn="l">
              <a:defRPr>
                <a:latin typeface="Georgia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9948" y="1219200"/>
            <a:ext cx="5275052" cy="1295400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15F8-D73F-9F44-81FC-CDD1B3E3852A}" type="datetime1">
              <a:rPr lang="en-US" smtClean="0"/>
              <a:t>1/17/16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Intel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/>
          <a:srcRect l="-92" t="50811" r="45394" b="-590"/>
          <a:stretch/>
        </p:blipFill>
        <p:spPr>
          <a:xfrm>
            <a:off x="-13648" y="0"/>
            <a:ext cx="9157648" cy="55822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800" y="1066799"/>
            <a:ext cx="1979920" cy="2013807"/>
          </a:xfrm>
          <a:prstGeom prst="ellipse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68304" y="1905000"/>
            <a:ext cx="5105400" cy="1143001"/>
          </a:xfrm>
        </p:spPr>
        <p:txBody>
          <a:bodyPr anchor="b" anchorCtr="0">
            <a:normAutofit/>
          </a:bodyPr>
          <a:lstStyle>
            <a:lvl1pPr algn="l">
              <a:defRPr sz="3600" b="0" cap="none">
                <a:latin typeface="Georgia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0" y="3048000"/>
            <a:ext cx="5105400" cy="1500187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4D05-0145-AE4B-8085-4D69E09D1377}" type="datetime1">
              <a:rPr lang="en-US" smtClean="0"/>
              <a:t>1/17/16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Intel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914400"/>
          </a:xfrm>
        </p:spPr>
        <p:txBody>
          <a:bodyPr anchor="t">
            <a:normAutofit/>
          </a:bodyPr>
          <a:lstStyle>
            <a:lvl1pPr algn="l">
              <a:defRPr sz="2800">
                <a:latin typeface="Georgia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lnSpc>
                <a:spcPct val="150000"/>
              </a:lnSpc>
              <a:spcBef>
                <a:spcPts val="0"/>
              </a:spcBef>
              <a:buSzPct val="130000"/>
              <a:buFont typeface="Arial" pitchFamily="34" charset="0"/>
              <a:buChar char="•"/>
              <a:defRPr sz="2000">
                <a:latin typeface="Georgia" pitchFamily="18" charset="0"/>
              </a:defRPr>
            </a:lvl1pPr>
            <a:lvl2pPr marL="571500" indent="-228600">
              <a:lnSpc>
                <a:spcPct val="150000"/>
              </a:lnSpc>
              <a:spcBef>
                <a:spcPts val="0"/>
              </a:spcBef>
              <a:buSzPct val="60000"/>
              <a:buFont typeface="Courier New" pitchFamily="49" charset="0"/>
              <a:buChar char="o"/>
              <a:defRPr sz="1800">
                <a:latin typeface="Georgia" pitchFamily="18" charset="0"/>
              </a:defRPr>
            </a:lvl2pPr>
            <a:lvl3pPr>
              <a:defRPr sz="2000">
                <a:latin typeface="Georgia" pitchFamily="18" charset="0"/>
              </a:defRPr>
            </a:lvl3pPr>
            <a:lvl4pPr>
              <a:defRPr sz="2000">
                <a:latin typeface="Georgia" pitchFamily="18" charset="0"/>
              </a:defRPr>
            </a:lvl4pPr>
            <a:lvl5pPr>
              <a:defRPr sz="2000">
                <a:latin typeface="Georgia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EF540-4E8D-1341-9CDB-F1EBA0DA8EC5}" type="datetime1">
              <a:rPr lang="en-US" smtClean="0"/>
              <a:t>1/17/16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Intel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297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297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404E-1A91-364E-A42D-ABA22CC8F64C}" type="datetime1">
              <a:rPr lang="en-US" smtClean="0"/>
              <a:t>1/17/16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Intel Confidential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609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F77F9-7169-CB47-A884-C4314FD89327}" type="datetime1">
              <a:rPr lang="en-US" smtClean="0"/>
              <a:t>1/17/16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Intel Confidential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ACD5F-D42D-9C43-9F91-24CD42EFA150}" type="datetime1">
              <a:rPr lang="en-US" smtClean="0"/>
              <a:t>1/17/16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Intel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C76-673C-F244-A64E-74A251BEEA48}" type="datetime1">
              <a:rPr lang="en-US" smtClean="0"/>
              <a:t>1/17/16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Intel Confidential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3008313" cy="7620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2117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52600"/>
            <a:ext cx="3008313" cy="43735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13A8-789A-3446-8724-36533727B8B0}" type="datetime1">
              <a:rPr lang="en-US" smtClean="0"/>
              <a:t>1/17/16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Intel Confidential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35FE-6F00-054A-B843-ED67129B8FD9}" type="datetime1">
              <a:rPr lang="en-US" smtClean="0"/>
              <a:t>1/17/16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Intel Confidential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6FC21-92A1-C148-854F-6EDA7F068A17}" type="datetime1">
              <a:rPr lang="en-US" smtClean="0"/>
              <a:t>1/17/16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Intel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0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0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82F8C-D654-AA47-8520-90D1A3794C0C}" type="datetime1">
              <a:rPr lang="en-US" smtClean="0"/>
              <a:t>1/17/16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Intel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411797"/>
            <a:ext cx="82296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28pt Arial Headline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604434"/>
            <a:ext cx="8228012" cy="4567767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 smtClean="0"/>
              <a:t>18pt Arial body text</a:t>
            </a:r>
          </a:p>
          <a:p>
            <a:pPr lvl="1"/>
            <a:r>
              <a:rPr lang="en-US" dirty="0" smtClean="0"/>
              <a:t>18pt Arial bullet one</a:t>
            </a:r>
          </a:p>
          <a:p>
            <a:pPr lvl="2"/>
            <a:r>
              <a:rPr lang="en-US" dirty="0" smtClean="0"/>
              <a:t>16pt Arial sub-bullet</a:t>
            </a:r>
          </a:p>
          <a:p>
            <a:pPr lvl="3"/>
            <a:r>
              <a:rPr lang="en-US" dirty="0" smtClean="0"/>
              <a:t>14pt Arial fourth level</a:t>
            </a:r>
          </a:p>
          <a:p>
            <a:pPr lvl="4"/>
            <a:r>
              <a:rPr lang="en-US" dirty="0" smtClean="0"/>
              <a:t>12pt Arial 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4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82296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33436-E187-5242-B842-17BCA84916F5}" type="datetime1">
              <a:rPr lang="en-US" smtClean="0"/>
              <a:t>1/17/16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Intel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4"/>
          <a:stretch/>
        </p:blipFill>
        <p:spPr>
          <a:xfrm>
            <a:off x="-13251" y="0"/>
            <a:ext cx="9157252" cy="6604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Relationship Id="rId1" Type="http://schemas.openxmlformats.org/officeDocument/2006/relationships/tags" Target="../tags/tag1.xml"/><Relationship Id="rId2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image" Target="../media/image8.emf"/><Relationship Id="rId5" Type="http://schemas.openxmlformats.org/officeDocument/2006/relationships/image" Target="../media/image9.emf"/><Relationship Id="rId1" Type="http://schemas.openxmlformats.org/officeDocument/2006/relationships/tags" Target="../tags/tag4.xml"/><Relationship Id="rId2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_-_2004_Worksheet1.xls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_-_2004_Worksheet2.xls"/><Relationship Id="rId4" Type="http://schemas.openxmlformats.org/officeDocument/2006/relationships/image" Target="../media/image15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_-_2004_Worksheet3.xls"/><Relationship Id="rId4" Type="http://schemas.openxmlformats.org/officeDocument/2006/relationships/image" Target="../media/image15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_-_2004_Worksheet4.xls"/><Relationship Id="rId4" Type="http://schemas.openxmlformats.org/officeDocument/2006/relationships/image" Target="../media/image15.png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HPC Resource Management: View to the Future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 smtClean="0"/>
              <a:t>Ralph H. Castain</a:t>
            </a:r>
          </a:p>
          <a:p>
            <a:r>
              <a:rPr lang="en-US" dirty="0" smtClean="0"/>
              <a:t>Jan 27, 2016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Intel Confidential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Definition: 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Scheduler</a:t>
            </a:r>
            <a:r>
              <a:rPr lang="en-US" dirty="0"/>
              <a:t>/Workload </a:t>
            </a:r>
            <a:r>
              <a:rPr lang="en-US" dirty="0" smtClean="0"/>
              <a:t>Manager (WLM)</a:t>
            </a:r>
            <a:endParaRPr lang="en-US" dirty="0"/>
          </a:p>
          <a:p>
            <a:pPr lvl="1"/>
            <a:r>
              <a:rPr lang="en-US" dirty="0"/>
              <a:t>Allocates resources to session</a:t>
            </a:r>
          </a:p>
          <a:p>
            <a:pPr lvl="1"/>
            <a:r>
              <a:rPr lang="en-US" dirty="0"/>
              <a:t>Interactive and batch</a:t>
            </a:r>
          </a:p>
          <a:p>
            <a:r>
              <a:rPr lang="en-US" dirty="0"/>
              <a:t>Run-Time Environment</a:t>
            </a:r>
          </a:p>
          <a:p>
            <a:pPr lvl="1"/>
            <a:r>
              <a:rPr lang="en-US" dirty="0"/>
              <a:t>Launch and monitor applications</a:t>
            </a:r>
          </a:p>
          <a:p>
            <a:pPr lvl="1"/>
            <a:r>
              <a:rPr lang="en-US" dirty="0"/>
              <a:t>Support inter-process communication </a:t>
            </a:r>
            <a:r>
              <a:rPr lang="en-US" dirty="0" err="1" smtClean="0"/>
              <a:t>wireup</a:t>
            </a:r>
            <a:endParaRPr lang="en-US" dirty="0" smtClean="0"/>
          </a:p>
          <a:p>
            <a:pPr lvl="1"/>
            <a:r>
              <a:rPr lang="en-US" dirty="0" smtClean="0"/>
              <a:t>Serve as intermediary between applications and </a:t>
            </a:r>
            <a:r>
              <a:rPr lang="en-US" dirty="0" smtClean="0"/>
              <a:t>WLM</a:t>
            </a:r>
            <a:endParaRPr lang="en-US" dirty="0" smtClean="0"/>
          </a:p>
          <a:p>
            <a:pPr lvl="2"/>
            <a:r>
              <a:rPr lang="en-US" sz="1600" dirty="0" smtClean="0"/>
              <a:t>Dynamic resource requests</a:t>
            </a:r>
          </a:p>
          <a:p>
            <a:pPr lvl="2"/>
            <a:r>
              <a:rPr lang="en-US" sz="1600" dirty="0" smtClean="0"/>
              <a:t>Error notification</a:t>
            </a:r>
          </a:p>
          <a:p>
            <a:pPr lvl="1"/>
            <a:r>
              <a:rPr lang="en-US" dirty="0" smtClean="0"/>
              <a:t>Implement failure policies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67818D-2848-4F66-A049-B44B684AE478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74995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Provided as complete package (WLM+RTE)</a:t>
            </a:r>
          </a:p>
          <a:p>
            <a:pPr lvl="1"/>
            <a:r>
              <a:rPr lang="en-US" dirty="0" smtClean="0"/>
              <a:t>Sometimes offer hook to replace one</a:t>
            </a:r>
          </a:p>
          <a:p>
            <a:pPr lvl="1"/>
            <a:r>
              <a:rPr lang="en-US" dirty="0" smtClean="0"/>
              <a:t>Mostly proprietary</a:t>
            </a:r>
          </a:p>
          <a:p>
            <a:pPr lvl="1"/>
            <a:r>
              <a:rPr lang="en-US" dirty="0" smtClean="0"/>
              <a:t>Open source often GPL (integration difficult)</a:t>
            </a:r>
          </a:p>
          <a:p>
            <a:r>
              <a:rPr lang="en-US" dirty="0" smtClean="0"/>
              <a:t>Programming model specific, static</a:t>
            </a:r>
          </a:p>
          <a:p>
            <a:r>
              <a:rPr lang="en-US" dirty="0" smtClean="0"/>
              <a:t>Independent island</a:t>
            </a:r>
          </a:p>
          <a:p>
            <a:pPr lvl="1"/>
            <a:r>
              <a:rPr lang="en-US" dirty="0" smtClean="0"/>
              <a:t>Not integrated with monitoring, file systems, or networks</a:t>
            </a:r>
          </a:p>
          <a:p>
            <a:r>
              <a:rPr lang="en-US" dirty="0" smtClean="0"/>
              <a:t>Limited fault tolerance support</a:t>
            </a:r>
          </a:p>
          <a:p>
            <a:pPr lvl="1"/>
            <a:r>
              <a:rPr lang="en-US" dirty="0" smtClean="0"/>
              <a:t>Restart failed job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State</a:t>
            </a:r>
            <a:endParaRPr lang="en-US" dirty="0"/>
          </a:p>
        </p:txBody>
      </p:sp>
      <p:pic>
        <p:nvPicPr>
          <p:cNvPr id="8" name="Picture 4" descr="ISLAND_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5186363"/>
            <a:ext cx="2259013" cy="129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KING_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4724400"/>
            <a:ext cx="849313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475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978" y="900289"/>
            <a:ext cx="8229600" cy="914400"/>
          </a:xfrm>
        </p:spPr>
        <p:txBody>
          <a:bodyPr/>
          <a:lstStyle/>
          <a:p>
            <a:r>
              <a:rPr lang="en-US" dirty="0" smtClean="0"/>
              <a:t>RM =&gt; Orchestrator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828800" y="3733800"/>
            <a:ext cx="1905000" cy="1905000"/>
          </a:xfrm>
          <a:prstGeom prst="ellipse">
            <a:avLst/>
          </a:prstGeom>
          <a:pattFill prst="smCheck">
            <a:fgClr>
              <a:srgbClr val="FF6600"/>
            </a:fgClr>
            <a:bgClr>
              <a:prstClr val="white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Monitoring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257800"/>
            <a:ext cx="2056358" cy="12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" name="Oval 8"/>
          <p:cNvSpPr/>
          <p:nvPr/>
        </p:nvSpPr>
        <p:spPr>
          <a:xfrm>
            <a:off x="5715000" y="4114800"/>
            <a:ext cx="1447800" cy="14478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Console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/>
          <p:cNvCxnSpPr>
            <a:stCxn id="9" idx="5"/>
          </p:cNvCxnSpPr>
          <p:nvPr/>
        </p:nvCxnSpPr>
        <p:spPr>
          <a:xfrm>
            <a:off x="6950775" y="5350575"/>
            <a:ext cx="288225" cy="440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n 12"/>
          <p:cNvSpPr/>
          <p:nvPr/>
        </p:nvSpPr>
        <p:spPr>
          <a:xfrm>
            <a:off x="3923195" y="5334000"/>
            <a:ext cx="914400" cy="129540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DB</a:t>
            </a:r>
            <a:endParaRPr lang="en-US" dirty="0"/>
          </a:p>
        </p:txBody>
      </p:sp>
      <p:cxnSp>
        <p:nvCxnSpPr>
          <p:cNvPr id="15" name="Straight Connector 14"/>
          <p:cNvCxnSpPr>
            <a:stCxn id="6" idx="4"/>
            <a:endCxn id="13" idx="1"/>
          </p:cNvCxnSpPr>
          <p:nvPr/>
        </p:nvCxnSpPr>
        <p:spPr>
          <a:xfrm flipH="1">
            <a:off x="4380395" y="4950791"/>
            <a:ext cx="1" cy="383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5"/>
            <a:endCxn id="13" idx="2"/>
          </p:cNvCxnSpPr>
          <p:nvPr/>
        </p:nvCxnSpPr>
        <p:spPr>
          <a:xfrm>
            <a:off x="3454819" y="5359819"/>
            <a:ext cx="468376" cy="6218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3"/>
            <a:endCxn id="13" idx="4"/>
          </p:cNvCxnSpPr>
          <p:nvPr/>
        </p:nvCxnSpPr>
        <p:spPr>
          <a:xfrm flipH="1">
            <a:off x="4837595" y="5350575"/>
            <a:ext cx="1089430" cy="6311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72200" y="609600"/>
            <a:ext cx="1536700" cy="15367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71600"/>
            <a:ext cx="2006600" cy="1308100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 flipV="1">
            <a:off x="5562600" y="2209800"/>
            <a:ext cx="1447800" cy="1066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733800" y="914400"/>
            <a:ext cx="1295400" cy="12954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File</a:t>
            </a:r>
          </a:p>
          <a:p>
            <a:pPr algn="ctr"/>
            <a:r>
              <a:rPr lang="en-US" dirty="0" smtClean="0">
                <a:solidFill>
                  <a:srgbClr val="000000"/>
                </a:solidFill>
              </a:rPr>
              <a:t>System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1828800" y="1524000"/>
            <a:ext cx="1524000" cy="1524000"/>
          </a:xfrm>
          <a:prstGeom prst="ellipse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Network</a:t>
            </a:r>
            <a:endParaRPr lang="en-US" dirty="0"/>
          </a:p>
        </p:txBody>
      </p:sp>
      <p:cxnSp>
        <p:nvCxnSpPr>
          <p:cNvPr id="29" name="Straight Connector 28"/>
          <p:cNvCxnSpPr>
            <a:stCxn id="25" idx="4"/>
            <a:endCxn id="6" idx="0"/>
          </p:cNvCxnSpPr>
          <p:nvPr/>
        </p:nvCxnSpPr>
        <p:spPr>
          <a:xfrm flipH="1">
            <a:off x="4380396" y="2209800"/>
            <a:ext cx="1104" cy="228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6" idx="5"/>
          </p:cNvCxnSpPr>
          <p:nvPr/>
        </p:nvCxnSpPr>
        <p:spPr>
          <a:xfrm>
            <a:off x="3129615" y="2824815"/>
            <a:ext cx="223185" cy="14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3124200" y="2438400"/>
            <a:ext cx="2512391" cy="2512391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Resource</a:t>
            </a:r>
          </a:p>
          <a:p>
            <a:pPr algn="ctr"/>
            <a:r>
              <a:rPr lang="en-US" dirty="0" smtClean="0"/>
              <a:t>Manager</a:t>
            </a:r>
            <a:endParaRPr lang="en-US" dirty="0"/>
          </a:p>
        </p:txBody>
      </p:sp>
      <p:cxnSp>
        <p:nvCxnSpPr>
          <p:cNvPr id="44" name="Straight Connector 43"/>
          <p:cNvCxnSpPr/>
          <p:nvPr/>
        </p:nvCxnSpPr>
        <p:spPr>
          <a:xfrm>
            <a:off x="5486400" y="4267200"/>
            <a:ext cx="304800" cy="228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581400" y="4114800"/>
            <a:ext cx="1600200" cy="609600"/>
          </a:xfrm>
          <a:prstGeom prst="ellipse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Overlay</a:t>
            </a:r>
          </a:p>
          <a:p>
            <a:pPr algn="ctr"/>
            <a:r>
              <a:rPr lang="en-US" dirty="0" smtClean="0"/>
              <a:t>Network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457200" y="2743200"/>
            <a:ext cx="990600" cy="990600"/>
          </a:xfrm>
          <a:prstGeom prst="ellipse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Pub-Sub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9" name="Straight Connector 48"/>
          <p:cNvCxnSpPr>
            <a:stCxn id="47" idx="6"/>
          </p:cNvCxnSpPr>
          <p:nvPr/>
        </p:nvCxnSpPr>
        <p:spPr>
          <a:xfrm>
            <a:off x="1447800" y="3238500"/>
            <a:ext cx="1676400" cy="266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7" idx="6"/>
            <a:endCxn id="7" idx="1"/>
          </p:cNvCxnSpPr>
          <p:nvPr/>
        </p:nvCxnSpPr>
        <p:spPr>
          <a:xfrm>
            <a:off x="1447800" y="3238500"/>
            <a:ext cx="659981" cy="7742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219200" y="3200400"/>
            <a:ext cx="169934" cy="160997"/>
          </a:xfrm>
          <a:prstGeom prst="ellipse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725666" y="5181600"/>
            <a:ext cx="169934" cy="160997"/>
          </a:xfrm>
          <a:prstGeom prst="ellipse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304800" y="4572000"/>
            <a:ext cx="1219200" cy="838200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SCON</a:t>
            </a:r>
            <a:endParaRPr lang="en-US" dirty="0"/>
          </a:p>
        </p:txBody>
      </p:sp>
      <p:sp>
        <p:nvSpPr>
          <p:cNvPr id="55" name="Oval 54"/>
          <p:cNvSpPr/>
          <p:nvPr/>
        </p:nvSpPr>
        <p:spPr>
          <a:xfrm>
            <a:off x="838200" y="5181600"/>
            <a:ext cx="169934" cy="160997"/>
          </a:xfrm>
          <a:prstGeom prst="ellipse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loud 2"/>
          <p:cNvSpPr/>
          <p:nvPr/>
        </p:nvSpPr>
        <p:spPr>
          <a:xfrm>
            <a:off x="6629400" y="2971800"/>
            <a:ext cx="1676400" cy="914400"/>
          </a:xfrm>
          <a:prstGeom prst="cloud">
            <a:avLst/>
          </a:prstGeom>
          <a:solidFill>
            <a:schemeClr val="bg2">
              <a:lumMod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Prov. Agent</a:t>
            </a:r>
            <a:endParaRPr lang="en-US" dirty="0"/>
          </a:p>
        </p:txBody>
      </p:sp>
      <p:cxnSp>
        <p:nvCxnSpPr>
          <p:cNvPr id="10" name="Straight Connector 9"/>
          <p:cNvCxnSpPr>
            <a:stCxn id="6" idx="6"/>
            <a:endCxn id="3" idx="2"/>
          </p:cNvCxnSpPr>
          <p:nvPr/>
        </p:nvCxnSpPr>
        <p:spPr>
          <a:xfrm flipV="1">
            <a:off x="5636591" y="3429000"/>
            <a:ext cx="998009" cy="2655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2441223" y="2400300"/>
            <a:ext cx="3880556" cy="2588414"/>
            <a:chOff x="2441223" y="2400300"/>
            <a:chExt cx="3880556" cy="2588414"/>
          </a:xfrm>
        </p:grpSpPr>
        <p:pic>
          <p:nvPicPr>
            <p:cNvPr id="4" name="Picture 3" descr="images.duckduckgo.com.jpe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1223" y="2400300"/>
              <a:ext cx="3880556" cy="2588414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245556" y="2737555"/>
              <a:ext cx="560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RM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96556" y="2723444"/>
              <a:ext cx="621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APP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786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Resource Management Emerging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Emerging Application Needs</a:t>
            </a:r>
          </a:p>
          <a:p>
            <a:pPr lvl="1"/>
            <a:r>
              <a:rPr lang="en-US" sz="2000" dirty="0" smtClean="0"/>
              <a:t>Dynamic resource management</a:t>
            </a:r>
          </a:p>
          <a:p>
            <a:pPr lvl="1"/>
            <a:r>
              <a:rPr lang="en-US" sz="2000" dirty="0" smtClean="0"/>
              <a:t>Application involvement in decisions, including fault notification</a:t>
            </a:r>
          </a:p>
          <a:p>
            <a:pPr lvl="1"/>
            <a:r>
              <a:rPr lang="en-US" sz="2000" dirty="0" smtClean="0"/>
              <a:t>Workflow orchestration</a:t>
            </a:r>
          </a:p>
          <a:p>
            <a:r>
              <a:rPr lang="en-US" sz="2400" dirty="0" smtClean="0"/>
              <a:t>Emerging System Needs</a:t>
            </a:r>
          </a:p>
          <a:p>
            <a:pPr lvl="1"/>
            <a:r>
              <a:rPr lang="en-US" sz="2000" dirty="0" smtClean="0"/>
              <a:t>Scalable operations</a:t>
            </a:r>
          </a:p>
          <a:p>
            <a:pPr lvl="1"/>
            <a:r>
              <a:rPr lang="en-US" sz="2000" dirty="0" smtClean="0"/>
              <a:t>Cross-subsystem integration (RM, RAS, </a:t>
            </a:r>
            <a:r>
              <a:rPr lang="en-US" sz="2000" smtClean="0"/>
              <a:t>site utilities, …)</a:t>
            </a:r>
            <a:endParaRPr lang="en-US" sz="2000" dirty="0" smtClean="0"/>
          </a:p>
          <a:p>
            <a:pPr lvl="1"/>
            <a:r>
              <a:rPr lang="en-US" sz="2000" dirty="0" smtClean="0"/>
              <a:t>Data staging, Burst Buffers, persistent memory management</a:t>
            </a:r>
          </a:p>
          <a:p>
            <a:pPr lvl="1"/>
            <a:r>
              <a:rPr lang="en-US" sz="2000" dirty="0" smtClean="0"/>
              <a:t>System notification requests, topology, </a:t>
            </a:r>
            <a:r>
              <a:rPr lang="en-US" sz="2000" dirty="0" err="1" smtClean="0"/>
              <a:t>QoS</a:t>
            </a:r>
            <a:endParaRPr lang="en-US" sz="2000" dirty="0" smtClean="0"/>
          </a:p>
          <a:p>
            <a:pPr lvl="1"/>
            <a:r>
              <a:rPr lang="en-US" sz="2000" dirty="0" smtClean="0"/>
              <a:t>Power management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2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Multi-Tiered Strategy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Intel Confidential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1552222" y="1820333"/>
            <a:ext cx="6279445" cy="158044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344335" y="1933222"/>
            <a:ext cx="2718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Existing HPC RMs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29556" y="4289777"/>
            <a:ext cx="5221111" cy="1114778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Open Resilient Cluster </a:t>
            </a:r>
            <a:r>
              <a:rPr lang="en-US" sz="2400" dirty="0" err="1" smtClean="0"/>
              <a:t>Mgr</a:t>
            </a:r>
            <a:endParaRPr lang="en-US" sz="2400" dirty="0"/>
          </a:p>
        </p:txBody>
      </p:sp>
      <p:sp>
        <p:nvSpPr>
          <p:cNvPr id="11" name="Oval 10"/>
          <p:cNvSpPr/>
          <p:nvPr/>
        </p:nvSpPr>
        <p:spPr>
          <a:xfrm>
            <a:off x="1806224" y="2229555"/>
            <a:ext cx="1326444" cy="74788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SLURM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299179" y="2452512"/>
            <a:ext cx="1326444" cy="74788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MOAB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851401" y="2480734"/>
            <a:ext cx="1326444" cy="74788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>
                <a:solidFill>
                  <a:schemeClr val="tx1"/>
                </a:solidFill>
              </a:rPr>
              <a:t>PBSPro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318958" y="2226734"/>
            <a:ext cx="1326444" cy="74788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LSF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5" name="Up Arrow 14"/>
          <p:cNvSpPr/>
          <p:nvPr/>
        </p:nvSpPr>
        <p:spPr>
          <a:xfrm>
            <a:off x="2483559" y="3372556"/>
            <a:ext cx="395111" cy="818444"/>
          </a:xfrm>
          <a:prstGeom prst="up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749780" y="3683001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PMIx</a:t>
            </a:r>
            <a:endParaRPr lang="en-US" dirty="0"/>
          </a:p>
        </p:txBody>
      </p:sp>
      <p:sp>
        <p:nvSpPr>
          <p:cNvPr id="17" name="Up Arrow 16"/>
          <p:cNvSpPr/>
          <p:nvPr/>
        </p:nvSpPr>
        <p:spPr>
          <a:xfrm>
            <a:off x="3256850" y="3412067"/>
            <a:ext cx="395111" cy="818444"/>
          </a:xfrm>
          <a:prstGeom prst="up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683005" y="3570111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RAS</a:t>
            </a:r>
          </a:p>
          <a:p>
            <a:r>
              <a:rPr lang="en-US" dirty="0" smtClean="0"/>
              <a:t>Integration</a:t>
            </a:r>
            <a:endParaRPr lang="en-US" dirty="0"/>
          </a:p>
        </p:txBody>
      </p:sp>
      <p:sp>
        <p:nvSpPr>
          <p:cNvPr id="19" name="Up Arrow 18"/>
          <p:cNvSpPr/>
          <p:nvPr/>
        </p:nvSpPr>
        <p:spPr>
          <a:xfrm>
            <a:off x="6643510" y="3327400"/>
            <a:ext cx="395111" cy="818444"/>
          </a:xfrm>
          <a:prstGeom prst="up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126109" y="3513667"/>
            <a:ext cx="1002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Hadoop</a:t>
            </a:r>
            <a:endParaRPr lang="en-US" dirty="0" smtClean="0"/>
          </a:p>
          <a:p>
            <a:r>
              <a:rPr lang="en-US" dirty="0" smtClean="0"/>
              <a:t>Support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95111" y="2356556"/>
            <a:ext cx="974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Enable</a:t>
            </a:r>
            <a:endParaRPr 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91324" y="4557889"/>
            <a:ext cx="20271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Reference</a:t>
            </a:r>
          </a:p>
          <a:p>
            <a:pPr algn="ctr"/>
            <a:r>
              <a:rPr lang="en-US" sz="2000" dirty="0" smtClean="0"/>
              <a:t>Implementation</a:t>
            </a:r>
            <a:endParaRPr lang="en-US" sz="2000" dirty="0"/>
          </a:p>
        </p:txBody>
      </p:sp>
      <p:sp>
        <p:nvSpPr>
          <p:cNvPr id="23" name="Up Arrow 22"/>
          <p:cNvSpPr/>
          <p:nvPr/>
        </p:nvSpPr>
        <p:spPr>
          <a:xfrm>
            <a:off x="5088466" y="3409244"/>
            <a:ext cx="395111" cy="818444"/>
          </a:xfrm>
          <a:prstGeom prst="up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61000" y="3541889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Overlay</a:t>
            </a:r>
          </a:p>
          <a:p>
            <a:r>
              <a:rPr lang="en-US" dirty="0" smtClean="0"/>
              <a:t>Network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1848549" y="5808134"/>
            <a:ext cx="1439333" cy="635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Containers</a:t>
            </a:r>
          </a:p>
          <a:p>
            <a:pPr algn="ctr"/>
            <a:r>
              <a:rPr lang="en-US" dirty="0" smtClean="0"/>
              <a:t>(S&amp;S)</a:t>
            </a:r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3485438" y="5808134"/>
            <a:ext cx="1622777" cy="635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Provisioning</a:t>
            </a:r>
          </a:p>
          <a:p>
            <a:pPr algn="ctr"/>
            <a:r>
              <a:rPr lang="en-US" dirty="0" smtClean="0"/>
              <a:t>(WW)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5300134" y="5808134"/>
            <a:ext cx="1439333" cy="635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</a:t>
            </a:r>
          </a:p>
          <a:p>
            <a:pPr algn="ctr"/>
            <a:r>
              <a:rPr lang="en-US" dirty="0" smtClean="0"/>
              <a:t>Analytics</a:t>
            </a:r>
            <a:endParaRPr lang="en-US" dirty="0"/>
          </a:p>
        </p:txBody>
      </p:sp>
      <p:cxnSp>
        <p:nvCxnSpPr>
          <p:cNvPr id="29" name="Straight Arrow Connector 28"/>
          <p:cNvCxnSpPr>
            <a:stCxn id="25" idx="0"/>
          </p:cNvCxnSpPr>
          <p:nvPr/>
        </p:nvCxnSpPr>
        <p:spPr>
          <a:xfrm flipV="1">
            <a:off x="2568216" y="5404557"/>
            <a:ext cx="1269999" cy="4035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6" idx="0"/>
          </p:cNvCxnSpPr>
          <p:nvPr/>
        </p:nvCxnSpPr>
        <p:spPr>
          <a:xfrm flipV="1">
            <a:off x="4296827" y="5390444"/>
            <a:ext cx="289277" cy="417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7" idx="0"/>
          </p:cNvCxnSpPr>
          <p:nvPr/>
        </p:nvCxnSpPr>
        <p:spPr>
          <a:xfrm flipH="1" flipV="1">
            <a:off x="5080001" y="5390444"/>
            <a:ext cx="939800" cy="417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934200" y="5808134"/>
            <a:ext cx="1439333" cy="635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ULFM &amp;</a:t>
            </a:r>
          </a:p>
          <a:p>
            <a:pPr algn="ctr"/>
            <a:r>
              <a:rPr lang="en-US" dirty="0" smtClean="0"/>
              <a:t>Fault Pred.</a:t>
            </a:r>
            <a:endParaRPr lang="en-US" dirty="0"/>
          </a:p>
        </p:txBody>
      </p:sp>
      <p:cxnSp>
        <p:nvCxnSpPr>
          <p:cNvPr id="36" name="Straight Arrow Connector 35"/>
          <p:cNvCxnSpPr>
            <a:stCxn id="34" idx="0"/>
          </p:cNvCxnSpPr>
          <p:nvPr/>
        </p:nvCxnSpPr>
        <p:spPr>
          <a:xfrm flipH="1" flipV="1">
            <a:off x="6378223" y="5418667"/>
            <a:ext cx="1275644" cy="38946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24556" y="5983111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66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Implementation: ORCM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Scalable to </a:t>
            </a:r>
            <a:r>
              <a:rPr lang="en-US" dirty="0" err="1" smtClean="0"/>
              <a:t>exascale</a:t>
            </a:r>
            <a:r>
              <a:rPr lang="en-US" dirty="0" smtClean="0"/>
              <a:t> levels &amp; beyond</a:t>
            </a:r>
          </a:p>
          <a:p>
            <a:pPr lvl="1"/>
            <a:r>
              <a:rPr lang="en-US" sz="2000" dirty="0" smtClean="0"/>
              <a:t>Better-than-linear scaling</a:t>
            </a:r>
          </a:p>
          <a:p>
            <a:pPr lvl="1"/>
            <a:r>
              <a:rPr lang="en-US" sz="2000" dirty="0" smtClean="0"/>
              <a:t>Constrained memory footprint</a:t>
            </a:r>
          </a:p>
          <a:p>
            <a:r>
              <a:rPr lang="en-US" dirty="0" smtClean="0"/>
              <a:t>Dynamically configurable</a:t>
            </a:r>
          </a:p>
          <a:p>
            <a:pPr lvl="1"/>
            <a:r>
              <a:rPr lang="en-US" sz="2000" dirty="0" smtClean="0"/>
              <a:t>Sense and adapt, user-</a:t>
            </a:r>
            <a:r>
              <a:rPr lang="en-US" sz="2000" dirty="0" err="1" smtClean="0"/>
              <a:t>directable</a:t>
            </a:r>
            <a:endParaRPr lang="en-US" sz="2000" dirty="0" smtClean="0"/>
          </a:p>
          <a:p>
            <a:pPr lvl="1"/>
            <a:r>
              <a:rPr lang="en-US" sz="2000" dirty="0" smtClean="0"/>
              <a:t>On-the-fly updates</a:t>
            </a:r>
          </a:p>
          <a:p>
            <a:pPr lvl="1"/>
            <a:r>
              <a:rPr lang="en-US" dirty="0" smtClean="0"/>
              <a:t>Fully utilize underlying </a:t>
            </a:r>
            <a:r>
              <a:rPr lang="en-US" dirty="0" err="1" smtClean="0"/>
              <a:t>hw</a:t>
            </a:r>
            <a:endParaRPr lang="en-US" sz="2000" dirty="0" smtClean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143022" cy="4297363"/>
          </a:xfrm>
        </p:spPr>
        <p:txBody>
          <a:bodyPr>
            <a:normAutofit/>
          </a:bodyPr>
          <a:lstStyle/>
          <a:p>
            <a:r>
              <a:rPr lang="en-US" dirty="0"/>
              <a:t>Open source </a:t>
            </a:r>
            <a:r>
              <a:rPr lang="en-US" sz="2000" dirty="0">
                <a:solidFill>
                  <a:srgbClr val="FF0000"/>
                </a:solidFill>
              </a:rPr>
              <a:t>(non-GPL</a:t>
            </a:r>
            <a:r>
              <a:rPr lang="en-US" sz="2000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upport proprietary add-ons</a:t>
            </a:r>
          </a:p>
          <a:p>
            <a:r>
              <a:rPr lang="en-US" dirty="0" smtClean="0"/>
              <a:t>Maintainable</a:t>
            </a:r>
            <a:r>
              <a:rPr lang="en-US" dirty="0"/>
              <a:t>, flexible</a:t>
            </a:r>
          </a:p>
          <a:p>
            <a:pPr lvl="1"/>
            <a:r>
              <a:rPr lang="en-US" sz="2000" dirty="0" smtClean="0"/>
              <a:t>Plugin architecture</a:t>
            </a:r>
          </a:p>
          <a:p>
            <a:pPr lvl="1"/>
            <a:r>
              <a:rPr lang="en-US" dirty="0" smtClean="0"/>
              <a:t>Easy extension for R&amp;D</a:t>
            </a:r>
            <a:endParaRPr lang="en-US" sz="2000" dirty="0" smtClean="0"/>
          </a:p>
          <a:p>
            <a:r>
              <a:rPr lang="en-US" dirty="0"/>
              <a:t>Resilient</a:t>
            </a:r>
          </a:p>
          <a:p>
            <a:pPr lvl="1"/>
            <a:r>
              <a:rPr lang="en-US" sz="2000" dirty="0"/>
              <a:t>Self-heal around failures</a:t>
            </a:r>
          </a:p>
          <a:p>
            <a:pPr lvl="1"/>
            <a:r>
              <a:rPr lang="en-US" sz="2000" dirty="0"/>
              <a:t>Reintegrate recovered </a:t>
            </a:r>
            <a:r>
              <a:rPr lang="en-US" sz="2000" dirty="0" smtClean="0"/>
              <a:t>resources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014F4-1B9C-487C-9C92-261A63D4DBD6}" type="slidenum">
              <a:rPr lang="en-US" smtClean="0">
                <a:solidFill>
                  <a:srgbClr val="FFFFFF"/>
                </a:solidFill>
                <a:latin typeface="Verdana"/>
              </a:rPr>
              <a:pPr>
                <a:defRPr/>
              </a:pPr>
              <a:t>7</a:t>
            </a:fld>
            <a:endParaRPr lang="en-US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554422157"/>
      </p:ext>
    </p:extLst>
  </p:cSld>
  <p:clrMapOvr>
    <a:masterClrMapping/>
  </p:clrMapOvr>
  <p:transition xmlns:p14="http://schemas.microsoft.com/office/powerpoint/2010/main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Launch Scaling: Core Capability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Intel Confidential</a:t>
            </a:r>
            <a:endParaRPr lang="en-US" dirty="0"/>
          </a:p>
        </p:txBody>
      </p:sp>
      <p:pic>
        <p:nvPicPr>
          <p:cNvPr id="6" name="Picture 5" descr="aprun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12" y="1455519"/>
            <a:ext cx="8475044" cy="499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1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28600" y="533400"/>
          <a:ext cx="8610600" cy="586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Worksheet" r:id="rId3" imgW="5613400" imgH="3822700" progId="Excel.Sheet.8">
                  <p:embed/>
                </p:oleObj>
              </mc:Choice>
              <mc:Fallback>
                <p:oleObj name="Worksheet" r:id="rId3" imgW="5613400" imgH="38227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"/>
                        <a:ext cx="8610600" cy="586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5"/>
          <p:cNvSpPr>
            <a:spLocks noChangeArrowheads="1"/>
          </p:cNvSpPr>
          <p:nvPr/>
        </p:nvSpPr>
        <p:spPr bwMode="auto">
          <a:xfrm rot="-5400000">
            <a:off x="1585435" y="4621016"/>
            <a:ext cx="941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dirty="0" smtClean="0"/>
              <a:t>Launch</a:t>
            </a:r>
            <a:endParaRPr lang="en-US" altLang="en-US" sz="1800" dirty="0"/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 rot="-5400000">
            <a:off x="2300010" y="4396596"/>
            <a:ext cx="1390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Initialization</a:t>
            </a:r>
            <a:endParaRPr lang="en-US" altLang="en-US" sz="1800" dirty="0"/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 rot="-5400000">
            <a:off x="2413794" y="3450432"/>
            <a:ext cx="293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</a:rPr>
              <a:t>Exchange MPI contact info</a:t>
            </a:r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 rot="-5400000">
            <a:off x="3712369" y="3921393"/>
            <a:ext cx="2339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Setup MPI structures</a:t>
            </a: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 rot="-5400000">
            <a:off x="54443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 rot="-5400000">
            <a:off x="5737225" y="4022199"/>
            <a:ext cx="2141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 completion</a:t>
            </a:r>
          </a:p>
        </p:txBody>
      </p:sp>
      <p:sp>
        <p:nvSpPr>
          <p:cNvPr id="16393" name="Rectangle 11"/>
          <p:cNvSpPr>
            <a:spLocks noChangeArrowheads="1"/>
          </p:cNvSpPr>
          <p:nvPr/>
        </p:nvSpPr>
        <p:spPr bwMode="auto">
          <a:xfrm rot="-5400000">
            <a:off x="73620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>
            <a:off x="7373938" y="712788"/>
            <a:ext cx="0" cy="5564187"/>
          </a:xfrm>
          <a:prstGeom prst="line">
            <a:avLst/>
          </a:prstGeom>
          <a:noFill/>
          <a:ln w="76200" cmpd="tri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Rectangle 13"/>
          <p:cNvSpPr>
            <a:spLocks noChangeArrowheads="1"/>
          </p:cNvSpPr>
          <p:nvPr/>
        </p:nvSpPr>
        <p:spPr bwMode="auto">
          <a:xfrm>
            <a:off x="3689350" y="6429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</a:t>
            </a:r>
          </a:p>
        </p:txBody>
      </p:sp>
      <p:sp>
        <p:nvSpPr>
          <p:cNvPr id="16396" name="Rectangle 14"/>
          <p:cNvSpPr>
            <a:spLocks noChangeArrowheads="1"/>
          </p:cNvSpPr>
          <p:nvPr/>
        </p:nvSpPr>
        <p:spPr bwMode="auto">
          <a:xfrm>
            <a:off x="7400925" y="687388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MPI_Finalize</a:t>
            </a:r>
          </a:p>
        </p:txBody>
      </p:sp>
      <p:sp>
        <p:nvSpPr>
          <p:cNvPr id="16397" name="Rectangle 16"/>
          <p:cNvSpPr>
            <a:spLocks noChangeArrowheads="1"/>
          </p:cNvSpPr>
          <p:nvPr/>
        </p:nvSpPr>
        <p:spPr bwMode="auto">
          <a:xfrm>
            <a:off x="3057525" y="6080125"/>
            <a:ext cx="3201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RRZ, 16-nodes, 8ppn, rank=0</a:t>
            </a:r>
          </a:p>
        </p:txBody>
      </p:sp>
      <p:sp>
        <p:nvSpPr>
          <p:cNvPr id="16398" name="Rectangle 17"/>
          <p:cNvSpPr>
            <a:spLocks noChangeArrowheads="1"/>
          </p:cNvSpPr>
          <p:nvPr/>
        </p:nvSpPr>
        <p:spPr bwMode="auto">
          <a:xfrm rot="-5400000">
            <a:off x="-355600" y="2917825"/>
            <a:ext cx="1395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Time (</a:t>
            </a:r>
            <a:r>
              <a:rPr lang="en-US" altLang="en-US" sz="1800">
                <a:sym typeface="Symbol" charset="2"/>
              </a:rPr>
              <a:t></a:t>
            </a:r>
            <a:r>
              <a:rPr lang="en-US" altLang="ja-JP" sz="1800"/>
              <a:t>sec)</a:t>
            </a:r>
            <a:endParaRPr lang="en-US" altLang="en-US" sz="18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9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635000" y="1100667"/>
            <a:ext cx="8057444" cy="5346171"/>
            <a:chOff x="158750" y="502665"/>
            <a:chExt cx="8747125" cy="5944173"/>
          </a:xfrm>
        </p:grpSpPr>
        <p:graphicFrame>
          <p:nvGraphicFramePr>
            <p:cNvPr id="16386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7867596"/>
                </p:ext>
              </p:extLst>
            </p:nvPr>
          </p:nvGraphicFramePr>
          <p:xfrm>
            <a:off x="183445" y="502665"/>
            <a:ext cx="8655756" cy="58917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6" name="Worksheet" r:id="rId3" imgW="5613400" imgH="3822700" progId="Excel.Sheet.8">
                    <p:embed/>
                  </p:oleObj>
                </mc:Choice>
                <mc:Fallback>
                  <p:oleObj name="Worksheet" r:id="rId3" imgW="5613400" imgH="3822700" progId="Excel.Shee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445" y="502665"/>
                          <a:ext cx="8655756" cy="58917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87" name="Rectangle 5"/>
            <p:cNvSpPr>
              <a:spLocks noChangeArrowheads="1"/>
            </p:cNvSpPr>
            <p:nvPr/>
          </p:nvSpPr>
          <p:spPr bwMode="auto">
            <a:xfrm rot="-5400000">
              <a:off x="1585435" y="4621016"/>
              <a:ext cx="94128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 smtClean="0"/>
                <a:t>Launch</a:t>
              </a:r>
              <a:endParaRPr lang="en-US" altLang="en-US" sz="1800" dirty="0"/>
            </a:p>
          </p:txBody>
        </p:sp>
        <p:sp>
          <p:nvSpPr>
            <p:cNvPr id="16388" name="Rectangle 6"/>
            <p:cNvSpPr>
              <a:spLocks noChangeArrowheads="1"/>
            </p:cNvSpPr>
            <p:nvPr/>
          </p:nvSpPr>
          <p:spPr bwMode="auto">
            <a:xfrm rot="-5400000">
              <a:off x="2300010" y="4396596"/>
              <a:ext cx="139012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 smtClean="0"/>
                <a:t>Initialization</a:t>
              </a:r>
              <a:endParaRPr lang="en-US" altLang="en-US" sz="1800" dirty="0"/>
            </a:p>
          </p:txBody>
        </p:sp>
        <p:sp>
          <p:nvSpPr>
            <p:cNvPr id="16389" name="Rectangle 7"/>
            <p:cNvSpPr>
              <a:spLocks noChangeArrowheads="1"/>
            </p:cNvSpPr>
            <p:nvPr/>
          </p:nvSpPr>
          <p:spPr bwMode="auto">
            <a:xfrm rot="-5400000">
              <a:off x="2413794" y="3450432"/>
              <a:ext cx="29305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>
                  <a:solidFill>
                    <a:schemeClr val="bg1"/>
                  </a:solidFill>
                </a:rPr>
                <a:t>Exchange MPI contact info</a:t>
              </a:r>
            </a:p>
          </p:txBody>
        </p:sp>
        <p:sp>
          <p:nvSpPr>
            <p:cNvPr id="16390" name="Rectangle 8"/>
            <p:cNvSpPr>
              <a:spLocks noChangeArrowheads="1"/>
            </p:cNvSpPr>
            <p:nvPr/>
          </p:nvSpPr>
          <p:spPr bwMode="auto">
            <a:xfrm rot="-5400000">
              <a:off x="3712369" y="3921393"/>
              <a:ext cx="23399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Setup MPI structures</a:t>
              </a:r>
            </a:p>
          </p:txBody>
        </p:sp>
        <p:sp>
          <p:nvSpPr>
            <p:cNvPr id="16391" name="Rectangle 9"/>
            <p:cNvSpPr>
              <a:spLocks noChangeArrowheads="1"/>
            </p:cNvSpPr>
            <p:nvPr/>
          </p:nvSpPr>
          <p:spPr bwMode="auto">
            <a:xfrm rot="-5400000">
              <a:off x="5444332" y="4670692"/>
              <a:ext cx="844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barrier</a:t>
              </a:r>
            </a:p>
          </p:txBody>
        </p:sp>
        <p:sp>
          <p:nvSpPr>
            <p:cNvPr id="16392" name="Rectangle 10"/>
            <p:cNvSpPr>
              <a:spLocks noChangeArrowheads="1"/>
            </p:cNvSpPr>
            <p:nvPr/>
          </p:nvSpPr>
          <p:spPr bwMode="auto">
            <a:xfrm rot="-5400000">
              <a:off x="5737225" y="4022199"/>
              <a:ext cx="2141538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mpi_init completion</a:t>
              </a:r>
            </a:p>
          </p:txBody>
        </p:sp>
        <p:sp>
          <p:nvSpPr>
            <p:cNvPr id="16393" name="Rectangle 11"/>
            <p:cNvSpPr>
              <a:spLocks noChangeArrowheads="1"/>
            </p:cNvSpPr>
            <p:nvPr/>
          </p:nvSpPr>
          <p:spPr bwMode="auto">
            <a:xfrm rot="-5400000">
              <a:off x="7362032" y="4670692"/>
              <a:ext cx="844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barrier</a:t>
              </a:r>
            </a:p>
          </p:txBody>
        </p:sp>
        <p:sp>
          <p:nvSpPr>
            <p:cNvPr id="16394" name="Line 12"/>
            <p:cNvSpPr>
              <a:spLocks noChangeShapeType="1"/>
            </p:cNvSpPr>
            <p:nvPr/>
          </p:nvSpPr>
          <p:spPr bwMode="auto">
            <a:xfrm>
              <a:off x="7373938" y="712788"/>
              <a:ext cx="0" cy="5564187"/>
            </a:xfrm>
            <a:prstGeom prst="line">
              <a:avLst/>
            </a:prstGeom>
            <a:noFill/>
            <a:ln w="76200" cmpd="tri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5" name="Rectangle 13"/>
            <p:cNvSpPr>
              <a:spLocks noChangeArrowheads="1"/>
            </p:cNvSpPr>
            <p:nvPr/>
          </p:nvSpPr>
          <p:spPr bwMode="auto">
            <a:xfrm>
              <a:off x="3843760" y="1074834"/>
              <a:ext cx="10223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 dirty="0" err="1"/>
                <a:t>MPI_Init</a:t>
              </a:r>
              <a:endParaRPr lang="en-US" altLang="en-US" sz="1800" dirty="0"/>
            </a:p>
          </p:txBody>
        </p:sp>
        <p:sp>
          <p:nvSpPr>
            <p:cNvPr id="16396" name="Rectangle 14"/>
            <p:cNvSpPr>
              <a:spLocks noChangeArrowheads="1"/>
            </p:cNvSpPr>
            <p:nvPr/>
          </p:nvSpPr>
          <p:spPr bwMode="auto">
            <a:xfrm>
              <a:off x="7400925" y="687388"/>
              <a:ext cx="1504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MPI_Finalize</a:t>
              </a:r>
            </a:p>
          </p:txBody>
        </p:sp>
        <p:sp>
          <p:nvSpPr>
            <p:cNvPr id="16397" name="Rectangle 16"/>
            <p:cNvSpPr>
              <a:spLocks noChangeArrowheads="1"/>
            </p:cNvSpPr>
            <p:nvPr/>
          </p:nvSpPr>
          <p:spPr bwMode="auto">
            <a:xfrm>
              <a:off x="3057525" y="6080125"/>
              <a:ext cx="3201988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RRZ, 16-nodes, 8ppn, rank=0</a:t>
              </a:r>
            </a:p>
          </p:txBody>
        </p:sp>
        <p:sp>
          <p:nvSpPr>
            <p:cNvPr id="16398" name="Rectangle 17"/>
            <p:cNvSpPr>
              <a:spLocks noChangeArrowheads="1"/>
            </p:cNvSpPr>
            <p:nvPr/>
          </p:nvSpPr>
          <p:spPr bwMode="auto">
            <a:xfrm rot="-5400000">
              <a:off x="-355600" y="2917825"/>
              <a:ext cx="13954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Time (</a:t>
              </a:r>
              <a:r>
                <a:rPr lang="en-US" altLang="en-US" sz="1800">
                  <a:sym typeface="Symbol" charset="2"/>
                </a:rPr>
                <a:t></a:t>
              </a:r>
              <a:r>
                <a:rPr lang="en-US" altLang="ja-JP" sz="1800"/>
                <a:t>sec)</a:t>
              </a:r>
              <a:endParaRPr lang="en-US" altLang="en-US" sz="1800"/>
            </a:p>
          </p:txBody>
        </p:sp>
        <p:sp>
          <p:nvSpPr>
            <p:cNvPr id="2" name="Rectangle 1"/>
            <p:cNvSpPr/>
            <p:nvPr/>
          </p:nvSpPr>
          <p:spPr bwMode="auto">
            <a:xfrm>
              <a:off x="3489433" y="1371600"/>
              <a:ext cx="930167" cy="4419600"/>
            </a:xfrm>
            <a:prstGeom prst="rect">
              <a:avLst/>
            </a:prstGeom>
            <a:solidFill>
              <a:schemeClr val="bg1">
                <a:alpha val="86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797879" y="1365589"/>
              <a:ext cx="1945509" cy="1334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 smtClean="0">
                  <a:solidFill>
                    <a:srgbClr val="FF0000"/>
                  </a:solidFill>
                </a:rPr>
                <a:t>Provide method for RM to share job info</a:t>
              </a:r>
              <a:endParaRPr lang="en-US" i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54521" y="1429045"/>
              <a:ext cx="2782442" cy="1334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 smtClean="0">
                  <a:solidFill>
                    <a:srgbClr val="FF0000"/>
                  </a:solidFill>
                </a:rPr>
                <a:t>Work with fabric and library implementers to compute </a:t>
              </a:r>
              <a:r>
                <a:rPr lang="en-US" i="1" dirty="0" err="1" smtClean="0">
                  <a:solidFill>
                    <a:srgbClr val="FF0000"/>
                  </a:solidFill>
                </a:rPr>
                <a:t>endpt</a:t>
              </a:r>
              <a:r>
                <a:rPr lang="en-US" i="1" dirty="0" smtClean="0">
                  <a:solidFill>
                    <a:srgbClr val="FF0000"/>
                  </a:solidFill>
                </a:rPr>
                <a:t> from RM info</a:t>
              </a:r>
              <a:endParaRPr lang="en-US" i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Stage 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20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82084" y="1270000"/>
            <a:ext cx="7729361" cy="5261505"/>
            <a:chOff x="158750" y="533400"/>
            <a:chExt cx="8747125" cy="5913438"/>
          </a:xfrm>
        </p:grpSpPr>
        <p:graphicFrame>
          <p:nvGraphicFramePr>
            <p:cNvPr id="16386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310018"/>
                </p:ext>
              </p:extLst>
            </p:nvPr>
          </p:nvGraphicFramePr>
          <p:xfrm>
            <a:off x="228600" y="533400"/>
            <a:ext cx="8610600" cy="5861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Worksheet" r:id="rId3" imgW="5613400" imgH="3822700" progId="Excel.Sheet.8">
                    <p:embed/>
                  </p:oleObj>
                </mc:Choice>
                <mc:Fallback>
                  <p:oleObj name="Worksheet" r:id="rId3" imgW="5613400" imgH="3822700" progId="Excel.Shee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" y="533400"/>
                          <a:ext cx="8610600" cy="5861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87" name="Rectangle 5"/>
            <p:cNvSpPr>
              <a:spLocks noChangeArrowheads="1"/>
            </p:cNvSpPr>
            <p:nvPr/>
          </p:nvSpPr>
          <p:spPr bwMode="auto">
            <a:xfrm rot="16200000">
              <a:off x="1585435" y="4621016"/>
              <a:ext cx="94128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 smtClean="0"/>
                <a:t>Launch</a:t>
              </a:r>
              <a:endParaRPr lang="en-US" altLang="en-US" sz="1800" dirty="0"/>
            </a:p>
          </p:txBody>
        </p:sp>
        <p:sp>
          <p:nvSpPr>
            <p:cNvPr id="16388" name="Rectangle 6"/>
            <p:cNvSpPr>
              <a:spLocks noChangeArrowheads="1"/>
            </p:cNvSpPr>
            <p:nvPr/>
          </p:nvSpPr>
          <p:spPr bwMode="auto">
            <a:xfrm rot="16200000">
              <a:off x="2300010" y="4396596"/>
              <a:ext cx="139012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 smtClean="0"/>
                <a:t>Initialization</a:t>
              </a:r>
              <a:endParaRPr lang="en-US" altLang="en-US" sz="1800" dirty="0"/>
            </a:p>
          </p:txBody>
        </p:sp>
        <p:sp>
          <p:nvSpPr>
            <p:cNvPr id="16389" name="Rectangle 7"/>
            <p:cNvSpPr>
              <a:spLocks noChangeArrowheads="1"/>
            </p:cNvSpPr>
            <p:nvPr/>
          </p:nvSpPr>
          <p:spPr bwMode="auto">
            <a:xfrm rot="16200000">
              <a:off x="2413794" y="3450432"/>
              <a:ext cx="29305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>
                  <a:solidFill>
                    <a:schemeClr val="bg1"/>
                  </a:solidFill>
                </a:rPr>
                <a:t>Exchange MPI contact info</a:t>
              </a:r>
            </a:p>
          </p:txBody>
        </p:sp>
        <p:sp>
          <p:nvSpPr>
            <p:cNvPr id="16390" name="Rectangle 8"/>
            <p:cNvSpPr>
              <a:spLocks noChangeArrowheads="1"/>
            </p:cNvSpPr>
            <p:nvPr/>
          </p:nvSpPr>
          <p:spPr bwMode="auto">
            <a:xfrm rot="16200000">
              <a:off x="3712369" y="3921393"/>
              <a:ext cx="23399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 dirty="0"/>
                <a:t>Setup MPI structures</a:t>
              </a:r>
            </a:p>
          </p:txBody>
        </p:sp>
        <p:sp>
          <p:nvSpPr>
            <p:cNvPr id="16391" name="Rectangle 9"/>
            <p:cNvSpPr>
              <a:spLocks noChangeArrowheads="1"/>
            </p:cNvSpPr>
            <p:nvPr/>
          </p:nvSpPr>
          <p:spPr bwMode="auto">
            <a:xfrm rot="16200000">
              <a:off x="5444332" y="4670692"/>
              <a:ext cx="844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barrier</a:t>
              </a:r>
            </a:p>
          </p:txBody>
        </p:sp>
        <p:sp>
          <p:nvSpPr>
            <p:cNvPr id="16392" name="Rectangle 10"/>
            <p:cNvSpPr>
              <a:spLocks noChangeArrowheads="1"/>
            </p:cNvSpPr>
            <p:nvPr/>
          </p:nvSpPr>
          <p:spPr bwMode="auto">
            <a:xfrm rot="16200000">
              <a:off x="5737225" y="4022199"/>
              <a:ext cx="2141538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mpi_init completion</a:t>
              </a:r>
            </a:p>
          </p:txBody>
        </p:sp>
        <p:sp>
          <p:nvSpPr>
            <p:cNvPr id="16393" name="Rectangle 11"/>
            <p:cNvSpPr>
              <a:spLocks noChangeArrowheads="1"/>
            </p:cNvSpPr>
            <p:nvPr/>
          </p:nvSpPr>
          <p:spPr bwMode="auto">
            <a:xfrm rot="16200000">
              <a:off x="7362032" y="4670692"/>
              <a:ext cx="844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barrier</a:t>
              </a:r>
            </a:p>
          </p:txBody>
        </p:sp>
        <p:sp>
          <p:nvSpPr>
            <p:cNvPr id="16394" name="Line 12"/>
            <p:cNvSpPr>
              <a:spLocks noChangeShapeType="1"/>
            </p:cNvSpPr>
            <p:nvPr/>
          </p:nvSpPr>
          <p:spPr bwMode="auto">
            <a:xfrm>
              <a:off x="7373938" y="712788"/>
              <a:ext cx="0" cy="5564187"/>
            </a:xfrm>
            <a:prstGeom prst="line">
              <a:avLst/>
            </a:prstGeom>
            <a:noFill/>
            <a:ln w="76200" cmpd="tri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5" name="Rectangle 13"/>
            <p:cNvSpPr>
              <a:spLocks noChangeArrowheads="1"/>
            </p:cNvSpPr>
            <p:nvPr/>
          </p:nvSpPr>
          <p:spPr bwMode="auto">
            <a:xfrm>
              <a:off x="3689350" y="642938"/>
              <a:ext cx="10223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 dirty="0" err="1"/>
                <a:t>MPI_Init</a:t>
              </a:r>
              <a:endParaRPr lang="en-US" altLang="en-US" sz="1800" dirty="0"/>
            </a:p>
          </p:txBody>
        </p:sp>
        <p:sp>
          <p:nvSpPr>
            <p:cNvPr id="16396" name="Rectangle 14"/>
            <p:cNvSpPr>
              <a:spLocks noChangeArrowheads="1"/>
            </p:cNvSpPr>
            <p:nvPr/>
          </p:nvSpPr>
          <p:spPr bwMode="auto">
            <a:xfrm>
              <a:off x="7400925" y="687388"/>
              <a:ext cx="1504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MPI_Finalize</a:t>
              </a:r>
            </a:p>
          </p:txBody>
        </p:sp>
        <p:sp>
          <p:nvSpPr>
            <p:cNvPr id="16397" name="Rectangle 16"/>
            <p:cNvSpPr>
              <a:spLocks noChangeArrowheads="1"/>
            </p:cNvSpPr>
            <p:nvPr/>
          </p:nvSpPr>
          <p:spPr bwMode="auto">
            <a:xfrm>
              <a:off x="3057525" y="6080125"/>
              <a:ext cx="3201988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RRZ, 16-nodes, 8ppn, rank=0</a:t>
              </a:r>
            </a:p>
          </p:txBody>
        </p:sp>
        <p:sp>
          <p:nvSpPr>
            <p:cNvPr id="16398" name="Rectangle 17"/>
            <p:cNvSpPr>
              <a:spLocks noChangeArrowheads="1"/>
            </p:cNvSpPr>
            <p:nvPr/>
          </p:nvSpPr>
          <p:spPr bwMode="auto">
            <a:xfrm rot="16200000">
              <a:off x="-355600" y="2917825"/>
              <a:ext cx="13954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 dirty="0"/>
                <a:t>Time (</a:t>
              </a:r>
              <a:r>
                <a:rPr lang="en-US" altLang="en-US" sz="1800" dirty="0">
                  <a:sym typeface="Symbol" charset="2"/>
                </a:rPr>
                <a:t></a:t>
              </a:r>
              <a:r>
                <a:rPr lang="en-US" altLang="ja-JP" sz="1800" dirty="0"/>
                <a:t>sec)</a:t>
              </a:r>
              <a:endParaRPr lang="en-US" altLang="en-US" sz="1800" dirty="0"/>
            </a:p>
          </p:txBody>
        </p:sp>
        <p:sp>
          <p:nvSpPr>
            <p:cNvPr id="2" name="Rectangle 1"/>
            <p:cNvSpPr/>
            <p:nvPr/>
          </p:nvSpPr>
          <p:spPr bwMode="auto">
            <a:xfrm>
              <a:off x="3489433" y="1371600"/>
              <a:ext cx="930167" cy="4419600"/>
            </a:xfrm>
            <a:prstGeom prst="rect">
              <a:avLst/>
            </a:prstGeom>
            <a:solidFill>
              <a:schemeClr val="bg1">
                <a:alpha val="86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4547381" y="2737879"/>
              <a:ext cx="758537" cy="2978463"/>
            </a:xfrm>
            <a:prstGeom prst="rect">
              <a:avLst/>
            </a:prstGeom>
            <a:solidFill>
              <a:schemeClr val="bg1">
                <a:alpha val="68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848656" y="1505777"/>
              <a:ext cx="2156884" cy="933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 smtClean="0">
                  <a:solidFill>
                    <a:srgbClr val="FF0000"/>
                  </a:solidFill>
                </a:rPr>
                <a:t>Add on 1</a:t>
              </a:r>
              <a:r>
                <a:rPr lang="en-US" sz="1600" i="1" baseline="30000" dirty="0" smtClean="0">
                  <a:solidFill>
                    <a:srgbClr val="FF0000"/>
                  </a:solidFill>
                </a:rPr>
                <a:t>st</a:t>
              </a:r>
              <a:r>
                <a:rPr lang="en-US" sz="1600" i="1" dirty="0" smtClean="0">
                  <a:solidFill>
                    <a:srgbClr val="FF0000"/>
                  </a:solidFill>
                </a:rPr>
                <a:t> communication</a:t>
              </a:r>
            </a:p>
            <a:p>
              <a:pPr algn="ctr"/>
              <a:r>
                <a:rPr lang="en-US" sz="1400" i="1" dirty="0" smtClean="0">
                  <a:solidFill>
                    <a:srgbClr val="FF0000"/>
                  </a:solidFill>
                </a:rPr>
                <a:t>(non-</a:t>
              </a:r>
              <a:r>
                <a:rPr lang="en-US" sz="1400" i="1" dirty="0" err="1" smtClean="0">
                  <a:solidFill>
                    <a:srgbClr val="FF0000"/>
                  </a:solidFill>
                </a:rPr>
                <a:t>PMIx</a:t>
              </a:r>
              <a:r>
                <a:rPr lang="en-US" sz="1400" i="1" dirty="0" smtClean="0">
                  <a:solidFill>
                    <a:srgbClr val="FF0000"/>
                  </a:solidFill>
                </a:rPr>
                <a:t>)</a:t>
              </a:r>
              <a:endParaRPr lang="en-US" sz="1600" i="1" dirty="0">
                <a:solidFill>
                  <a:srgbClr val="FF0000"/>
                </a:solidFill>
              </a:endParaRPr>
            </a:p>
          </p:txBody>
        </p:sp>
        <p:cxnSp>
          <p:nvCxnSpPr>
            <p:cNvPr id="5" name="Straight Arrow Connector 4"/>
            <p:cNvCxnSpPr>
              <a:stCxn id="3" idx="2"/>
            </p:cNvCxnSpPr>
            <p:nvPr/>
          </p:nvCxnSpPr>
          <p:spPr bwMode="auto">
            <a:xfrm flipH="1">
              <a:off x="5089238" y="2439739"/>
              <a:ext cx="837861" cy="69462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Stage 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76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96194" y="1001889"/>
            <a:ext cx="8087545" cy="5454020"/>
            <a:chOff x="158750" y="533400"/>
            <a:chExt cx="8747125" cy="5913438"/>
          </a:xfrm>
        </p:grpSpPr>
        <p:graphicFrame>
          <p:nvGraphicFramePr>
            <p:cNvPr id="16386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8606810"/>
                </p:ext>
              </p:extLst>
            </p:nvPr>
          </p:nvGraphicFramePr>
          <p:xfrm>
            <a:off x="228600" y="533400"/>
            <a:ext cx="8610600" cy="5861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5" name="Worksheet" r:id="rId3" imgW="5613400" imgH="3822700" progId="Excel.Sheet.8">
                    <p:embed/>
                  </p:oleObj>
                </mc:Choice>
                <mc:Fallback>
                  <p:oleObj name="Worksheet" r:id="rId3" imgW="5613400" imgH="3822700" progId="Excel.Shee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" y="533400"/>
                          <a:ext cx="8610600" cy="5861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87" name="Rectangle 5"/>
            <p:cNvSpPr>
              <a:spLocks noChangeArrowheads="1"/>
            </p:cNvSpPr>
            <p:nvPr/>
          </p:nvSpPr>
          <p:spPr bwMode="auto">
            <a:xfrm rot="-5400000">
              <a:off x="1585435" y="4621016"/>
              <a:ext cx="94128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 smtClean="0"/>
                <a:t>Launch</a:t>
              </a:r>
              <a:endParaRPr lang="en-US" altLang="en-US" sz="1800" dirty="0"/>
            </a:p>
          </p:txBody>
        </p:sp>
        <p:sp>
          <p:nvSpPr>
            <p:cNvPr id="16388" name="Rectangle 6"/>
            <p:cNvSpPr>
              <a:spLocks noChangeArrowheads="1"/>
            </p:cNvSpPr>
            <p:nvPr/>
          </p:nvSpPr>
          <p:spPr bwMode="auto">
            <a:xfrm rot="-5400000">
              <a:off x="2300010" y="4396596"/>
              <a:ext cx="139012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 smtClean="0"/>
                <a:t>Initialization</a:t>
              </a:r>
              <a:endParaRPr lang="en-US" altLang="en-US" sz="1800" dirty="0"/>
            </a:p>
          </p:txBody>
        </p:sp>
        <p:sp>
          <p:nvSpPr>
            <p:cNvPr id="16389" name="Rectangle 7"/>
            <p:cNvSpPr>
              <a:spLocks noChangeArrowheads="1"/>
            </p:cNvSpPr>
            <p:nvPr/>
          </p:nvSpPr>
          <p:spPr bwMode="auto">
            <a:xfrm rot="-5400000">
              <a:off x="2413794" y="3450432"/>
              <a:ext cx="29305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>
                  <a:solidFill>
                    <a:schemeClr val="bg1"/>
                  </a:solidFill>
                </a:rPr>
                <a:t>Exchange MPI contact info</a:t>
              </a:r>
            </a:p>
          </p:txBody>
        </p:sp>
        <p:sp>
          <p:nvSpPr>
            <p:cNvPr id="16390" name="Rectangle 8"/>
            <p:cNvSpPr>
              <a:spLocks noChangeArrowheads="1"/>
            </p:cNvSpPr>
            <p:nvPr/>
          </p:nvSpPr>
          <p:spPr bwMode="auto">
            <a:xfrm rot="-5400000">
              <a:off x="3712369" y="3921393"/>
              <a:ext cx="23399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Setup MPI structures</a:t>
              </a:r>
            </a:p>
          </p:txBody>
        </p:sp>
        <p:sp>
          <p:nvSpPr>
            <p:cNvPr id="16391" name="Rectangle 9"/>
            <p:cNvSpPr>
              <a:spLocks noChangeArrowheads="1"/>
            </p:cNvSpPr>
            <p:nvPr/>
          </p:nvSpPr>
          <p:spPr bwMode="auto">
            <a:xfrm rot="-5400000">
              <a:off x="5444332" y="4670692"/>
              <a:ext cx="844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barrier</a:t>
              </a:r>
            </a:p>
          </p:txBody>
        </p:sp>
        <p:sp>
          <p:nvSpPr>
            <p:cNvPr id="16392" name="Rectangle 10"/>
            <p:cNvSpPr>
              <a:spLocks noChangeArrowheads="1"/>
            </p:cNvSpPr>
            <p:nvPr/>
          </p:nvSpPr>
          <p:spPr bwMode="auto">
            <a:xfrm rot="-5400000">
              <a:off x="5737225" y="4022199"/>
              <a:ext cx="2141538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mpi_init completion</a:t>
              </a:r>
            </a:p>
          </p:txBody>
        </p:sp>
        <p:sp>
          <p:nvSpPr>
            <p:cNvPr id="16393" name="Rectangle 11"/>
            <p:cNvSpPr>
              <a:spLocks noChangeArrowheads="1"/>
            </p:cNvSpPr>
            <p:nvPr/>
          </p:nvSpPr>
          <p:spPr bwMode="auto">
            <a:xfrm rot="-5400000">
              <a:off x="7362032" y="4670692"/>
              <a:ext cx="844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barrier</a:t>
              </a:r>
            </a:p>
          </p:txBody>
        </p:sp>
        <p:sp>
          <p:nvSpPr>
            <p:cNvPr id="16394" name="Line 12"/>
            <p:cNvSpPr>
              <a:spLocks noChangeShapeType="1"/>
            </p:cNvSpPr>
            <p:nvPr/>
          </p:nvSpPr>
          <p:spPr bwMode="auto">
            <a:xfrm>
              <a:off x="7373938" y="712788"/>
              <a:ext cx="0" cy="5564187"/>
            </a:xfrm>
            <a:prstGeom prst="line">
              <a:avLst/>
            </a:prstGeom>
            <a:noFill/>
            <a:ln w="76200" cmpd="tri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5" name="Rectangle 13"/>
            <p:cNvSpPr>
              <a:spLocks noChangeArrowheads="1"/>
            </p:cNvSpPr>
            <p:nvPr/>
          </p:nvSpPr>
          <p:spPr bwMode="auto">
            <a:xfrm>
              <a:off x="3689350" y="642938"/>
              <a:ext cx="10223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MPI_Init</a:t>
              </a:r>
            </a:p>
          </p:txBody>
        </p:sp>
        <p:sp>
          <p:nvSpPr>
            <p:cNvPr id="16396" name="Rectangle 14"/>
            <p:cNvSpPr>
              <a:spLocks noChangeArrowheads="1"/>
            </p:cNvSpPr>
            <p:nvPr/>
          </p:nvSpPr>
          <p:spPr bwMode="auto">
            <a:xfrm>
              <a:off x="7400925" y="687388"/>
              <a:ext cx="1504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MPI_Finalize</a:t>
              </a:r>
            </a:p>
          </p:txBody>
        </p:sp>
        <p:sp>
          <p:nvSpPr>
            <p:cNvPr id="16397" name="Rectangle 16"/>
            <p:cNvSpPr>
              <a:spLocks noChangeArrowheads="1"/>
            </p:cNvSpPr>
            <p:nvPr/>
          </p:nvSpPr>
          <p:spPr bwMode="auto">
            <a:xfrm>
              <a:off x="3057525" y="6080125"/>
              <a:ext cx="3201988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RRZ, 16-nodes, 8ppn, rank=0</a:t>
              </a:r>
            </a:p>
          </p:txBody>
        </p:sp>
        <p:sp>
          <p:nvSpPr>
            <p:cNvPr id="16398" name="Rectangle 17"/>
            <p:cNvSpPr>
              <a:spLocks noChangeArrowheads="1"/>
            </p:cNvSpPr>
            <p:nvPr/>
          </p:nvSpPr>
          <p:spPr bwMode="auto">
            <a:xfrm rot="-5400000">
              <a:off x="-355600" y="2917825"/>
              <a:ext cx="13954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Time (</a:t>
              </a:r>
              <a:r>
                <a:rPr lang="en-US" altLang="en-US" sz="1800">
                  <a:sym typeface="Symbol" charset="2"/>
                </a:rPr>
                <a:t></a:t>
              </a:r>
              <a:r>
                <a:rPr lang="en-US" altLang="ja-JP" sz="1800"/>
                <a:t>sec)</a:t>
              </a:r>
              <a:endParaRPr lang="en-US" altLang="en-US" sz="1800"/>
            </a:p>
          </p:txBody>
        </p:sp>
        <p:sp>
          <p:nvSpPr>
            <p:cNvPr id="2" name="Rectangle 1"/>
            <p:cNvSpPr/>
            <p:nvPr/>
          </p:nvSpPr>
          <p:spPr bwMode="auto">
            <a:xfrm>
              <a:off x="3489433" y="1371600"/>
              <a:ext cx="930167" cy="4419600"/>
            </a:xfrm>
            <a:prstGeom prst="rect">
              <a:avLst/>
            </a:prstGeom>
            <a:solidFill>
              <a:schemeClr val="bg1">
                <a:alpha val="86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4547381" y="2936349"/>
              <a:ext cx="758537" cy="2779993"/>
            </a:xfrm>
            <a:prstGeom prst="rect">
              <a:avLst/>
            </a:prstGeom>
            <a:solidFill>
              <a:schemeClr val="bg1">
                <a:alpha val="8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844183" y="4335040"/>
              <a:ext cx="531209" cy="953211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5640991" y="4343400"/>
              <a:ext cx="531209" cy="953211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785341" y="1584303"/>
              <a:ext cx="2352641" cy="700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>
                  <a:solidFill>
                    <a:srgbClr val="FF0000"/>
                  </a:solidFill>
                </a:rPr>
                <a:t>Use </a:t>
              </a:r>
              <a:r>
                <a:rPr lang="en-US" i="1" dirty="0" smtClean="0">
                  <a:solidFill>
                    <a:srgbClr val="FF0000"/>
                  </a:solidFill>
                </a:rPr>
                <a:t>HSN, Daemon</a:t>
              </a:r>
            </a:p>
            <a:p>
              <a:r>
                <a:rPr lang="en-US" i="1" dirty="0" smtClean="0">
                  <a:solidFill>
                    <a:srgbClr val="FF0000"/>
                  </a:solidFill>
                </a:rPr>
                <a:t> “instant on”, </a:t>
              </a:r>
              <a:r>
                <a:rPr lang="en-US" i="1" dirty="0" err="1" smtClean="0">
                  <a:solidFill>
                    <a:srgbClr val="FF0000"/>
                  </a:solidFill>
                </a:rPr>
                <a:t>Coll</a:t>
              </a:r>
              <a:endParaRPr lang="en-US" i="1" dirty="0">
                <a:solidFill>
                  <a:srgbClr val="FF0000"/>
                </a:solidFill>
              </a:endParaRPr>
            </a:p>
          </p:txBody>
        </p:sp>
        <p:cxnSp>
          <p:nvCxnSpPr>
            <p:cNvPr id="7" name="Straight Arrow Connector 6"/>
            <p:cNvCxnSpPr>
              <a:endCxn id="20" idx="0"/>
            </p:cNvCxnSpPr>
            <p:nvPr/>
          </p:nvCxnSpPr>
          <p:spPr bwMode="auto">
            <a:xfrm flipH="1">
              <a:off x="2109788" y="2303616"/>
              <a:ext cx="3681412" cy="2031424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Straight Arrow Connector 8"/>
            <p:cNvCxnSpPr/>
            <p:nvPr/>
          </p:nvCxnSpPr>
          <p:spPr bwMode="auto">
            <a:xfrm>
              <a:off x="5759843" y="2291051"/>
              <a:ext cx="106764" cy="2013884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" name="Rectangle 23"/>
            <p:cNvSpPr/>
            <p:nvPr/>
          </p:nvSpPr>
          <p:spPr bwMode="auto">
            <a:xfrm>
              <a:off x="2819400" y="3962400"/>
              <a:ext cx="531209" cy="1295400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cxnSp>
          <p:nvCxnSpPr>
            <p:cNvPr id="25" name="Straight Arrow Connector 24"/>
            <p:cNvCxnSpPr/>
            <p:nvPr/>
          </p:nvCxnSpPr>
          <p:spPr bwMode="auto">
            <a:xfrm flipH="1">
              <a:off x="3276600" y="2286000"/>
              <a:ext cx="2514601" cy="1905000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Stage III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66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Status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Intel Confidential</a:t>
            </a:r>
            <a:endParaRPr lang="en-US"/>
          </a:p>
        </p:txBody>
      </p:sp>
      <p:pic>
        <p:nvPicPr>
          <p:cNvPr id="4" name="Picture 3" descr="orcm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21" y="1367522"/>
            <a:ext cx="8551335" cy="50312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9000" y="4473223"/>
            <a:ext cx="1151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Stage I-II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>
          <a:xfrm>
            <a:off x="635000" y="5827889"/>
            <a:ext cx="7507111" cy="197555"/>
          </a:xfrm>
          <a:custGeom>
            <a:avLst/>
            <a:gdLst>
              <a:gd name="connsiteX0" fmla="*/ 0 w 7478889"/>
              <a:gd name="connsiteY0" fmla="*/ 310445 h 310445"/>
              <a:gd name="connsiteX1" fmla="*/ 3626556 w 7478889"/>
              <a:gd name="connsiteY1" fmla="*/ 98778 h 310445"/>
              <a:gd name="connsiteX2" fmla="*/ 5870222 w 7478889"/>
              <a:gd name="connsiteY2" fmla="*/ 28223 h 310445"/>
              <a:gd name="connsiteX3" fmla="*/ 7478889 w 7478889"/>
              <a:gd name="connsiteY3" fmla="*/ 0 h 31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8889" h="310445">
                <a:moveTo>
                  <a:pt x="0" y="310445"/>
                </a:moveTo>
                <a:lnTo>
                  <a:pt x="3626556" y="98778"/>
                </a:lnTo>
                <a:cubicBezTo>
                  <a:pt x="4604926" y="51741"/>
                  <a:pt x="5870222" y="28223"/>
                  <a:pt x="5870222" y="28223"/>
                </a:cubicBezTo>
                <a:lnTo>
                  <a:pt x="7478889" y="0"/>
                </a:lnTo>
              </a:path>
            </a:pathLst>
          </a:custGeom>
          <a:ln w="38100" cmpd="sng">
            <a:solidFill>
              <a:srgbClr val="008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940779" y="5404555"/>
            <a:ext cx="2252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Stage III (projected)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718778" y="1876778"/>
            <a:ext cx="1226793" cy="147732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Adoption:</a:t>
            </a:r>
          </a:p>
          <a:p>
            <a:r>
              <a:rPr lang="en-US" dirty="0"/>
              <a:t> </a:t>
            </a:r>
            <a:r>
              <a:rPr lang="en-US" dirty="0" smtClean="0"/>
              <a:t>   SLURM</a:t>
            </a:r>
          </a:p>
          <a:p>
            <a:r>
              <a:rPr lang="en-US" dirty="0"/>
              <a:t> </a:t>
            </a:r>
            <a:r>
              <a:rPr lang="en-US" dirty="0" smtClean="0"/>
              <a:t>   LSF</a:t>
            </a:r>
          </a:p>
          <a:p>
            <a:r>
              <a:rPr lang="en-US" dirty="0"/>
              <a:t> </a:t>
            </a:r>
            <a:r>
              <a:rPr lang="en-US" dirty="0" smtClean="0"/>
              <a:t>   Moab</a:t>
            </a:r>
          </a:p>
          <a:p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PBSPro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16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Flexible Allocation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 dirty="0" smtClean="0"/>
              <a:t>Request additional resources</a:t>
            </a:r>
          </a:p>
          <a:p>
            <a:pPr lvl="1"/>
            <a:r>
              <a:rPr lang="en-US" sz="2400" dirty="0" smtClean="0"/>
              <a:t>Compute, memory, network, NVM, burst buffer</a:t>
            </a:r>
          </a:p>
          <a:p>
            <a:pPr lvl="1"/>
            <a:r>
              <a:rPr lang="en-US" sz="2400" dirty="0" smtClean="0"/>
              <a:t>Immediate, forecast</a:t>
            </a:r>
          </a:p>
          <a:p>
            <a:pPr lvl="1"/>
            <a:r>
              <a:rPr lang="en-US" sz="2400" dirty="0" smtClean="0"/>
              <a:t>Expand existing allocation, separate allocation</a:t>
            </a:r>
          </a:p>
          <a:p>
            <a:r>
              <a:rPr lang="en-US" sz="2800" dirty="0" smtClean="0"/>
              <a:t>Return extra resources</a:t>
            </a:r>
          </a:p>
          <a:p>
            <a:pPr lvl="1"/>
            <a:r>
              <a:rPr lang="en-US" sz="2400" dirty="0" smtClean="0"/>
              <a:t>No longer required</a:t>
            </a:r>
          </a:p>
          <a:p>
            <a:pPr lvl="1"/>
            <a:r>
              <a:rPr lang="en-US" sz="2400" dirty="0" smtClean="0"/>
              <a:t>Will not be used for some specified time, reclaim (handshake) when ready to use</a:t>
            </a:r>
          </a:p>
          <a:p>
            <a:r>
              <a:rPr lang="en-US" sz="2800" dirty="0" smtClean="0"/>
              <a:t>Notification of preemption</a:t>
            </a:r>
          </a:p>
          <a:p>
            <a:pPr lvl="1"/>
            <a:r>
              <a:rPr lang="en-US" sz="2400" dirty="0" smtClean="0"/>
              <a:t>Provide opportunity to cleanly pause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789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800" dirty="0" smtClean="0"/>
              <a:t>Asynchronous operations</a:t>
            </a:r>
          </a:p>
          <a:p>
            <a:pPr lvl="1"/>
            <a:r>
              <a:rPr lang="en-US" sz="2400" dirty="0" smtClean="0"/>
              <a:t>Anticipatory data fetch, staging</a:t>
            </a:r>
          </a:p>
          <a:p>
            <a:pPr lvl="1"/>
            <a:r>
              <a:rPr lang="en-US" sz="2400" dirty="0" smtClean="0"/>
              <a:t>Advise time to complete</a:t>
            </a:r>
          </a:p>
          <a:p>
            <a:pPr lvl="1"/>
            <a:r>
              <a:rPr lang="en-US" sz="2400" dirty="0" smtClean="0"/>
              <a:t>Notify upon available</a:t>
            </a:r>
          </a:p>
          <a:p>
            <a:r>
              <a:rPr lang="en-US" sz="2800" dirty="0" smtClean="0"/>
              <a:t>Storage policy requests</a:t>
            </a:r>
          </a:p>
          <a:p>
            <a:pPr lvl="1"/>
            <a:r>
              <a:rPr lang="en-US" sz="2400" dirty="0" smtClean="0"/>
              <a:t>Hot/warm/cold data movement</a:t>
            </a:r>
          </a:p>
          <a:p>
            <a:pPr lvl="1"/>
            <a:r>
              <a:rPr lang="en-US" sz="2400" dirty="0" smtClean="0"/>
              <a:t>Desired locations and striping/replication patterns</a:t>
            </a:r>
          </a:p>
          <a:p>
            <a:pPr lvl="1"/>
            <a:r>
              <a:rPr lang="en-US" sz="2400" dirty="0" smtClean="0"/>
              <a:t>Persistence of files, shared memory regions across jobs, sessions</a:t>
            </a:r>
          </a:p>
          <a:p>
            <a:pPr lvl="1"/>
            <a:r>
              <a:rPr lang="en-US" sz="2400" dirty="0" smtClean="0"/>
              <a:t>ACL to generated data across jobs, sessions</a:t>
            </a:r>
          </a:p>
        </p:txBody>
      </p:sp>
    </p:spTree>
    <p:extLst>
      <p:ext uri="{BB962C8B-B14F-4D97-AF65-F5344CB8AC3E}">
        <p14:creationId xmlns:p14="http://schemas.microsoft.com/office/powerpoint/2010/main" val="115581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7010400" y="6096000"/>
            <a:ext cx="1752600" cy="762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Spawn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Staging support</a:t>
            </a:r>
          </a:p>
          <a:p>
            <a:pPr lvl="1"/>
            <a:r>
              <a:rPr lang="en-US" sz="2000" dirty="0" smtClean="0"/>
              <a:t>Files</a:t>
            </a:r>
            <a:r>
              <a:rPr lang="en-US" sz="2000" dirty="0"/>
              <a:t>, libraries required by new apps</a:t>
            </a:r>
          </a:p>
          <a:p>
            <a:pPr lvl="1"/>
            <a:r>
              <a:rPr lang="en-US" sz="2000" dirty="0"/>
              <a:t>Allow </a:t>
            </a:r>
            <a:r>
              <a:rPr lang="en-US" sz="2000" dirty="0" smtClean="0"/>
              <a:t>RM to consider in scheduler</a:t>
            </a:r>
          </a:p>
          <a:p>
            <a:pPr lvl="2"/>
            <a:r>
              <a:rPr lang="en-US" sz="1800" dirty="0" smtClean="0"/>
              <a:t>Current location of data</a:t>
            </a:r>
          </a:p>
          <a:p>
            <a:pPr lvl="2"/>
            <a:r>
              <a:rPr lang="en-US" sz="1800" dirty="0" smtClean="0"/>
              <a:t>Time to retrieve and position</a:t>
            </a:r>
          </a:p>
          <a:p>
            <a:pPr lvl="2"/>
            <a:r>
              <a:rPr lang="en-US" sz="1800" dirty="0" smtClean="0"/>
              <a:t>Schedule scalable </a:t>
            </a:r>
            <a:r>
              <a:rPr lang="en-US" sz="1800" dirty="0" smtClean="0"/>
              <a:t>preload</a:t>
            </a:r>
          </a:p>
          <a:p>
            <a:pPr lvl="2"/>
            <a:r>
              <a:rPr lang="en-US" sz="1800" dirty="0" smtClean="0"/>
              <a:t>Specified topology, min/max </a:t>
            </a:r>
            <a:r>
              <a:rPr lang="en-US" sz="1800" dirty="0" err="1" smtClean="0"/>
              <a:t>procs</a:t>
            </a:r>
            <a:r>
              <a:rPr lang="en-US" sz="1800" dirty="0" smtClean="0"/>
              <a:t>, …</a:t>
            </a:r>
            <a:endParaRPr lang="en-US" sz="1800" dirty="0" smtClean="0"/>
          </a:p>
          <a:p>
            <a:r>
              <a:rPr lang="en-US" sz="2400" dirty="0" smtClean="0"/>
              <a:t>Provisioning requests</a:t>
            </a:r>
          </a:p>
          <a:p>
            <a:pPr lvl="1"/>
            <a:r>
              <a:rPr lang="en-US" sz="2000" dirty="0" smtClean="0"/>
              <a:t>Allow RM to consider in selecting resources, minimize startup time due to provisioning</a:t>
            </a:r>
          </a:p>
          <a:p>
            <a:pPr lvl="1"/>
            <a:r>
              <a:rPr lang="en-US" sz="2000" dirty="0" smtClean="0"/>
              <a:t>Desired image, packages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80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 smtClean="0"/>
              <a:t>Quality of service requests</a:t>
            </a:r>
          </a:p>
          <a:p>
            <a:pPr lvl="1"/>
            <a:r>
              <a:rPr lang="en-US" sz="2200" dirty="0" smtClean="0"/>
              <a:t>Bandwidth, traffic priority, power constraints</a:t>
            </a:r>
          </a:p>
          <a:p>
            <a:pPr lvl="1"/>
            <a:r>
              <a:rPr lang="en-US" sz="2200" dirty="0" smtClean="0"/>
              <a:t>Multi-fabric failover, striping prioritization</a:t>
            </a:r>
          </a:p>
          <a:p>
            <a:pPr lvl="1"/>
            <a:r>
              <a:rPr lang="en-US" sz="2200" dirty="0" smtClean="0"/>
              <a:t>Security requirements</a:t>
            </a:r>
          </a:p>
          <a:p>
            <a:pPr lvl="2"/>
            <a:r>
              <a:rPr lang="en-US" sz="1900" dirty="0" smtClean="0"/>
              <a:t>Network domain definitions, ACLs</a:t>
            </a:r>
          </a:p>
          <a:p>
            <a:r>
              <a:rPr lang="en-US" sz="2600" dirty="0" smtClean="0"/>
              <a:t>Notification requests</a:t>
            </a:r>
          </a:p>
          <a:p>
            <a:pPr lvl="1"/>
            <a:r>
              <a:rPr lang="en-US" sz="2200" dirty="0" smtClean="0"/>
              <a:t>State-of-health</a:t>
            </a:r>
          </a:p>
          <a:p>
            <a:pPr lvl="1"/>
            <a:r>
              <a:rPr lang="en-US" sz="2200" dirty="0" smtClean="0"/>
              <a:t>Update process endpoint upon fault recovery</a:t>
            </a:r>
          </a:p>
          <a:p>
            <a:r>
              <a:rPr lang="en-US" sz="2600" dirty="0" smtClean="0"/>
              <a:t>Topology information</a:t>
            </a:r>
          </a:p>
          <a:p>
            <a:pPr lvl="1"/>
            <a:r>
              <a:rPr lang="en-US" sz="2200" dirty="0" smtClean="0"/>
              <a:t>Torus, dragonfly, </a:t>
            </a:r>
            <a:r>
              <a:rPr lang="is-IS" sz="2200" dirty="0" smtClean="0"/>
              <a:t>…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8602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Control/Management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Scheduler analytics</a:t>
            </a:r>
          </a:p>
          <a:p>
            <a:pPr lvl="1"/>
            <a:r>
              <a:rPr lang="en-US" dirty="0" smtClean="0"/>
              <a:t>Predict power usage, advise updates</a:t>
            </a:r>
            <a:endParaRPr lang="en-US" dirty="0" smtClean="0"/>
          </a:p>
          <a:p>
            <a:r>
              <a:rPr lang="en-US" dirty="0" smtClean="0"/>
              <a:t>Application </a:t>
            </a:r>
            <a:r>
              <a:rPr lang="en-US" dirty="0" smtClean="0"/>
              <a:t>requests</a:t>
            </a:r>
          </a:p>
          <a:p>
            <a:pPr lvl="1"/>
            <a:r>
              <a:rPr lang="en-US" dirty="0" smtClean="0"/>
              <a:t>Advise of changing workload requirements</a:t>
            </a:r>
          </a:p>
          <a:p>
            <a:pPr lvl="1"/>
            <a:r>
              <a:rPr lang="en-US" dirty="0" smtClean="0"/>
              <a:t>Request changes in policy</a:t>
            </a:r>
          </a:p>
          <a:p>
            <a:pPr lvl="1"/>
            <a:r>
              <a:rPr lang="en-US" dirty="0" smtClean="0"/>
              <a:t>Specify desired policy for spawned applications</a:t>
            </a:r>
          </a:p>
          <a:p>
            <a:r>
              <a:rPr lang="en-US" dirty="0" smtClean="0"/>
              <a:t>RM </a:t>
            </a:r>
            <a:r>
              <a:rPr lang="en-US" dirty="0" smtClean="0"/>
              <a:t>notifications</a:t>
            </a:r>
          </a:p>
          <a:p>
            <a:pPr lvl="1"/>
            <a:r>
              <a:rPr lang="en-US" dirty="0" smtClean="0"/>
              <a:t>Need to change power policy</a:t>
            </a:r>
          </a:p>
          <a:p>
            <a:pPr lvl="1"/>
            <a:r>
              <a:rPr lang="en-US" dirty="0" smtClean="0"/>
              <a:t>Preemption notification</a:t>
            </a:r>
          </a:p>
          <a:p>
            <a:pPr lvl="2"/>
            <a:r>
              <a:rPr lang="en-US" sz="1800" dirty="0" smtClean="0"/>
              <a:t>Allow application to accept, request pause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74975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Fault Tolerance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Notification</a:t>
            </a:r>
          </a:p>
          <a:p>
            <a:pPr lvl="1"/>
            <a:r>
              <a:rPr lang="en-US" sz="1900" dirty="0" smtClean="0"/>
              <a:t>App can register for error notifications, incipient faults</a:t>
            </a:r>
          </a:p>
          <a:p>
            <a:pPr lvl="2"/>
            <a:r>
              <a:rPr lang="en-US" sz="1900" dirty="0" smtClean="0"/>
              <a:t>RM-app negotiate to determine response</a:t>
            </a:r>
          </a:p>
          <a:p>
            <a:pPr lvl="1"/>
            <a:r>
              <a:rPr lang="en-US" sz="1900" dirty="0" smtClean="0"/>
              <a:t>App can notify RM of errors</a:t>
            </a:r>
          </a:p>
          <a:p>
            <a:pPr lvl="2"/>
            <a:r>
              <a:rPr lang="en-US" sz="1900" dirty="0" smtClean="0"/>
              <a:t>RM will notify specified, registered </a:t>
            </a:r>
            <a:r>
              <a:rPr lang="en-US" sz="1900" dirty="0" err="1" smtClean="0"/>
              <a:t>procs</a:t>
            </a:r>
            <a:endParaRPr lang="en-US" sz="1900" dirty="0" smtClean="0"/>
          </a:p>
          <a:p>
            <a:r>
              <a:rPr lang="en-US" dirty="0" smtClean="0"/>
              <a:t>Rapid application-driven checkpoint</a:t>
            </a:r>
          </a:p>
          <a:p>
            <a:pPr lvl="1"/>
            <a:r>
              <a:rPr lang="en-US" sz="1900" dirty="0" smtClean="0"/>
              <a:t>Local on-node NVRAM, a</a:t>
            </a:r>
            <a:r>
              <a:rPr lang="en-US" sz="1900" dirty="0" smtClean="0"/>
              <a:t>uto-stripe checkpoints</a:t>
            </a:r>
          </a:p>
          <a:p>
            <a:pPr lvl="1"/>
            <a:r>
              <a:rPr lang="en-US" sz="1900" dirty="0" smtClean="0"/>
              <a:t>Policy-driven “bleed” to remote burst buffers and/or global file system</a:t>
            </a:r>
          </a:p>
          <a:p>
            <a:r>
              <a:rPr lang="en-US" dirty="0" smtClean="0"/>
              <a:t>Restart support</a:t>
            </a:r>
          </a:p>
          <a:p>
            <a:pPr lvl="1"/>
            <a:r>
              <a:rPr lang="en-US" sz="1900" dirty="0" smtClean="0"/>
              <a:t>Specify source (remote NVM checkpoint, global filesystem, </a:t>
            </a:r>
            <a:r>
              <a:rPr lang="en-US" sz="1900" dirty="0" err="1" smtClean="0"/>
              <a:t>etc</a:t>
            </a:r>
            <a:r>
              <a:rPr lang="en-US" sz="1900" dirty="0" smtClean="0"/>
              <a:t>)</a:t>
            </a:r>
          </a:p>
          <a:p>
            <a:pPr lvl="1"/>
            <a:r>
              <a:rPr lang="en-US" sz="1900" dirty="0" smtClean="0"/>
              <a:t>Location hints/requests</a:t>
            </a:r>
          </a:p>
          <a:p>
            <a:pPr lvl="1"/>
            <a:r>
              <a:rPr lang="en-US" sz="1900" dirty="0" smtClean="0"/>
              <a:t>Entire job, specific processes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01184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Growing range of workflow patterns</a:t>
            </a:r>
          </a:p>
          <a:p>
            <a:pPr lvl="1"/>
            <a:r>
              <a:rPr lang="en-US" dirty="0" smtClean="0"/>
              <a:t>Traditional HPC: bulk synchronous, single application</a:t>
            </a:r>
          </a:p>
          <a:p>
            <a:pPr lvl="1"/>
            <a:r>
              <a:rPr lang="en-US" dirty="0" smtClean="0"/>
              <a:t>Analytics: asynchronous, staged</a:t>
            </a:r>
          </a:p>
          <a:p>
            <a:pPr lvl="1"/>
            <a:r>
              <a:rPr lang="en-US" dirty="0" smtClean="0"/>
              <a:t>Parametric: large number of simultaneous independent jobs</a:t>
            </a:r>
            <a:endParaRPr lang="en-US" dirty="0" smtClean="0"/>
          </a:p>
          <a:p>
            <a:r>
              <a:rPr lang="en-US" dirty="0" smtClean="0"/>
              <a:t>Ability to dynamically spawn a job</a:t>
            </a:r>
          </a:p>
          <a:p>
            <a:pPr lvl="1"/>
            <a:r>
              <a:rPr lang="en-US" dirty="0" smtClean="0"/>
              <a:t>Need </a:t>
            </a:r>
            <a:r>
              <a:rPr lang="en-US" dirty="0" smtClean="0"/>
              <a:t>flexibility – min/max size, rolling </a:t>
            </a:r>
            <a:r>
              <a:rPr lang="en-US" dirty="0" smtClean="0"/>
              <a:t>allocation, …</a:t>
            </a:r>
          </a:p>
          <a:p>
            <a:pPr lvl="1"/>
            <a:r>
              <a:rPr lang="en-US" dirty="0" smtClean="0"/>
              <a:t>Events </a:t>
            </a:r>
            <a:r>
              <a:rPr lang="en-US" dirty="0" smtClean="0"/>
              <a:t>between jobs and cross-linking of I/O</a:t>
            </a:r>
          </a:p>
          <a:p>
            <a:pPr lvl="1"/>
            <a:r>
              <a:rPr lang="en-US" dirty="0" smtClean="0"/>
              <a:t>Queuing of spawn requests</a:t>
            </a:r>
          </a:p>
          <a:p>
            <a:r>
              <a:rPr lang="en-US" dirty="0" smtClean="0"/>
              <a:t>Tool </a:t>
            </a:r>
            <a:r>
              <a:rPr lang="en-US" dirty="0" smtClean="0"/>
              <a:t>interfaces that work in these environments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6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Workload Manager: Job Description 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Complexity of describing job is growing</a:t>
            </a:r>
          </a:p>
          <a:p>
            <a:pPr lvl="1"/>
            <a:r>
              <a:rPr lang="en-US" dirty="0" smtClean="0"/>
              <a:t>Power, file/lib positioning</a:t>
            </a:r>
            <a:endParaRPr lang="en-US" dirty="0"/>
          </a:p>
          <a:p>
            <a:pPr lvl="1"/>
            <a:r>
              <a:rPr lang="en-US" dirty="0" smtClean="0"/>
              <a:t>Performance </a:t>
            </a:r>
            <a:r>
              <a:rPr lang="en-US" dirty="0" err="1" smtClean="0"/>
              <a:t>vs</a:t>
            </a:r>
            <a:r>
              <a:rPr lang="en-US" dirty="0" smtClean="0"/>
              <a:t> capacity, programming model</a:t>
            </a:r>
          </a:p>
          <a:p>
            <a:pPr lvl="1"/>
            <a:r>
              <a:rPr lang="en-US" dirty="0" smtClean="0"/>
              <a:t>System, project, application-level defaults</a:t>
            </a:r>
          </a:p>
          <a:p>
            <a:r>
              <a:rPr lang="en-US" dirty="0" smtClean="0"/>
              <a:t>Provide templates?</a:t>
            </a:r>
          </a:p>
          <a:p>
            <a:pPr lvl="1"/>
            <a:r>
              <a:rPr lang="en-US" dirty="0" smtClean="0"/>
              <a:t>System defaults, with modifiers</a:t>
            </a:r>
          </a:p>
          <a:p>
            <a:pPr lvl="2"/>
            <a:r>
              <a:rPr lang="en-US" dirty="0" smtClean="0"/>
              <a:t>--</a:t>
            </a:r>
            <a:r>
              <a:rPr lang="en-US" dirty="0" err="1" smtClean="0"/>
              <a:t>hadoop:mapper</a:t>
            </a:r>
            <a:r>
              <a:rPr lang="en-US" dirty="0" smtClean="0"/>
              <a:t>=</a:t>
            </a:r>
            <a:r>
              <a:rPr lang="en-US" dirty="0" err="1" smtClean="0"/>
              <a:t>foo,reducer</a:t>
            </a:r>
            <a:r>
              <a:rPr lang="en-US" dirty="0" smtClean="0"/>
              <a:t>=bar</a:t>
            </a:r>
          </a:p>
          <a:p>
            <a:pPr lvl="1"/>
            <a:r>
              <a:rPr lang="en-US" dirty="0" smtClean="0"/>
              <a:t>User-defined</a:t>
            </a:r>
          </a:p>
          <a:p>
            <a:pPr lvl="2"/>
            <a:r>
              <a:rPr lang="en-US" dirty="0" smtClean="0"/>
              <a:t>Application templates</a:t>
            </a:r>
          </a:p>
          <a:p>
            <a:pPr lvl="2"/>
            <a:r>
              <a:rPr lang="en-US" dirty="0" smtClean="0"/>
              <a:t>Shared, group templates</a:t>
            </a:r>
          </a:p>
          <a:p>
            <a:pPr lvl="1"/>
            <a:r>
              <a:rPr lang="en-US" dirty="0" smtClean="0"/>
              <a:t>Markup language definition of behaviors, priorities</a:t>
            </a:r>
          </a:p>
          <a:p>
            <a:pPr lvl="2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962400"/>
            <a:ext cx="1447800" cy="144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91400" y="3657600"/>
            <a:ext cx="906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0000FF"/>
                </a:solidFill>
              </a:rPr>
              <a:t>30 </a:t>
            </a:r>
            <a:r>
              <a:rPr lang="en-US" i="1" dirty="0" err="1" smtClean="0">
                <a:solidFill>
                  <a:srgbClr val="0000FF"/>
                </a:solidFill>
              </a:rPr>
              <a:t>yrs</a:t>
            </a:r>
            <a:endParaRPr lang="en-US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4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Flexible Architecture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Each tool built on top of same plugin system</a:t>
            </a:r>
          </a:p>
          <a:p>
            <a:pPr lvl="1"/>
            <a:r>
              <a:rPr lang="en-US" dirty="0" smtClean="0"/>
              <a:t>Different combinations of frameworks</a:t>
            </a:r>
          </a:p>
          <a:p>
            <a:pPr lvl="1"/>
            <a:r>
              <a:rPr lang="en-US" dirty="0" smtClean="0"/>
              <a:t>Different plugins activated to play different roles</a:t>
            </a:r>
          </a:p>
          <a:p>
            <a:pPr lvl="1"/>
            <a:r>
              <a:rPr lang="en-US" dirty="0" smtClean="0"/>
              <a:t>Example: </a:t>
            </a:r>
            <a:r>
              <a:rPr lang="en-US" dirty="0" err="1" smtClean="0"/>
              <a:t>orcmd</a:t>
            </a:r>
            <a:r>
              <a:rPr lang="en-US" dirty="0" smtClean="0"/>
              <a:t> on compute node </a:t>
            </a:r>
            <a:r>
              <a:rPr lang="en-US" dirty="0" err="1" smtClean="0"/>
              <a:t>vs</a:t>
            </a:r>
            <a:r>
              <a:rPr lang="en-US" dirty="0" smtClean="0"/>
              <a:t> on rack/row controllers</a:t>
            </a:r>
          </a:p>
          <a:p>
            <a:r>
              <a:rPr lang="en-US" dirty="0" smtClean="0"/>
              <a:t>Designed for distributed, centralized, hybrid operations</a:t>
            </a:r>
          </a:p>
          <a:p>
            <a:pPr lvl="1"/>
            <a:r>
              <a:rPr lang="en-US" dirty="0" smtClean="0"/>
              <a:t>Centralized for small clusters</a:t>
            </a:r>
          </a:p>
          <a:p>
            <a:pPr lvl="1"/>
            <a:r>
              <a:rPr lang="en-US" dirty="0" smtClean="0"/>
              <a:t>Hybrid for larger clusters</a:t>
            </a:r>
          </a:p>
          <a:p>
            <a:pPr lvl="1"/>
            <a:r>
              <a:rPr lang="en-US" dirty="0" smtClean="0"/>
              <a:t>Example: centralized scheduler, distributed “worker-bees”</a:t>
            </a:r>
          </a:p>
          <a:p>
            <a:r>
              <a:rPr lang="en-US" dirty="0" smtClean="0"/>
              <a:t>Accessible to users for interacting with RM</a:t>
            </a:r>
          </a:p>
          <a:p>
            <a:pPr lvl="1"/>
            <a:r>
              <a:rPr lang="en-US" dirty="0" smtClean="0"/>
              <a:t>Add shim libraries (abstract, public APIs) to access framework APIs</a:t>
            </a:r>
          </a:p>
          <a:p>
            <a:pPr lvl="1"/>
            <a:r>
              <a:rPr lang="en-US" dirty="0" smtClean="0"/>
              <a:t>Examples: SCON, pub-sub, in-flight analytics</a:t>
            </a:r>
          </a:p>
        </p:txBody>
      </p:sp>
    </p:spTree>
    <p:extLst>
      <p:ext uri="{BB962C8B-B14F-4D97-AF65-F5344CB8AC3E}">
        <p14:creationId xmlns:p14="http://schemas.microsoft.com/office/powerpoint/2010/main" val="356631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Breaking it Down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Workload Manager</a:t>
            </a:r>
          </a:p>
          <a:p>
            <a:pPr lvl="1"/>
            <a:r>
              <a:rPr lang="en-US" dirty="0" smtClean="0"/>
              <a:t>Dedicated framework</a:t>
            </a:r>
          </a:p>
          <a:p>
            <a:pPr lvl="1"/>
            <a:r>
              <a:rPr lang="en-US" dirty="0" smtClean="0"/>
              <a:t>Plugins for two-way integration to external WM (Moab, Cobalt)</a:t>
            </a:r>
          </a:p>
          <a:p>
            <a:pPr lvl="1"/>
            <a:r>
              <a:rPr lang="en-US" dirty="0" smtClean="0"/>
              <a:t>Plugins for implementing internal WM (FIFO)</a:t>
            </a:r>
          </a:p>
          <a:p>
            <a:r>
              <a:rPr lang="en-US" dirty="0" smtClean="0"/>
              <a:t>Run-Time Environment</a:t>
            </a:r>
          </a:p>
          <a:p>
            <a:pPr lvl="1"/>
            <a:r>
              <a:rPr lang="en-US" dirty="0" smtClean="0"/>
              <a:t>Broken down into functional blocks, each with own framework</a:t>
            </a:r>
          </a:p>
          <a:p>
            <a:pPr lvl="2"/>
            <a:r>
              <a:rPr lang="en-US" sz="1600" dirty="0" smtClean="0"/>
              <a:t>Loosely divided into three general categories</a:t>
            </a:r>
          </a:p>
          <a:p>
            <a:pPr lvl="2"/>
            <a:r>
              <a:rPr lang="en-US" sz="1600" dirty="0" smtClean="0"/>
              <a:t>Messaging, launch, error handling</a:t>
            </a:r>
          </a:p>
          <a:p>
            <a:pPr lvl="2"/>
            <a:r>
              <a:rPr lang="en-US" sz="1600" dirty="0" smtClean="0"/>
              <a:t>One or more frameworks for each category</a:t>
            </a:r>
          </a:p>
          <a:p>
            <a:pPr lvl="1"/>
            <a:r>
              <a:rPr lang="en-US" dirty="0" smtClean="0"/>
              <a:t>Knitted together via “state machine”</a:t>
            </a:r>
          </a:p>
          <a:p>
            <a:pPr lvl="2"/>
            <a:r>
              <a:rPr lang="en-US" sz="1600" dirty="0" smtClean="0"/>
              <a:t>Event-driven, </a:t>
            </a:r>
            <a:r>
              <a:rPr lang="en-US" sz="1600" dirty="0" err="1" smtClean="0"/>
              <a:t>async</a:t>
            </a:r>
            <a:endParaRPr lang="en-US" dirty="0" smtClean="0"/>
          </a:p>
          <a:p>
            <a:pPr lvl="2"/>
            <a:r>
              <a:rPr lang="en-US" sz="1600" dirty="0" smtClean="0"/>
              <a:t>Each functional block can be separate thread</a:t>
            </a:r>
          </a:p>
          <a:p>
            <a:pPr lvl="2"/>
            <a:r>
              <a:rPr lang="en-US" sz="1600" dirty="0" smtClean="0"/>
              <a:t>Each plugin within each block can be separate thread(s)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6383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Analytics Workflow Concept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693333" y="2159000"/>
            <a:ext cx="691445" cy="31608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pc="270" dirty="0" smtClean="0"/>
              <a:t>Input   Module</a:t>
            </a:r>
            <a:endParaRPr lang="en-US" spc="270" dirty="0"/>
          </a:p>
        </p:txBody>
      </p:sp>
      <p:sp>
        <p:nvSpPr>
          <p:cNvPr id="7" name="TextBox 6"/>
          <p:cNvSpPr txBox="1"/>
          <p:nvPr/>
        </p:nvSpPr>
        <p:spPr>
          <a:xfrm>
            <a:off x="2427110" y="4656666"/>
            <a:ext cx="14027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Generalized</a:t>
            </a:r>
          </a:p>
          <a:p>
            <a:pPr algn="ctr"/>
            <a:r>
              <a:rPr lang="en-US" dirty="0" smtClean="0"/>
              <a:t>Format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22112" y="2328333"/>
            <a:ext cx="980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Sensors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3445" y="5884333"/>
            <a:ext cx="1287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Other</a:t>
            </a:r>
          </a:p>
          <a:p>
            <a:pPr algn="ctr"/>
            <a:r>
              <a:rPr lang="en-US" dirty="0" smtClean="0"/>
              <a:t>Workflows</a:t>
            </a:r>
            <a:endParaRPr lang="en-US" dirty="0"/>
          </a:p>
        </p:txBody>
      </p:sp>
      <p:sp>
        <p:nvSpPr>
          <p:cNvPr id="4" name="Bent Arrow 3"/>
          <p:cNvSpPr/>
          <p:nvPr/>
        </p:nvSpPr>
        <p:spPr>
          <a:xfrm>
            <a:off x="663222" y="4332111"/>
            <a:ext cx="1044222" cy="1453445"/>
          </a:xfrm>
          <a:prstGeom prst="ben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95111" y="2681111"/>
            <a:ext cx="1298222" cy="395111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ctagon 8"/>
          <p:cNvSpPr/>
          <p:nvPr/>
        </p:nvSpPr>
        <p:spPr>
          <a:xfrm>
            <a:off x="4090811" y="2221088"/>
            <a:ext cx="889000" cy="931334"/>
          </a:xfrm>
          <a:prstGeom prst="octagon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ctagon 9"/>
          <p:cNvSpPr/>
          <p:nvPr/>
        </p:nvSpPr>
        <p:spPr>
          <a:xfrm>
            <a:off x="4090811" y="4174066"/>
            <a:ext cx="889000" cy="931334"/>
          </a:xfrm>
          <a:prstGeom prst="octagon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ctagon 10"/>
          <p:cNvSpPr/>
          <p:nvPr/>
        </p:nvSpPr>
        <p:spPr>
          <a:xfrm>
            <a:off x="5513213" y="2235199"/>
            <a:ext cx="889000" cy="931334"/>
          </a:xfrm>
          <a:prstGeom prst="octagon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6716890" y="3316112"/>
            <a:ext cx="1171222" cy="945444"/>
          </a:xfrm>
          <a:prstGeom prst="triangl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953000" y="2667000"/>
            <a:ext cx="56444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/>
          <p:nvPr/>
        </p:nvCxnSpPr>
        <p:spPr>
          <a:xfrm>
            <a:off x="5969000" y="3203222"/>
            <a:ext cx="832556" cy="437445"/>
          </a:xfrm>
          <a:prstGeom prst="bentConnector3">
            <a:avLst>
              <a:gd name="adj1" fmla="val -84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flipV="1">
            <a:off x="4967111" y="4049889"/>
            <a:ext cx="1876778" cy="578555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6" idx="3"/>
          </p:cNvCxnSpPr>
          <p:nvPr/>
        </p:nvCxnSpPr>
        <p:spPr>
          <a:xfrm flipV="1">
            <a:off x="2384778" y="2681111"/>
            <a:ext cx="1707444" cy="1058334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6" idx="3"/>
          </p:cNvCxnSpPr>
          <p:nvPr/>
        </p:nvCxnSpPr>
        <p:spPr>
          <a:xfrm>
            <a:off x="2384778" y="3739445"/>
            <a:ext cx="1679222" cy="888999"/>
          </a:xfrm>
          <a:prstGeom prst="bentConnector3">
            <a:avLst>
              <a:gd name="adj1" fmla="val 5168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/>
          <p:cNvCxnSpPr/>
          <p:nvPr/>
        </p:nvCxnSpPr>
        <p:spPr>
          <a:xfrm>
            <a:off x="4995333" y="4614333"/>
            <a:ext cx="1622778" cy="1114778"/>
          </a:xfrm>
          <a:prstGeom prst="bentConnector3">
            <a:avLst>
              <a:gd name="adj1" fmla="val 5608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75778" y="5432778"/>
            <a:ext cx="1188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Other</a:t>
            </a:r>
          </a:p>
          <a:p>
            <a:pPr algn="ctr"/>
            <a:r>
              <a:rPr lang="en-US" dirty="0" smtClean="0"/>
              <a:t>Workflow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8071557" y="3471333"/>
            <a:ext cx="777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RAS</a:t>
            </a:r>
          </a:p>
          <a:p>
            <a:pPr algn="ctr"/>
            <a:r>
              <a:rPr lang="en-US" dirty="0" smtClean="0"/>
              <a:t>Event</a:t>
            </a:r>
            <a:endParaRPr lang="en-US" dirty="0"/>
          </a:p>
        </p:txBody>
      </p:sp>
      <p:cxnSp>
        <p:nvCxnSpPr>
          <p:cNvPr id="44" name="Straight Arrow Connector 43"/>
          <p:cNvCxnSpPr>
            <a:stCxn id="12" idx="0"/>
          </p:cNvCxnSpPr>
          <p:nvPr/>
        </p:nvCxnSpPr>
        <p:spPr>
          <a:xfrm>
            <a:off x="7775223" y="3788834"/>
            <a:ext cx="3951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062111" y="6321778"/>
            <a:ext cx="2941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</a:rPr>
              <a:t>Available in SCON as well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37777" y="2003777"/>
            <a:ext cx="1065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Pub-Sub</a:t>
            </a:r>
            <a:endParaRPr lang="en-US" dirty="0"/>
          </a:p>
        </p:txBody>
      </p:sp>
      <p:cxnSp>
        <p:nvCxnSpPr>
          <p:cNvPr id="17" name="Straight Arrow Connector 16"/>
          <p:cNvCxnSpPr>
            <a:stCxn id="24" idx="0"/>
            <a:endCxn id="15" idx="2"/>
          </p:cNvCxnSpPr>
          <p:nvPr/>
        </p:nvCxnSpPr>
        <p:spPr>
          <a:xfrm flipH="1" flipV="1">
            <a:off x="7870473" y="2373109"/>
            <a:ext cx="44825" cy="235411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51889" y="4727222"/>
            <a:ext cx="1126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70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 Elements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Average (window, running, etc.)</a:t>
            </a:r>
          </a:p>
          <a:p>
            <a:r>
              <a:rPr lang="en-US" dirty="0" smtClean="0"/>
              <a:t>Rate (convert incoming data to events/sec)</a:t>
            </a:r>
          </a:p>
          <a:p>
            <a:r>
              <a:rPr lang="en-US" dirty="0" smtClean="0"/>
              <a:t>Threshold (high, low)</a:t>
            </a:r>
          </a:p>
          <a:p>
            <a:r>
              <a:rPr lang="en-US" dirty="0" smtClean="0"/>
              <a:t>Filter</a:t>
            </a:r>
          </a:p>
          <a:p>
            <a:pPr lvl="1"/>
            <a:r>
              <a:rPr lang="en-US" dirty="0" smtClean="0"/>
              <a:t>Selects input values based on provided </a:t>
            </a:r>
            <a:r>
              <a:rPr lang="en-US" dirty="0" err="1" smtClean="0"/>
              <a:t>params</a:t>
            </a:r>
            <a:endParaRPr lang="en-US" dirty="0" smtClean="0"/>
          </a:p>
          <a:p>
            <a:r>
              <a:rPr lang="en-US" dirty="0" smtClean="0"/>
              <a:t>RAS event</a:t>
            </a:r>
          </a:p>
          <a:p>
            <a:pPr lvl="1"/>
            <a:r>
              <a:rPr lang="en-US" dirty="0" smtClean="0"/>
              <a:t>Generates a RAS event corresponding to input description</a:t>
            </a:r>
          </a:p>
          <a:p>
            <a:r>
              <a:rPr lang="en-US" dirty="0" smtClean="0"/>
              <a:t>Publish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01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Execute on aggregator nodes for in-flight reduction</a:t>
            </a:r>
          </a:p>
          <a:p>
            <a:pPr lvl="1"/>
            <a:r>
              <a:rPr lang="en-US" dirty="0" smtClean="0"/>
              <a:t>Sys admin defines, user can define (if permitted)</a:t>
            </a:r>
          </a:p>
          <a:p>
            <a:r>
              <a:rPr lang="en-US" dirty="0" smtClean="0"/>
              <a:t>Event-based state machine</a:t>
            </a:r>
          </a:p>
          <a:p>
            <a:pPr lvl="1"/>
            <a:r>
              <a:rPr lang="en-US" dirty="0" smtClean="0"/>
              <a:t>Each workflow in own thread, own instance of each plugin</a:t>
            </a:r>
          </a:p>
          <a:p>
            <a:pPr lvl="1"/>
            <a:r>
              <a:rPr lang="en-US" dirty="0" smtClean="0"/>
              <a:t>Branch and merge of workflow</a:t>
            </a:r>
          </a:p>
          <a:p>
            <a:pPr lvl="1"/>
            <a:r>
              <a:rPr lang="en-US" dirty="0" smtClean="0"/>
              <a:t>Tap stream between workflow steps</a:t>
            </a:r>
          </a:p>
          <a:p>
            <a:pPr lvl="1"/>
            <a:r>
              <a:rPr lang="en-US" dirty="0" smtClean="0"/>
              <a:t>Tap data streams (sensors, others)</a:t>
            </a:r>
          </a:p>
          <a:p>
            <a:r>
              <a:rPr lang="en-US" dirty="0" smtClean="0"/>
              <a:t>Event generation</a:t>
            </a:r>
          </a:p>
          <a:p>
            <a:pPr lvl="1"/>
            <a:r>
              <a:rPr lang="en-US" dirty="0" smtClean="0"/>
              <a:t>Generate events/alarms</a:t>
            </a:r>
          </a:p>
          <a:p>
            <a:pPr lvl="1"/>
            <a:r>
              <a:rPr lang="en-US" dirty="0" smtClean="0"/>
              <a:t>Specify data to be included (window)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67818D-2848-4F66-A049-B44B684AE478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26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643684"/>
      </p:ext>
    </p:extLst>
  </p:cSld>
  <p:clrMapOvr>
    <a:masterClrMapping/>
  </p:clrMapOvr>
  <p:transition xmlns:p14="http://schemas.microsoft.com/office/powerpoint/2010/main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Hierarchical, distributed approach for unlimited scalability</a:t>
            </a:r>
          </a:p>
          <a:p>
            <a:pPr lvl="1"/>
            <a:r>
              <a:rPr lang="en-US" dirty="0" smtClean="0"/>
              <a:t>Utilize daemons on rack/row controllers</a:t>
            </a:r>
          </a:p>
          <a:p>
            <a:r>
              <a:rPr lang="en-US" dirty="0" smtClean="0"/>
              <a:t>Analysis done at each level of the hierarchy</a:t>
            </a:r>
          </a:p>
          <a:p>
            <a:pPr lvl="1"/>
            <a:r>
              <a:rPr lang="en-US" dirty="0" smtClean="0"/>
              <a:t>Support rapid response to critical events</a:t>
            </a:r>
            <a:endParaRPr lang="en-US" dirty="0"/>
          </a:p>
          <a:p>
            <a:pPr lvl="1"/>
            <a:r>
              <a:rPr lang="en-US" dirty="0" smtClean="0"/>
              <a:t>Distribute processing load</a:t>
            </a:r>
          </a:p>
          <a:p>
            <a:pPr lvl="1"/>
            <a:r>
              <a:rPr lang="en-US" dirty="0" smtClean="0"/>
              <a:t>Minimize data movement</a:t>
            </a:r>
            <a:endParaRPr lang="en-US" dirty="0"/>
          </a:p>
          <a:p>
            <a:r>
              <a:rPr lang="en-US" dirty="0" smtClean="0"/>
              <a:t>RM’s error manager framework controls response</a:t>
            </a:r>
          </a:p>
          <a:p>
            <a:pPr lvl="1"/>
            <a:r>
              <a:rPr lang="en-US" dirty="0" smtClean="0"/>
              <a:t>Based on specified policies</a:t>
            </a:r>
          </a:p>
        </p:txBody>
      </p:sp>
    </p:spTree>
    <p:extLst>
      <p:ext uri="{BB962C8B-B14F-4D97-AF65-F5344CB8AC3E}">
        <p14:creationId xmlns:p14="http://schemas.microsoft.com/office/powerpoint/2010/main" val="59222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Diagnosis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Identify root cause and location</a:t>
            </a:r>
          </a:p>
          <a:p>
            <a:pPr lvl="1"/>
            <a:r>
              <a:rPr lang="en-US" dirty="0" smtClean="0"/>
              <a:t>Sometimes obvious – e.g., when direct measurement</a:t>
            </a:r>
          </a:p>
          <a:p>
            <a:pPr lvl="1"/>
            <a:r>
              <a:rPr lang="en-US" dirty="0" smtClean="0"/>
              <a:t>Other times non-obvious</a:t>
            </a:r>
          </a:p>
          <a:p>
            <a:pPr lvl="2"/>
            <a:r>
              <a:rPr lang="en-US" sz="1600" dirty="0" smtClean="0"/>
              <a:t>Multiple cascading impacts</a:t>
            </a:r>
          </a:p>
          <a:p>
            <a:pPr lvl="2"/>
            <a:r>
              <a:rPr lang="en-US" sz="1600" dirty="0" smtClean="0"/>
              <a:t>Cause identified by multi-sensor correlations (indirect measurement)</a:t>
            </a:r>
          </a:p>
          <a:p>
            <a:pPr lvl="2"/>
            <a:r>
              <a:rPr lang="en-US" sz="1600" dirty="0" smtClean="0"/>
              <a:t>Direct measurement yields early report of non-root cause</a:t>
            </a:r>
          </a:p>
          <a:p>
            <a:pPr lvl="2"/>
            <a:r>
              <a:rPr lang="en-US" sz="1600" dirty="0" smtClean="0"/>
              <a:t>Example: power supply fails due to borderline cooling + high load</a:t>
            </a:r>
            <a:endParaRPr lang="en-US" dirty="0" smtClean="0"/>
          </a:p>
          <a:p>
            <a:r>
              <a:rPr lang="en-US" dirty="0" smtClean="0"/>
              <a:t>Estimate severity</a:t>
            </a:r>
          </a:p>
          <a:p>
            <a:pPr lvl="1"/>
            <a:r>
              <a:rPr lang="en-US" dirty="0" smtClean="0"/>
              <a:t>Safety issue, long-term damage, imminent failure</a:t>
            </a:r>
          </a:p>
          <a:p>
            <a:r>
              <a:rPr lang="en-US" dirty="0" smtClean="0"/>
              <a:t>Requires in-depth understanding of hardware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82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Prediction: Methodology</a:t>
            </a:r>
            <a:endParaRPr lang="en-US" dirty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Exploit access to internals</a:t>
            </a:r>
          </a:p>
          <a:p>
            <a:pPr lvl="1"/>
            <a:r>
              <a:rPr lang="en-US" dirty="0" smtClean="0"/>
              <a:t>Investigate optimal location, number of </a:t>
            </a:r>
            <a:r>
              <a:rPr lang="en-US" dirty="0" smtClean="0"/>
              <a:t>sensors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Embed intelligence, communications capability</a:t>
            </a:r>
          </a:p>
          <a:p>
            <a:r>
              <a:rPr lang="en-US" dirty="0" smtClean="0"/>
              <a:t>Integrate data from all available </a:t>
            </a:r>
            <a:r>
              <a:rPr lang="en-US" dirty="0" smtClean="0"/>
              <a:t>sources</a:t>
            </a:r>
            <a:endParaRPr lang="en-US" dirty="0" smtClean="0"/>
          </a:p>
          <a:p>
            <a:pPr lvl="1"/>
            <a:r>
              <a:rPr lang="en-US" dirty="0" smtClean="0"/>
              <a:t>Engineering design tests</a:t>
            </a:r>
          </a:p>
          <a:p>
            <a:pPr lvl="1"/>
            <a:r>
              <a:rPr lang="en-US" dirty="0" smtClean="0"/>
              <a:t>Reliability life tests</a:t>
            </a:r>
          </a:p>
          <a:p>
            <a:pPr lvl="1"/>
            <a:r>
              <a:rPr lang="en-US" dirty="0" smtClean="0"/>
              <a:t>Production qualification tests</a:t>
            </a:r>
          </a:p>
          <a:p>
            <a:r>
              <a:rPr lang="en-US" dirty="0" smtClean="0"/>
              <a:t>Utilize learning algorithms to improve performance</a:t>
            </a:r>
          </a:p>
          <a:p>
            <a:pPr lvl="1"/>
            <a:r>
              <a:rPr lang="en-US" dirty="0" smtClean="0"/>
              <a:t>Both embedded, post process</a:t>
            </a:r>
          </a:p>
          <a:p>
            <a:pPr lvl="1"/>
            <a:r>
              <a:rPr lang="en-US" dirty="0" smtClean="0"/>
              <a:t>Seed with expert knowledge</a:t>
            </a:r>
          </a:p>
        </p:txBody>
      </p:sp>
    </p:spTree>
    <p:extLst>
      <p:ext uri="{BB962C8B-B14F-4D97-AF65-F5344CB8AC3E}">
        <p14:creationId xmlns:p14="http://schemas.microsoft.com/office/powerpoint/2010/main" val="3179963637"/>
      </p:ext>
    </p:extLst>
  </p:cSld>
  <p:clrMapOvr>
    <a:masterClrMapping/>
  </p:clrMapOvr>
  <p:transition xmlns:p14="http://schemas.microsoft.com/office/powerpoint/2010/main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Prediction: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Continuous update of mean-time-to-preventative-maintenance</a:t>
            </a:r>
          </a:p>
          <a:p>
            <a:pPr lvl="1"/>
            <a:r>
              <a:rPr lang="en-US" dirty="0" smtClean="0"/>
              <a:t>Feed into projected downtime planning</a:t>
            </a:r>
          </a:p>
          <a:p>
            <a:pPr lvl="1"/>
            <a:r>
              <a:rPr lang="en-US" dirty="0" smtClean="0"/>
              <a:t>Incorporate into scheduling </a:t>
            </a:r>
            <a:r>
              <a:rPr lang="en-US" dirty="0" err="1" smtClean="0"/>
              <a:t>algo</a:t>
            </a:r>
            <a:endParaRPr lang="en-US" dirty="0" smtClean="0"/>
          </a:p>
          <a:p>
            <a:r>
              <a:rPr lang="en-US" dirty="0" smtClean="0"/>
              <a:t>Alarm reports for imminent failures</a:t>
            </a:r>
          </a:p>
          <a:p>
            <a:pPr lvl="1"/>
            <a:r>
              <a:rPr lang="en-US" dirty="0" smtClean="0"/>
              <a:t>Notify impacted sessions/applications</a:t>
            </a:r>
          </a:p>
          <a:p>
            <a:pPr lvl="1"/>
            <a:r>
              <a:rPr lang="en-US" dirty="0" smtClean="0"/>
              <a:t>Plan/execute preemptive actions</a:t>
            </a:r>
          </a:p>
          <a:p>
            <a:r>
              <a:rPr lang="en-US" dirty="0" smtClean="0"/>
              <a:t>Store predictions</a:t>
            </a:r>
          </a:p>
          <a:p>
            <a:pPr lvl="1"/>
            <a:r>
              <a:rPr lang="en-US" dirty="0" smtClean="0"/>
              <a:t>Algorithm improvement</a:t>
            </a:r>
          </a:p>
        </p:txBody>
      </p:sp>
    </p:spTree>
    <p:extLst>
      <p:ext uri="{BB962C8B-B14F-4D97-AF65-F5344CB8AC3E}">
        <p14:creationId xmlns:p14="http://schemas.microsoft.com/office/powerpoint/2010/main" val="21123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07444"/>
            <a:ext cx="6705039" cy="46411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 smtClean="0"/>
              <a:t>HPC Controls</a:t>
            </a:r>
            <a:endParaRPr lang="en-US" dirty="0"/>
          </a:p>
        </p:txBody>
      </p:sp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121" y="2229556"/>
            <a:ext cx="1827213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578556" y="1651000"/>
            <a:ext cx="6660444" cy="4840111"/>
          </a:xfrm>
          <a:prstGeom prst="rect">
            <a:avLst/>
          </a:prstGeom>
          <a:solidFill>
            <a:srgbClr val="FFFFF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 rot="19990159">
            <a:off x="1831080" y="3519238"/>
            <a:ext cx="43092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Thank You!</a:t>
            </a:r>
            <a:endParaRPr lang="en-US" sz="5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036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6QLnjpDmemWvdkPv8CNhL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4nqtrpMJHznzW6iQWuGb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TlgkWg9GbD75tZxSe07S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wjzqUzkCEyRs7MDbtn22K6"/>
</p:tagLst>
</file>

<file path=ppt/theme/theme1.xml><?xml version="1.0" encoding="utf-8"?>
<a:theme xmlns:a="http://schemas.openxmlformats.org/drawingml/2006/main" name="Project Status Rep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 Status Report.potx</Template>
  <TotalTime>0</TotalTime>
  <Words>1545</Words>
  <Application>Microsoft Macintosh PowerPoint</Application>
  <PresentationFormat>On-screen Show (4:3)</PresentationFormat>
  <Paragraphs>358</Paragraphs>
  <Slides>31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Project Status Report</vt:lpstr>
      <vt:lpstr>Microsoft Excel 97 - 2004 Worksheet</vt:lpstr>
      <vt:lpstr>HPC Resource Management: View to the Future</vt:lpstr>
      <vt:lpstr>Definition: RM</vt:lpstr>
      <vt:lpstr>Current State</vt:lpstr>
      <vt:lpstr>RM =&gt; Orchestrator</vt:lpstr>
      <vt:lpstr>Resource Management Emerging Needs</vt:lpstr>
      <vt:lpstr>Multi-Tiered Strategy</vt:lpstr>
      <vt:lpstr>Reference Implementation: ORCM</vt:lpstr>
      <vt:lpstr>Launch Scaling: Core Capability</vt:lpstr>
      <vt:lpstr>PowerPoint Presentation</vt:lpstr>
      <vt:lpstr>Stage I</vt:lpstr>
      <vt:lpstr>Stage II</vt:lpstr>
      <vt:lpstr>Stage III</vt:lpstr>
      <vt:lpstr>Current Status</vt:lpstr>
      <vt:lpstr>Flexible Allocation Support</vt:lpstr>
      <vt:lpstr>I/O Support</vt:lpstr>
      <vt:lpstr>Spawn Support</vt:lpstr>
      <vt:lpstr>Network Integration</vt:lpstr>
      <vt:lpstr>Power Control/Management</vt:lpstr>
      <vt:lpstr>Fault Tolerance</vt:lpstr>
      <vt:lpstr>Workflow Orchestration</vt:lpstr>
      <vt:lpstr>Workload Manager: Job Description Language</vt:lpstr>
      <vt:lpstr>Flexible Architecture</vt:lpstr>
      <vt:lpstr>Breaking it Down</vt:lpstr>
      <vt:lpstr>Analytics Workflow Concept</vt:lpstr>
      <vt:lpstr>Workflow Elements</vt:lpstr>
      <vt:lpstr>Analytics</vt:lpstr>
      <vt:lpstr>Distributed Architecture</vt:lpstr>
      <vt:lpstr>Fault Diagnosis</vt:lpstr>
      <vt:lpstr>Fault Prediction: Methodology</vt:lpstr>
      <vt:lpstr>Fault Prediction: Outcomes</vt:lpstr>
      <vt:lpstr>HPC Controls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2010-02-01T21:08:06Z</dcterms:created>
  <dcterms:modified xsi:type="dcterms:W3CDTF">2016-01-18T18:53:53Z</dcterms:modified>
</cp:coreProperties>
</file>