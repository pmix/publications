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gif" ContentType="image/gif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rawings/drawing2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  <p:sldMasterId id="2147483793" r:id="rId2"/>
  </p:sldMasterIdLst>
  <p:notesMasterIdLst>
    <p:notesMasterId r:id="rId60"/>
  </p:notesMasterIdLst>
  <p:sldIdLst>
    <p:sldId id="256" r:id="rId3"/>
    <p:sldId id="322" r:id="rId4"/>
    <p:sldId id="323" r:id="rId5"/>
    <p:sldId id="366" r:id="rId6"/>
    <p:sldId id="356" r:id="rId7"/>
    <p:sldId id="325" r:id="rId8"/>
    <p:sldId id="328" r:id="rId9"/>
    <p:sldId id="353" r:id="rId10"/>
    <p:sldId id="354" r:id="rId11"/>
    <p:sldId id="355" r:id="rId12"/>
    <p:sldId id="336" r:id="rId13"/>
    <p:sldId id="337" r:id="rId14"/>
    <p:sldId id="338" r:id="rId15"/>
    <p:sldId id="261" r:id="rId16"/>
    <p:sldId id="367" r:id="rId17"/>
    <p:sldId id="368" r:id="rId18"/>
    <p:sldId id="369" r:id="rId19"/>
    <p:sldId id="370" r:id="rId20"/>
    <p:sldId id="371" r:id="rId21"/>
    <p:sldId id="372" r:id="rId22"/>
    <p:sldId id="373" r:id="rId23"/>
    <p:sldId id="264" r:id="rId24"/>
    <p:sldId id="347" r:id="rId25"/>
    <p:sldId id="348" r:id="rId26"/>
    <p:sldId id="349" r:id="rId27"/>
    <p:sldId id="351" r:id="rId28"/>
    <p:sldId id="262" r:id="rId29"/>
    <p:sldId id="339" r:id="rId30"/>
    <p:sldId id="340" r:id="rId31"/>
    <p:sldId id="341" r:id="rId32"/>
    <p:sldId id="342" r:id="rId33"/>
    <p:sldId id="343" r:id="rId34"/>
    <p:sldId id="344" r:id="rId35"/>
    <p:sldId id="345" r:id="rId36"/>
    <p:sldId id="294" r:id="rId37"/>
    <p:sldId id="301" r:id="rId38"/>
    <p:sldId id="302" r:id="rId39"/>
    <p:sldId id="303" r:id="rId40"/>
    <p:sldId id="304" r:id="rId41"/>
    <p:sldId id="308" r:id="rId42"/>
    <p:sldId id="306" r:id="rId43"/>
    <p:sldId id="307" r:id="rId44"/>
    <p:sldId id="317" r:id="rId45"/>
    <p:sldId id="313" r:id="rId46"/>
    <p:sldId id="314" r:id="rId47"/>
    <p:sldId id="318" r:id="rId48"/>
    <p:sldId id="316" r:id="rId49"/>
    <p:sldId id="319" r:id="rId50"/>
    <p:sldId id="309" r:id="rId51"/>
    <p:sldId id="311" r:id="rId52"/>
    <p:sldId id="312" r:id="rId53"/>
    <p:sldId id="320" r:id="rId54"/>
    <p:sldId id="321" r:id="rId55"/>
    <p:sldId id="300" r:id="rId56"/>
    <p:sldId id="357" r:id="rId57"/>
    <p:sldId id="346" r:id="rId58"/>
    <p:sldId id="295" r:id="rId5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9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FFF"/>
    <a:srgbClr val="E8FFFF"/>
    <a:srgbClr val="FFEBCD"/>
    <a:srgbClr val="EAFFCD"/>
    <a:srgbClr val="FFFFCC"/>
    <a:srgbClr val="0000FF"/>
    <a:srgbClr val="33CC33"/>
    <a:srgbClr val="FFFF66"/>
    <a:srgbClr val="FF6699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96"/>
    <p:restoredTop sz="96380" autoAdjust="0"/>
  </p:normalViewPr>
  <p:slideViewPr>
    <p:cSldViewPr showGuides="1">
      <p:cViewPr varScale="1">
        <p:scale>
          <a:sx n="169" d="100"/>
          <a:sy n="169" d="100"/>
        </p:scale>
        <p:origin x="208" y="528"/>
      </p:cViewPr>
      <p:guideLst>
        <p:guide orient="horz" pos="259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1" d="100"/>
        <a:sy n="141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oshual\AppData\Local\Microsoft\Windows\Temporary%20Internet%20Files\Content.Outlook\U3YHWEFR\orion_MPI_largenode_localmpi_fixedcutoff.xlsx" TargetMode="External"/><Relationship Id="rId2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oshual\AppData\Local\Microsoft\Windows\Temporary%20Internet%20Files\Content.Outlook\U3YHWEFR\orion_MPI_largenode_localmpi_fixedcutoff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oshual\AppData\Local\Microsoft\Windows\Temporary%20Internet%20Files\Content.Outlook\U3YHWEFR\Scaling-Odin.xlsx" TargetMode="External"/><Relationship Id="rId2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MPI_Init / Shmem_init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comparison!$C$25</c:f>
              <c:strCache>
                <c:ptCount val="1"/>
                <c:pt idx="0">
                  <c:v>PMIx async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comparison!$D$24:$F$24</c:f>
              <c:numCache>
                <c:formatCode>General</c:formatCode>
                <c:ptCount val="3"/>
                <c:pt idx="0">
                  <c:v>896.0</c:v>
                </c:pt>
                <c:pt idx="1">
                  <c:v>1792.0</c:v>
                </c:pt>
                <c:pt idx="2">
                  <c:v>3584.0</c:v>
                </c:pt>
              </c:numCache>
            </c:numRef>
          </c:xVal>
          <c:yVal>
            <c:numRef>
              <c:f>comparison!$D$25:$F$25</c:f>
              <c:numCache>
                <c:formatCode>General</c:formatCode>
                <c:ptCount val="3"/>
                <c:pt idx="0">
                  <c:v>1.1153</c:v>
                </c:pt>
                <c:pt idx="1">
                  <c:v>1.179</c:v>
                </c:pt>
                <c:pt idx="2">
                  <c:v>1.33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comparison!$C$26</c:f>
              <c:strCache>
                <c:ptCount val="1"/>
                <c:pt idx="0">
                  <c:v>PMIx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comparison!$D$24:$F$24</c:f>
              <c:numCache>
                <c:formatCode>General</c:formatCode>
                <c:ptCount val="3"/>
                <c:pt idx="0">
                  <c:v>896.0</c:v>
                </c:pt>
                <c:pt idx="1">
                  <c:v>1792.0</c:v>
                </c:pt>
                <c:pt idx="2">
                  <c:v>3584.0</c:v>
                </c:pt>
              </c:numCache>
            </c:numRef>
          </c:xVal>
          <c:yVal>
            <c:numRef>
              <c:f>comparison!$D$26:$F$26</c:f>
              <c:numCache>
                <c:formatCode>General</c:formatCode>
                <c:ptCount val="3"/>
                <c:pt idx="0">
                  <c:v>2.2059</c:v>
                </c:pt>
                <c:pt idx="1">
                  <c:v>3.51344</c:v>
                </c:pt>
                <c:pt idx="2">
                  <c:v>6.1802</c:v>
                </c:pt>
              </c:numCache>
            </c:numRef>
          </c:yVal>
          <c:smooth val="1"/>
        </c:ser>
        <c:ser>
          <c:idx val="2"/>
          <c:order val="2"/>
          <c:tx>
            <c:strRef>
              <c:f>comparison!$C$27</c:f>
              <c:strCache>
                <c:ptCount val="1"/>
                <c:pt idx="0">
                  <c:v>PMI2</c:v>
                </c:pt>
              </c:strCache>
            </c:strRef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rgbClr val="FF0000"/>
                </a:solidFill>
              </a:ln>
              <a:effectLst/>
            </c:spPr>
          </c:marker>
          <c:xVal>
            <c:numRef>
              <c:f>comparison!$D$24:$F$24</c:f>
              <c:numCache>
                <c:formatCode>General</c:formatCode>
                <c:ptCount val="3"/>
                <c:pt idx="0">
                  <c:v>896.0</c:v>
                </c:pt>
                <c:pt idx="1">
                  <c:v>1792.0</c:v>
                </c:pt>
                <c:pt idx="2">
                  <c:v>3584.0</c:v>
                </c:pt>
              </c:numCache>
            </c:numRef>
          </c:xVal>
          <c:yVal>
            <c:numRef>
              <c:f>comparison!$D$27:$F$27</c:f>
              <c:numCache>
                <c:formatCode>General</c:formatCode>
                <c:ptCount val="3"/>
                <c:pt idx="0">
                  <c:v>2.3672</c:v>
                </c:pt>
                <c:pt idx="1">
                  <c:v>4.017999999999996</c:v>
                </c:pt>
                <c:pt idx="2">
                  <c:v>7.4443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34828864"/>
        <c:axId val="-2134834592"/>
      </c:scatterChart>
      <c:valAx>
        <c:axId val="-21348288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MPI/OSHMEM</a:t>
                </a:r>
                <a:r>
                  <a:rPr lang="en-US" baseline="0"/>
                  <a:t> Processes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4834592"/>
        <c:crosses val="autoZero"/>
        <c:crossBetween val="midCat"/>
      </c:valAx>
      <c:valAx>
        <c:axId val="-2134834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</a:t>
                </a:r>
                <a:r>
                  <a:rPr lang="en-US" baseline="0"/>
                  <a:t> (sec.)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482886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PMIx</a:t>
            </a:r>
            <a:r>
              <a:rPr lang="en-US" dirty="0"/>
              <a:t> </a:t>
            </a:r>
            <a:r>
              <a:rPr lang="en-US" dirty="0" err="1"/>
              <a:t>async</a:t>
            </a:r>
            <a:r>
              <a:rPr lang="en-US" dirty="0"/>
              <a:t> projected</a:t>
            </a:r>
            <a:r>
              <a:rPr lang="en-US" baseline="0" dirty="0"/>
              <a:t> </a:t>
            </a:r>
            <a:r>
              <a:rPr lang="en-US" baseline="0" dirty="0" smtClean="0"/>
              <a:t>performance</a:t>
            </a:r>
            <a:endParaRPr lang="en-US" dirty="0"/>
          </a:p>
        </c:rich>
      </c:tx>
      <c:layout>
        <c:manualLayout>
          <c:xMode val="edge"/>
          <c:yMode val="edge"/>
          <c:x val="0.403486001749781"/>
          <c:y val="0.041666666666666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comparison!$C$25</c:f>
              <c:strCache>
                <c:ptCount val="1"/>
                <c:pt idx="0">
                  <c:v>PMIx async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571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comparison!$D$24:$N$24</c:f>
              <c:numCache>
                <c:formatCode>General</c:formatCode>
                <c:ptCount val="11"/>
                <c:pt idx="0">
                  <c:v>896.0</c:v>
                </c:pt>
                <c:pt idx="1">
                  <c:v>1792.0</c:v>
                </c:pt>
                <c:pt idx="2">
                  <c:v>3584.0</c:v>
                </c:pt>
                <c:pt idx="3">
                  <c:v>7168.0</c:v>
                </c:pt>
                <c:pt idx="4">
                  <c:v>14336.0</c:v>
                </c:pt>
                <c:pt idx="5">
                  <c:v>28672.0</c:v>
                </c:pt>
                <c:pt idx="6">
                  <c:v>57344.0</c:v>
                </c:pt>
                <c:pt idx="7">
                  <c:v>114688.0</c:v>
                </c:pt>
                <c:pt idx="8">
                  <c:v>229376.0</c:v>
                </c:pt>
                <c:pt idx="9">
                  <c:v>458752.0</c:v>
                </c:pt>
                <c:pt idx="10">
                  <c:v>917504.0</c:v>
                </c:pt>
              </c:numCache>
            </c:numRef>
          </c:xVal>
          <c:yVal>
            <c:numRef>
              <c:f>comparison!$D$25:$N$25</c:f>
              <c:numCache>
                <c:formatCode>General</c:formatCode>
                <c:ptCount val="11"/>
                <c:pt idx="0">
                  <c:v>1.1153</c:v>
                </c:pt>
                <c:pt idx="1">
                  <c:v>1.179</c:v>
                </c:pt>
                <c:pt idx="2">
                  <c:v>1.33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36066176"/>
        <c:axId val="-2136062960"/>
      </c:scatterChart>
      <c:valAx>
        <c:axId val="-21360661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6062960"/>
        <c:crosses val="autoZero"/>
        <c:crossBetween val="midCat"/>
      </c:valAx>
      <c:valAx>
        <c:axId val="-2136062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60661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'[Scaling-Odin.xlsx]graphs'!$B$1</c:f>
              <c:strCache>
                <c:ptCount val="1"/>
                <c:pt idx="0">
                  <c:v>bin-true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'[Scaling-Odin.xlsx]graphs'!$A$2:$A$8</c:f>
              <c:numCache>
                <c:formatCode>General</c:formatCode>
                <c:ptCount val="7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  <c:pt idx="3">
                  <c:v>8.0</c:v>
                </c:pt>
                <c:pt idx="4">
                  <c:v>16.0</c:v>
                </c:pt>
                <c:pt idx="5">
                  <c:v>32.0</c:v>
                </c:pt>
                <c:pt idx="6">
                  <c:v>64.0</c:v>
                </c:pt>
              </c:numCache>
            </c:numRef>
          </c:xVal>
          <c:yVal>
            <c:numRef>
              <c:f>'[Scaling-Odin.xlsx]graphs'!$B$2:$B$8</c:f>
              <c:numCache>
                <c:formatCode>General</c:formatCode>
                <c:ptCount val="7"/>
                <c:pt idx="0">
                  <c:v>0.329090909090909</c:v>
                </c:pt>
                <c:pt idx="1">
                  <c:v>0.327272727272727</c:v>
                </c:pt>
                <c:pt idx="2">
                  <c:v>0.33</c:v>
                </c:pt>
                <c:pt idx="3">
                  <c:v>0.334545454545455</c:v>
                </c:pt>
                <c:pt idx="4">
                  <c:v>0.358181818181818</c:v>
                </c:pt>
                <c:pt idx="5">
                  <c:v>0.376363636363636</c:v>
                </c:pt>
                <c:pt idx="6">
                  <c:v>0.454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'[Scaling-Odin.xlsx]graphs'!$C$1</c:f>
              <c:strCache>
                <c:ptCount val="1"/>
                <c:pt idx="0">
                  <c:v>orte-no-op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'[Scaling-Odin.xlsx]graphs'!$A$2:$A$8</c:f>
              <c:numCache>
                <c:formatCode>General</c:formatCode>
                <c:ptCount val="7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  <c:pt idx="3">
                  <c:v>8.0</c:v>
                </c:pt>
                <c:pt idx="4">
                  <c:v>16.0</c:v>
                </c:pt>
                <c:pt idx="5">
                  <c:v>32.0</c:v>
                </c:pt>
                <c:pt idx="6">
                  <c:v>64.0</c:v>
                </c:pt>
              </c:numCache>
            </c:numRef>
          </c:xVal>
          <c:yVal>
            <c:numRef>
              <c:f>'[Scaling-Odin.xlsx]graphs'!$C$2:$C$8</c:f>
              <c:numCache>
                <c:formatCode>General</c:formatCode>
                <c:ptCount val="7"/>
                <c:pt idx="0">
                  <c:v>0.385454545454545</c:v>
                </c:pt>
                <c:pt idx="1">
                  <c:v>0.380909090909091</c:v>
                </c:pt>
                <c:pt idx="2">
                  <c:v>0.392727272727273</c:v>
                </c:pt>
                <c:pt idx="3">
                  <c:v>0.399090909090909</c:v>
                </c:pt>
                <c:pt idx="4">
                  <c:v>0.411818181818182</c:v>
                </c:pt>
                <c:pt idx="5">
                  <c:v>0.432727272727273</c:v>
                </c:pt>
                <c:pt idx="6">
                  <c:v>0.516</c:v>
                </c:pt>
              </c:numCache>
            </c:numRef>
          </c:yVal>
          <c:smooth val="1"/>
        </c:ser>
        <c:ser>
          <c:idx val="2"/>
          <c:order val="2"/>
          <c:tx>
            <c:strRef>
              <c:f>'[Scaling-Odin.xlsx]graphs'!$D$1</c:f>
              <c:strCache>
                <c:ptCount val="1"/>
                <c:pt idx="0">
                  <c:v>mpi hello world</c:v>
                </c:pt>
              </c:strCache>
            </c:strRef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rgbClr val="FF0000"/>
                </a:solidFill>
              </a:ln>
              <a:effectLst/>
            </c:spPr>
          </c:marker>
          <c:xVal>
            <c:numRef>
              <c:f>'[Scaling-Odin.xlsx]graphs'!$A$2:$A$8</c:f>
              <c:numCache>
                <c:formatCode>General</c:formatCode>
                <c:ptCount val="7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  <c:pt idx="3">
                  <c:v>8.0</c:v>
                </c:pt>
                <c:pt idx="4">
                  <c:v>16.0</c:v>
                </c:pt>
                <c:pt idx="5">
                  <c:v>32.0</c:v>
                </c:pt>
                <c:pt idx="6">
                  <c:v>64.0</c:v>
                </c:pt>
              </c:numCache>
            </c:numRef>
          </c:xVal>
          <c:yVal>
            <c:numRef>
              <c:f>'[Scaling-Odin.xlsx]graphs'!$D$2:$D$8</c:f>
              <c:numCache>
                <c:formatCode>General</c:formatCode>
                <c:ptCount val="7"/>
                <c:pt idx="0">
                  <c:v>0.629090909090909</c:v>
                </c:pt>
                <c:pt idx="1">
                  <c:v>0.619090909090909</c:v>
                </c:pt>
                <c:pt idx="2">
                  <c:v>0.652727272727273</c:v>
                </c:pt>
                <c:pt idx="3">
                  <c:v>0.679090909090909</c:v>
                </c:pt>
                <c:pt idx="4">
                  <c:v>0.775454545454545</c:v>
                </c:pt>
                <c:pt idx="5">
                  <c:v>0.909090909090909</c:v>
                </c:pt>
                <c:pt idx="6">
                  <c:v>1.222</c:v>
                </c:pt>
              </c:numCache>
            </c:numRef>
          </c:yVal>
          <c:smooth val="1"/>
        </c:ser>
        <c:ser>
          <c:idx val="3"/>
          <c:order val="3"/>
          <c:tx>
            <c:strRef>
              <c:f>'[Scaling-Odin.xlsx]graphs'!$E$1</c:f>
              <c:strCache>
                <c:ptCount val="1"/>
                <c:pt idx="0">
                  <c:v>async modex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'[Scaling-Odin.xlsx]graphs'!$A$2:$A$8</c:f>
              <c:numCache>
                <c:formatCode>General</c:formatCode>
                <c:ptCount val="7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  <c:pt idx="3">
                  <c:v>8.0</c:v>
                </c:pt>
                <c:pt idx="4">
                  <c:v>16.0</c:v>
                </c:pt>
                <c:pt idx="5">
                  <c:v>32.0</c:v>
                </c:pt>
                <c:pt idx="6">
                  <c:v>64.0</c:v>
                </c:pt>
              </c:numCache>
            </c:numRef>
          </c:xVal>
          <c:yVal>
            <c:numRef>
              <c:f>'[Scaling-Odin.xlsx]graphs'!$E$2:$E$8</c:f>
              <c:numCache>
                <c:formatCode>General</c:formatCode>
                <c:ptCount val="7"/>
                <c:pt idx="0">
                  <c:v>0.593636363636363</c:v>
                </c:pt>
                <c:pt idx="1">
                  <c:v>0.607272727272727</c:v>
                </c:pt>
                <c:pt idx="2">
                  <c:v>0.624545454545455</c:v>
                </c:pt>
                <c:pt idx="3">
                  <c:v>0.634545454545455</c:v>
                </c:pt>
                <c:pt idx="4">
                  <c:v>0.653636363636364</c:v>
                </c:pt>
                <c:pt idx="5">
                  <c:v>0.669090909090909</c:v>
                </c:pt>
                <c:pt idx="6">
                  <c:v>0.762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35973488"/>
        <c:axId val="-2135967824"/>
      </c:scatterChart>
      <c:valAx>
        <c:axId val="-21359734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Nodes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5967824"/>
        <c:crosses val="autoZero"/>
        <c:crossBetween val="midCat"/>
      </c:valAx>
      <c:valAx>
        <c:axId val="-2135967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</a:t>
                </a:r>
                <a:r>
                  <a:rPr lang="en-US" baseline="0"/>
                  <a:t> (millisec)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597348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0.08443</cdr:x>
      <cdr:y>0.09346</cdr:y>
    </cdr:from>
    <cdr:to>
      <cdr:x>0.43152</cdr:x>
      <cdr:y>0.35826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685800" y="457200"/>
          <a:ext cx="2819400" cy="1295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dirty="0" smtClean="0"/>
            <a:t>Open MPI Trunk</a:t>
          </a:r>
        </a:p>
        <a:p xmlns:a="http://schemas.openxmlformats.org/drawingml/2006/main">
          <a:endParaRPr lang="en-US" dirty="0"/>
        </a:p>
        <a:p xmlns:a="http://schemas.openxmlformats.org/drawingml/2006/main">
          <a:r>
            <a:rPr lang="en-US" sz="1100" dirty="0" smtClean="0"/>
            <a:t>SLURM 16.05 prerelease with </a:t>
          </a:r>
          <a:r>
            <a:rPr lang="en-US" sz="1100" dirty="0" err="1" smtClean="0"/>
            <a:t>PMIx</a:t>
          </a:r>
          <a:r>
            <a:rPr lang="en-US" sz="1100" dirty="0" smtClean="0"/>
            <a:t> plugin</a:t>
          </a:r>
        </a:p>
        <a:p xmlns:a="http://schemas.openxmlformats.org/drawingml/2006/main">
          <a:endParaRPr lang="en-US" dirty="0"/>
        </a:p>
        <a:p xmlns:a="http://schemas.openxmlformats.org/drawingml/2006/main">
          <a:r>
            <a:rPr lang="en-US" sz="1100" dirty="0" err="1" smtClean="0"/>
            <a:t>PMIx</a:t>
          </a:r>
          <a:r>
            <a:rPr lang="en-US" sz="1100" dirty="0" smtClean="0"/>
            <a:t> v1.1</a:t>
          </a:r>
        </a:p>
        <a:p xmlns:a="http://schemas.openxmlformats.org/drawingml/2006/main">
          <a:endParaRPr lang="en-US" dirty="0"/>
        </a:p>
        <a:p xmlns:a="http://schemas.openxmlformats.org/drawingml/2006/main">
          <a:r>
            <a:rPr lang="en-US" sz="1100" dirty="0" smtClean="0"/>
            <a:t>BTLs </a:t>
          </a:r>
          <a:r>
            <a:rPr lang="en-US" sz="1100" dirty="0" err="1" smtClean="0"/>
            <a:t>openib,self,vader</a:t>
          </a:r>
          <a:endParaRPr lang="en-US" sz="1100" dirty="0" smtClean="0"/>
        </a:p>
        <a:p xmlns:a="http://schemas.openxmlformats.org/drawingml/2006/main">
          <a:endParaRPr lang="en-US" sz="1100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0.47525</cdr:x>
      <cdr:y>0.47692</cdr:y>
    </cdr:from>
    <cdr:to>
      <cdr:x>0.47525</cdr:x>
      <cdr:y>0.83077</cdr:y>
    </cdr:to>
    <cdr:cxnSp macro="">
      <cdr:nvCxnSpPr>
        <cdr:cNvPr id="9" name="Straight Arrow Connector 8"/>
        <cdr:cNvCxnSpPr/>
      </cdr:nvCxnSpPr>
      <cdr:spPr bwMode="auto">
        <a:xfrm xmlns:a="http://schemas.openxmlformats.org/drawingml/2006/main">
          <a:off x="3657600" y="2362200"/>
          <a:ext cx="0" cy="1752600"/>
        </a:xfrm>
        <a:prstGeom xmlns:a="http://schemas.openxmlformats.org/drawingml/2006/main" prst="straightConnector1">
          <a:avLst/>
        </a:prstGeom>
        <a:solidFill xmlns:a="http://schemas.openxmlformats.org/drawingml/2006/main">
          <a:schemeClr val="accent1"/>
        </a:solidFill>
        <a:ln xmlns:a="http://schemas.openxmlformats.org/drawingml/2006/main" w="9525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  <a:effectLst xmlns:a="http://schemas.openxmlformats.org/drawingml/2006/main"/>
      </cdr:spPr>
    </cdr:cxnSp>
  </cdr:relSizeAnchor>
  <cdr:relSizeAnchor xmlns:cdr="http://schemas.openxmlformats.org/drawingml/2006/chartDrawing">
    <cdr:from>
      <cdr:x>0.50495</cdr:x>
      <cdr:y>0.61538</cdr:y>
    </cdr:from>
    <cdr:to>
      <cdr:x>0.50825</cdr:x>
      <cdr:y>0.86154</cdr:y>
    </cdr:to>
    <cdr:cxnSp macro="">
      <cdr:nvCxnSpPr>
        <cdr:cNvPr id="10" name="Straight Arrow Connector 9"/>
        <cdr:cNvCxnSpPr/>
      </cdr:nvCxnSpPr>
      <cdr:spPr bwMode="auto">
        <a:xfrm xmlns:a="http://schemas.openxmlformats.org/drawingml/2006/main" flipH="1">
          <a:off x="3886200" y="3048000"/>
          <a:ext cx="25400" cy="1219200"/>
        </a:xfrm>
        <a:prstGeom xmlns:a="http://schemas.openxmlformats.org/drawingml/2006/main" prst="straightConnector1">
          <a:avLst/>
        </a:prstGeom>
        <a:solidFill xmlns:a="http://schemas.openxmlformats.org/drawingml/2006/main">
          <a:schemeClr val="accent1"/>
        </a:solidFill>
        <a:ln xmlns:a="http://schemas.openxmlformats.org/drawingml/2006/main" w="9525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  <a:effectLst xmlns:a="http://schemas.openxmlformats.org/drawingml/2006/main"/>
      </cdr:spPr>
    </cdr:cxnSp>
  </cdr:relSizeAnchor>
  <cdr:relSizeAnchor xmlns:cdr="http://schemas.openxmlformats.org/drawingml/2006/chartDrawing">
    <cdr:from>
      <cdr:x>0.55446</cdr:x>
      <cdr:y>0.64615</cdr:y>
    </cdr:from>
    <cdr:to>
      <cdr:x>0.55776</cdr:x>
      <cdr:y>0.89231</cdr:y>
    </cdr:to>
    <cdr:cxnSp macro="">
      <cdr:nvCxnSpPr>
        <cdr:cNvPr id="13" name="Straight Arrow Connector 12"/>
        <cdr:cNvCxnSpPr/>
      </cdr:nvCxnSpPr>
      <cdr:spPr bwMode="auto">
        <a:xfrm xmlns:a="http://schemas.openxmlformats.org/drawingml/2006/main" flipH="1">
          <a:off x="4267200" y="3200400"/>
          <a:ext cx="25400" cy="1219200"/>
        </a:xfrm>
        <a:prstGeom xmlns:a="http://schemas.openxmlformats.org/drawingml/2006/main" prst="straightConnector1">
          <a:avLst/>
        </a:prstGeom>
        <a:solidFill xmlns:a="http://schemas.openxmlformats.org/drawingml/2006/main">
          <a:schemeClr val="accent1"/>
        </a:solidFill>
        <a:ln xmlns:a="http://schemas.openxmlformats.org/drawingml/2006/main" w="9525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  <a:effectLst xmlns:a="http://schemas.openxmlformats.org/drawingml/2006/main"/>
      </cdr:spPr>
    </cdr:cxnSp>
  </cdr:relSizeAnchor>
  <cdr:relSizeAnchor xmlns:cdr="http://schemas.openxmlformats.org/drawingml/2006/chartDrawing">
    <cdr:from>
      <cdr:x>0.47525</cdr:x>
      <cdr:y>0.53846</cdr:y>
    </cdr:from>
    <cdr:to>
      <cdr:x>0.80198</cdr:x>
      <cdr:y>0.70769</cdr:y>
    </cdr:to>
    <cdr:cxnSp macro="">
      <cdr:nvCxnSpPr>
        <cdr:cNvPr id="15" name="Straight Arrow Connector 14"/>
        <cdr:cNvCxnSpPr/>
      </cdr:nvCxnSpPr>
      <cdr:spPr bwMode="auto">
        <a:xfrm xmlns:a="http://schemas.openxmlformats.org/drawingml/2006/main" flipH="1" flipV="1">
          <a:off x="3657600" y="2667000"/>
          <a:ext cx="2514600" cy="838200"/>
        </a:xfrm>
        <a:prstGeom xmlns:a="http://schemas.openxmlformats.org/drawingml/2006/main" prst="straightConnector1">
          <a:avLst/>
        </a:prstGeom>
        <a:solidFill xmlns:a="http://schemas.openxmlformats.org/drawingml/2006/main">
          <a:schemeClr val="accent1"/>
        </a:solidFill>
        <a:ln xmlns:a="http://schemas.openxmlformats.org/drawingml/2006/main" w="9525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  <a:effectLst xmlns:a="http://schemas.openxmlformats.org/drawingml/2006/main"/>
      </cdr:spPr>
    </cdr:cxnSp>
  </cdr:relSizeAnchor>
  <cdr:relSizeAnchor xmlns:cdr="http://schemas.openxmlformats.org/drawingml/2006/chartDrawing">
    <cdr:from>
      <cdr:x>0.50495</cdr:x>
      <cdr:y>0.66154</cdr:y>
    </cdr:from>
    <cdr:to>
      <cdr:x>0.80198</cdr:x>
      <cdr:y>0.70769</cdr:y>
    </cdr:to>
    <cdr:cxnSp macro="">
      <cdr:nvCxnSpPr>
        <cdr:cNvPr id="18" name="Straight Arrow Connector 17"/>
        <cdr:cNvCxnSpPr/>
      </cdr:nvCxnSpPr>
      <cdr:spPr bwMode="auto">
        <a:xfrm xmlns:a="http://schemas.openxmlformats.org/drawingml/2006/main" flipH="1" flipV="1">
          <a:off x="3886200" y="3276600"/>
          <a:ext cx="2286000" cy="228600"/>
        </a:xfrm>
        <a:prstGeom xmlns:a="http://schemas.openxmlformats.org/drawingml/2006/main" prst="straightConnector1">
          <a:avLst/>
        </a:prstGeom>
        <a:solidFill xmlns:a="http://schemas.openxmlformats.org/drawingml/2006/main">
          <a:schemeClr val="accent1"/>
        </a:solidFill>
        <a:ln xmlns:a="http://schemas.openxmlformats.org/drawingml/2006/main" w="9525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  <a:effectLst xmlns:a="http://schemas.openxmlformats.org/drawingml/2006/main"/>
      </cdr:spPr>
    </cdr:cxnSp>
  </cdr:relSizeAnchor>
  <cdr:relSizeAnchor xmlns:cdr="http://schemas.openxmlformats.org/drawingml/2006/chartDrawing">
    <cdr:from>
      <cdr:x>0.56436</cdr:x>
      <cdr:y>0.70769</cdr:y>
    </cdr:from>
    <cdr:to>
      <cdr:x>0.80198</cdr:x>
      <cdr:y>0.72308</cdr:y>
    </cdr:to>
    <cdr:cxnSp macro="">
      <cdr:nvCxnSpPr>
        <cdr:cNvPr id="20" name="Straight Arrow Connector 19"/>
        <cdr:cNvCxnSpPr/>
      </cdr:nvCxnSpPr>
      <cdr:spPr bwMode="auto">
        <a:xfrm xmlns:a="http://schemas.openxmlformats.org/drawingml/2006/main" flipH="1">
          <a:off x="4343400" y="3505200"/>
          <a:ext cx="1828800" cy="76200"/>
        </a:xfrm>
        <a:prstGeom xmlns:a="http://schemas.openxmlformats.org/drawingml/2006/main" prst="straightConnector1">
          <a:avLst/>
        </a:prstGeom>
        <a:solidFill xmlns:a="http://schemas.openxmlformats.org/drawingml/2006/main">
          <a:schemeClr val="accent1"/>
        </a:solidFill>
        <a:ln xmlns:a="http://schemas.openxmlformats.org/drawingml/2006/main" w="9525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  <a:effectLst xmlns:a="http://schemas.openxmlformats.org/drawingml/2006/main"/>
      </cdr:spPr>
    </cdr:cxnSp>
  </cdr:relSizeAnchor>
  <cdr:relSizeAnchor xmlns:cdr="http://schemas.openxmlformats.org/drawingml/2006/chartDrawing">
    <cdr:from>
      <cdr:x>0.56254</cdr:x>
      <cdr:y>0.73846</cdr:y>
    </cdr:from>
    <cdr:to>
      <cdr:x>1</cdr:x>
      <cdr:y>0.92308</cdr:y>
    </cdr:to>
    <cdr:sp macro="" textlink="">
      <cdr:nvSpPr>
        <cdr:cNvPr id="24" name="TextBox 23"/>
        <cdr:cNvSpPr txBox="1"/>
      </cdr:nvSpPr>
      <cdr:spPr>
        <a:xfrm xmlns:a="http://schemas.openxmlformats.org/drawingml/2006/main">
          <a:off x="4329404" y="3657600"/>
          <a:ext cx="3366796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dirty="0" smtClean="0"/>
            <a:t>Daemon </a:t>
          </a:r>
          <a:r>
            <a:rPr lang="en-US" sz="1100" dirty="0" err="1" smtClean="0"/>
            <a:t>wireup</a:t>
          </a:r>
          <a:r>
            <a:rPr lang="en-US" sz="1100" dirty="0" smtClean="0"/>
            <a:t> – linear scaling needs to be </a:t>
          </a:r>
        </a:p>
        <a:p xmlns:a="http://schemas.openxmlformats.org/drawingml/2006/main">
          <a:r>
            <a:rPr lang="en-US" sz="1100" dirty="0" smtClean="0"/>
            <a:t>addressed</a:t>
          </a:r>
          <a:endParaRPr lang="en-US" sz="11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4952FFB-B93B-3541-AEF4-FEC6167C54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511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11356A-E6C0-5244-B2D1-39192D968FD5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803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52400" y="2362200"/>
            <a:ext cx="8839200" cy="1295400"/>
            <a:chOff x="288" y="1632"/>
            <a:chExt cx="5232" cy="816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4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pitchFamily="-65" charset="0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438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133600" y="6248400"/>
            <a:ext cx="4876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83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90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230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767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767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30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959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018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38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4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381000"/>
            <a:ext cx="20764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769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48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767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767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04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 userDrawn="1"/>
        </p:nvSpPr>
        <p:spPr bwMode="auto">
          <a:xfrm>
            <a:off x="8839200" y="152400"/>
            <a:ext cx="180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fld id="{F95A78A6-AC48-1C4C-9FB1-42EA8340B8EA}" type="slidenum">
              <a:rPr lang="fr-FR" sz="1100">
                <a:solidFill>
                  <a:srgbClr val="003980"/>
                </a:solidFill>
                <a:latin typeface="Arial" charset="0"/>
              </a:rPr>
              <a:pPr/>
              <a:t>‹#›</a:t>
            </a:fld>
            <a:endParaRPr lang="fr-FR" sz="1100">
              <a:solidFill>
                <a:schemeClr val="bg1"/>
              </a:solidFill>
              <a:latin typeface="Times" charset="0"/>
            </a:endParaRPr>
          </a:p>
        </p:txBody>
      </p:sp>
      <p:pic>
        <p:nvPicPr>
          <p:cNvPr id="4" name="Picture 24" descr="fond-masque-titre-bordeaux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16300"/>
            <a:ext cx="914400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95325" y="252413"/>
            <a:ext cx="7202488" cy="2962275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814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NVLogo_3D_H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38" y="5943600"/>
            <a:ext cx="2227262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81000" y="3957935"/>
            <a:ext cx="4954587" cy="11181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82587" y="5253335"/>
            <a:ext cx="4954587" cy="461665"/>
          </a:xfrm>
        </p:spPr>
        <p:txBody>
          <a:bodyPr>
            <a:sp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19876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941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60566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59616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097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6796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0240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1968288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335554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462083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0499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0499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6504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13" Type="http://schemas.openxmlformats.org/officeDocument/2006/relationships/image" Target="../media/image3.jpeg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305800" cy="4876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grpSp>
        <p:nvGrpSpPr>
          <p:cNvPr id="1028" name="Group 2"/>
          <p:cNvGrpSpPr>
            <a:grpSpLocks/>
          </p:cNvGrpSpPr>
          <p:nvPr/>
        </p:nvGrpSpPr>
        <p:grpSpPr bwMode="auto">
          <a:xfrm>
            <a:off x="152400" y="304800"/>
            <a:ext cx="8839200" cy="1295400"/>
            <a:chOff x="288" y="1632"/>
            <a:chExt cx="5232" cy="816"/>
          </a:xfrm>
        </p:grpSpPr>
        <p:sp>
          <p:nvSpPr>
            <p:cNvPr id="307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1031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47214"/>
            <a:ext cx="1591055" cy="5980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2" r:id="rId13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120000"/>
        <a:buFont typeface="Arial" charset="0"/>
        <a:buChar char="•"/>
        <a:defRPr sz="3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2800">
          <a:solidFill>
            <a:schemeClr val="tx1"/>
          </a:solidFill>
          <a:latin typeface="+mn-lt"/>
          <a:ea typeface="ＭＳ Ｐゴシック" pitchFamily="-65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ＭＳ Ｐゴシック" pitchFamily="-65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739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42900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000" b="1">
          <a:solidFill>
            <a:schemeClr val="tx1"/>
          </a:solidFill>
          <a:latin typeface="+mn-lt"/>
        </a:defRPr>
      </a:lvl2pPr>
      <a:lvl3pPr marL="1371600" indent="-282575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400" b="1">
          <a:solidFill>
            <a:schemeClr val="tx1"/>
          </a:solidFill>
          <a:latin typeface="+mn-lt"/>
        </a:defRPr>
      </a:lvl3pPr>
      <a:lvl4pPr marL="177482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gi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goo.gl/forms/lq85y3SkV3" TargetMode="External"/><Relationship Id="rId3" Type="http://schemas.openxmlformats.org/officeDocument/2006/relationships/hyperlink" Target="http://www.adaptivecomputing.com/series/malleable-and-evolving-jobs/" TargetMode="Externa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mix.github.io/master" TargetMode="External"/><Relationship Id="rId3" Type="http://schemas.openxmlformats.org/officeDocument/2006/relationships/hyperlink" Target="https://github.com/pmi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  <a:t>Process Management</a:t>
            </a:r>
            <a:b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  <a:t>Interface – </a:t>
            </a:r>
            <a:r>
              <a:rPr lang="en-US" sz="4000" dirty="0" err="1" smtClean="0">
                <a:latin typeface="Arial" charset="0"/>
                <a:ea typeface="ＭＳ Ｐゴシック" charset="0"/>
                <a:cs typeface="ＭＳ Ｐゴシック" charset="0"/>
              </a:rPr>
              <a:t>Exascale</a:t>
            </a:r>
            <a:endParaRPr lang="en-US" sz="40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4424065"/>
            <a:ext cx="5477998" cy="20589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Overview</a:t>
            </a:r>
          </a:p>
          <a:p>
            <a:pPr lvl="1"/>
            <a:r>
              <a:rPr lang="en-US" dirty="0" smtClean="0"/>
              <a:t>Introductions</a:t>
            </a:r>
          </a:p>
          <a:p>
            <a:pPr lvl="1"/>
            <a:r>
              <a:rPr lang="en-US" dirty="0" smtClean="0"/>
              <a:t>Vision/objectives</a:t>
            </a:r>
          </a:p>
          <a:p>
            <a:r>
              <a:rPr lang="en-US" dirty="0" smtClean="0"/>
              <a:t>Performance status</a:t>
            </a:r>
          </a:p>
          <a:p>
            <a:r>
              <a:rPr lang="en-US" dirty="0" smtClean="0"/>
              <a:t>Integration status</a:t>
            </a:r>
          </a:p>
          <a:p>
            <a:r>
              <a:rPr lang="en-US" dirty="0" smtClean="0"/>
              <a:t>Roadmap</a:t>
            </a:r>
          </a:p>
          <a:p>
            <a:r>
              <a:rPr lang="en-US" dirty="0" smtClean="0"/>
              <a:t>Malleable application support</a:t>
            </a:r>
          </a:p>
          <a:p>
            <a:r>
              <a:rPr lang="en-US" dirty="0" smtClean="0"/>
              <a:t>Wrap-Up/Open Forum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79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 bwMode="auto">
          <a:xfrm>
            <a:off x="1371600" y="1752600"/>
            <a:ext cx="6553200" cy="5105400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 err="1" smtClean="0"/>
              <a:t>PMI</a:t>
            </a:r>
            <a:r>
              <a:rPr lang="en-US" sz="3300" b="1" dirty="0" err="1">
                <a:solidFill>
                  <a:srgbClr val="C00000"/>
                </a:solidFill>
              </a:rPr>
              <a:t>x</a:t>
            </a:r>
            <a:r>
              <a:rPr lang="en-US" sz="3300" dirty="0" smtClean="0"/>
              <a:t> – PMI </a:t>
            </a:r>
            <a:r>
              <a:rPr lang="en-US" sz="3300" dirty="0" err="1" smtClean="0"/>
              <a:t>e</a:t>
            </a:r>
            <a:r>
              <a:rPr lang="en-US" sz="3300" b="1" dirty="0" err="1" smtClean="0">
                <a:solidFill>
                  <a:srgbClr val="C00000"/>
                </a:solidFill>
              </a:rPr>
              <a:t>x</a:t>
            </a:r>
            <a:r>
              <a:rPr lang="en-US" sz="3300" dirty="0" err="1" smtClean="0"/>
              <a:t>ascale</a:t>
            </a:r>
            <a:endParaRPr lang="en-US" sz="3300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1770727"/>
            <a:ext cx="821537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dirty="0"/>
              <a:t>Collaborative open source effort led by Intel, </a:t>
            </a:r>
            <a:r>
              <a:rPr lang="en-US" dirty="0" err="1"/>
              <a:t>Mellanox</a:t>
            </a:r>
            <a:r>
              <a:rPr lang="en-US" dirty="0"/>
              <a:t> Technologies, IBM, Adaptive Computing, and </a:t>
            </a:r>
            <a:r>
              <a:rPr lang="en-US" dirty="0" err="1"/>
              <a:t>SchedMD</a:t>
            </a:r>
            <a:r>
              <a:rPr lang="en-US" dirty="0"/>
              <a:t>.</a:t>
            </a:r>
          </a:p>
          <a:p>
            <a:pPr algn="ctr">
              <a:spcBef>
                <a:spcPts val="600"/>
              </a:spcBef>
            </a:pPr>
            <a:r>
              <a:rPr lang="en-US" b="1" dirty="0" smtClean="0">
                <a:solidFill>
                  <a:srgbClr val="C00000"/>
                </a:solidFill>
              </a:rPr>
              <a:t>New collaborators are most welcome!</a:t>
            </a:r>
            <a:endParaRPr lang="ru-RU" b="1" dirty="0">
              <a:solidFill>
                <a:srgbClr val="C00000"/>
              </a:solidFill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609600" y="3229485"/>
            <a:ext cx="7924800" cy="1647315"/>
            <a:chOff x="685800" y="3048000"/>
            <a:chExt cx="7924800" cy="1647315"/>
          </a:xfrm>
        </p:grpSpPr>
        <p:pic>
          <p:nvPicPr>
            <p:cNvPr id="8" name="Picture 4" descr="X:\WORK\Mellanox\Presentations\PMIx_SLURM\images\mellanox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581400" y="3048000"/>
              <a:ext cx="2160000" cy="1647315"/>
            </a:xfrm>
            <a:prstGeom prst="rect">
              <a:avLst/>
            </a:prstGeom>
            <a:noFill/>
          </p:spPr>
        </p:pic>
        <p:pic>
          <p:nvPicPr>
            <p:cNvPr id="6" name="Picture 2" descr="X:\WORK\Mellanox\Presentations\PMIx_SLURM\images\intel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85800" y="3124200"/>
              <a:ext cx="2340000" cy="1542273"/>
            </a:xfrm>
            <a:prstGeom prst="rect">
              <a:avLst/>
            </a:prstGeom>
            <a:noFill/>
          </p:spPr>
        </p:pic>
        <p:pic>
          <p:nvPicPr>
            <p:cNvPr id="7" name="Picture 3" descr="X:\WORK\Mellanox\Presentations\PMIx_SLURM\images\ibm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270600" y="3403657"/>
              <a:ext cx="2340000" cy="936000"/>
            </a:xfrm>
            <a:prstGeom prst="rect">
              <a:avLst/>
            </a:prstGeom>
            <a:noFill/>
          </p:spPr>
        </p:pic>
      </p:grpSp>
      <p:grpSp>
        <p:nvGrpSpPr>
          <p:cNvPr id="15" name="Группа 14"/>
          <p:cNvGrpSpPr/>
          <p:nvPr/>
        </p:nvGrpSpPr>
        <p:grpSpPr>
          <a:xfrm>
            <a:off x="1219201" y="4953000"/>
            <a:ext cx="6378599" cy="1482015"/>
            <a:chOff x="1066801" y="5029200"/>
            <a:chExt cx="6378599" cy="1482015"/>
          </a:xfrm>
        </p:grpSpPr>
        <p:pic>
          <p:nvPicPr>
            <p:cNvPr id="11" name="Picture 10" descr="Adaptive Computing 2013 (288x192).png"/>
            <p:cNvPicPr>
              <a:picLocks noChangeAspect="1"/>
            </p:cNvPicPr>
            <p:nvPr/>
          </p:nvPicPr>
          <p:blipFill>
            <a:blip r:embed="rId5">
              <a:alphaModFix/>
            </a:blip>
            <a:srcRect b="4999"/>
            <a:stretch>
              <a:fillRect/>
            </a:stretch>
          </p:blipFill>
          <p:spPr>
            <a:xfrm>
              <a:off x="5105400" y="5029200"/>
              <a:ext cx="2340000" cy="1482015"/>
            </a:xfrm>
            <a:prstGeom prst="rect">
              <a:avLst/>
            </a:prstGeom>
          </p:spPr>
        </p:pic>
        <p:pic>
          <p:nvPicPr>
            <p:cNvPr id="1026" name="Picture 2" descr="X:\WORK\Mellanox\Presentations\PMIx_SLUG_2015\images\schedmd.png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066801" y="5562600"/>
              <a:ext cx="3200399" cy="733424"/>
            </a:xfrm>
            <a:prstGeom prst="rect">
              <a:avLst/>
            </a:prstGeom>
            <a:noFill/>
          </p:spPr>
        </p:pic>
      </p:grpSp>
      <p:sp>
        <p:nvSpPr>
          <p:cNvPr id="3" name="Rectangle 2"/>
          <p:cNvSpPr/>
          <p:nvPr/>
        </p:nvSpPr>
        <p:spPr bwMode="auto">
          <a:xfrm>
            <a:off x="7772400" y="6096000"/>
            <a:ext cx="1066800" cy="609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433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Contributors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 smtClean="0"/>
              <a:t>Intel</a:t>
            </a:r>
          </a:p>
          <a:p>
            <a:pPr lvl="1"/>
            <a:r>
              <a:rPr lang="en-US" sz="2000" dirty="0" smtClean="0"/>
              <a:t>Ralph </a:t>
            </a:r>
            <a:r>
              <a:rPr lang="en-US" sz="2000" dirty="0" err="1" smtClean="0"/>
              <a:t>Castain</a:t>
            </a:r>
            <a:endParaRPr lang="en-US" sz="2000" dirty="0" smtClean="0"/>
          </a:p>
          <a:p>
            <a:pPr lvl="1"/>
            <a:r>
              <a:rPr lang="en-US" sz="2000" dirty="0" smtClean="0"/>
              <a:t>Annapurna </a:t>
            </a:r>
            <a:r>
              <a:rPr lang="en-US" sz="2000" dirty="0" err="1" smtClean="0"/>
              <a:t>Dasari</a:t>
            </a:r>
            <a:endParaRPr lang="en-US" sz="2000" dirty="0" smtClean="0"/>
          </a:p>
          <a:p>
            <a:r>
              <a:rPr lang="en-US" sz="2400" dirty="0" err="1" smtClean="0"/>
              <a:t>Mellanox</a:t>
            </a:r>
            <a:endParaRPr lang="en-US" sz="2400" dirty="0" smtClean="0"/>
          </a:p>
          <a:p>
            <a:pPr lvl="1"/>
            <a:r>
              <a:rPr lang="en-US" sz="2000" dirty="0" smtClean="0"/>
              <a:t>Joshua Ladd</a:t>
            </a:r>
          </a:p>
          <a:p>
            <a:pPr lvl="1"/>
            <a:r>
              <a:rPr lang="en-US" sz="2000" dirty="0" err="1" smtClean="0"/>
              <a:t>Artem</a:t>
            </a:r>
            <a:r>
              <a:rPr lang="en-US" sz="2000" dirty="0" smtClean="0"/>
              <a:t> </a:t>
            </a:r>
            <a:r>
              <a:rPr lang="en-US" sz="2000" dirty="0" err="1" smtClean="0"/>
              <a:t>Polyakov</a:t>
            </a:r>
            <a:endParaRPr lang="en-US" sz="2000" dirty="0" smtClean="0"/>
          </a:p>
          <a:p>
            <a:pPr lvl="1"/>
            <a:r>
              <a:rPr lang="en-US" sz="2000" dirty="0" smtClean="0"/>
              <a:t>Elena </a:t>
            </a:r>
            <a:r>
              <a:rPr lang="en-US" sz="2000" dirty="0" err="1" smtClean="0"/>
              <a:t>Shipunova</a:t>
            </a:r>
            <a:endParaRPr lang="en-US" sz="2000" dirty="0" smtClean="0"/>
          </a:p>
          <a:p>
            <a:pPr lvl="1"/>
            <a:r>
              <a:rPr lang="en-US" sz="2000" dirty="0" err="1" smtClean="0"/>
              <a:t>Nadezhda</a:t>
            </a:r>
            <a:r>
              <a:rPr lang="en-US" sz="2000" dirty="0" smtClean="0"/>
              <a:t> </a:t>
            </a:r>
            <a:r>
              <a:rPr lang="en-US" sz="2000" dirty="0" err="1" smtClean="0"/>
              <a:t>Kogteva</a:t>
            </a:r>
            <a:endParaRPr lang="en-US" sz="2000" dirty="0" smtClean="0"/>
          </a:p>
          <a:p>
            <a:pPr lvl="1"/>
            <a:r>
              <a:rPr lang="en-US" sz="2000" dirty="0" smtClean="0"/>
              <a:t>Igor Ivanov</a:t>
            </a:r>
          </a:p>
          <a:p>
            <a:r>
              <a:rPr lang="en-US" sz="2400" dirty="0" smtClean="0"/>
              <a:t>HP</a:t>
            </a:r>
          </a:p>
          <a:p>
            <a:pPr lvl="1"/>
            <a:r>
              <a:rPr lang="en-US" sz="2000" dirty="0" smtClean="0"/>
              <a:t>David Linden</a:t>
            </a:r>
          </a:p>
          <a:p>
            <a:pPr lvl="1"/>
            <a:r>
              <a:rPr lang="en-US" sz="2000" dirty="0" smtClean="0"/>
              <a:t>Andy </a:t>
            </a:r>
            <a:r>
              <a:rPr lang="en-US" sz="2000" dirty="0" err="1" smtClean="0"/>
              <a:t>Riebs</a:t>
            </a:r>
            <a:endParaRPr lang="en-US" sz="2000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 smtClean="0"/>
              <a:t>IBM</a:t>
            </a:r>
          </a:p>
          <a:p>
            <a:pPr lvl="1"/>
            <a:r>
              <a:rPr lang="en-US" sz="2000" dirty="0" smtClean="0"/>
              <a:t>Dave </a:t>
            </a:r>
            <a:r>
              <a:rPr lang="en-US" sz="2000" dirty="0" err="1" smtClean="0"/>
              <a:t>Solt</a:t>
            </a:r>
            <a:endParaRPr lang="en-US" sz="2000" dirty="0" smtClean="0"/>
          </a:p>
          <a:p>
            <a:r>
              <a:rPr lang="en-US" sz="2400" dirty="0" smtClean="0"/>
              <a:t>Adaptive Computing</a:t>
            </a:r>
          </a:p>
          <a:p>
            <a:pPr lvl="1"/>
            <a:r>
              <a:rPr lang="en-US" sz="2000" dirty="0" smtClean="0"/>
              <a:t>Gary Brown</a:t>
            </a:r>
          </a:p>
          <a:p>
            <a:r>
              <a:rPr lang="en-US" sz="2400" dirty="0" smtClean="0"/>
              <a:t>RIST</a:t>
            </a:r>
          </a:p>
          <a:p>
            <a:pPr lvl="1"/>
            <a:r>
              <a:rPr lang="en-US" sz="2000" dirty="0" smtClean="0"/>
              <a:t>Gilles </a:t>
            </a:r>
            <a:r>
              <a:rPr lang="en-US" sz="2000" dirty="0" err="1" smtClean="0"/>
              <a:t>Gouaillardet</a:t>
            </a:r>
            <a:endParaRPr lang="en-US" sz="2000" dirty="0" smtClean="0"/>
          </a:p>
          <a:p>
            <a:r>
              <a:rPr lang="en-US" sz="2400" dirty="0" err="1" smtClean="0"/>
              <a:t>SchedMD</a:t>
            </a:r>
            <a:endParaRPr lang="en-US" sz="2400" dirty="0" smtClean="0"/>
          </a:p>
          <a:p>
            <a:pPr lvl="1"/>
            <a:r>
              <a:rPr lang="en-US" sz="2000" dirty="0" smtClean="0"/>
              <a:t>David </a:t>
            </a:r>
            <a:r>
              <a:rPr lang="en-US" sz="2000" dirty="0" err="1" smtClean="0"/>
              <a:t>Bigagli</a:t>
            </a:r>
            <a:endParaRPr lang="en-US" sz="2000" dirty="0" smtClean="0"/>
          </a:p>
          <a:p>
            <a:r>
              <a:rPr lang="en-US" sz="2400" dirty="0" smtClean="0"/>
              <a:t>LANL</a:t>
            </a:r>
          </a:p>
          <a:p>
            <a:pPr lvl="1"/>
            <a:r>
              <a:rPr lang="en-US" sz="2000" dirty="0" smtClean="0"/>
              <a:t>Nathan </a:t>
            </a:r>
            <a:r>
              <a:rPr lang="en-US" sz="2000" dirty="0" err="1" smtClean="0"/>
              <a:t>Hjelmn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64195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Exascale</a:t>
            </a:r>
            <a:r>
              <a:rPr lang="en-US" dirty="0"/>
              <a:t> launch times are a hot topic</a:t>
            </a:r>
          </a:p>
          <a:p>
            <a:pPr lvl="1"/>
            <a:r>
              <a:rPr lang="en-US" dirty="0"/>
              <a:t>Desire: reduce from many minutes to few seconds</a:t>
            </a:r>
          </a:p>
          <a:p>
            <a:pPr lvl="1"/>
            <a:r>
              <a:rPr lang="en-US" dirty="0"/>
              <a:t>Target: O(10</a:t>
            </a:r>
            <a:r>
              <a:rPr lang="en-US" baseline="30000" dirty="0"/>
              <a:t>6</a:t>
            </a:r>
            <a:r>
              <a:rPr lang="en-US" dirty="0"/>
              <a:t>) MPI processes on O(10</a:t>
            </a:r>
            <a:r>
              <a:rPr lang="en-US" baseline="30000" dirty="0"/>
              <a:t>5</a:t>
            </a:r>
            <a:r>
              <a:rPr lang="en-US" dirty="0"/>
              <a:t>) nodes thru </a:t>
            </a:r>
            <a:r>
              <a:rPr lang="en-US" dirty="0" err="1"/>
              <a:t>MPI_Init</a:t>
            </a:r>
            <a:r>
              <a:rPr lang="en-US" dirty="0"/>
              <a:t> in &lt; 30 seconds</a:t>
            </a:r>
          </a:p>
          <a:p>
            <a:r>
              <a:rPr lang="en-US" dirty="0" smtClean="0"/>
              <a:t>New programming models are exploding</a:t>
            </a:r>
          </a:p>
          <a:p>
            <a:pPr lvl="1"/>
            <a:r>
              <a:rPr lang="en-US" dirty="0" smtClean="0"/>
              <a:t>Driven by need to efficiently exploit scale vs. resource constraints</a:t>
            </a:r>
          </a:p>
          <a:p>
            <a:pPr lvl="1"/>
            <a:r>
              <a:rPr lang="en-US" dirty="0" smtClean="0"/>
              <a:t>Characterized by increased app-RM integration</a:t>
            </a:r>
          </a:p>
        </p:txBody>
      </p:sp>
    </p:spTree>
    <p:extLst>
      <p:ext uri="{BB962C8B-B14F-4D97-AF65-F5344CB8AC3E}">
        <p14:creationId xmlns:p14="http://schemas.microsoft.com/office/powerpoint/2010/main" val="175012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228600" y="533400"/>
          <a:ext cx="8610600" cy="586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6" name="Worksheet" r:id="rId3" imgW="5613400" imgH="3822700" progId="Excel.Sheet.8">
                  <p:embed/>
                </p:oleObj>
              </mc:Choice>
              <mc:Fallback>
                <p:oleObj name="Worksheet" r:id="rId3" imgW="5613400" imgH="382270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33400"/>
                        <a:ext cx="8610600" cy="586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5"/>
          <p:cNvSpPr>
            <a:spLocks noChangeArrowheads="1"/>
          </p:cNvSpPr>
          <p:nvPr/>
        </p:nvSpPr>
        <p:spPr bwMode="auto">
          <a:xfrm rot="-5400000">
            <a:off x="1585435" y="4621016"/>
            <a:ext cx="941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dirty="0" smtClean="0"/>
              <a:t>Launch</a:t>
            </a:r>
            <a:endParaRPr lang="en-US" altLang="en-US" sz="1800" dirty="0"/>
          </a:p>
        </p:txBody>
      </p:sp>
      <p:sp>
        <p:nvSpPr>
          <p:cNvPr id="16388" name="Rectangle 6"/>
          <p:cNvSpPr>
            <a:spLocks noChangeArrowheads="1"/>
          </p:cNvSpPr>
          <p:nvPr/>
        </p:nvSpPr>
        <p:spPr bwMode="auto">
          <a:xfrm rot="-5400000">
            <a:off x="2300010" y="4396596"/>
            <a:ext cx="1390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smtClean="0"/>
              <a:t>Initialization</a:t>
            </a:r>
            <a:endParaRPr lang="en-US" altLang="en-US" sz="1800" dirty="0"/>
          </a:p>
        </p:txBody>
      </p:sp>
      <p:sp>
        <p:nvSpPr>
          <p:cNvPr id="16389" name="Rectangle 7"/>
          <p:cNvSpPr>
            <a:spLocks noChangeArrowheads="1"/>
          </p:cNvSpPr>
          <p:nvPr/>
        </p:nvSpPr>
        <p:spPr bwMode="auto">
          <a:xfrm rot="-5400000">
            <a:off x="2413794" y="3450432"/>
            <a:ext cx="2930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>
                <a:solidFill>
                  <a:schemeClr val="bg1"/>
                </a:solidFill>
              </a:rPr>
              <a:t>Exchange MPI contact info</a:t>
            </a:r>
          </a:p>
        </p:txBody>
      </p:sp>
      <p:sp>
        <p:nvSpPr>
          <p:cNvPr id="16390" name="Rectangle 8"/>
          <p:cNvSpPr>
            <a:spLocks noChangeArrowheads="1"/>
          </p:cNvSpPr>
          <p:nvPr/>
        </p:nvSpPr>
        <p:spPr bwMode="auto">
          <a:xfrm rot="-5400000">
            <a:off x="3712369" y="3921393"/>
            <a:ext cx="2339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Setup MPI structures</a:t>
            </a:r>
          </a:p>
        </p:txBody>
      </p:sp>
      <p:sp>
        <p:nvSpPr>
          <p:cNvPr id="16391" name="Rectangle 9"/>
          <p:cNvSpPr>
            <a:spLocks noChangeArrowheads="1"/>
          </p:cNvSpPr>
          <p:nvPr/>
        </p:nvSpPr>
        <p:spPr bwMode="auto">
          <a:xfrm rot="-5400000">
            <a:off x="54443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2" name="Rectangle 10"/>
          <p:cNvSpPr>
            <a:spLocks noChangeArrowheads="1"/>
          </p:cNvSpPr>
          <p:nvPr/>
        </p:nvSpPr>
        <p:spPr bwMode="auto">
          <a:xfrm rot="-5400000">
            <a:off x="5737225" y="4022199"/>
            <a:ext cx="21415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 completion</a:t>
            </a:r>
          </a:p>
        </p:txBody>
      </p:sp>
      <p:sp>
        <p:nvSpPr>
          <p:cNvPr id="16393" name="Rectangle 11"/>
          <p:cNvSpPr>
            <a:spLocks noChangeArrowheads="1"/>
          </p:cNvSpPr>
          <p:nvPr/>
        </p:nvSpPr>
        <p:spPr bwMode="auto">
          <a:xfrm rot="-5400000">
            <a:off x="73620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4" name="Line 12"/>
          <p:cNvSpPr>
            <a:spLocks noChangeShapeType="1"/>
          </p:cNvSpPr>
          <p:nvPr/>
        </p:nvSpPr>
        <p:spPr bwMode="auto">
          <a:xfrm>
            <a:off x="7373938" y="712788"/>
            <a:ext cx="0" cy="5564187"/>
          </a:xfrm>
          <a:prstGeom prst="line">
            <a:avLst/>
          </a:prstGeom>
          <a:noFill/>
          <a:ln w="76200" cmpd="tri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5" name="Rectangle 13"/>
          <p:cNvSpPr>
            <a:spLocks noChangeArrowheads="1"/>
          </p:cNvSpPr>
          <p:nvPr/>
        </p:nvSpPr>
        <p:spPr bwMode="auto">
          <a:xfrm>
            <a:off x="3689350" y="6429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</a:t>
            </a:r>
          </a:p>
        </p:txBody>
      </p:sp>
      <p:sp>
        <p:nvSpPr>
          <p:cNvPr id="16396" name="Rectangle 14"/>
          <p:cNvSpPr>
            <a:spLocks noChangeArrowheads="1"/>
          </p:cNvSpPr>
          <p:nvPr/>
        </p:nvSpPr>
        <p:spPr bwMode="auto">
          <a:xfrm>
            <a:off x="7400925" y="687388"/>
            <a:ext cx="150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MPI_Finalize</a:t>
            </a:r>
          </a:p>
        </p:txBody>
      </p:sp>
      <p:sp>
        <p:nvSpPr>
          <p:cNvPr id="16397" name="Rectangle 16"/>
          <p:cNvSpPr>
            <a:spLocks noChangeArrowheads="1"/>
          </p:cNvSpPr>
          <p:nvPr/>
        </p:nvSpPr>
        <p:spPr bwMode="auto">
          <a:xfrm>
            <a:off x="3057525" y="6080125"/>
            <a:ext cx="3201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RRZ, 16-nodes, 8ppn, rank=0</a:t>
            </a:r>
          </a:p>
        </p:txBody>
      </p:sp>
      <p:sp>
        <p:nvSpPr>
          <p:cNvPr id="16398" name="Rectangle 17"/>
          <p:cNvSpPr>
            <a:spLocks noChangeArrowheads="1"/>
          </p:cNvSpPr>
          <p:nvPr/>
        </p:nvSpPr>
        <p:spPr bwMode="auto">
          <a:xfrm rot="-5400000">
            <a:off x="-355600" y="2917825"/>
            <a:ext cx="1395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Time (</a:t>
            </a:r>
            <a:r>
              <a:rPr lang="en-US" altLang="en-US" sz="1800">
                <a:sym typeface="Symbol" charset="2"/>
              </a:rPr>
              <a:t></a:t>
            </a:r>
            <a:r>
              <a:rPr lang="en-US" altLang="ja-JP" sz="1800"/>
              <a:t>sec)</a:t>
            </a:r>
            <a:endParaRPr lang="en-US" altLang="en-US" sz="180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47214"/>
            <a:ext cx="1591055" cy="59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8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Being Shared?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Job Info (~90%)</a:t>
            </a:r>
          </a:p>
          <a:p>
            <a:pPr lvl="1"/>
            <a:r>
              <a:rPr lang="en-US" dirty="0" smtClean="0">
                <a:solidFill>
                  <a:schemeClr val="accent1"/>
                </a:solidFill>
              </a:rPr>
              <a:t>Names of participating nodes</a:t>
            </a:r>
          </a:p>
          <a:p>
            <a:pPr lvl="1"/>
            <a:r>
              <a:rPr lang="en-US" dirty="0" smtClean="0">
                <a:solidFill>
                  <a:schemeClr val="accent1"/>
                </a:solidFill>
              </a:rPr>
              <a:t>Location and ID of </a:t>
            </a:r>
            <a:r>
              <a:rPr lang="en-US" dirty="0" err="1" smtClean="0">
                <a:solidFill>
                  <a:schemeClr val="accent1"/>
                </a:solidFill>
              </a:rPr>
              <a:t>procs</a:t>
            </a:r>
            <a:endParaRPr lang="en-US" dirty="0" smtClean="0">
              <a:solidFill>
                <a:schemeClr val="accent1"/>
              </a:solidFill>
            </a:endParaRPr>
          </a:p>
          <a:p>
            <a:pPr lvl="1"/>
            <a:r>
              <a:rPr lang="en-US" dirty="0" smtClean="0">
                <a:solidFill>
                  <a:schemeClr val="accent1"/>
                </a:solidFill>
              </a:rPr>
              <a:t>Relative ranks of </a:t>
            </a:r>
            <a:r>
              <a:rPr lang="en-US" dirty="0" err="1" smtClean="0">
                <a:solidFill>
                  <a:schemeClr val="accent1"/>
                </a:solidFill>
              </a:rPr>
              <a:t>procs</a:t>
            </a:r>
            <a:r>
              <a:rPr lang="en-US" dirty="0" smtClean="0">
                <a:solidFill>
                  <a:schemeClr val="accent1"/>
                </a:solidFill>
              </a:rPr>
              <a:t> (node, job)</a:t>
            </a:r>
          </a:p>
          <a:p>
            <a:pPr lvl="1"/>
            <a:r>
              <a:rPr lang="en-US" dirty="0" smtClean="0">
                <a:solidFill>
                  <a:schemeClr val="accent1"/>
                </a:solidFill>
              </a:rPr>
              <a:t>Sizes (#</a:t>
            </a:r>
            <a:r>
              <a:rPr lang="en-US" dirty="0" err="1" smtClean="0">
                <a:solidFill>
                  <a:schemeClr val="accent1"/>
                </a:solidFill>
              </a:rPr>
              <a:t>procs</a:t>
            </a:r>
            <a:r>
              <a:rPr lang="en-US" dirty="0" smtClean="0">
                <a:solidFill>
                  <a:schemeClr val="accent1"/>
                </a:solidFill>
              </a:rPr>
              <a:t> in job, #</a:t>
            </a:r>
            <a:r>
              <a:rPr lang="en-US" dirty="0" err="1" smtClean="0">
                <a:solidFill>
                  <a:schemeClr val="accent1"/>
                </a:solidFill>
              </a:rPr>
              <a:t>procs</a:t>
            </a:r>
            <a:r>
              <a:rPr lang="en-US" dirty="0" smtClean="0">
                <a:solidFill>
                  <a:schemeClr val="accent1"/>
                </a:solidFill>
              </a:rPr>
              <a:t> on each node)</a:t>
            </a:r>
          </a:p>
          <a:p>
            <a:r>
              <a:rPr lang="en-US" dirty="0" smtClean="0">
                <a:solidFill>
                  <a:srgbClr val="FF8000"/>
                </a:solidFill>
              </a:rPr>
              <a:t>Endpoint info (~10%)</a:t>
            </a:r>
          </a:p>
          <a:p>
            <a:pPr lvl="1"/>
            <a:r>
              <a:rPr lang="en-US" dirty="0" smtClean="0">
                <a:solidFill>
                  <a:srgbClr val="FF8000"/>
                </a:solidFill>
              </a:rPr>
              <a:t>Contact info for each supported fabric</a:t>
            </a:r>
            <a:endParaRPr lang="en-US" dirty="0">
              <a:solidFill>
                <a:srgbClr val="FF8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0" y="2133600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smtClean="0">
                <a:solidFill>
                  <a:srgbClr val="FF0000"/>
                </a:solidFill>
              </a:rPr>
              <a:t>Known to local RM daemon</a:t>
            </a:r>
            <a:endParaRPr lang="en-US" i="1">
              <a:solidFill>
                <a:srgbClr val="FF0000"/>
              </a:solidFill>
            </a:endParaRPr>
          </a:p>
        </p:txBody>
      </p:sp>
      <p:sp>
        <p:nvSpPr>
          <p:cNvPr id="5" name="Right Brace 4"/>
          <p:cNvSpPr/>
          <p:nvPr/>
        </p:nvSpPr>
        <p:spPr bwMode="auto">
          <a:xfrm rot="19500164">
            <a:off x="7241046" y="1886129"/>
            <a:ext cx="609600" cy="2590800"/>
          </a:xfrm>
          <a:prstGeom prst="rightBrac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00600" y="5410200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>
                <a:solidFill>
                  <a:srgbClr val="00B050"/>
                </a:solidFill>
              </a:rPr>
              <a:t>Can be computed for </a:t>
            </a:r>
            <a:r>
              <a:rPr lang="en-US" i="1" smtClean="0">
                <a:solidFill>
                  <a:srgbClr val="00B050"/>
                </a:solidFill>
              </a:rPr>
              <a:t>many fabrics</a:t>
            </a:r>
            <a:endParaRPr lang="en-US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455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228600" y="533400"/>
          <a:ext cx="8610600" cy="586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7" name="Worksheet" r:id="rId3" imgW="5613400" imgH="3822700" progId="Excel.Sheet.8">
                  <p:embed/>
                </p:oleObj>
              </mc:Choice>
              <mc:Fallback>
                <p:oleObj name="Worksheet" r:id="rId3" imgW="5613400" imgH="382270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33400"/>
                        <a:ext cx="8610600" cy="586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5"/>
          <p:cNvSpPr>
            <a:spLocks noChangeArrowheads="1"/>
          </p:cNvSpPr>
          <p:nvPr/>
        </p:nvSpPr>
        <p:spPr bwMode="auto">
          <a:xfrm rot="-5400000">
            <a:off x="1585435" y="4621016"/>
            <a:ext cx="941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smtClean="0"/>
              <a:t>Launch</a:t>
            </a:r>
            <a:endParaRPr lang="en-US" altLang="en-US" sz="1800" dirty="0"/>
          </a:p>
        </p:txBody>
      </p:sp>
      <p:sp>
        <p:nvSpPr>
          <p:cNvPr id="16388" name="Rectangle 6"/>
          <p:cNvSpPr>
            <a:spLocks noChangeArrowheads="1"/>
          </p:cNvSpPr>
          <p:nvPr/>
        </p:nvSpPr>
        <p:spPr bwMode="auto">
          <a:xfrm rot="-5400000">
            <a:off x="2300010" y="4396596"/>
            <a:ext cx="1390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smtClean="0"/>
              <a:t>Initialization</a:t>
            </a:r>
            <a:endParaRPr lang="en-US" altLang="en-US" sz="1800" dirty="0"/>
          </a:p>
        </p:txBody>
      </p:sp>
      <p:sp>
        <p:nvSpPr>
          <p:cNvPr id="16389" name="Rectangle 7"/>
          <p:cNvSpPr>
            <a:spLocks noChangeArrowheads="1"/>
          </p:cNvSpPr>
          <p:nvPr/>
        </p:nvSpPr>
        <p:spPr bwMode="auto">
          <a:xfrm rot="-5400000">
            <a:off x="2413794" y="3450432"/>
            <a:ext cx="2930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>
                <a:solidFill>
                  <a:schemeClr val="bg1"/>
                </a:solidFill>
              </a:rPr>
              <a:t>Exchange MPI contact info</a:t>
            </a:r>
          </a:p>
        </p:txBody>
      </p:sp>
      <p:sp>
        <p:nvSpPr>
          <p:cNvPr id="16390" name="Rectangle 8"/>
          <p:cNvSpPr>
            <a:spLocks noChangeArrowheads="1"/>
          </p:cNvSpPr>
          <p:nvPr/>
        </p:nvSpPr>
        <p:spPr bwMode="auto">
          <a:xfrm rot="-5400000">
            <a:off x="3712369" y="3921393"/>
            <a:ext cx="2339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Setup MPI structures</a:t>
            </a:r>
          </a:p>
        </p:txBody>
      </p:sp>
      <p:sp>
        <p:nvSpPr>
          <p:cNvPr id="16391" name="Rectangle 9"/>
          <p:cNvSpPr>
            <a:spLocks noChangeArrowheads="1"/>
          </p:cNvSpPr>
          <p:nvPr/>
        </p:nvSpPr>
        <p:spPr bwMode="auto">
          <a:xfrm rot="-5400000">
            <a:off x="54443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2" name="Rectangle 10"/>
          <p:cNvSpPr>
            <a:spLocks noChangeArrowheads="1"/>
          </p:cNvSpPr>
          <p:nvPr/>
        </p:nvSpPr>
        <p:spPr bwMode="auto">
          <a:xfrm rot="-5400000">
            <a:off x="5737225" y="4022199"/>
            <a:ext cx="21415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 completion</a:t>
            </a:r>
          </a:p>
        </p:txBody>
      </p:sp>
      <p:sp>
        <p:nvSpPr>
          <p:cNvPr id="16393" name="Rectangle 11"/>
          <p:cNvSpPr>
            <a:spLocks noChangeArrowheads="1"/>
          </p:cNvSpPr>
          <p:nvPr/>
        </p:nvSpPr>
        <p:spPr bwMode="auto">
          <a:xfrm rot="-5400000">
            <a:off x="73620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4" name="Line 12"/>
          <p:cNvSpPr>
            <a:spLocks noChangeShapeType="1"/>
          </p:cNvSpPr>
          <p:nvPr/>
        </p:nvSpPr>
        <p:spPr bwMode="auto">
          <a:xfrm>
            <a:off x="7373938" y="712788"/>
            <a:ext cx="0" cy="5564187"/>
          </a:xfrm>
          <a:prstGeom prst="line">
            <a:avLst/>
          </a:prstGeom>
          <a:noFill/>
          <a:ln w="76200" cmpd="tri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5" name="Rectangle 13"/>
          <p:cNvSpPr>
            <a:spLocks noChangeArrowheads="1"/>
          </p:cNvSpPr>
          <p:nvPr/>
        </p:nvSpPr>
        <p:spPr bwMode="auto">
          <a:xfrm>
            <a:off x="3689350" y="6429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</a:t>
            </a:r>
          </a:p>
        </p:txBody>
      </p:sp>
      <p:sp>
        <p:nvSpPr>
          <p:cNvPr id="16396" name="Rectangle 14"/>
          <p:cNvSpPr>
            <a:spLocks noChangeArrowheads="1"/>
          </p:cNvSpPr>
          <p:nvPr/>
        </p:nvSpPr>
        <p:spPr bwMode="auto">
          <a:xfrm>
            <a:off x="7400925" y="687388"/>
            <a:ext cx="150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MPI_Finalize</a:t>
            </a:r>
          </a:p>
        </p:txBody>
      </p:sp>
      <p:sp>
        <p:nvSpPr>
          <p:cNvPr id="16397" name="Rectangle 16"/>
          <p:cNvSpPr>
            <a:spLocks noChangeArrowheads="1"/>
          </p:cNvSpPr>
          <p:nvPr/>
        </p:nvSpPr>
        <p:spPr bwMode="auto">
          <a:xfrm>
            <a:off x="3057525" y="6080125"/>
            <a:ext cx="3201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RRZ, 16-nodes, 8ppn, rank=0</a:t>
            </a:r>
          </a:p>
        </p:txBody>
      </p:sp>
      <p:sp>
        <p:nvSpPr>
          <p:cNvPr id="16398" name="Rectangle 17"/>
          <p:cNvSpPr>
            <a:spLocks noChangeArrowheads="1"/>
          </p:cNvSpPr>
          <p:nvPr/>
        </p:nvSpPr>
        <p:spPr bwMode="auto">
          <a:xfrm rot="-5400000">
            <a:off x="-355600" y="2917825"/>
            <a:ext cx="1395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Time (</a:t>
            </a:r>
            <a:r>
              <a:rPr lang="en-US" altLang="en-US" sz="1800">
                <a:sym typeface="Symbol" charset="2"/>
              </a:rPr>
              <a:t></a:t>
            </a:r>
            <a:r>
              <a:rPr lang="en-US" altLang="ja-JP" sz="1800"/>
              <a:t>sec)</a:t>
            </a:r>
            <a:endParaRPr lang="en-US" altLang="en-US" sz="1800"/>
          </a:p>
        </p:txBody>
      </p:sp>
      <p:sp>
        <p:nvSpPr>
          <p:cNvPr id="18" name="TextBox 17"/>
          <p:cNvSpPr txBox="1"/>
          <p:nvPr/>
        </p:nvSpPr>
        <p:spPr>
          <a:xfrm>
            <a:off x="3489433" y="122648"/>
            <a:ext cx="132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Stage I</a:t>
            </a:r>
            <a:endParaRPr lang="en-US" sz="2800" dirty="0"/>
          </a:p>
        </p:txBody>
      </p:sp>
      <p:sp>
        <p:nvSpPr>
          <p:cNvPr id="2" name="Rectangle 1"/>
          <p:cNvSpPr/>
          <p:nvPr/>
        </p:nvSpPr>
        <p:spPr bwMode="auto">
          <a:xfrm>
            <a:off x="3489433" y="1371600"/>
            <a:ext cx="930167" cy="4419600"/>
          </a:xfrm>
          <a:prstGeom prst="rect">
            <a:avLst/>
          </a:prstGeom>
          <a:solidFill>
            <a:schemeClr val="bg1"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72485" y="1110080"/>
            <a:ext cx="2391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FF0000"/>
                </a:solidFill>
              </a:rPr>
              <a:t>Provide method for RM to share job info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61754" y="1099756"/>
            <a:ext cx="23915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FF0000"/>
                </a:solidFill>
              </a:rPr>
              <a:t>Work with fabric and library implementers to compute </a:t>
            </a:r>
            <a:r>
              <a:rPr lang="en-US" sz="2000" i="1" dirty="0" err="1" smtClean="0">
                <a:solidFill>
                  <a:srgbClr val="FF0000"/>
                </a:solidFill>
              </a:rPr>
              <a:t>endpt</a:t>
            </a:r>
            <a:r>
              <a:rPr lang="en-US" sz="2000" i="1" dirty="0" smtClean="0">
                <a:solidFill>
                  <a:srgbClr val="FF0000"/>
                </a:solidFill>
              </a:rPr>
              <a:t> from RM info</a:t>
            </a:r>
            <a:endParaRPr lang="en-US" sz="2000" i="1" dirty="0">
              <a:solidFill>
                <a:srgbClr val="FF0000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47214"/>
            <a:ext cx="1591055" cy="59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48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228600" y="533400"/>
          <a:ext cx="8610600" cy="586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1" name="Worksheet" r:id="rId3" imgW="5613400" imgH="3822700" progId="Excel.Sheet.8">
                  <p:embed/>
                </p:oleObj>
              </mc:Choice>
              <mc:Fallback>
                <p:oleObj name="Worksheet" r:id="rId3" imgW="5613400" imgH="382270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33400"/>
                        <a:ext cx="8610600" cy="586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5"/>
          <p:cNvSpPr>
            <a:spLocks noChangeArrowheads="1"/>
          </p:cNvSpPr>
          <p:nvPr/>
        </p:nvSpPr>
        <p:spPr bwMode="auto">
          <a:xfrm rot="-5400000">
            <a:off x="1585435" y="4621016"/>
            <a:ext cx="941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smtClean="0"/>
              <a:t>Launch</a:t>
            </a:r>
            <a:endParaRPr lang="en-US" altLang="en-US" sz="1800" dirty="0"/>
          </a:p>
        </p:txBody>
      </p:sp>
      <p:sp>
        <p:nvSpPr>
          <p:cNvPr id="16388" name="Rectangle 6"/>
          <p:cNvSpPr>
            <a:spLocks noChangeArrowheads="1"/>
          </p:cNvSpPr>
          <p:nvPr/>
        </p:nvSpPr>
        <p:spPr bwMode="auto">
          <a:xfrm rot="-5400000">
            <a:off x="2300010" y="4396596"/>
            <a:ext cx="1390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smtClean="0"/>
              <a:t>Initialization</a:t>
            </a:r>
            <a:endParaRPr lang="en-US" altLang="en-US" sz="1800" dirty="0"/>
          </a:p>
        </p:txBody>
      </p:sp>
      <p:sp>
        <p:nvSpPr>
          <p:cNvPr id="16389" name="Rectangle 7"/>
          <p:cNvSpPr>
            <a:spLocks noChangeArrowheads="1"/>
          </p:cNvSpPr>
          <p:nvPr/>
        </p:nvSpPr>
        <p:spPr bwMode="auto">
          <a:xfrm rot="-5400000">
            <a:off x="2413794" y="3450432"/>
            <a:ext cx="2930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>
                <a:solidFill>
                  <a:schemeClr val="bg1"/>
                </a:solidFill>
              </a:rPr>
              <a:t>Exchange MPI contact info</a:t>
            </a:r>
          </a:p>
        </p:txBody>
      </p:sp>
      <p:sp>
        <p:nvSpPr>
          <p:cNvPr id="16390" name="Rectangle 8"/>
          <p:cNvSpPr>
            <a:spLocks noChangeArrowheads="1"/>
          </p:cNvSpPr>
          <p:nvPr/>
        </p:nvSpPr>
        <p:spPr bwMode="auto">
          <a:xfrm rot="-5400000">
            <a:off x="3712369" y="3921393"/>
            <a:ext cx="2339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Setup MPI structures</a:t>
            </a:r>
          </a:p>
        </p:txBody>
      </p:sp>
      <p:sp>
        <p:nvSpPr>
          <p:cNvPr id="16391" name="Rectangle 9"/>
          <p:cNvSpPr>
            <a:spLocks noChangeArrowheads="1"/>
          </p:cNvSpPr>
          <p:nvPr/>
        </p:nvSpPr>
        <p:spPr bwMode="auto">
          <a:xfrm rot="-5400000">
            <a:off x="54443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2" name="Rectangle 10"/>
          <p:cNvSpPr>
            <a:spLocks noChangeArrowheads="1"/>
          </p:cNvSpPr>
          <p:nvPr/>
        </p:nvSpPr>
        <p:spPr bwMode="auto">
          <a:xfrm rot="-5400000">
            <a:off x="5737225" y="4022199"/>
            <a:ext cx="21415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 completion</a:t>
            </a:r>
          </a:p>
        </p:txBody>
      </p:sp>
      <p:sp>
        <p:nvSpPr>
          <p:cNvPr id="16393" name="Rectangle 11"/>
          <p:cNvSpPr>
            <a:spLocks noChangeArrowheads="1"/>
          </p:cNvSpPr>
          <p:nvPr/>
        </p:nvSpPr>
        <p:spPr bwMode="auto">
          <a:xfrm rot="-5400000">
            <a:off x="73620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4" name="Line 12"/>
          <p:cNvSpPr>
            <a:spLocks noChangeShapeType="1"/>
          </p:cNvSpPr>
          <p:nvPr/>
        </p:nvSpPr>
        <p:spPr bwMode="auto">
          <a:xfrm>
            <a:off x="7373938" y="712788"/>
            <a:ext cx="0" cy="5564187"/>
          </a:xfrm>
          <a:prstGeom prst="line">
            <a:avLst/>
          </a:prstGeom>
          <a:noFill/>
          <a:ln w="76200" cmpd="tri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5" name="Rectangle 13"/>
          <p:cNvSpPr>
            <a:spLocks noChangeArrowheads="1"/>
          </p:cNvSpPr>
          <p:nvPr/>
        </p:nvSpPr>
        <p:spPr bwMode="auto">
          <a:xfrm>
            <a:off x="3689350" y="6429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</a:t>
            </a:r>
          </a:p>
        </p:txBody>
      </p:sp>
      <p:sp>
        <p:nvSpPr>
          <p:cNvPr id="16396" name="Rectangle 14"/>
          <p:cNvSpPr>
            <a:spLocks noChangeArrowheads="1"/>
          </p:cNvSpPr>
          <p:nvPr/>
        </p:nvSpPr>
        <p:spPr bwMode="auto">
          <a:xfrm>
            <a:off x="7400925" y="687388"/>
            <a:ext cx="150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MPI_Finalize</a:t>
            </a:r>
          </a:p>
        </p:txBody>
      </p:sp>
      <p:sp>
        <p:nvSpPr>
          <p:cNvPr id="16397" name="Rectangle 16"/>
          <p:cNvSpPr>
            <a:spLocks noChangeArrowheads="1"/>
          </p:cNvSpPr>
          <p:nvPr/>
        </p:nvSpPr>
        <p:spPr bwMode="auto">
          <a:xfrm>
            <a:off x="3057525" y="6080125"/>
            <a:ext cx="3201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RRZ, 16-nodes, 8ppn, rank=0</a:t>
            </a:r>
          </a:p>
        </p:txBody>
      </p:sp>
      <p:sp>
        <p:nvSpPr>
          <p:cNvPr id="16398" name="Rectangle 17"/>
          <p:cNvSpPr>
            <a:spLocks noChangeArrowheads="1"/>
          </p:cNvSpPr>
          <p:nvPr/>
        </p:nvSpPr>
        <p:spPr bwMode="auto">
          <a:xfrm rot="-5400000">
            <a:off x="-355600" y="2917825"/>
            <a:ext cx="1395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Time (</a:t>
            </a:r>
            <a:r>
              <a:rPr lang="en-US" altLang="en-US" sz="1800">
                <a:sym typeface="Symbol" charset="2"/>
              </a:rPr>
              <a:t></a:t>
            </a:r>
            <a:r>
              <a:rPr lang="en-US" altLang="ja-JP" sz="1800"/>
              <a:t>sec)</a:t>
            </a:r>
            <a:endParaRPr lang="en-US" altLang="en-US" sz="1800"/>
          </a:p>
        </p:txBody>
      </p:sp>
      <p:sp>
        <p:nvSpPr>
          <p:cNvPr id="18" name="TextBox 17"/>
          <p:cNvSpPr txBox="1"/>
          <p:nvPr/>
        </p:nvSpPr>
        <p:spPr>
          <a:xfrm>
            <a:off x="3489433" y="122648"/>
            <a:ext cx="1422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smtClean="0"/>
              <a:t>Stage II</a:t>
            </a:r>
            <a:endParaRPr lang="en-US" sz="2800" dirty="0"/>
          </a:p>
        </p:txBody>
      </p:sp>
      <p:sp>
        <p:nvSpPr>
          <p:cNvPr id="2" name="Rectangle 1"/>
          <p:cNvSpPr/>
          <p:nvPr/>
        </p:nvSpPr>
        <p:spPr bwMode="auto">
          <a:xfrm>
            <a:off x="3489433" y="1371600"/>
            <a:ext cx="930167" cy="4419600"/>
          </a:xfrm>
          <a:prstGeom prst="rect">
            <a:avLst/>
          </a:prstGeom>
          <a:solidFill>
            <a:schemeClr val="bg1"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547381" y="2936349"/>
            <a:ext cx="758537" cy="2779993"/>
          </a:xfrm>
          <a:prstGeom prst="rect">
            <a:avLst/>
          </a:prstGeom>
          <a:solidFill>
            <a:schemeClr val="bg1">
              <a:alpha val="68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76410" y="1743670"/>
            <a:ext cx="1882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 smtClean="0">
                <a:solidFill>
                  <a:srgbClr val="FF0000"/>
                </a:solidFill>
              </a:rPr>
              <a:t>Add on 1</a:t>
            </a:r>
            <a:r>
              <a:rPr lang="en-US" sz="1800" i="1" baseline="30000" dirty="0" smtClean="0">
                <a:solidFill>
                  <a:srgbClr val="FF0000"/>
                </a:solidFill>
              </a:rPr>
              <a:t>st</a:t>
            </a:r>
            <a:r>
              <a:rPr lang="en-US" sz="1800" i="1" dirty="0" smtClean="0">
                <a:solidFill>
                  <a:srgbClr val="FF0000"/>
                </a:solidFill>
              </a:rPr>
              <a:t> communication</a:t>
            </a:r>
          </a:p>
          <a:p>
            <a:pPr algn="ctr"/>
            <a:r>
              <a:rPr lang="en-US" sz="1600" i="1" dirty="0" smtClean="0">
                <a:solidFill>
                  <a:srgbClr val="FF0000"/>
                </a:solidFill>
              </a:rPr>
              <a:t>(non-</a:t>
            </a:r>
            <a:r>
              <a:rPr lang="en-US" sz="1600" i="1" dirty="0" err="1" smtClean="0">
                <a:solidFill>
                  <a:srgbClr val="FF0000"/>
                </a:solidFill>
              </a:rPr>
              <a:t>PMIx</a:t>
            </a:r>
            <a:r>
              <a:rPr lang="en-US" sz="1600" i="1" dirty="0" smtClean="0">
                <a:solidFill>
                  <a:srgbClr val="FF0000"/>
                </a:solidFill>
              </a:rPr>
              <a:t>)</a:t>
            </a:r>
            <a:endParaRPr lang="en-US" sz="1800" i="1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/>
          <p:cNvCxnSpPr>
            <a:stCxn id="3" idx="2"/>
          </p:cNvCxnSpPr>
          <p:nvPr/>
        </p:nvCxnSpPr>
        <p:spPr bwMode="auto">
          <a:xfrm flipH="1">
            <a:off x="5067300" y="2667000"/>
            <a:ext cx="850490" cy="7834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47214"/>
            <a:ext cx="1591055" cy="59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53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228600" y="533400"/>
          <a:ext cx="8610600" cy="586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6" name="Worksheet" r:id="rId3" imgW="5613400" imgH="3822700" progId="Excel.Sheet.8">
                  <p:embed/>
                </p:oleObj>
              </mc:Choice>
              <mc:Fallback>
                <p:oleObj name="Worksheet" r:id="rId3" imgW="5613400" imgH="382270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33400"/>
                        <a:ext cx="8610600" cy="586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5"/>
          <p:cNvSpPr>
            <a:spLocks noChangeArrowheads="1"/>
          </p:cNvSpPr>
          <p:nvPr/>
        </p:nvSpPr>
        <p:spPr bwMode="auto">
          <a:xfrm rot="-5400000">
            <a:off x="1585435" y="4621016"/>
            <a:ext cx="941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smtClean="0"/>
              <a:t>Launch</a:t>
            </a:r>
            <a:endParaRPr lang="en-US" altLang="en-US" sz="1800" dirty="0"/>
          </a:p>
        </p:txBody>
      </p:sp>
      <p:sp>
        <p:nvSpPr>
          <p:cNvPr id="16388" name="Rectangle 6"/>
          <p:cNvSpPr>
            <a:spLocks noChangeArrowheads="1"/>
          </p:cNvSpPr>
          <p:nvPr/>
        </p:nvSpPr>
        <p:spPr bwMode="auto">
          <a:xfrm rot="-5400000">
            <a:off x="2300010" y="4396596"/>
            <a:ext cx="13901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 smtClean="0"/>
              <a:t>Initialization</a:t>
            </a:r>
            <a:endParaRPr lang="en-US" altLang="en-US" sz="1800" dirty="0"/>
          </a:p>
        </p:txBody>
      </p:sp>
      <p:sp>
        <p:nvSpPr>
          <p:cNvPr id="16389" name="Rectangle 7"/>
          <p:cNvSpPr>
            <a:spLocks noChangeArrowheads="1"/>
          </p:cNvSpPr>
          <p:nvPr/>
        </p:nvSpPr>
        <p:spPr bwMode="auto">
          <a:xfrm rot="-5400000">
            <a:off x="2413794" y="3450432"/>
            <a:ext cx="2930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>
                <a:solidFill>
                  <a:schemeClr val="bg1"/>
                </a:solidFill>
              </a:rPr>
              <a:t>Exchange MPI contact info</a:t>
            </a:r>
          </a:p>
        </p:txBody>
      </p:sp>
      <p:sp>
        <p:nvSpPr>
          <p:cNvPr id="16390" name="Rectangle 8"/>
          <p:cNvSpPr>
            <a:spLocks noChangeArrowheads="1"/>
          </p:cNvSpPr>
          <p:nvPr/>
        </p:nvSpPr>
        <p:spPr bwMode="auto">
          <a:xfrm rot="-5400000">
            <a:off x="3712369" y="3921393"/>
            <a:ext cx="2339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Setup MPI structures</a:t>
            </a:r>
          </a:p>
        </p:txBody>
      </p:sp>
      <p:sp>
        <p:nvSpPr>
          <p:cNvPr id="16391" name="Rectangle 9"/>
          <p:cNvSpPr>
            <a:spLocks noChangeArrowheads="1"/>
          </p:cNvSpPr>
          <p:nvPr/>
        </p:nvSpPr>
        <p:spPr bwMode="auto">
          <a:xfrm rot="-5400000">
            <a:off x="54443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2" name="Rectangle 10"/>
          <p:cNvSpPr>
            <a:spLocks noChangeArrowheads="1"/>
          </p:cNvSpPr>
          <p:nvPr/>
        </p:nvSpPr>
        <p:spPr bwMode="auto">
          <a:xfrm rot="-5400000">
            <a:off x="5737225" y="4022199"/>
            <a:ext cx="21415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 completion</a:t>
            </a:r>
          </a:p>
        </p:txBody>
      </p:sp>
      <p:sp>
        <p:nvSpPr>
          <p:cNvPr id="16393" name="Rectangle 11"/>
          <p:cNvSpPr>
            <a:spLocks noChangeArrowheads="1"/>
          </p:cNvSpPr>
          <p:nvPr/>
        </p:nvSpPr>
        <p:spPr bwMode="auto">
          <a:xfrm rot="-5400000">
            <a:off x="7362032" y="4670692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barrier</a:t>
            </a:r>
          </a:p>
        </p:txBody>
      </p:sp>
      <p:sp>
        <p:nvSpPr>
          <p:cNvPr id="16394" name="Line 12"/>
          <p:cNvSpPr>
            <a:spLocks noChangeShapeType="1"/>
          </p:cNvSpPr>
          <p:nvPr/>
        </p:nvSpPr>
        <p:spPr bwMode="auto">
          <a:xfrm>
            <a:off x="7373938" y="712788"/>
            <a:ext cx="0" cy="5564187"/>
          </a:xfrm>
          <a:prstGeom prst="line">
            <a:avLst/>
          </a:prstGeom>
          <a:noFill/>
          <a:ln w="76200" cmpd="tri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5" name="Rectangle 13"/>
          <p:cNvSpPr>
            <a:spLocks noChangeArrowheads="1"/>
          </p:cNvSpPr>
          <p:nvPr/>
        </p:nvSpPr>
        <p:spPr bwMode="auto">
          <a:xfrm>
            <a:off x="3689350" y="6429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MPI_Init</a:t>
            </a:r>
          </a:p>
        </p:txBody>
      </p:sp>
      <p:sp>
        <p:nvSpPr>
          <p:cNvPr id="16396" name="Rectangle 14"/>
          <p:cNvSpPr>
            <a:spLocks noChangeArrowheads="1"/>
          </p:cNvSpPr>
          <p:nvPr/>
        </p:nvSpPr>
        <p:spPr bwMode="auto">
          <a:xfrm>
            <a:off x="7400925" y="687388"/>
            <a:ext cx="150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MPI_Finalize</a:t>
            </a:r>
          </a:p>
        </p:txBody>
      </p:sp>
      <p:sp>
        <p:nvSpPr>
          <p:cNvPr id="16397" name="Rectangle 16"/>
          <p:cNvSpPr>
            <a:spLocks noChangeArrowheads="1"/>
          </p:cNvSpPr>
          <p:nvPr/>
        </p:nvSpPr>
        <p:spPr bwMode="auto">
          <a:xfrm>
            <a:off x="3057525" y="6080125"/>
            <a:ext cx="3201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RRZ, 16-nodes, 8ppn, rank=0</a:t>
            </a:r>
          </a:p>
        </p:txBody>
      </p:sp>
      <p:sp>
        <p:nvSpPr>
          <p:cNvPr id="16398" name="Rectangle 17"/>
          <p:cNvSpPr>
            <a:spLocks noChangeArrowheads="1"/>
          </p:cNvSpPr>
          <p:nvPr/>
        </p:nvSpPr>
        <p:spPr bwMode="auto">
          <a:xfrm rot="-5400000">
            <a:off x="-355600" y="2917825"/>
            <a:ext cx="1395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800"/>
              <a:t>Time (</a:t>
            </a:r>
            <a:r>
              <a:rPr lang="en-US" altLang="en-US" sz="1800">
                <a:sym typeface="Symbol" charset="2"/>
              </a:rPr>
              <a:t></a:t>
            </a:r>
            <a:r>
              <a:rPr lang="en-US" altLang="ja-JP" sz="1800"/>
              <a:t>sec)</a:t>
            </a:r>
            <a:endParaRPr lang="en-US" altLang="en-US" sz="1800"/>
          </a:p>
        </p:txBody>
      </p:sp>
      <p:sp>
        <p:nvSpPr>
          <p:cNvPr id="18" name="TextBox 17"/>
          <p:cNvSpPr txBox="1"/>
          <p:nvPr/>
        </p:nvSpPr>
        <p:spPr>
          <a:xfrm>
            <a:off x="3439740" y="119718"/>
            <a:ext cx="1521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smtClean="0"/>
              <a:t>Stage III</a:t>
            </a:r>
            <a:endParaRPr lang="en-US" sz="2800" dirty="0"/>
          </a:p>
        </p:txBody>
      </p:sp>
      <p:sp>
        <p:nvSpPr>
          <p:cNvPr id="2" name="Rectangle 1"/>
          <p:cNvSpPr/>
          <p:nvPr/>
        </p:nvSpPr>
        <p:spPr bwMode="auto">
          <a:xfrm>
            <a:off x="3489433" y="1371600"/>
            <a:ext cx="930167" cy="4419600"/>
          </a:xfrm>
          <a:prstGeom prst="rect">
            <a:avLst/>
          </a:prstGeom>
          <a:solidFill>
            <a:schemeClr val="bg1"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4547381" y="2936349"/>
            <a:ext cx="758537" cy="2779993"/>
          </a:xfrm>
          <a:prstGeom prst="rect">
            <a:avLst/>
          </a:prstGeom>
          <a:solidFill>
            <a:schemeClr val="bg1">
              <a:alpha val="8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844183" y="4335040"/>
            <a:ext cx="531209" cy="953211"/>
          </a:xfrm>
          <a:prstGeom prst="rect">
            <a:avLst/>
          </a:prstGeom>
          <a:solidFill>
            <a:schemeClr val="bg1">
              <a:alpha val="6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5640991" y="4343400"/>
            <a:ext cx="531209" cy="953211"/>
          </a:xfrm>
          <a:prstGeom prst="rect">
            <a:avLst/>
          </a:prstGeom>
          <a:solidFill>
            <a:schemeClr val="bg1">
              <a:alpha val="6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00600" y="1752600"/>
            <a:ext cx="2253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FF0000"/>
                </a:solidFill>
              </a:rPr>
              <a:t>Use </a:t>
            </a:r>
            <a:r>
              <a:rPr lang="en-US" i="1" dirty="0" err="1" smtClean="0">
                <a:solidFill>
                  <a:srgbClr val="FF0000"/>
                </a:solidFill>
              </a:rPr>
              <a:t>HSN+Coll</a:t>
            </a:r>
            <a:endParaRPr lang="en-US" i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>
            <a:endCxn id="20" idx="0"/>
          </p:cNvCxnSpPr>
          <p:nvPr/>
        </p:nvCxnSpPr>
        <p:spPr bwMode="auto">
          <a:xfrm flipH="1">
            <a:off x="2109788" y="2303616"/>
            <a:ext cx="3681412" cy="203142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5759843" y="2291051"/>
            <a:ext cx="106764" cy="201388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47214"/>
            <a:ext cx="1591055" cy="598009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 bwMode="auto">
          <a:xfrm>
            <a:off x="2819400" y="3962400"/>
            <a:ext cx="531209" cy="1295400"/>
          </a:xfrm>
          <a:prstGeom prst="rect">
            <a:avLst/>
          </a:prstGeom>
          <a:solidFill>
            <a:schemeClr val="bg1">
              <a:alpha val="6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25" name="Straight Arrow Connector 24"/>
          <p:cNvCxnSpPr/>
          <p:nvPr/>
        </p:nvCxnSpPr>
        <p:spPr bwMode="auto">
          <a:xfrm flipH="1">
            <a:off x="3276600" y="2286000"/>
            <a:ext cx="2514601" cy="190500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8825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Changing Needs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Notifications/response</a:t>
            </a:r>
          </a:p>
          <a:p>
            <a:pPr lvl="1"/>
            <a:r>
              <a:rPr lang="en-US" dirty="0"/>
              <a:t>E</a:t>
            </a:r>
            <a:r>
              <a:rPr lang="en-US" dirty="0" smtClean="0"/>
              <a:t>rrors, resource changes</a:t>
            </a:r>
          </a:p>
          <a:p>
            <a:pPr lvl="1"/>
            <a:r>
              <a:rPr lang="en-US" dirty="0" smtClean="0"/>
              <a:t>Negotiated response</a:t>
            </a:r>
          </a:p>
          <a:p>
            <a:r>
              <a:rPr lang="en-US" dirty="0" smtClean="0"/>
              <a:t>Request allocation changes</a:t>
            </a:r>
          </a:p>
          <a:p>
            <a:pPr lvl="1"/>
            <a:r>
              <a:rPr lang="en-US" dirty="0" smtClean="0"/>
              <a:t>shrink/expand</a:t>
            </a:r>
          </a:p>
          <a:p>
            <a:r>
              <a:rPr lang="en-US" dirty="0" smtClean="0"/>
              <a:t>Workflow management</a:t>
            </a:r>
          </a:p>
          <a:p>
            <a:pPr lvl="1"/>
            <a:r>
              <a:rPr lang="en-US" dirty="0" smtClean="0"/>
              <a:t>Steered/conditional execution</a:t>
            </a:r>
          </a:p>
          <a:p>
            <a:r>
              <a:rPr lang="en-US" dirty="0" err="1" smtClean="0"/>
              <a:t>QoS</a:t>
            </a:r>
            <a:r>
              <a:rPr lang="en-US" dirty="0" smtClean="0"/>
              <a:t> requests</a:t>
            </a:r>
          </a:p>
          <a:p>
            <a:pPr lvl="1"/>
            <a:r>
              <a:rPr lang="en-US" dirty="0" smtClean="0"/>
              <a:t>Power, file system, fabric</a:t>
            </a:r>
          </a:p>
        </p:txBody>
      </p:sp>
      <p:sp>
        <p:nvSpPr>
          <p:cNvPr id="9" name="Right Brace 8"/>
          <p:cNvSpPr/>
          <p:nvPr/>
        </p:nvSpPr>
        <p:spPr bwMode="auto">
          <a:xfrm>
            <a:off x="5867400" y="1981200"/>
            <a:ext cx="838200" cy="4572000"/>
          </a:xfrm>
          <a:prstGeom prst="righ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32078" y="2133600"/>
            <a:ext cx="150297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Multiple, use-specific libs?</a:t>
            </a:r>
          </a:p>
          <a:p>
            <a:pPr algn="ctr"/>
            <a:r>
              <a:rPr lang="en-US" sz="1400" dirty="0" smtClean="0"/>
              <a:t>(difficult for RM community to support)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7032078" y="4648200"/>
            <a:ext cx="15029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FF0000"/>
                </a:solidFill>
              </a:rPr>
              <a:t>Single, multi-purpose lib?</a:t>
            </a:r>
            <a:endParaRPr lang="en-US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73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Establish an independent, open community</a:t>
            </a:r>
          </a:p>
          <a:p>
            <a:pPr lvl="1"/>
            <a:r>
              <a:rPr lang="en-US" sz="2400" dirty="0" smtClean="0"/>
              <a:t>Industry, academia, lab</a:t>
            </a:r>
          </a:p>
          <a:p>
            <a:r>
              <a:rPr lang="en-US" sz="2800" dirty="0" smtClean="0"/>
              <a:t>Standalone client/server libraries</a:t>
            </a:r>
          </a:p>
          <a:p>
            <a:pPr lvl="1"/>
            <a:r>
              <a:rPr lang="en-US" sz="2400" dirty="0" smtClean="0"/>
              <a:t>Ease adoption, enable broad/consistent support</a:t>
            </a:r>
          </a:p>
          <a:p>
            <a:pPr lvl="1"/>
            <a:r>
              <a:rPr lang="en-US" sz="2400" dirty="0" smtClean="0"/>
              <a:t>Open source, non-copy-left</a:t>
            </a:r>
          </a:p>
          <a:p>
            <a:pPr lvl="1"/>
            <a:r>
              <a:rPr lang="en-US" sz="2400" dirty="0" smtClean="0"/>
              <a:t>Transparent backward compatibility</a:t>
            </a:r>
          </a:p>
          <a:p>
            <a:r>
              <a:rPr lang="en-US" sz="2800" dirty="0" smtClean="0"/>
              <a:t>Support evolving programming requirements</a:t>
            </a:r>
          </a:p>
          <a:p>
            <a:r>
              <a:rPr lang="en-US" sz="2800" dirty="0" smtClean="0"/>
              <a:t>Enable “Instant On” support</a:t>
            </a:r>
          </a:p>
          <a:p>
            <a:pPr lvl="1"/>
            <a:r>
              <a:rPr lang="en-US" sz="2400" dirty="0" smtClean="0"/>
              <a:t>Eliminate time-devouring steps</a:t>
            </a:r>
          </a:p>
          <a:p>
            <a:pPr lvl="1"/>
            <a:r>
              <a:rPr lang="en-US" sz="2400" dirty="0" smtClean="0"/>
              <a:t>Provide faster, more scalable operations</a:t>
            </a:r>
          </a:p>
        </p:txBody>
      </p:sp>
    </p:spTree>
    <p:extLst>
      <p:ext uri="{BB962C8B-B14F-4D97-AF65-F5344CB8AC3E}">
        <p14:creationId xmlns:p14="http://schemas.microsoft.com/office/powerpoint/2010/main" val="262999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Goal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Inform the community</a:t>
            </a:r>
          </a:p>
          <a:p>
            <a:r>
              <a:rPr lang="en-US" dirty="0" smtClean="0"/>
              <a:t>Solicit your input on the roadmap</a:t>
            </a:r>
          </a:p>
          <a:p>
            <a:r>
              <a:rPr lang="en-US" dirty="0" smtClean="0"/>
              <a:t>Get you a little excited</a:t>
            </a:r>
          </a:p>
          <a:p>
            <a:r>
              <a:rPr lang="en-US" dirty="0" smtClean="0"/>
              <a:t>Encourage participation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95036" y="3048000"/>
            <a:ext cx="3560064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6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</a:p>
          <a:p>
            <a:pPr lvl="1"/>
            <a:r>
              <a:rPr lang="en-US" dirty="0" smtClean="0"/>
              <a:t>Introductions</a:t>
            </a:r>
          </a:p>
          <a:p>
            <a:pPr lvl="1"/>
            <a:r>
              <a:rPr lang="en-US" dirty="0" smtClean="0"/>
              <a:t>Vision/objectives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Performance status</a:t>
            </a:r>
          </a:p>
          <a:p>
            <a:r>
              <a:rPr lang="en-US" dirty="0" smtClean="0"/>
              <a:t>Integration/development status</a:t>
            </a:r>
          </a:p>
          <a:p>
            <a:r>
              <a:rPr lang="en-US" dirty="0" smtClean="0"/>
              <a:t>Roadmap</a:t>
            </a:r>
          </a:p>
          <a:p>
            <a:r>
              <a:rPr lang="en-US" dirty="0" smtClean="0"/>
              <a:t>Malleable/Evolving application support</a:t>
            </a:r>
          </a:p>
          <a:p>
            <a:r>
              <a:rPr lang="en-US" dirty="0"/>
              <a:t>Wrap-Up/Open </a:t>
            </a:r>
            <a:r>
              <a:rPr lang="en-US" dirty="0" smtClean="0"/>
              <a:t>Forum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9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End Users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981200"/>
                <a:ext cx="8305800" cy="4876800"/>
              </a:xfrm>
            </p:spPr>
            <p:txBody>
              <a:bodyPr/>
              <a:lstStyle/>
              <a:p>
                <a:r>
                  <a:rPr lang="en-US" sz="2400" dirty="0" smtClean="0"/>
                  <a:t>OSHMEM consumers</a:t>
                </a:r>
              </a:p>
              <a:p>
                <a:pPr lvl="1"/>
                <a:r>
                  <a:rPr lang="en-US" sz="2400" dirty="0" smtClean="0"/>
                  <a:t>In Open MPI OSHMEM: 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𝑠h𝑚𝑒𝑚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𝑖𝑛𝑖𝑡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𝑚𝑝𝑖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𝑖𝑛𝑖𝑡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 smtClean="0"/>
              </a:p>
              <a:p>
                <a:pPr lvl="2"/>
                <a:r>
                  <a:rPr lang="en-US" dirty="0" smtClean="0"/>
                  <a:t>Job launch scales as </a:t>
                </a:r>
                <a:r>
                  <a:rPr lang="en-US" dirty="0" err="1" smtClean="0"/>
                  <a:t>MPI_Init</a:t>
                </a:r>
                <a:r>
                  <a:rPr lang="en-US" dirty="0" smtClean="0"/>
                  <a:t>. </a:t>
                </a:r>
              </a:p>
              <a:p>
                <a:pPr lvl="1"/>
                <a:r>
                  <a:rPr lang="en-US" sz="2400" dirty="0"/>
                  <a:t>Data driven communication </a:t>
                </a:r>
                <a:r>
                  <a:rPr lang="en-US" sz="2400" dirty="0" smtClean="0"/>
                  <a:t>patterns</a:t>
                </a:r>
              </a:p>
              <a:p>
                <a:pPr lvl="2"/>
                <a:r>
                  <a:rPr lang="en-US" dirty="0" smtClean="0"/>
                  <a:t>Assume dense connectivity</a:t>
                </a:r>
              </a:p>
              <a:p>
                <a:r>
                  <a:rPr lang="en-US" sz="2400" dirty="0" smtClean="0"/>
                  <a:t>MPI consumers</a:t>
                </a:r>
              </a:p>
              <a:p>
                <a:pPr lvl="1"/>
                <a:r>
                  <a:rPr lang="en-US" sz="2400" dirty="0" smtClean="0"/>
                  <a:t>Large class of applications have spare connectivity</a:t>
                </a:r>
              </a:p>
              <a:p>
                <a:pPr lvl="2"/>
                <a:r>
                  <a:rPr lang="en-US" dirty="0" smtClean="0"/>
                  <a:t>Ideal for an API that supports the direct </a:t>
                </a:r>
                <a:r>
                  <a:rPr lang="en-US" dirty="0" err="1" smtClean="0"/>
                  <a:t>modex</a:t>
                </a:r>
                <a:r>
                  <a:rPr lang="en-US" dirty="0" smtClean="0"/>
                  <a:t> concept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981200"/>
                <a:ext cx="8305800" cy="4876800"/>
              </a:xfrm>
              <a:blipFill rotWithShape="0">
                <a:blip r:embed="rId2"/>
                <a:stretch>
                  <a:fillRect l="-1394" t="-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06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been done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100" dirty="0" smtClean="0"/>
              <a:t>Worked closely with customers, OEMs, and open source community to design a scalable API that addresses measured limitations of PMI2</a:t>
            </a:r>
          </a:p>
          <a:p>
            <a:pPr lvl="1"/>
            <a:r>
              <a:rPr lang="en-US" sz="1100" dirty="0" smtClean="0"/>
              <a:t>Data driven design.</a:t>
            </a:r>
          </a:p>
          <a:p>
            <a:r>
              <a:rPr lang="en-US" sz="1100" dirty="0" smtClean="0"/>
              <a:t>Led to the </a:t>
            </a:r>
            <a:r>
              <a:rPr lang="en-US" sz="1100" dirty="0" err="1" smtClean="0"/>
              <a:t>PMIx</a:t>
            </a:r>
            <a:r>
              <a:rPr lang="en-US" sz="1100" dirty="0" smtClean="0"/>
              <a:t> v1.0 API</a:t>
            </a:r>
          </a:p>
          <a:p>
            <a:r>
              <a:rPr lang="en-US" sz="1100" dirty="0" smtClean="0"/>
              <a:t>Implementation and imminent release of </a:t>
            </a:r>
            <a:r>
              <a:rPr lang="en-US" sz="1100" dirty="0" err="1" smtClean="0"/>
              <a:t>PMIx</a:t>
            </a:r>
            <a:r>
              <a:rPr lang="en-US" sz="1100" dirty="0" smtClean="0"/>
              <a:t> v1.1 </a:t>
            </a:r>
          </a:p>
          <a:p>
            <a:pPr lvl="1"/>
            <a:r>
              <a:rPr lang="en-US" sz="1100" dirty="0" smtClean="0"/>
              <a:t>November 2015 release scheduled.   </a:t>
            </a:r>
            <a:endParaRPr lang="en-US" sz="1100" dirty="0"/>
          </a:p>
          <a:p>
            <a:r>
              <a:rPr lang="en-US" sz="1100" dirty="0" smtClean="0"/>
              <a:t>Significant architectural changes in Open MPI to support direct </a:t>
            </a:r>
            <a:r>
              <a:rPr lang="en-US" sz="1100" dirty="0" err="1" smtClean="0"/>
              <a:t>modex</a:t>
            </a:r>
            <a:endParaRPr lang="en-US" sz="1100" dirty="0" smtClean="0"/>
          </a:p>
          <a:p>
            <a:pPr lvl="1"/>
            <a:r>
              <a:rPr lang="en-US" sz="1100" dirty="0" smtClean="0"/>
              <a:t>“Add </a:t>
            </a:r>
            <a:r>
              <a:rPr lang="en-US" sz="1100" dirty="0" err="1" smtClean="0"/>
              <a:t>procs</a:t>
            </a:r>
            <a:r>
              <a:rPr lang="en-US" sz="1100" dirty="0" smtClean="0"/>
              <a:t>” in bulk </a:t>
            </a:r>
            <a:r>
              <a:rPr lang="en-US" sz="1100" dirty="0" err="1" smtClean="0"/>
              <a:t>MPI_Init</a:t>
            </a:r>
            <a:r>
              <a:rPr lang="en-US" sz="1100" dirty="0" smtClean="0"/>
              <a:t> </a:t>
            </a:r>
            <a:r>
              <a:rPr lang="en-US" sz="1100" dirty="0" smtClean="0">
                <a:sym typeface="Wingdings" panose="05000000000000000000" pitchFamily="2" charset="2"/>
              </a:rPr>
              <a:t> “Add </a:t>
            </a:r>
            <a:r>
              <a:rPr lang="en-US" sz="1100" dirty="0" err="1" smtClean="0">
                <a:sym typeface="Wingdings" panose="05000000000000000000" pitchFamily="2" charset="2"/>
              </a:rPr>
              <a:t>proc</a:t>
            </a:r>
            <a:r>
              <a:rPr lang="en-US" sz="1100" dirty="0" smtClean="0">
                <a:sym typeface="Wingdings" panose="05000000000000000000" pitchFamily="2" charset="2"/>
              </a:rPr>
              <a:t>” on-demand on first use outside </a:t>
            </a:r>
            <a:r>
              <a:rPr lang="en-US" sz="1100" dirty="0" err="1" smtClean="0">
                <a:sym typeface="Wingdings" panose="05000000000000000000" pitchFamily="2" charset="2"/>
              </a:rPr>
              <a:t>MPI_init</a:t>
            </a:r>
            <a:r>
              <a:rPr lang="en-US" sz="1100" dirty="0" smtClean="0">
                <a:sym typeface="Wingdings" panose="05000000000000000000" pitchFamily="2" charset="2"/>
              </a:rPr>
              <a:t>.</a:t>
            </a:r>
            <a:endParaRPr lang="en-US" sz="1100" dirty="0" smtClean="0"/>
          </a:p>
          <a:p>
            <a:pPr lvl="1"/>
            <a:r>
              <a:rPr lang="en-US" sz="1100" dirty="0" smtClean="0"/>
              <a:t>Available in the OMPI v2.x release Q1 2016. </a:t>
            </a:r>
          </a:p>
          <a:p>
            <a:r>
              <a:rPr lang="en-US" sz="1100" dirty="0" smtClean="0"/>
              <a:t>Integrated </a:t>
            </a:r>
            <a:r>
              <a:rPr lang="en-US" sz="1100" dirty="0" err="1" smtClean="0"/>
              <a:t>PMIx</a:t>
            </a:r>
            <a:r>
              <a:rPr lang="en-US" sz="1100" dirty="0" smtClean="0"/>
              <a:t> into Open MPI v2.x</a:t>
            </a:r>
          </a:p>
          <a:p>
            <a:pPr lvl="1"/>
            <a:r>
              <a:rPr lang="en-US" sz="1100" dirty="0"/>
              <a:t>F</a:t>
            </a:r>
            <a:r>
              <a:rPr lang="en-US" sz="1100" dirty="0" smtClean="0"/>
              <a:t>or native launching as well as direct launching under supported </a:t>
            </a:r>
            <a:r>
              <a:rPr lang="en-US" sz="1100" dirty="0" err="1" smtClean="0"/>
              <a:t>RMs.</a:t>
            </a:r>
            <a:endParaRPr lang="en-US" sz="1100" dirty="0" smtClean="0"/>
          </a:p>
          <a:p>
            <a:pPr lvl="1"/>
            <a:r>
              <a:rPr lang="en-US" sz="1100" dirty="0" smtClean="0"/>
              <a:t>For </a:t>
            </a:r>
            <a:r>
              <a:rPr lang="en-US" sz="1100" dirty="0" err="1" smtClean="0"/>
              <a:t>mpirun</a:t>
            </a:r>
            <a:r>
              <a:rPr lang="en-US" sz="1100" dirty="0" smtClean="0"/>
              <a:t> launched jobs, ORTE implements </a:t>
            </a:r>
            <a:r>
              <a:rPr lang="en-US" sz="1100" dirty="0" err="1" smtClean="0"/>
              <a:t>PMIx</a:t>
            </a:r>
            <a:r>
              <a:rPr lang="en-US" sz="1100" dirty="0" smtClean="0"/>
              <a:t> callbacks.</a:t>
            </a:r>
          </a:p>
          <a:p>
            <a:pPr lvl="1"/>
            <a:r>
              <a:rPr lang="en-US" sz="1100" dirty="0" smtClean="0"/>
              <a:t>For </a:t>
            </a:r>
            <a:r>
              <a:rPr lang="en-US" sz="1100" dirty="0" err="1" smtClean="0"/>
              <a:t>srun</a:t>
            </a:r>
            <a:r>
              <a:rPr lang="en-US" sz="1100" dirty="0" smtClean="0"/>
              <a:t> launched jobs, SLURM implements </a:t>
            </a:r>
            <a:r>
              <a:rPr lang="en-US" sz="1100" dirty="0" err="1" smtClean="0"/>
              <a:t>PMIx</a:t>
            </a:r>
            <a:r>
              <a:rPr lang="en-US" sz="1100" dirty="0" smtClean="0"/>
              <a:t> callbacks in the </a:t>
            </a:r>
            <a:r>
              <a:rPr lang="en-US" sz="1100" dirty="0" err="1" smtClean="0"/>
              <a:t>PMIx</a:t>
            </a:r>
            <a:r>
              <a:rPr lang="en-US" sz="1100" dirty="0" smtClean="0"/>
              <a:t> plugin. </a:t>
            </a:r>
          </a:p>
          <a:p>
            <a:pPr lvl="1"/>
            <a:r>
              <a:rPr lang="en-US" sz="1100" dirty="0" smtClean="0"/>
              <a:t>Client side framework added to OPAL with components for</a:t>
            </a:r>
          </a:p>
          <a:p>
            <a:pPr lvl="2"/>
            <a:r>
              <a:rPr lang="en-US" sz="1100" dirty="0" smtClean="0"/>
              <a:t>Cray PMI</a:t>
            </a:r>
          </a:p>
          <a:p>
            <a:pPr lvl="2"/>
            <a:r>
              <a:rPr lang="en-US" sz="1100" dirty="0" smtClean="0"/>
              <a:t>PMI1</a:t>
            </a:r>
          </a:p>
          <a:p>
            <a:pPr lvl="2"/>
            <a:r>
              <a:rPr lang="en-US" sz="1100" dirty="0" smtClean="0"/>
              <a:t>PMI2</a:t>
            </a:r>
          </a:p>
          <a:p>
            <a:pPr lvl="2"/>
            <a:r>
              <a:rPr lang="en-US" sz="1100" dirty="0" err="1" smtClean="0"/>
              <a:t>PMIx</a:t>
            </a:r>
            <a:endParaRPr lang="en-US" sz="1100" dirty="0" smtClean="0"/>
          </a:p>
          <a:p>
            <a:pPr lvl="2"/>
            <a:r>
              <a:rPr lang="en-US" sz="1100" dirty="0" smtClean="0"/>
              <a:t>backwards compatibility with PMI1 and PMI2.</a:t>
            </a:r>
            <a:endParaRPr lang="en-US" sz="1100" dirty="0"/>
          </a:p>
          <a:p>
            <a:r>
              <a:rPr lang="en-US" sz="1100" dirty="0" smtClean="0"/>
              <a:t>Implemented and submitted upstream SLURM </a:t>
            </a:r>
            <a:r>
              <a:rPr lang="en-US" sz="1100" dirty="0" err="1" smtClean="0"/>
              <a:t>PMIx</a:t>
            </a:r>
            <a:r>
              <a:rPr lang="en-US" sz="1100" dirty="0" smtClean="0"/>
              <a:t> plugin</a:t>
            </a:r>
          </a:p>
          <a:p>
            <a:pPr lvl="1"/>
            <a:r>
              <a:rPr lang="en-US" sz="1100" dirty="0" smtClean="0"/>
              <a:t>Currently available in SLURM Head</a:t>
            </a:r>
          </a:p>
          <a:p>
            <a:pPr lvl="1"/>
            <a:r>
              <a:rPr lang="en-US" sz="1100" dirty="0" smtClean="0"/>
              <a:t>To be released in SLURM 16.05</a:t>
            </a:r>
          </a:p>
          <a:p>
            <a:pPr lvl="1"/>
            <a:r>
              <a:rPr lang="en-US" sz="1100" dirty="0" smtClean="0"/>
              <a:t>Client side </a:t>
            </a:r>
            <a:r>
              <a:rPr lang="en-US" sz="1100" dirty="0" err="1" smtClean="0"/>
              <a:t>PMIx</a:t>
            </a:r>
            <a:r>
              <a:rPr lang="en-US" sz="1100" dirty="0" smtClean="0"/>
              <a:t> Framework and S1, S2, </a:t>
            </a:r>
            <a:r>
              <a:rPr lang="en-US" sz="1100" dirty="0" err="1" smtClean="0"/>
              <a:t>PMIxxx</a:t>
            </a:r>
            <a:r>
              <a:rPr lang="en-US" sz="1100" dirty="0" smtClean="0"/>
              <a:t> components in OPAL</a:t>
            </a:r>
          </a:p>
          <a:p>
            <a:r>
              <a:rPr lang="en-US" sz="1100" dirty="0" err="1" smtClean="0"/>
              <a:t>PMIx</a:t>
            </a:r>
            <a:r>
              <a:rPr lang="en-US" sz="1100" dirty="0" smtClean="0"/>
              <a:t> unit tests integrated into Jenkins test harness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8490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srun</a:t>
            </a:r>
            <a:r>
              <a:rPr lang="en-US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 --</a:t>
            </a:r>
            <a:r>
              <a:rPr lang="en-US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mpi</a:t>
            </a:r>
            <a:r>
              <a:rPr lang="en-US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=xxx  </a:t>
            </a:r>
            <a:r>
              <a:rPr lang="en-US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hello_world</a:t>
            </a:r>
            <a:endParaRPr lang="en-US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8266693"/>
              </p:ext>
            </p:extLst>
          </p:nvPr>
        </p:nvGraphicFramePr>
        <p:xfrm>
          <a:off x="457200" y="1600200"/>
          <a:ext cx="812292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4724400"/>
            <a:ext cx="1433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Stage I-II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69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srun</a:t>
            </a:r>
            <a:r>
              <a:rPr lang="en-US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 --</a:t>
            </a:r>
            <a:r>
              <a:rPr lang="en-US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mpi</a:t>
            </a:r>
            <a:r>
              <a:rPr lang="en-US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=</a:t>
            </a:r>
            <a:r>
              <a:rPr lang="en-US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pmix</a:t>
            </a:r>
            <a:r>
              <a:rPr lang="en-US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 ./</a:t>
            </a:r>
            <a:r>
              <a:rPr lang="en-US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hello_world</a:t>
            </a:r>
            <a:endParaRPr lang="en-US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1137153"/>
              </p:ext>
            </p:extLst>
          </p:nvPr>
        </p:nvGraphicFramePr>
        <p:xfrm>
          <a:off x="762000" y="2057400"/>
          <a:ext cx="68961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" name="Straight Connector 4"/>
          <p:cNvCxnSpPr/>
          <p:nvPr/>
        </p:nvCxnSpPr>
        <p:spPr bwMode="auto">
          <a:xfrm>
            <a:off x="1066800" y="4648200"/>
            <a:ext cx="62484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5486400" y="3505200"/>
            <a:ext cx="1433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Stage I-II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79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5709379"/>
              </p:ext>
            </p:extLst>
          </p:nvPr>
        </p:nvGraphicFramePr>
        <p:xfrm>
          <a:off x="775996" y="1524000"/>
          <a:ext cx="76962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dirty="0" err="1">
                <a:latin typeface="Cordia New" panose="020B0304020202020204" pitchFamily="34" charset="-34"/>
                <a:cs typeface="Cordia New" panose="020B0304020202020204" pitchFamily="34" charset="-34"/>
              </a:rPr>
              <a:t>m</a:t>
            </a:r>
            <a:r>
              <a:rPr lang="en-US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pirun</a:t>
            </a:r>
            <a:r>
              <a:rPr lang="en-US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/</a:t>
            </a:r>
            <a:r>
              <a:rPr lang="en-US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oshrun</a:t>
            </a:r>
            <a:r>
              <a:rPr lang="en-US" dirty="0" smtClean="0">
                <a:latin typeface="Cordia New" panose="020B0304020202020204" pitchFamily="34" charset="-34"/>
                <a:cs typeface="Cordia New" panose="020B0304020202020204" pitchFamily="34" charset="-34"/>
              </a:rPr>
              <a:t>  ./</a:t>
            </a:r>
            <a:r>
              <a:rPr lang="en-US" dirty="0" err="1" smtClean="0">
                <a:latin typeface="Cordia New" panose="020B0304020202020204" pitchFamily="34" charset="-34"/>
                <a:cs typeface="Cordia New" panose="020B0304020202020204" pitchFamily="34" charset="-34"/>
              </a:rPr>
              <a:t>hello_world</a:t>
            </a:r>
            <a:endParaRPr lang="en-US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8385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API is implemented and performing well in a variety of settings</a:t>
            </a:r>
          </a:p>
          <a:p>
            <a:pPr lvl="1"/>
            <a:r>
              <a:rPr lang="en-US" sz="1600" dirty="0" smtClean="0"/>
              <a:t>Server integrated in OMPI for native launching and in SLURM as </a:t>
            </a:r>
            <a:r>
              <a:rPr lang="en-US" sz="1600" dirty="0" err="1" smtClean="0"/>
              <a:t>PMIx</a:t>
            </a:r>
            <a:r>
              <a:rPr lang="en-US" sz="1600" dirty="0" smtClean="0"/>
              <a:t> plugin for direct launching.</a:t>
            </a:r>
          </a:p>
          <a:p>
            <a:r>
              <a:rPr lang="en-US" sz="2000" dirty="0" err="1" smtClean="0"/>
              <a:t>PMIx</a:t>
            </a:r>
            <a:r>
              <a:rPr lang="en-US" sz="2000" dirty="0" smtClean="0"/>
              <a:t> shows improvement over other state-of-the-art PMI2 implementations when doing a full </a:t>
            </a:r>
            <a:r>
              <a:rPr lang="en-US" sz="2000" dirty="0" err="1" smtClean="0"/>
              <a:t>modex</a:t>
            </a:r>
            <a:endParaRPr lang="en-US" sz="2000" dirty="0"/>
          </a:p>
          <a:p>
            <a:pPr lvl="1"/>
            <a:r>
              <a:rPr lang="en-US" sz="1600" dirty="0" smtClean="0"/>
              <a:t>Data blobs versus encoded </a:t>
            </a:r>
            <a:r>
              <a:rPr lang="en-US" sz="1600" dirty="0" err="1" smtClean="0"/>
              <a:t>metakeys</a:t>
            </a:r>
            <a:endParaRPr lang="en-US" sz="1600" dirty="0" smtClean="0"/>
          </a:p>
          <a:p>
            <a:pPr lvl="1"/>
            <a:r>
              <a:rPr lang="en-US" sz="1600" dirty="0" smtClean="0"/>
              <a:t>Data scoping to reduce the </a:t>
            </a:r>
            <a:r>
              <a:rPr lang="en-US" sz="1600" dirty="0" err="1" smtClean="0"/>
              <a:t>modex</a:t>
            </a:r>
            <a:r>
              <a:rPr lang="en-US" sz="1600" dirty="0" smtClean="0"/>
              <a:t> size</a:t>
            </a:r>
          </a:p>
          <a:p>
            <a:r>
              <a:rPr lang="en-US" sz="2000" dirty="0" err="1" smtClean="0"/>
              <a:t>PMIx</a:t>
            </a:r>
            <a:r>
              <a:rPr lang="en-US" sz="2000" dirty="0" smtClean="0"/>
              <a:t> supported direct </a:t>
            </a:r>
            <a:r>
              <a:rPr lang="en-US" sz="2000" dirty="0" err="1" smtClean="0"/>
              <a:t>modex</a:t>
            </a:r>
            <a:r>
              <a:rPr lang="en-US" sz="2000" dirty="0" smtClean="0"/>
              <a:t> significantly outperforms full </a:t>
            </a:r>
            <a:r>
              <a:rPr lang="en-US" sz="2000" dirty="0" err="1" smtClean="0"/>
              <a:t>modex</a:t>
            </a:r>
            <a:r>
              <a:rPr lang="en-US" sz="2000" dirty="0" smtClean="0"/>
              <a:t> operations for BTL/MTLs that can support this feature</a:t>
            </a:r>
          </a:p>
          <a:p>
            <a:r>
              <a:rPr lang="en-US" sz="2000" dirty="0" smtClean="0"/>
              <a:t>Direct </a:t>
            </a:r>
            <a:r>
              <a:rPr lang="en-US" sz="2000" dirty="0" err="1" smtClean="0"/>
              <a:t>modex</a:t>
            </a:r>
            <a:r>
              <a:rPr lang="en-US" sz="2000" dirty="0" smtClean="0"/>
              <a:t> still scales as O(N)</a:t>
            </a:r>
          </a:p>
          <a:p>
            <a:r>
              <a:rPr lang="en-US" sz="2000" dirty="0" smtClean="0"/>
              <a:t>Efforts and energy should be focused on daemon bootstrap problem</a:t>
            </a:r>
          </a:p>
          <a:p>
            <a:r>
              <a:rPr lang="en-US" sz="2000" dirty="0" smtClean="0"/>
              <a:t>Instant-on capabilities could be used to further reduce </a:t>
            </a:r>
            <a:r>
              <a:rPr lang="en-US" sz="2000" dirty="0" err="1" smtClean="0"/>
              <a:t>deamon</a:t>
            </a:r>
            <a:r>
              <a:rPr lang="en-US" sz="2000" dirty="0" smtClean="0"/>
              <a:t> bootstrap time </a:t>
            </a:r>
          </a:p>
        </p:txBody>
      </p:sp>
    </p:spTree>
    <p:extLst>
      <p:ext uri="{BB962C8B-B14F-4D97-AF65-F5344CB8AC3E}">
        <p14:creationId xmlns:p14="http://schemas.microsoft.com/office/powerpoint/2010/main" val="83531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752600"/>
            <a:ext cx="8305800" cy="4876800"/>
          </a:xfrm>
        </p:spPr>
        <p:txBody>
          <a:bodyPr/>
          <a:lstStyle/>
          <a:p>
            <a:r>
              <a:rPr lang="en-US" sz="2400" dirty="0" smtClean="0"/>
              <a:t>Leverage </a:t>
            </a:r>
            <a:r>
              <a:rPr lang="en-US" sz="2400" dirty="0" err="1" smtClean="0"/>
              <a:t>PMIx</a:t>
            </a:r>
            <a:r>
              <a:rPr lang="en-US" sz="2400" dirty="0" smtClean="0"/>
              <a:t> features</a:t>
            </a:r>
          </a:p>
          <a:p>
            <a:r>
              <a:rPr lang="en-US" sz="2400" dirty="0" smtClean="0"/>
              <a:t>Reduce </a:t>
            </a:r>
            <a:r>
              <a:rPr lang="en-US" sz="2400" dirty="0" err="1" smtClean="0"/>
              <a:t>modex</a:t>
            </a:r>
            <a:r>
              <a:rPr lang="en-US" sz="2400" dirty="0" smtClean="0"/>
              <a:t> size with data scoping</a:t>
            </a:r>
          </a:p>
          <a:p>
            <a:r>
              <a:rPr lang="en-US" sz="2400" dirty="0" smtClean="0"/>
              <a:t>Change MTL/PMLs to support direct </a:t>
            </a:r>
            <a:r>
              <a:rPr lang="en-US" sz="2400" dirty="0" err="1" smtClean="0"/>
              <a:t>modex</a:t>
            </a:r>
            <a:endParaRPr lang="en-US" sz="2400" dirty="0" smtClean="0"/>
          </a:p>
          <a:p>
            <a:r>
              <a:rPr lang="en-US" sz="2400" dirty="0" smtClean="0"/>
              <a:t>Investigate the impact of direct </a:t>
            </a:r>
            <a:r>
              <a:rPr lang="en-US" sz="2400" dirty="0" err="1" smtClean="0"/>
              <a:t>modex</a:t>
            </a:r>
            <a:r>
              <a:rPr lang="en-US" sz="2400" dirty="0" smtClean="0"/>
              <a:t> on densely connected applications </a:t>
            </a:r>
            <a:endParaRPr lang="en-US" sz="2400" dirty="0"/>
          </a:p>
          <a:p>
            <a:r>
              <a:rPr lang="en-US" sz="2400" dirty="0"/>
              <a:t>Continue to improve collective performance</a:t>
            </a:r>
          </a:p>
          <a:p>
            <a:pPr lvl="1"/>
            <a:r>
              <a:rPr lang="en-US" sz="2400" dirty="0" smtClean="0"/>
              <a:t>Still need to have a scalable solution</a:t>
            </a:r>
          </a:p>
          <a:p>
            <a:r>
              <a:rPr lang="en-US" sz="2400" dirty="0" smtClean="0"/>
              <a:t>Focus more efforts on the daemon bootstrap problem – this becomes the limiting factor moving to </a:t>
            </a:r>
            <a:r>
              <a:rPr lang="en-US" sz="2400" dirty="0" err="1" smtClean="0"/>
              <a:t>exascale</a:t>
            </a:r>
            <a:endParaRPr lang="en-US" sz="2400" dirty="0" smtClean="0"/>
          </a:p>
          <a:p>
            <a:pPr lvl="1"/>
            <a:r>
              <a:rPr lang="en-US" sz="2400" dirty="0" smtClean="0"/>
              <a:t>Leverage instant-on here as well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97894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</a:p>
          <a:p>
            <a:pPr lvl="1"/>
            <a:r>
              <a:rPr lang="en-US" dirty="0" smtClean="0"/>
              <a:t>Introductions</a:t>
            </a:r>
          </a:p>
          <a:p>
            <a:pPr lvl="1"/>
            <a:r>
              <a:rPr lang="en-US" dirty="0" smtClean="0"/>
              <a:t>Vision/objectives</a:t>
            </a:r>
          </a:p>
          <a:p>
            <a:r>
              <a:rPr lang="en-US" dirty="0" smtClean="0"/>
              <a:t>Performance status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Integration/development status</a:t>
            </a:r>
          </a:p>
          <a:p>
            <a:r>
              <a:rPr lang="en-US" dirty="0" smtClean="0"/>
              <a:t>Roadmap</a:t>
            </a:r>
          </a:p>
          <a:p>
            <a:r>
              <a:rPr lang="en-US" dirty="0" smtClean="0"/>
              <a:t>Malleable application support</a:t>
            </a:r>
          </a:p>
          <a:p>
            <a:r>
              <a:rPr lang="en-US" dirty="0"/>
              <a:t>Wrap-Up/Open </a:t>
            </a:r>
            <a:r>
              <a:rPr lang="en-US" dirty="0" smtClean="0"/>
              <a:t>Forum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20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Client Implementation 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1.1.1 released</a:t>
            </a:r>
          </a:p>
          <a:p>
            <a:pPr lvl="1"/>
            <a:r>
              <a:rPr lang="en-US" dirty="0" smtClean="0"/>
              <a:t>Complete API definition</a:t>
            </a:r>
          </a:p>
          <a:p>
            <a:pPr lvl="2"/>
            <a:r>
              <a:rPr lang="en-US" dirty="0" smtClean="0"/>
              <a:t>Future-proof API’s with Info array/length parameter for most calls </a:t>
            </a:r>
          </a:p>
          <a:p>
            <a:pPr lvl="2"/>
            <a:r>
              <a:rPr lang="en-US" dirty="0" smtClean="0"/>
              <a:t>Blocking/non-blocking versions of most calls</a:t>
            </a:r>
          </a:p>
          <a:p>
            <a:pPr lvl="2"/>
            <a:r>
              <a:rPr lang="en-US" dirty="0" smtClean="0"/>
              <a:t>Picked up by Fedora, others to come</a:t>
            </a:r>
          </a:p>
          <a:p>
            <a:r>
              <a:rPr lang="en-US" dirty="0" err="1" smtClean="0"/>
              <a:t>PMIx</a:t>
            </a:r>
            <a:r>
              <a:rPr lang="en-US" dirty="0" smtClean="0"/>
              <a:t> MPI clients launched/tested with</a:t>
            </a:r>
          </a:p>
          <a:p>
            <a:pPr lvl="1"/>
            <a:r>
              <a:rPr lang="en-US" dirty="0" smtClean="0"/>
              <a:t>ORTE (indirect) / ORCM (direct launch)</a:t>
            </a:r>
          </a:p>
          <a:p>
            <a:pPr lvl="1"/>
            <a:r>
              <a:rPr lang="en-US" dirty="0" smtClean="0"/>
              <a:t>SLURM servers (direct launch)</a:t>
            </a:r>
          </a:p>
          <a:p>
            <a:pPr lvl="1"/>
            <a:r>
              <a:rPr lang="en-US" dirty="0" smtClean="0"/>
              <a:t>IBM </a:t>
            </a:r>
            <a:r>
              <a:rPr lang="en-US" dirty="0" err="1" smtClean="0"/>
              <a:t>PMIx</a:t>
            </a:r>
            <a:r>
              <a:rPr lang="en-US" dirty="0" smtClean="0"/>
              <a:t> server (direct launch)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48527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Server Implementation 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Server implementation time is greatly reduced through the </a:t>
            </a:r>
            <a:r>
              <a:rPr lang="en-US" dirty="0" err="1" smtClean="0"/>
              <a:t>PMIx</a:t>
            </a:r>
            <a:r>
              <a:rPr lang="en-US" dirty="0" smtClean="0"/>
              <a:t> convenience library </a:t>
            </a:r>
          </a:p>
          <a:p>
            <a:pPr lvl="1"/>
            <a:r>
              <a:rPr lang="en-US" dirty="0" smtClean="0"/>
              <a:t>Handles all server/client interactions</a:t>
            </a:r>
          </a:p>
          <a:p>
            <a:pPr lvl="1"/>
            <a:r>
              <a:rPr lang="en-US" dirty="0" smtClean="0"/>
              <a:t>Handles many </a:t>
            </a:r>
            <a:r>
              <a:rPr lang="en-US" dirty="0" err="1" smtClean="0"/>
              <a:t>PMIx</a:t>
            </a:r>
            <a:r>
              <a:rPr lang="en-US" dirty="0" smtClean="0"/>
              <a:t> requests that can be handled locally</a:t>
            </a:r>
          </a:p>
          <a:p>
            <a:pPr lvl="1"/>
            <a:r>
              <a:rPr lang="en-US" dirty="0" smtClean="0"/>
              <a:t>Bundles many off-host requests </a:t>
            </a:r>
          </a:p>
          <a:p>
            <a:r>
              <a:rPr lang="en-US" dirty="0" smtClean="0"/>
              <a:t>Optional</a:t>
            </a:r>
          </a:p>
          <a:p>
            <a:pPr lvl="1"/>
            <a:r>
              <a:rPr lang="en-US" dirty="0" smtClean="0"/>
              <a:t>RMs free to implement their own</a:t>
            </a:r>
          </a:p>
        </p:txBody>
      </p:sp>
    </p:spTree>
    <p:extLst>
      <p:ext uri="{BB962C8B-B14F-4D97-AF65-F5344CB8AC3E}">
        <p14:creationId xmlns:p14="http://schemas.microsoft.com/office/powerpoint/2010/main" val="172000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Server Implementation 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Moab</a:t>
            </a:r>
          </a:p>
          <a:p>
            <a:pPr lvl="1"/>
            <a:r>
              <a:rPr lang="en-US" dirty="0"/>
              <a:t>I</a:t>
            </a:r>
            <a:r>
              <a:rPr lang="en-US" dirty="0" smtClean="0"/>
              <a:t>ntegrated </a:t>
            </a:r>
            <a:r>
              <a:rPr lang="en-US" dirty="0" err="1" smtClean="0"/>
              <a:t>PMIx</a:t>
            </a:r>
            <a:r>
              <a:rPr lang="en-US" dirty="0" smtClean="0"/>
              <a:t> server in scheduler/launcher</a:t>
            </a:r>
          </a:p>
          <a:p>
            <a:pPr lvl="1"/>
            <a:r>
              <a:rPr lang="en-US" dirty="0" smtClean="0"/>
              <a:t>Currently integrating </a:t>
            </a:r>
            <a:r>
              <a:rPr lang="en-US" dirty="0" err="1" smtClean="0"/>
              <a:t>PMIx</a:t>
            </a:r>
            <a:r>
              <a:rPr lang="en-US" dirty="0" smtClean="0"/>
              <a:t> effort with Moab</a:t>
            </a:r>
          </a:p>
          <a:p>
            <a:pPr lvl="1"/>
            <a:r>
              <a:rPr lang="en-US" dirty="0" smtClean="0"/>
              <a:t>Scheduled for general availability:  no time set</a:t>
            </a:r>
          </a:p>
          <a:p>
            <a:r>
              <a:rPr lang="en-US" dirty="0" smtClean="0"/>
              <a:t>ORTE/ORCM</a:t>
            </a:r>
          </a:p>
          <a:p>
            <a:pPr lvl="1"/>
            <a:r>
              <a:rPr lang="en-US" dirty="0" smtClean="0"/>
              <a:t>Full embedded </a:t>
            </a:r>
            <a:r>
              <a:rPr lang="en-US" dirty="0" err="1" smtClean="0"/>
              <a:t>PMIx</a:t>
            </a:r>
            <a:r>
              <a:rPr lang="en-US" dirty="0" smtClean="0"/>
              <a:t> reference server implementation</a:t>
            </a:r>
          </a:p>
          <a:p>
            <a:pPr lvl="1"/>
            <a:r>
              <a:rPr lang="en-US" dirty="0" smtClean="0"/>
              <a:t>Scheduled for release with v2.0</a:t>
            </a:r>
          </a:p>
        </p:txBody>
      </p:sp>
    </p:spTree>
    <p:extLst>
      <p:ext uri="{BB962C8B-B14F-4D97-AF65-F5344CB8AC3E}">
        <p14:creationId xmlns:p14="http://schemas.microsoft.com/office/powerpoint/2010/main" val="779720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Server Implementation 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SLURM</a:t>
            </a:r>
          </a:p>
          <a:p>
            <a:pPr lvl="1"/>
            <a:r>
              <a:rPr lang="en-US" dirty="0" err="1" smtClean="0"/>
              <a:t>PMIx</a:t>
            </a:r>
            <a:r>
              <a:rPr lang="en-US" dirty="0" smtClean="0"/>
              <a:t> support for initial job launch/</a:t>
            </a:r>
            <a:r>
              <a:rPr lang="en-US" dirty="0" err="1" smtClean="0"/>
              <a:t>wireup</a:t>
            </a:r>
            <a:r>
              <a:rPr lang="en-US" dirty="0" smtClean="0"/>
              <a:t> currently developed &amp; tested</a:t>
            </a:r>
          </a:p>
          <a:p>
            <a:pPr lvl="1"/>
            <a:r>
              <a:rPr lang="en-US" dirty="0" smtClean="0"/>
              <a:t>Scheduled for GA: 16.05 release</a:t>
            </a:r>
          </a:p>
          <a:p>
            <a:r>
              <a:rPr lang="en-US" dirty="0" smtClean="0"/>
              <a:t>IBM/LSF</a:t>
            </a:r>
          </a:p>
          <a:p>
            <a:pPr lvl="1"/>
            <a:r>
              <a:rPr lang="en-US" dirty="0" smtClean="0"/>
              <a:t>CORAL</a:t>
            </a:r>
          </a:p>
          <a:p>
            <a:pPr lvl="2"/>
            <a:r>
              <a:rPr lang="en-US" dirty="0" err="1" smtClean="0"/>
              <a:t>PMIx</a:t>
            </a:r>
            <a:r>
              <a:rPr lang="en-US" dirty="0" smtClean="0"/>
              <a:t> </a:t>
            </a:r>
            <a:r>
              <a:rPr lang="en-US" dirty="0"/>
              <a:t>support for initial job launch/</a:t>
            </a:r>
            <a:r>
              <a:rPr lang="en-US" dirty="0" err="1"/>
              <a:t>wireup</a:t>
            </a:r>
            <a:r>
              <a:rPr lang="en-US" dirty="0"/>
              <a:t> currently developed &amp; </a:t>
            </a:r>
            <a:r>
              <a:rPr lang="en-US" dirty="0" smtClean="0"/>
              <a:t>tested w/PM</a:t>
            </a:r>
            <a:endParaRPr lang="en-US" dirty="0"/>
          </a:p>
          <a:p>
            <a:pPr lvl="2"/>
            <a:r>
              <a:rPr lang="en-US" dirty="0" smtClean="0"/>
              <a:t>Full </a:t>
            </a:r>
            <a:r>
              <a:rPr lang="en-US" dirty="0" err="1" smtClean="0"/>
              <a:t>PMIx</a:t>
            </a:r>
            <a:r>
              <a:rPr lang="en-US" dirty="0" smtClean="0"/>
              <a:t> support planned for CORAL </a:t>
            </a:r>
          </a:p>
          <a:p>
            <a:pPr lvl="1"/>
            <a:r>
              <a:rPr lang="en-US" dirty="0" smtClean="0"/>
              <a:t>Integration to LSF to follow (TBD)</a:t>
            </a:r>
          </a:p>
        </p:txBody>
      </p:sp>
    </p:spTree>
    <p:extLst>
      <p:ext uri="{BB962C8B-B14F-4D97-AF65-F5344CB8AC3E}">
        <p14:creationId xmlns:p14="http://schemas.microsoft.com/office/powerpoint/2010/main" val="1344474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</a:p>
          <a:p>
            <a:pPr lvl="1"/>
            <a:r>
              <a:rPr lang="en-US" dirty="0" smtClean="0"/>
              <a:t>Introductions</a:t>
            </a:r>
          </a:p>
          <a:p>
            <a:pPr lvl="1"/>
            <a:r>
              <a:rPr lang="en-US" dirty="0" smtClean="0"/>
              <a:t>Vision/objectives</a:t>
            </a:r>
          </a:p>
          <a:p>
            <a:r>
              <a:rPr lang="en-US" dirty="0" smtClean="0"/>
              <a:t>Performance status</a:t>
            </a:r>
          </a:p>
          <a:p>
            <a:r>
              <a:rPr lang="en-US" dirty="0" smtClean="0"/>
              <a:t>Integration/development status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Roadmap</a:t>
            </a:r>
          </a:p>
          <a:p>
            <a:r>
              <a:rPr lang="en-US" dirty="0" smtClean="0"/>
              <a:t>Malleable/Evolving application support</a:t>
            </a:r>
          </a:p>
          <a:p>
            <a:r>
              <a:rPr lang="en-US" dirty="0"/>
              <a:t>Wrap-Up/Open </a:t>
            </a:r>
            <a:r>
              <a:rPr lang="en-US" dirty="0" smtClean="0"/>
              <a:t>Forum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976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Scalability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Memory footprint</a:t>
            </a:r>
          </a:p>
          <a:p>
            <a:pPr lvl="1"/>
            <a:r>
              <a:rPr lang="en-US" sz="2400" dirty="0" smtClean="0"/>
              <a:t>Distributed database for storing Key-Values</a:t>
            </a:r>
          </a:p>
          <a:p>
            <a:pPr lvl="2"/>
            <a:r>
              <a:rPr lang="en-US" sz="2000" dirty="0" smtClean="0"/>
              <a:t>Memory cache, DHT, other models?</a:t>
            </a:r>
          </a:p>
          <a:p>
            <a:pPr lvl="1"/>
            <a:r>
              <a:rPr lang="en-US" sz="2400" dirty="0" smtClean="0"/>
              <a:t>One instance of database per node</a:t>
            </a:r>
          </a:p>
          <a:p>
            <a:pPr lvl="2"/>
            <a:r>
              <a:rPr lang="en-US" sz="2000" dirty="0" smtClean="0"/>
              <a:t>"zero-message" data access using shared-memory</a:t>
            </a:r>
          </a:p>
          <a:p>
            <a:r>
              <a:rPr lang="en-US" sz="2800" dirty="0" smtClean="0"/>
              <a:t>Launch scaling</a:t>
            </a:r>
          </a:p>
          <a:p>
            <a:pPr lvl="1"/>
            <a:r>
              <a:rPr lang="en-US" sz="2400" dirty="0" smtClean="0"/>
              <a:t>Enhanced support for collective operations</a:t>
            </a:r>
          </a:p>
          <a:p>
            <a:pPr lvl="2"/>
            <a:r>
              <a:rPr lang="en-US" sz="2000" dirty="0" smtClean="0"/>
              <a:t>Provide pattern to host, host-provided send/</a:t>
            </a:r>
            <a:r>
              <a:rPr lang="en-US" sz="2000" dirty="0" err="1" smtClean="0"/>
              <a:t>recv</a:t>
            </a:r>
            <a:r>
              <a:rPr lang="en-US" sz="2000" dirty="0" smtClean="0"/>
              <a:t> functions, embedded inter-node </a:t>
            </a:r>
            <a:r>
              <a:rPr lang="en-US" sz="2000" dirty="0" err="1" smtClean="0"/>
              <a:t>comm</a:t>
            </a:r>
            <a:r>
              <a:rPr lang="en-US" sz="2000" dirty="0" smtClean="0"/>
              <a:t>?</a:t>
            </a:r>
          </a:p>
          <a:p>
            <a:pPr lvl="1"/>
            <a:r>
              <a:rPr lang="en-US" sz="2400" dirty="0" smtClean="0"/>
              <a:t>Rely on HSN for launch, </a:t>
            </a:r>
            <a:r>
              <a:rPr lang="en-US" sz="2400" dirty="0" err="1" smtClean="0"/>
              <a:t>wireup</a:t>
            </a:r>
            <a:r>
              <a:rPr lang="en-US" sz="2400" dirty="0" smtClean="0"/>
              <a:t> support</a:t>
            </a:r>
          </a:p>
          <a:p>
            <a:pPr lvl="2"/>
            <a:r>
              <a:rPr lang="en-US" sz="2000" dirty="0" smtClean="0"/>
              <a:t>While app is quiescent, then return to OOB</a:t>
            </a:r>
          </a:p>
        </p:txBody>
      </p:sp>
    </p:spTree>
    <p:extLst>
      <p:ext uri="{BB962C8B-B14F-4D97-AF65-F5344CB8AC3E}">
        <p14:creationId xmlns:p14="http://schemas.microsoft.com/office/powerpoint/2010/main" val="100418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Flexible Allocation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Request additional resources</a:t>
            </a:r>
          </a:p>
          <a:p>
            <a:pPr lvl="1"/>
            <a:r>
              <a:rPr lang="en-US" sz="2400" dirty="0" smtClean="0"/>
              <a:t>Compute, memory, network, NVM, burst buffer</a:t>
            </a:r>
          </a:p>
          <a:p>
            <a:pPr lvl="1"/>
            <a:r>
              <a:rPr lang="en-US" sz="2400" dirty="0" smtClean="0"/>
              <a:t>Immediate, forecast</a:t>
            </a:r>
          </a:p>
          <a:p>
            <a:pPr lvl="1"/>
            <a:r>
              <a:rPr lang="en-US" sz="2400" dirty="0" smtClean="0"/>
              <a:t>Expand existing allocation, separate allocation</a:t>
            </a:r>
          </a:p>
          <a:p>
            <a:r>
              <a:rPr lang="en-US" sz="2800" dirty="0" smtClean="0"/>
              <a:t>Return extra resources</a:t>
            </a:r>
          </a:p>
          <a:p>
            <a:pPr lvl="1"/>
            <a:r>
              <a:rPr lang="en-US" sz="2400" dirty="0" smtClean="0"/>
              <a:t>No longer required</a:t>
            </a:r>
          </a:p>
          <a:p>
            <a:pPr lvl="1"/>
            <a:r>
              <a:rPr lang="en-US" sz="2400" dirty="0" smtClean="0"/>
              <a:t>Will not be used for some specified time, reclaim (handshake) when ready to use</a:t>
            </a:r>
          </a:p>
          <a:p>
            <a:r>
              <a:rPr lang="en-US" sz="2800" dirty="0" smtClean="0"/>
              <a:t>Notification of preemption</a:t>
            </a:r>
          </a:p>
          <a:p>
            <a:pPr lvl="1"/>
            <a:r>
              <a:rPr lang="en-US" sz="2400" dirty="0" smtClean="0"/>
              <a:t>Provide opportunity to cleanly pause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52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I/O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Asynchronous operations</a:t>
            </a:r>
          </a:p>
          <a:p>
            <a:pPr lvl="1"/>
            <a:r>
              <a:rPr lang="en-US" sz="2400" dirty="0" smtClean="0"/>
              <a:t>Anticipatory data fetch, staging</a:t>
            </a:r>
          </a:p>
          <a:p>
            <a:pPr lvl="1"/>
            <a:r>
              <a:rPr lang="en-US" sz="2400" dirty="0" smtClean="0"/>
              <a:t>Advise time to complete</a:t>
            </a:r>
          </a:p>
          <a:p>
            <a:pPr lvl="1"/>
            <a:r>
              <a:rPr lang="en-US" sz="2400" dirty="0" smtClean="0"/>
              <a:t>Notify upon available</a:t>
            </a:r>
          </a:p>
          <a:p>
            <a:r>
              <a:rPr lang="en-US" sz="2800" dirty="0" smtClean="0"/>
              <a:t>Storage policy requests</a:t>
            </a:r>
          </a:p>
          <a:p>
            <a:pPr lvl="1"/>
            <a:r>
              <a:rPr lang="en-US" sz="2400" dirty="0" smtClean="0"/>
              <a:t>Hot/warm/cold data movement</a:t>
            </a:r>
          </a:p>
          <a:p>
            <a:pPr lvl="1"/>
            <a:r>
              <a:rPr lang="en-US" sz="2400" dirty="0" smtClean="0"/>
              <a:t>Desired locations and striping/replication patterns</a:t>
            </a:r>
          </a:p>
          <a:p>
            <a:pPr lvl="1"/>
            <a:r>
              <a:rPr lang="en-US" sz="2400" dirty="0" smtClean="0"/>
              <a:t>Persistence of files, shared memory regions across jobs, sessions</a:t>
            </a:r>
          </a:p>
          <a:p>
            <a:pPr lvl="1"/>
            <a:r>
              <a:rPr lang="en-US" sz="2400" dirty="0" smtClean="0"/>
              <a:t>ACL to generated data across jobs, sessions</a:t>
            </a:r>
          </a:p>
        </p:txBody>
      </p:sp>
    </p:spTree>
    <p:extLst>
      <p:ext uri="{BB962C8B-B14F-4D97-AF65-F5344CB8AC3E}">
        <p14:creationId xmlns:p14="http://schemas.microsoft.com/office/powerpoint/2010/main" val="169735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7010400" y="6096000"/>
            <a:ext cx="1752600" cy="762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Spawn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Staging support</a:t>
            </a:r>
          </a:p>
          <a:p>
            <a:pPr lvl="1"/>
            <a:r>
              <a:rPr lang="en-US" dirty="0" smtClean="0"/>
              <a:t>Files</a:t>
            </a:r>
            <a:r>
              <a:rPr lang="en-US" dirty="0"/>
              <a:t>, libraries required by new apps</a:t>
            </a:r>
          </a:p>
          <a:p>
            <a:pPr lvl="1"/>
            <a:r>
              <a:rPr lang="en-US" dirty="0"/>
              <a:t>Allow </a:t>
            </a:r>
            <a:r>
              <a:rPr lang="en-US" dirty="0" smtClean="0"/>
              <a:t>RM to consider in scheduler</a:t>
            </a:r>
          </a:p>
          <a:p>
            <a:pPr lvl="2"/>
            <a:r>
              <a:rPr lang="en-US" dirty="0" smtClean="0"/>
              <a:t>Current location of data</a:t>
            </a:r>
          </a:p>
          <a:p>
            <a:pPr lvl="2"/>
            <a:r>
              <a:rPr lang="en-US" dirty="0" smtClean="0"/>
              <a:t>Time to retrieve and position</a:t>
            </a:r>
          </a:p>
          <a:p>
            <a:pPr lvl="2"/>
            <a:r>
              <a:rPr lang="en-US" dirty="0" smtClean="0"/>
              <a:t>Schedule scalable preload</a:t>
            </a:r>
          </a:p>
          <a:p>
            <a:r>
              <a:rPr lang="en-US" dirty="0" smtClean="0"/>
              <a:t>Provisioning requests</a:t>
            </a:r>
          </a:p>
          <a:p>
            <a:pPr lvl="1"/>
            <a:r>
              <a:rPr lang="en-US" dirty="0" smtClean="0"/>
              <a:t>Allow RM to consider in selecting resources, minimize startup time due to provisioning</a:t>
            </a:r>
          </a:p>
          <a:p>
            <a:pPr lvl="1"/>
            <a:r>
              <a:rPr lang="en-US" dirty="0" smtClean="0"/>
              <a:t>Desired image, packages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47214"/>
            <a:ext cx="1591055" cy="59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88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Quality of service requests</a:t>
            </a:r>
          </a:p>
          <a:p>
            <a:pPr lvl="1"/>
            <a:r>
              <a:rPr lang="en-US" dirty="0" smtClean="0"/>
              <a:t>Bandwidth, traffic priority, power constraints</a:t>
            </a:r>
          </a:p>
          <a:p>
            <a:pPr lvl="1"/>
            <a:r>
              <a:rPr lang="en-US" dirty="0" smtClean="0"/>
              <a:t>Multi-fabric failover, striping prioritization</a:t>
            </a:r>
          </a:p>
          <a:p>
            <a:pPr lvl="1"/>
            <a:r>
              <a:rPr lang="en-US" dirty="0" smtClean="0"/>
              <a:t>Security requirements</a:t>
            </a:r>
          </a:p>
          <a:p>
            <a:pPr lvl="2"/>
            <a:r>
              <a:rPr lang="en-US" dirty="0" smtClean="0"/>
              <a:t>Network domain definitions, ACLs</a:t>
            </a:r>
          </a:p>
          <a:p>
            <a:r>
              <a:rPr lang="en-US" dirty="0" smtClean="0"/>
              <a:t>Notification requests</a:t>
            </a:r>
          </a:p>
          <a:p>
            <a:pPr lvl="1"/>
            <a:r>
              <a:rPr lang="en-US" dirty="0" smtClean="0"/>
              <a:t>State-of-health</a:t>
            </a:r>
          </a:p>
          <a:p>
            <a:pPr lvl="1"/>
            <a:r>
              <a:rPr lang="en-US" dirty="0" smtClean="0"/>
              <a:t>Update process endpoint upon fault recovery</a:t>
            </a:r>
          </a:p>
          <a:p>
            <a:r>
              <a:rPr lang="en-US" dirty="0" smtClean="0"/>
              <a:t>Topology information</a:t>
            </a:r>
          </a:p>
          <a:p>
            <a:pPr lvl="1"/>
            <a:r>
              <a:rPr lang="en-US" dirty="0" smtClean="0"/>
              <a:t>Torus, dragonfly, </a:t>
            </a:r>
            <a:r>
              <a:rPr lang="is-IS" dirty="0" smtClean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7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Control/Management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Application requests</a:t>
            </a:r>
          </a:p>
          <a:p>
            <a:pPr lvl="1"/>
            <a:r>
              <a:rPr lang="en-US" dirty="0" smtClean="0"/>
              <a:t>Advise of changing workload requirements</a:t>
            </a:r>
          </a:p>
          <a:p>
            <a:pPr lvl="1"/>
            <a:r>
              <a:rPr lang="en-US" dirty="0" smtClean="0"/>
              <a:t>Request changes in policy</a:t>
            </a:r>
          </a:p>
          <a:p>
            <a:pPr lvl="1"/>
            <a:r>
              <a:rPr lang="en-US" dirty="0" smtClean="0"/>
              <a:t>Specify desired policy for spawned applications</a:t>
            </a:r>
          </a:p>
          <a:p>
            <a:pPr lvl="1"/>
            <a:r>
              <a:rPr lang="en-US" dirty="0" smtClean="0"/>
              <a:t>Transfer allocated power to </a:t>
            </a:r>
            <a:r>
              <a:rPr lang="en-US" dirty="0" err="1" smtClean="0"/>
              <a:t>specifed</a:t>
            </a:r>
            <a:r>
              <a:rPr lang="en-US" dirty="0" smtClean="0"/>
              <a:t> job</a:t>
            </a:r>
          </a:p>
          <a:p>
            <a:r>
              <a:rPr lang="en-US" dirty="0" smtClean="0"/>
              <a:t>RM notifications</a:t>
            </a:r>
          </a:p>
          <a:p>
            <a:pPr lvl="1"/>
            <a:r>
              <a:rPr lang="en-US" dirty="0" smtClean="0"/>
              <a:t>Need to change power policy</a:t>
            </a:r>
          </a:p>
          <a:p>
            <a:pPr lvl="2"/>
            <a:r>
              <a:rPr lang="en-US" dirty="0" smtClean="0"/>
              <a:t>Allow application to accept</a:t>
            </a:r>
            <a:r>
              <a:rPr lang="en-US" smtClean="0"/>
              <a:t>, request pause</a:t>
            </a:r>
            <a:endParaRPr lang="en-US" dirty="0" smtClean="0"/>
          </a:p>
          <a:p>
            <a:pPr lvl="1"/>
            <a:r>
              <a:rPr lang="en-US" dirty="0" smtClean="0"/>
              <a:t>Preemption notification</a:t>
            </a:r>
          </a:p>
          <a:p>
            <a:r>
              <a:rPr lang="en-US" dirty="0" smtClean="0"/>
              <a:t>Provide backward compatibility with </a:t>
            </a:r>
            <a:r>
              <a:rPr lang="en-US" dirty="0" err="1" smtClean="0"/>
              <a:t>PowerAPI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732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PMIx: Fault Tolerance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Notification</a:t>
            </a:r>
          </a:p>
          <a:p>
            <a:pPr lvl="1"/>
            <a:r>
              <a:rPr lang="en-US" sz="2000" dirty="0" smtClean="0"/>
              <a:t>App can register for error notifications, incipient faults</a:t>
            </a:r>
          </a:p>
          <a:p>
            <a:pPr lvl="2"/>
            <a:r>
              <a:rPr lang="en-US" sz="1800" dirty="0" smtClean="0"/>
              <a:t>RM will notify when app would be impacted</a:t>
            </a:r>
          </a:p>
          <a:p>
            <a:pPr lvl="2"/>
            <a:r>
              <a:rPr lang="en-US" sz="1800" dirty="0" smtClean="0"/>
              <a:t>App responds with desired action</a:t>
            </a:r>
          </a:p>
          <a:p>
            <a:pPr lvl="3"/>
            <a:r>
              <a:rPr lang="en-US" sz="1600" dirty="0" smtClean="0"/>
              <a:t>Terminate/restart job, wait for checkpoint, etc.</a:t>
            </a:r>
          </a:p>
          <a:p>
            <a:pPr lvl="2"/>
            <a:r>
              <a:rPr lang="en-US" sz="1800" dirty="0" smtClean="0"/>
              <a:t>RM/app negotiate final response</a:t>
            </a:r>
          </a:p>
          <a:p>
            <a:pPr lvl="1"/>
            <a:r>
              <a:rPr lang="en-US" sz="2000" dirty="0" smtClean="0"/>
              <a:t>App can notify RM of errors</a:t>
            </a:r>
          </a:p>
          <a:p>
            <a:pPr lvl="2"/>
            <a:r>
              <a:rPr lang="en-US" sz="1800" dirty="0" smtClean="0"/>
              <a:t>RM will notify specified, registered </a:t>
            </a:r>
            <a:r>
              <a:rPr lang="en-US" sz="1800" dirty="0" err="1" smtClean="0"/>
              <a:t>procs</a:t>
            </a:r>
            <a:endParaRPr lang="en-US" sz="1800" dirty="0" smtClean="0"/>
          </a:p>
          <a:p>
            <a:r>
              <a:rPr lang="en-US" sz="2400" dirty="0" smtClean="0"/>
              <a:t>Restart support</a:t>
            </a:r>
          </a:p>
          <a:p>
            <a:pPr lvl="1"/>
            <a:r>
              <a:rPr lang="en-US" sz="2000" dirty="0" smtClean="0"/>
              <a:t>Specify source (remote NVM checkpoint, global </a:t>
            </a:r>
            <a:r>
              <a:rPr lang="en-US" sz="2000" dirty="0" err="1" smtClean="0"/>
              <a:t>filesystem</a:t>
            </a:r>
            <a:r>
              <a:rPr lang="en-US" sz="2000" dirty="0" smtClean="0"/>
              <a:t>, </a:t>
            </a:r>
            <a:r>
              <a:rPr lang="en-US" sz="2000" dirty="0" err="1" smtClean="0"/>
              <a:t>etc</a:t>
            </a:r>
            <a:r>
              <a:rPr lang="en-US" sz="2000" dirty="0" smtClean="0"/>
              <a:t>)</a:t>
            </a:r>
          </a:p>
          <a:p>
            <a:pPr lvl="1"/>
            <a:r>
              <a:rPr lang="en-US" sz="2000" dirty="0" smtClean="0"/>
              <a:t>Location hints/requests</a:t>
            </a:r>
          </a:p>
          <a:p>
            <a:pPr lvl="1"/>
            <a:r>
              <a:rPr lang="en-US" sz="2000" dirty="0" smtClean="0"/>
              <a:t>Entire job, specific processes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120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</a:p>
          <a:p>
            <a:pPr lvl="1"/>
            <a:r>
              <a:rPr lang="en-US" dirty="0" smtClean="0"/>
              <a:t>Introductions</a:t>
            </a:r>
          </a:p>
          <a:p>
            <a:pPr lvl="1"/>
            <a:r>
              <a:rPr lang="en-US" dirty="0" smtClean="0"/>
              <a:t>Vision/objectives</a:t>
            </a:r>
          </a:p>
          <a:p>
            <a:r>
              <a:rPr lang="en-US" dirty="0" smtClean="0"/>
              <a:t>Performance status</a:t>
            </a:r>
          </a:p>
          <a:p>
            <a:r>
              <a:rPr lang="en-US" dirty="0" smtClean="0"/>
              <a:t>Integration/development status</a:t>
            </a:r>
          </a:p>
          <a:p>
            <a:r>
              <a:rPr lang="en-US" dirty="0" smtClean="0"/>
              <a:t>Roadmap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Malleable/Evolving application support</a:t>
            </a:r>
          </a:p>
          <a:p>
            <a:r>
              <a:rPr lang="en-US" dirty="0"/>
              <a:t>Wrap-Up/Open </a:t>
            </a:r>
            <a:r>
              <a:rPr lang="en-US" dirty="0" smtClean="0"/>
              <a:t>Forum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Job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305800" cy="4191000"/>
          </a:xfrm>
        </p:spPr>
        <p:txBody>
          <a:bodyPr/>
          <a:lstStyle/>
          <a:p>
            <a:r>
              <a:rPr lang="en-US" dirty="0" smtClean="0"/>
              <a:t>Rigid</a:t>
            </a:r>
          </a:p>
          <a:p>
            <a:r>
              <a:rPr lang="en-US" dirty="0" smtClean="0"/>
              <a:t>Moldable</a:t>
            </a:r>
          </a:p>
          <a:p>
            <a:r>
              <a:rPr lang="en-US" dirty="0" smtClean="0"/>
              <a:t>Malleable</a:t>
            </a:r>
          </a:p>
          <a:p>
            <a:r>
              <a:rPr lang="en-US" dirty="0" smtClean="0"/>
              <a:t>Evolving</a:t>
            </a:r>
          </a:p>
          <a:p>
            <a:r>
              <a:rPr lang="en-US" dirty="0" smtClean="0"/>
              <a:t>Adaptive (Malleable + Evolving)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Job Type Characteristics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Resource Allocation Type</a:t>
            </a:r>
          </a:p>
          <a:p>
            <a:pPr lvl="1"/>
            <a:r>
              <a:rPr lang="en-US" dirty="0" smtClean="0"/>
              <a:t>Static</a:t>
            </a:r>
          </a:p>
          <a:p>
            <a:pPr lvl="1"/>
            <a:r>
              <a:rPr lang="en-US" dirty="0" smtClean="0"/>
              <a:t>Dynamic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827227"/>
              </p:ext>
            </p:extLst>
          </p:nvPr>
        </p:nvGraphicFramePr>
        <p:xfrm>
          <a:off x="434760" y="3577698"/>
          <a:ext cx="8345996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005"/>
                <a:gridCol w="2875471"/>
                <a:gridCol w="327152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sz="2000" dirty="0" smtClean="0"/>
                        <a:t>Who Decides</a:t>
                      </a:r>
                      <a:endParaRPr lang="en-US" sz="20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When it is decided</a:t>
                      </a:r>
                      <a:endParaRPr lang="en-US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At </a:t>
                      </a:r>
                      <a:r>
                        <a:rPr lang="en-US" sz="20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job</a:t>
                      </a:r>
                      <a:r>
                        <a:rPr lang="en-US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1" dirty="0" smtClean="0">
                          <a:solidFill>
                            <a:srgbClr val="FF0000"/>
                          </a:solidFill>
                        </a:rPr>
                        <a:t>submission</a:t>
                      </a:r>
                    </a:p>
                    <a:p>
                      <a:pPr algn="ctr"/>
                      <a:r>
                        <a:rPr lang="en-US" sz="2000" b="1" dirty="0" smtClean="0"/>
                        <a:t>(</a:t>
                      </a:r>
                      <a:r>
                        <a:rPr lang="en-US" sz="2000" b="1" dirty="0" smtClean="0">
                          <a:solidFill>
                            <a:srgbClr val="0066FF"/>
                          </a:solidFill>
                        </a:rPr>
                        <a:t>static</a:t>
                      </a:r>
                      <a:r>
                        <a:rPr lang="en-US" sz="2000" b="1" baseline="0" dirty="0" smtClean="0"/>
                        <a:t> allocation)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During </a:t>
                      </a:r>
                      <a:r>
                        <a:rPr lang="en-US" sz="2000" b="1" dirty="0" smtClean="0">
                          <a:solidFill>
                            <a:srgbClr val="FF0000"/>
                          </a:solidFill>
                        </a:rPr>
                        <a:t>job</a:t>
                      </a:r>
                      <a:r>
                        <a:rPr lang="en-US" sz="2000" b="1" dirty="0" smtClean="0"/>
                        <a:t> </a:t>
                      </a:r>
                      <a:r>
                        <a:rPr lang="en-US" sz="2000" b="1" dirty="0" smtClean="0">
                          <a:solidFill>
                            <a:srgbClr val="FF0000"/>
                          </a:solidFill>
                        </a:rPr>
                        <a:t>execution</a:t>
                      </a:r>
                    </a:p>
                    <a:p>
                      <a:pPr algn="ctr"/>
                      <a:r>
                        <a:rPr lang="en-US" sz="2000" b="1" dirty="0" smtClean="0"/>
                        <a:t>(</a:t>
                      </a:r>
                      <a:r>
                        <a:rPr lang="en-US" sz="2000" b="1" dirty="0" smtClean="0">
                          <a:solidFill>
                            <a:srgbClr val="0066FF"/>
                          </a:solidFill>
                        </a:rPr>
                        <a:t>dynamic</a:t>
                      </a:r>
                      <a:r>
                        <a:rPr lang="en-US" sz="2000" b="1" baseline="0" dirty="0" smtClean="0"/>
                        <a:t> allocation)</a:t>
                      </a:r>
                      <a:endParaRPr lang="en-US" sz="20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FF0000"/>
                          </a:solidFill>
                        </a:rPr>
                        <a:t>User</a:t>
                      </a:r>
                      <a:endParaRPr 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Rigid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Evolving</a:t>
                      </a:r>
                      <a:endParaRPr lang="en-US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FF0000"/>
                          </a:solidFill>
                        </a:rPr>
                        <a:t>Scheduler</a:t>
                      </a:r>
                      <a:endParaRPr 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Moldable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Malleable</a:t>
                      </a:r>
                      <a:endParaRPr lang="en-US" sz="3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4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Rigid Job</a:t>
            </a:r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457200" y="1992868"/>
            <a:ext cx="8229600" cy="4026932"/>
            <a:chOff x="457200" y="1828800"/>
            <a:chExt cx="8229600" cy="4026932"/>
          </a:xfrm>
        </p:grpSpPr>
        <p:sp>
          <p:nvSpPr>
            <p:cNvPr id="31" name="Rectangle 30"/>
            <p:cNvSpPr/>
            <p:nvPr/>
          </p:nvSpPr>
          <p:spPr>
            <a:xfrm>
              <a:off x="457200" y="1828800"/>
              <a:ext cx="457200" cy="4572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57200" y="2286000"/>
              <a:ext cx="457200" cy="4572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57200" y="2743200"/>
              <a:ext cx="457200" cy="4572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57200" y="3200400"/>
              <a:ext cx="457200" cy="4572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57200" y="3657600"/>
              <a:ext cx="457200" cy="4572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57200" y="4114800"/>
              <a:ext cx="457200" cy="4572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57200" y="4572000"/>
              <a:ext cx="457200" cy="4572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57200" y="5029200"/>
              <a:ext cx="457200" cy="4572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9" name="Straight Connector 38"/>
            <p:cNvCxnSpPr/>
            <p:nvPr/>
          </p:nvCxnSpPr>
          <p:spPr>
            <a:xfrm>
              <a:off x="914400" y="1828800"/>
              <a:ext cx="0" cy="36576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923109" y="3648891"/>
              <a:ext cx="1737360" cy="1828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99016" y="5486400"/>
              <a:ext cx="7887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>
                  <a:latin typeface="Calibri" panose="020F0502020204030204" pitchFamily="34" charset="0"/>
                </a:rPr>
                <a:t>0     15    30    45     60    75    90   105  120  135  150  165   180  195  210  225  240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cxnSp>
          <p:nvCxnSpPr>
            <p:cNvPr id="42" name="Straight Connector 41"/>
            <p:cNvCxnSpPr/>
            <p:nvPr/>
          </p:nvCxnSpPr>
          <p:spPr>
            <a:xfrm flipH="1">
              <a:off x="914400" y="5486400"/>
              <a:ext cx="7315200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Content Placeholder 43"/>
          <p:cNvSpPr txBox="1">
            <a:spLocks/>
          </p:cNvSpPr>
          <p:nvPr/>
        </p:nvSpPr>
        <p:spPr bwMode="auto">
          <a:xfrm>
            <a:off x="5410200" y="1676400"/>
            <a:ext cx="3733800" cy="3962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20000"/>
              <a:buFont typeface="Arial" charset="0"/>
              <a:buChar char="•"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ＭＳ Ｐゴシック" pitchFamily="-110" charset="-128"/>
              </a:rPr>
              <a:t>Job Resources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charset="0"/>
              <a:buChar char="§"/>
              <a:tabLst/>
              <a:defRPr/>
            </a:pPr>
            <a:r>
              <a:rPr lang="en-US" sz="2800" kern="0" dirty="0" smtClean="0">
                <a:latin typeface="+mn-lt"/>
                <a:ea typeface="ＭＳ Ｐゴシック" pitchFamily="-65" charset="-128"/>
              </a:rPr>
              <a:t>4 nodes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charset="0"/>
              <a:buChar char="§"/>
              <a:tabLst/>
              <a:defRPr/>
            </a:pPr>
            <a:r>
              <a:rPr lang="en-US" sz="2800" kern="0" dirty="0" smtClean="0">
                <a:latin typeface="+mn-lt"/>
                <a:ea typeface="ＭＳ Ｐゴシック" pitchFamily="-65" charset="-128"/>
              </a:rPr>
              <a:t>60 minutes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charset="0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65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4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Moldable Job</a:t>
            </a: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457200" y="1992868"/>
            <a:ext cx="8229600" cy="4026932"/>
            <a:chOff x="457200" y="1828800"/>
            <a:chExt cx="8229600" cy="4026932"/>
          </a:xfrm>
        </p:grpSpPr>
        <p:sp>
          <p:nvSpPr>
            <p:cNvPr id="18" name="Rectangle 17"/>
            <p:cNvSpPr/>
            <p:nvPr/>
          </p:nvSpPr>
          <p:spPr>
            <a:xfrm>
              <a:off x="457200" y="1828800"/>
              <a:ext cx="457200" cy="4572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57200" y="2286000"/>
              <a:ext cx="457200" cy="4572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57200" y="2743200"/>
              <a:ext cx="457200" cy="4572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7200" y="3200400"/>
              <a:ext cx="457200" cy="4572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7200" y="3657600"/>
              <a:ext cx="457200" cy="4572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7200" y="4114800"/>
              <a:ext cx="457200" cy="4572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57200" y="4572000"/>
              <a:ext cx="457200" cy="4572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57200" y="5029200"/>
              <a:ext cx="457200" cy="4572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914400" y="1828800"/>
              <a:ext cx="0" cy="36576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914400" y="5486400"/>
              <a:ext cx="7315200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/>
            <p:cNvSpPr/>
            <p:nvPr/>
          </p:nvSpPr>
          <p:spPr>
            <a:xfrm>
              <a:off x="914400" y="3648891"/>
              <a:ext cx="1828800" cy="18288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14400" y="4563290"/>
              <a:ext cx="3657600" cy="923109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50000"/>
              </a:schemeClr>
            </a:solidFill>
            <a:ln w="38100"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14400" y="5029200"/>
              <a:ext cx="73152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50000"/>
              </a:schemeClr>
            </a:solidFill>
            <a:ln w="38100">
              <a:prstDash val="sysDot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99016" y="5486400"/>
              <a:ext cx="7887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>
                  <a:latin typeface="Calibri" panose="020F0502020204030204" pitchFamily="34" charset="0"/>
                </a:rPr>
                <a:t>0     15    30    45     60    75    90   105  120  135  150  165   180  195  210  225  240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</p:grpSp>
      <p:sp>
        <p:nvSpPr>
          <p:cNvPr id="49" name="Content Placeholder 43"/>
          <p:cNvSpPr txBox="1">
            <a:spLocks/>
          </p:cNvSpPr>
          <p:nvPr/>
        </p:nvSpPr>
        <p:spPr bwMode="auto">
          <a:xfrm>
            <a:off x="5410200" y="1676400"/>
            <a:ext cx="3733800" cy="3962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20000"/>
              <a:buFont typeface="Arial" charset="0"/>
              <a:buChar char="•"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ＭＳ Ｐゴシック" pitchFamily="-110" charset="-128"/>
              </a:rPr>
              <a:t>Job Resources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charset="0"/>
              <a:buChar char="§"/>
              <a:tabLst/>
              <a:defRPr/>
            </a:pPr>
            <a:r>
              <a:rPr lang="en-US" sz="2800" kern="0" dirty="0" smtClean="0">
                <a:latin typeface="+mn-lt"/>
                <a:ea typeface="ＭＳ Ｐゴシック" pitchFamily="-65" charset="-128"/>
              </a:rPr>
              <a:t>4 nodes/60 min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charset="0"/>
              <a:buChar char="§"/>
              <a:tabLst/>
              <a:defRPr/>
            </a:pPr>
            <a:r>
              <a:rPr lang="en-US" sz="2800" kern="0" dirty="0" smtClean="0">
                <a:latin typeface="+mn-lt"/>
                <a:ea typeface="ＭＳ Ｐゴシック" pitchFamily="-65" charset="-128"/>
              </a:rPr>
              <a:t>2 nodes/120 min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charset="0"/>
              <a:buChar char="§"/>
              <a:tabLst/>
              <a:defRPr/>
            </a:pPr>
            <a:r>
              <a:rPr lang="en-US" sz="2800" kern="0" dirty="0" smtClean="0">
                <a:latin typeface="+mn-lt"/>
                <a:ea typeface="ＭＳ Ｐゴシック" pitchFamily="-65" charset="-128"/>
              </a:rPr>
              <a:t>1 node/240 min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charset="0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65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/>
          <p:cNvGrpSpPr/>
          <p:nvPr/>
        </p:nvGrpSpPr>
        <p:grpSpPr>
          <a:xfrm>
            <a:off x="457200" y="1992868"/>
            <a:ext cx="8229600" cy="4026932"/>
            <a:chOff x="457200" y="1828800"/>
            <a:chExt cx="8229600" cy="4026932"/>
          </a:xfrm>
        </p:grpSpPr>
        <p:sp>
          <p:nvSpPr>
            <p:cNvPr id="53" name="Rectangle 52"/>
            <p:cNvSpPr/>
            <p:nvPr/>
          </p:nvSpPr>
          <p:spPr>
            <a:xfrm>
              <a:off x="457200" y="1828800"/>
              <a:ext cx="457200" cy="4572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57200" y="2286000"/>
              <a:ext cx="457200" cy="4572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57200" y="2743200"/>
              <a:ext cx="457200" cy="4572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57200" y="3200400"/>
              <a:ext cx="457200" cy="4572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57200" y="3657600"/>
              <a:ext cx="457200" cy="4572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57200" y="4114800"/>
              <a:ext cx="457200" cy="4572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57200" y="4572000"/>
              <a:ext cx="457200" cy="4572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57200" y="5029200"/>
              <a:ext cx="457200" cy="4572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Straight Connector 60"/>
            <p:cNvCxnSpPr/>
            <p:nvPr/>
          </p:nvCxnSpPr>
          <p:spPr>
            <a:xfrm>
              <a:off x="914400" y="1828800"/>
              <a:ext cx="0" cy="36576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914400" y="5486400"/>
              <a:ext cx="7315200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62"/>
            <p:cNvSpPr/>
            <p:nvPr/>
          </p:nvSpPr>
          <p:spPr>
            <a:xfrm>
              <a:off x="2286000" y="3666307"/>
              <a:ext cx="457200" cy="1828800"/>
            </a:xfrm>
            <a:prstGeom prst="rect">
              <a:avLst/>
            </a:prstGeom>
            <a:solidFill>
              <a:srgbClr val="CCCCCC"/>
            </a:solidFill>
            <a:ln w="38100"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828800" y="2743200"/>
              <a:ext cx="457200" cy="2743199"/>
            </a:xfrm>
            <a:prstGeom prst="rect">
              <a:avLst/>
            </a:prstGeom>
            <a:solidFill>
              <a:srgbClr val="CCCCCC"/>
            </a:solidFill>
            <a:ln w="38100"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914401" y="5024844"/>
              <a:ext cx="914400" cy="457200"/>
            </a:xfrm>
            <a:prstGeom prst="rect">
              <a:avLst/>
            </a:prstGeom>
            <a:solidFill>
              <a:srgbClr val="CCCCCC"/>
            </a:solidFill>
            <a:ln w="38100"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743200" y="2285999"/>
              <a:ext cx="2743200" cy="3200400"/>
            </a:xfrm>
            <a:prstGeom prst="rect">
              <a:avLst/>
            </a:prstGeom>
            <a:solidFill>
              <a:srgbClr val="CCCCCC"/>
            </a:solidFill>
            <a:ln w="38100"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486400" y="3200400"/>
              <a:ext cx="457200" cy="2286000"/>
            </a:xfrm>
            <a:prstGeom prst="rect">
              <a:avLst/>
            </a:prstGeom>
            <a:solidFill>
              <a:srgbClr val="CCCCCC"/>
            </a:solidFill>
            <a:ln w="38100"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943600" y="4571999"/>
              <a:ext cx="1828800" cy="914400"/>
            </a:xfrm>
            <a:prstGeom prst="rect">
              <a:avLst/>
            </a:prstGeom>
            <a:solidFill>
              <a:srgbClr val="CCCCCC"/>
            </a:solidFill>
            <a:ln w="38100"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99016" y="5486400"/>
              <a:ext cx="7887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>
                  <a:latin typeface="Calibri" panose="020F0502020204030204" pitchFamily="34" charset="0"/>
                </a:rPr>
                <a:t>0     15    30    45     60    75    90   105  120  135  150  165   180  195  210  225  240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</p:grpSp>
      <p:sp>
        <p:nvSpPr>
          <p:cNvPr id="43" name="Title 4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Malleable Job</a:t>
            </a:r>
            <a:endParaRPr lang="en-US" dirty="0"/>
          </a:p>
        </p:txBody>
      </p:sp>
      <p:sp>
        <p:nvSpPr>
          <p:cNvPr id="46" name="Content Placeholder 43"/>
          <p:cNvSpPr txBox="1">
            <a:spLocks/>
          </p:cNvSpPr>
          <p:nvPr/>
        </p:nvSpPr>
        <p:spPr bwMode="auto">
          <a:xfrm>
            <a:off x="5410200" y="1676400"/>
            <a:ext cx="3733800" cy="3962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20000"/>
              <a:buFont typeface="Arial" charset="0"/>
              <a:buChar char="•"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ＭＳ Ｐゴシック" pitchFamily="-110" charset="-128"/>
              </a:rPr>
              <a:t>Job Resources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charset="0"/>
              <a:buChar char="§"/>
              <a:tabLst/>
              <a:defRPr/>
            </a:pPr>
            <a:r>
              <a:rPr lang="en-US" sz="2800" kern="0" dirty="0" smtClean="0">
                <a:latin typeface="+mn-lt"/>
                <a:ea typeface="ＭＳ Ｐゴシック" pitchFamily="-65" charset="-128"/>
              </a:rPr>
              <a:t>1-8 nodes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charset="0"/>
              <a:buChar char="§"/>
              <a:tabLst/>
              <a:defRPr/>
            </a:pPr>
            <a:r>
              <a:rPr lang="en-US" sz="2800" kern="0" dirty="0" smtClean="0">
                <a:latin typeface="+mn-lt"/>
                <a:ea typeface="ＭＳ Ｐゴシック" pitchFamily="-65" charset="-128"/>
              </a:rPr>
              <a:t>1000 node-min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charset="0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65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57200" y="1992867"/>
            <a:ext cx="8229600" cy="4026933"/>
            <a:chOff x="457200" y="1828799"/>
            <a:chExt cx="8229600" cy="4026933"/>
          </a:xfrm>
        </p:grpSpPr>
        <p:sp>
          <p:nvSpPr>
            <p:cNvPr id="20" name="Rectangle 19"/>
            <p:cNvSpPr/>
            <p:nvPr/>
          </p:nvSpPr>
          <p:spPr>
            <a:xfrm>
              <a:off x="457200" y="1828800"/>
              <a:ext cx="457200" cy="4572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7200" y="2286000"/>
              <a:ext cx="457200" cy="4572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7200" y="2743200"/>
              <a:ext cx="457200" cy="4572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7200" y="3200400"/>
              <a:ext cx="457200" cy="4572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57200" y="3657600"/>
              <a:ext cx="457200" cy="4572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57200" y="4114800"/>
              <a:ext cx="457200" cy="4572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57200" y="4572000"/>
              <a:ext cx="457200" cy="4572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57200" y="5029200"/>
              <a:ext cx="457200" cy="4572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914400" y="1828800"/>
              <a:ext cx="0" cy="36576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H="1">
              <a:off x="914400" y="5486400"/>
              <a:ext cx="7315200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799016" y="5486400"/>
              <a:ext cx="78877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>
                  <a:latin typeface="Calibri" panose="020F0502020204030204" pitchFamily="34" charset="0"/>
                </a:rPr>
                <a:t>0     15    30    45     60    75    90   105  120  135  150  165   180  195  210  225  240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743200" y="3657599"/>
              <a:ext cx="914400" cy="1828800"/>
            </a:xfrm>
            <a:prstGeom prst="rect">
              <a:avLst/>
            </a:prstGeom>
            <a:solidFill>
              <a:srgbClr val="CCCCCC"/>
            </a:solidFill>
            <a:ln w="38100"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828800" y="4572000"/>
              <a:ext cx="910045" cy="914400"/>
            </a:xfrm>
            <a:prstGeom prst="rect">
              <a:avLst/>
            </a:prstGeom>
            <a:solidFill>
              <a:srgbClr val="CCCCCC"/>
            </a:solidFill>
            <a:ln w="38100"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401" y="5024844"/>
              <a:ext cx="914400" cy="457200"/>
            </a:xfrm>
            <a:prstGeom prst="rect">
              <a:avLst/>
            </a:prstGeom>
            <a:solidFill>
              <a:srgbClr val="CCCCCC"/>
            </a:solidFill>
            <a:ln w="38100"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657600" y="1828799"/>
              <a:ext cx="2743200" cy="3657600"/>
            </a:xfrm>
            <a:prstGeom prst="rect">
              <a:avLst/>
            </a:prstGeom>
            <a:solidFill>
              <a:srgbClr val="CCCCCC"/>
            </a:solidFill>
            <a:ln w="38100"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>
                  <a:solidFill>
                    <a:sysClr val="windowText" lastClr="000000"/>
                  </a:solidFill>
                </a:rPr>
                <a:t>D</a:t>
              </a:r>
              <a:endParaRPr lang="en-US" sz="2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234440" y="1828800"/>
              <a:ext cx="219456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Calibri" panose="020F0502020204030204" pitchFamily="34" charset="0"/>
                </a:rPr>
                <a:t>Phases A, B, C and D (each phase 2x nodes of previous phase)</a:t>
              </a:r>
              <a:endParaRPr lang="en-US" dirty="0">
                <a:latin typeface="Calibri" panose="020F0502020204030204" pitchFamily="34" charset="0"/>
              </a:endParaRPr>
            </a:p>
          </p:txBody>
        </p:sp>
      </p:grpSp>
      <p:sp>
        <p:nvSpPr>
          <p:cNvPr id="43" name="Title 4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Evolving Job</a:t>
            </a:r>
            <a:endParaRPr lang="en-US" dirty="0"/>
          </a:p>
        </p:txBody>
      </p:sp>
      <p:sp>
        <p:nvSpPr>
          <p:cNvPr id="18" name="Content Placeholder 43"/>
          <p:cNvSpPr txBox="1">
            <a:spLocks/>
          </p:cNvSpPr>
          <p:nvPr/>
        </p:nvSpPr>
        <p:spPr bwMode="auto">
          <a:xfrm>
            <a:off x="5410200" y="1676400"/>
            <a:ext cx="3733800" cy="3962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20000"/>
              <a:buFont typeface="Arial" charset="0"/>
              <a:buChar char="•"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ＭＳ Ｐゴシック" pitchFamily="-110" charset="-128"/>
              </a:rPr>
              <a:t>Job Resources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charset="0"/>
              <a:buChar char="§"/>
              <a:tabLst/>
              <a:defRPr/>
            </a:pPr>
            <a:r>
              <a:rPr lang="en-US" sz="2800" kern="0" dirty="0" smtClean="0">
                <a:latin typeface="+mn-lt"/>
                <a:ea typeface="ＭＳ Ｐゴシック" pitchFamily="-65" charset="-128"/>
              </a:rPr>
              <a:t>1-8 nodes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charset="0"/>
              <a:buChar char="§"/>
              <a:tabLst/>
              <a:defRPr/>
            </a:pPr>
            <a:r>
              <a:rPr lang="en-US" sz="2800" kern="0" dirty="0" smtClean="0">
                <a:latin typeface="+mn-lt"/>
                <a:ea typeface="ＭＳ Ｐゴシック" pitchFamily="-65" charset="-128"/>
              </a:rPr>
              <a:t>1000 node-min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charset="0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65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4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Adaptive Job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457200" y="1992868"/>
            <a:ext cx="457200" cy="457200"/>
          </a:xfrm>
          <a:prstGeom prst="rect">
            <a:avLst/>
          </a:prstGeom>
          <a:solidFill>
            <a:srgbClr val="9999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2450068"/>
            <a:ext cx="457200" cy="457200"/>
          </a:xfrm>
          <a:prstGeom prst="rect">
            <a:avLst/>
          </a:prstGeom>
          <a:solidFill>
            <a:srgbClr val="FFFF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" y="2907268"/>
            <a:ext cx="457200" cy="457200"/>
          </a:xfrm>
          <a:prstGeom prst="rect">
            <a:avLst/>
          </a:prstGeom>
          <a:solidFill>
            <a:srgbClr val="9999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3364468"/>
            <a:ext cx="457200" cy="457200"/>
          </a:xfrm>
          <a:prstGeom prst="rect">
            <a:avLst/>
          </a:prstGeom>
          <a:solidFill>
            <a:srgbClr val="FFFF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" y="3821668"/>
            <a:ext cx="457200" cy="457200"/>
          </a:xfrm>
          <a:prstGeom prst="rect">
            <a:avLst/>
          </a:prstGeom>
          <a:solidFill>
            <a:srgbClr val="9999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4278868"/>
            <a:ext cx="457200" cy="457200"/>
          </a:xfrm>
          <a:prstGeom prst="rect">
            <a:avLst/>
          </a:prstGeom>
          <a:solidFill>
            <a:srgbClr val="FFFF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4736068"/>
            <a:ext cx="457200" cy="457200"/>
          </a:xfrm>
          <a:prstGeom prst="rect">
            <a:avLst/>
          </a:prstGeom>
          <a:solidFill>
            <a:srgbClr val="9999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7200" y="5193268"/>
            <a:ext cx="457200" cy="457200"/>
          </a:xfrm>
          <a:prstGeom prst="rect">
            <a:avLst/>
          </a:prstGeom>
          <a:solidFill>
            <a:srgbClr val="FFFF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914400" y="1992868"/>
            <a:ext cx="0" cy="3657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914400" y="5650468"/>
            <a:ext cx="7315200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743200" y="3821667"/>
            <a:ext cx="914400" cy="1828800"/>
          </a:xfrm>
          <a:prstGeom prst="rect">
            <a:avLst/>
          </a:prstGeom>
          <a:solidFill>
            <a:srgbClr val="CCCCCC"/>
          </a:solidFill>
          <a:ln w="38100"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33155" y="4736068"/>
            <a:ext cx="910045" cy="914400"/>
          </a:xfrm>
          <a:prstGeom prst="rect">
            <a:avLst/>
          </a:prstGeom>
          <a:solidFill>
            <a:srgbClr val="CCCCCC"/>
          </a:solidFill>
          <a:ln w="38100"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1" y="5188912"/>
            <a:ext cx="914400" cy="457200"/>
          </a:xfrm>
          <a:prstGeom prst="rect">
            <a:avLst/>
          </a:prstGeom>
          <a:solidFill>
            <a:srgbClr val="CCCCCC"/>
          </a:solidFill>
          <a:ln w="38100"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0" y="1992868"/>
            <a:ext cx="1371600" cy="3657600"/>
          </a:xfrm>
          <a:prstGeom prst="rect">
            <a:avLst/>
          </a:prstGeom>
          <a:solidFill>
            <a:srgbClr val="CCCCCC"/>
          </a:solidFill>
          <a:ln w="38100"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D</a:t>
            </a:r>
            <a:r>
              <a:rPr lang="en-US" sz="28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0" y="3823844"/>
            <a:ext cx="2743200" cy="1828800"/>
          </a:xfrm>
          <a:prstGeom prst="rect">
            <a:avLst/>
          </a:prstGeom>
          <a:solidFill>
            <a:srgbClr val="CCCCCC"/>
          </a:solidFill>
          <a:ln w="38100"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D</a:t>
            </a:r>
            <a:r>
              <a:rPr lang="en-US" sz="2800" baseline="-25000" dirty="0" smtClean="0">
                <a:solidFill>
                  <a:schemeClr val="tx1"/>
                </a:solidFill>
              </a:rPr>
              <a:t>2</a:t>
            </a:r>
            <a:endParaRPr lang="en-US" sz="2800" baseline="-25000" dirty="0"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0600" y="1992868"/>
            <a:ext cx="2362200" cy="9233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 smtClean="0">
                <a:latin typeface="Calibri" panose="020F0502020204030204" pitchFamily="34" charset="0"/>
              </a:rPr>
              <a:t>Phases A, B, C and D (each phase 2x nodes of previous phase)</a:t>
            </a:r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90600" y="2914471"/>
            <a:ext cx="2651760" cy="12003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 smtClean="0">
                <a:latin typeface="Calibri" panose="020F0502020204030204" pitchFamily="34" charset="0"/>
              </a:rPr>
              <a:t>Scheduler takes 4 nodes halfway through Phase D and phase D</a:t>
            </a:r>
            <a:r>
              <a:rPr lang="en-US" sz="1800" baseline="-25000" dirty="0" smtClean="0">
                <a:latin typeface="Calibri" panose="020F0502020204030204" pitchFamily="34" charset="0"/>
              </a:rPr>
              <a:t>2</a:t>
            </a:r>
            <a:r>
              <a:rPr lang="en-US" sz="1800" dirty="0" smtClean="0">
                <a:latin typeface="Calibri" panose="020F0502020204030204" pitchFamily="34" charset="0"/>
              </a:rPr>
              <a:t> takes 2x as long as phase D</a:t>
            </a:r>
            <a:r>
              <a:rPr lang="en-US" sz="1800" baseline="-25000" dirty="0" smtClean="0">
                <a:latin typeface="Calibri" panose="020F0502020204030204" pitchFamily="34" charset="0"/>
              </a:rPr>
              <a:t>1</a:t>
            </a:r>
            <a:endParaRPr lang="en-US" sz="1800" baseline="-25000" dirty="0">
              <a:latin typeface="Calibri" panose="020F050202020403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99016" y="5650468"/>
            <a:ext cx="788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Calibri" panose="020F0502020204030204" pitchFamily="34" charset="0"/>
              </a:rPr>
              <a:t>0     15    30    45     60    75    90   105  120  135  150  165   180  195  210  225  240</a:t>
            </a:r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53" name="Content Placeholder 43"/>
          <p:cNvSpPr txBox="1">
            <a:spLocks/>
          </p:cNvSpPr>
          <p:nvPr/>
        </p:nvSpPr>
        <p:spPr bwMode="auto">
          <a:xfrm>
            <a:off x="5410200" y="1676400"/>
            <a:ext cx="3733800" cy="3962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20000"/>
              <a:buFont typeface="Arial" charset="0"/>
              <a:buChar char="•"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ＭＳ Ｐゴシック" pitchFamily="-110" charset="-128"/>
              </a:rPr>
              <a:t>Job Resources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charset="0"/>
              <a:buChar char="§"/>
              <a:tabLst/>
              <a:defRPr/>
            </a:pPr>
            <a:r>
              <a:rPr lang="en-US" sz="2800" kern="0" dirty="0" smtClean="0">
                <a:latin typeface="+mn-lt"/>
                <a:ea typeface="ＭＳ Ｐゴシック" pitchFamily="-65" charset="-128"/>
              </a:rPr>
              <a:t>1-8 nodes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charset="0"/>
              <a:buChar char="§"/>
              <a:tabLst/>
              <a:defRPr/>
            </a:pPr>
            <a:r>
              <a:rPr lang="en-US" sz="2800" kern="0" dirty="0" smtClean="0">
                <a:latin typeface="+mn-lt"/>
                <a:ea typeface="ＭＳ Ｐゴシック" pitchFamily="-65" charset="-128"/>
              </a:rPr>
              <a:t>1000 node-min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charset="0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65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mph" presetSubtype="2" repeatCount="3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New Programming Models</a:t>
            </a:r>
          </a:p>
          <a:p>
            <a:r>
              <a:rPr lang="en-US" dirty="0" smtClean="0"/>
              <a:t>New Algorithmic Techniques</a:t>
            </a:r>
          </a:p>
          <a:p>
            <a:r>
              <a:rPr lang="en-US" dirty="0" smtClean="0"/>
              <a:t>Unconventional Cluster Architectures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Adaptive Mesh Refinement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3"/>
            <a:endParaRPr lang="en-US" sz="700" dirty="0" smtClean="0"/>
          </a:p>
          <a:p>
            <a:pPr lvl="1"/>
            <a:r>
              <a:rPr lang="en-US" dirty="0" smtClean="0"/>
              <a:t>Granularity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Node Allocation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143000" y="2932540"/>
            <a:ext cx="1828800" cy="1828800"/>
            <a:chOff x="2286000" y="1828800"/>
            <a:chExt cx="1828800" cy="1828800"/>
          </a:xfrm>
        </p:grpSpPr>
        <p:sp>
          <p:nvSpPr>
            <p:cNvPr id="5" name="Rectangle 4"/>
            <p:cNvSpPr/>
            <p:nvPr/>
          </p:nvSpPr>
          <p:spPr>
            <a:xfrm flipV="1">
              <a:off x="2286000" y="2743200"/>
              <a:ext cx="914400" cy="9144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 flipV="1">
              <a:off x="2286000" y="1828800"/>
              <a:ext cx="914400" cy="9144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200400" y="1828800"/>
              <a:ext cx="914400" cy="9144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200400" y="2743200"/>
              <a:ext cx="914400" cy="9144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886200" y="2922492"/>
            <a:ext cx="1828800" cy="1828800"/>
            <a:chOff x="4343400" y="1828800"/>
            <a:chExt cx="1828800" cy="1828800"/>
          </a:xfrm>
        </p:grpSpPr>
        <p:sp>
          <p:nvSpPr>
            <p:cNvPr id="10" name="Rectangle 9"/>
            <p:cNvSpPr/>
            <p:nvPr/>
          </p:nvSpPr>
          <p:spPr>
            <a:xfrm flipV="1">
              <a:off x="4343400" y="25146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 flipV="1">
              <a:off x="4343400" y="22860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 flipV="1">
              <a:off x="4343400" y="20574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 flipV="1">
              <a:off x="4343400" y="18288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572000" y="18288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572000" y="20574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572000" y="22860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572000" y="25146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 flipV="1">
              <a:off x="4800600" y="25146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 flipV="1">
              <a:off x="4800600" y="22860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 flipV="1">
              <a:off x="4800600" y="20574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 flipV="1">
              <a:off x="4800600" y="18288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 flipV="1">
              <a:off x="4343400" y="34290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 flipV="1">
              <a:off x="4343400" y="32004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 flipV="1">
              <a:off x="4343400" y="29718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 flipV="1">
              <a:off x="4343400" y="27432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572000" y="27432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572000" y="29718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572000" y="32004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572000" y="34290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 flipV="1">
              <a:off x="4800600" y="34290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 flipV="1">
              <a:off x="4800600" y="32004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 flipV="1">
              <a:off x="4800600" y="29718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 flipV="1">
              <a:off x="4800600" y="27432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029200" y="18288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029200" y="20574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029200" y="22860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029200" y="25146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 flipV="1">
              <a:off x="5257800" y="25146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 flipV="1">
              <a:off x="5257800" y="22860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flipV="1">
              <a:off x="5257800" y="20574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 flipV="1">
              <a:off x="5257800" y="18288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486400" y="18288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5486400" y="20574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486400" y="22860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486400" y="25146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 flipV="1">
              <a:off x="5715000" y="25146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 flipV="1">
              <a:off x="5715000" y="22860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flipV="1">
              <a:off x="5715000" y="20574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 flipV="1">
              <a:off x="5715000" y="18288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029200" y="27432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029200" y="29718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029200" y="32004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5029200" y="34290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 flipV="1">
              <a:off x="5257800" y="34290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 flipV="1">
              <a:off x="5257800" y="32004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 flipV="1">
              <a:off x="5257800" y="29718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 flipV="1">
              <a:off x="5257800" y="27432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486400" y="27432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486400" y="29718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486400" y="32004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5486400" y="34290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 flipV="1">
              <a:off x="5715000" y="34290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 flipV="1">
              <a:off x="5715000" y="32004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 flipV="1">
              <a:off x="5715000" y="29718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 flipV="1">
              <a:off x="5715000" y="27432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943600" y="18288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943600" y="20574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943600" y="22860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943600" y="25146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5943600" y="27432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943600" y="29718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943600" y="3200400"/>
              <a:ext cx="228600" cy="228600"/>
            </a:xfrm>
            <a:prstGeom prst="rect">
              <a:avLst/>
            </a:prstGeom>
            <a:solidFill>
              <a:srgbClr val="9999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5943600" y="3429000"/>
              <a:ext cx="228600" cy="228600"/>
            </a:xfrm>
            <a:prstGeom prst="rect">
              <a:avLst/>
            </a:prstGeom>
            <a:solidFill>
              <a:srgbClr val="FFFF66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6629400" y="2922492"/>
            <a:ext cx="1828800" cy="1828800"/>
            <a:chOff x="6400800" y="1828800"/>
            <a:chExt cx="1828800" cy="1828800"/>
          </a:xfrm>
        </p:grpSpPr>
        <p:grpSp>
          <p:nvGrpSpPr>
            <p:cNvPr id="75" name="Group 74"/>
            <p:cNvGrpSpPr/>
            <p:nvPr/>
          </p:nvGrpSpPr>
          <p:grpSpPr>
            <a:xfrm>
              <a:off x="6400800" y="1828800"/>
              <a:ext cx="457200" cy="457200"/>
              <a:chOff x="4495800" y="1981200"/>
              <a:chExt cx="1828800" cy="1828800"/>
            </a:xfrm>
          </p:grpSpPr>
          <p:sp>
            <p:nvSpPr>
              <p:cNvPr id="1051" name="Rectangle 1050"/>
              <p:cNvSpPr/>
              <p:nvPr/>
            </p:nvSpPr>
            <p:spPr>
              <a:xfrm flipV="1">
                <a:off x="44958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2" name="Rectangle 1051"/>
              <p:cNvSpPr/>
              <p:nvPr/>
            </p:nvSpPr>
            <p:spPr>
              <a:xfrm flipV="1">
                <a:off x="44958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3" name="Rectangle 1052"/>
              <p:cNvSpPr/>
              <p:nvPr/>
            </p:nvSpPr>
            <p:spPr>
              <a:xfrm flipV="1">
                <a:off x="44958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4" name="Rectangle 1053"/>
              <p:cNvSpPr/>
              <p:nvPr/>
            </p:nvSpPr>
            <p:spPr>
              <a:xfrm flipV="1">
                <a:off x="44958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5" name="Rectangle 1054"/>
              <p:cNvSpPr/>
              <p:nvPr/>
            </p:nvSpPr>
            <p:spPr>
              <a:xfrm>
                <a:off x="47244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6" name="Rectangle 1055"/>
              <p:cNvSpPr/>
              <p:nvPr/>
            </p:nvSpPr>
            <p:spPr>
              <a:xfrm>
                <a:off x="47244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7" name="Rectangle 1056"/>
              <p:cNvSpPr/>
              <p:nvPr/>
            </p:nvSpPr>
            <p:spPr>
              <a:xfrm>
                <a:off x="47244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8" name="Rectangle 1057"/>
              <p:cNvSpPr/>
              <p:nvPr/>
            </p:nvSpPr>
            <p:spPr>
              <a:xfrm>
                <a:off x="47244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9" name="Rectangle 1058"/>
              <p:cNvSpPr/>
              <p:nvPr/>
            </p:nvSpPr>
            <p:spPr>
              <a:xfrm flipV="1">
                <a:off x="49530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0" name="Rectangle 1059"/>
              <p:cNvSpPr/>
              <p:nvPr/>
            </p:nvSpPr>
            <p:spPr>
              <a:xfrm flipV="1">
                <a:off x="49530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1" name="Rectangle 1060"/>
              <p:cNvSpPr/>
              <p:nvPr/>
            </p:nvSpPr>
            <p:spPr>
              <a:xfrm flipV="1">
                <a:off x="49530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2" name="Rectangle 1061"/>
              <p:cNvSpPr/>
              <p:nvPr/>
            </p:nvSpPr>
            <p:spPr>
              <a:xfrm flipV="1">
                <a:off x="49530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3" name="Rectangle 1062"/>
              <p:cNvSpPr/>
              <p:nvPr/>
            </p:nvSpPr>
            <p:spPr>
              <a:xfrm flipV="1">
                <a:off x="44958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4" name="Rectangle 1063"/>
              <p:cNvSpPr/>
              <p:nvPr/>
            </p:nvSpPr>
            <p:spPr>
              <a:xfrm flipV="1">
                <a:off x="44958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5" name="Rectangle 1064"/>
              <p:cNvSpPr/>
              <p:nvPr/>
            </p:nvSpPr>
            <p:spPr>
              <a:xfrm flipV="1">
                <a:off x="44958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6" name="Rectangle 1065"/>
              <p:cNvSpPr/>
              <p:nvPr/>
            </p:nvSpPr>
            <p:spPr>
              <a:xfrm flipV="1">
                <a:off x="44958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7" name="Rectangle 1066"/>
              <p:cNvSpPr/>
              <p:nvPr/>
            </p:nvSpPr>
            <p:spPr>
              <a:xfrm>
                <a:off x="47244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8" name="Rectangle 1067"/>
              <p:cNvSpPr/>
              <p:nvPr/>
            </p:nvSpPr>
            <p:spPr>
              <a:xfrm>
                <a:off x="47244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9" name="Rectangle 1068"/>
              <p:cNvSpPr/>
              <p:nvPr/>
            </p:nvSpPr>
            <p:spPr>
              <a:xfrm>
                <a:off x="47244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0" name="Rectangle 1069"/>
              <p:cNvSpPr/>
              <p:nvPr/>
            </p:nvSpPr>
            <p:spPr>
              <a:xfrm>
                <a:off x="47244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1" name="Rectangle 1070"/>
              <p:cNvSpPr/>
              <p:nvPr/>
            </p:nvSpPr>
            <p:spPr>
              <a:xfrm flipV="1">
                <a:off x="49530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2" name="Rectangle 1071"/>
              <p:cNvSpPr/>
              <p:nvPr/>
            </p:nvSpPr>
            <p:spPr>
              <a:xfrm flipV="1">
                <a:off x="49530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3" name="Rectangle 1072"/>
              <p:cNvSpPr/>
              <p:nvPr/>
            </p:nvSpPr>
            <p:spPr>
              <a:xfrm flipV="1">
                <a:off x="49530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4" name="Rectangle 1073"/>
              <p:cNvSpPr/>
              <p:nvPr/>
            </p:nvSpPr>
            <p:spPr>
              <a:xfrm flipV="1">
                <a:off x="49530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5" name="Rectangle 1074"/>
              <p:cNvSpPr/>
              <p:nvPr/>
            </p:nvSpPr>
            <p:spPr>
              <a:xfrm>
                <a:off x="51816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6" name="Rectangle 1075"/>
              <p:cNvSpPr/>
              <p:nvPr/>
            </p:nvSpPr>
            <p:spPr>
              <a:xfrm>
                <a:off x="51816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7" name="Rectangle 1076"/>
              <p:cNvSpPr/>
              <p:nvPr/>
            </p:nvSpPr>
            <p:spPr>
              <a:xfrm>
                <a:off x="51816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8" name="Rectangle 1077"/>
              <p:cNvSpPr/>
              <p:nvPr/>
            </p:nvSpPr>
            <p:spPr>
              <a:xfrm>
                <a:off x="51816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9" name="Rectangle 1078"/>
              <p:cNvSpPr/>
              <p:nvPr/>
            </p:nvSpPr>
            <p:spPr>
              <a:xfrm flipV="1">
                <a:off x="54102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0" name="Rectangle 1079"/>
              <p:cNvSpPr/>
              <p:nvPr/>
            </p:nvSpPr>
            <p:spPr>
              <a:xfrm flipV="1">
                <a:off x="54102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1" name="Rectangle 1080"/>
              <p:cNvSpPr/>
              <p:nvPr/>
            </p:nvSpPr>
            <p:spPr>
              <a:xfrm flipV="1">
                <a:off x="54102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2" name="Rectangle 1081"/>
              <p:cNvSpPr/>
              <p:nvPr/>
            </p:nvSpPr>
            <p:spPr>
              <a:xfrm flipV="1">
                <a:off x="54102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3" name="Rectangle 1082"/>
              <p:cNvSpPr/>
              <p:nvPr/>
            </p:nvSpPr>
            <p:spPr>
              <a:xfrm>
                <a:off x="56388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4" name="Rectangle 1083"/>
              <p:cNvSpPr/>
              <p:nvPr/>
            </p:nvSpPr>
            <p:spPr>
              <a:xfrm>
                <a:off x="56388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5" name="Rectangle 1084"/>
              <p:cNvSpPr/>
              <p:nvPr/>
            </p:nvSpPr>
            <p:spPr>
              <a:xfrm>
                <a:off x="56388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6" name="Rectangle 1085"/>
              <p:cNvSpPr/>
              <p:nvPr/>
            </p:nvSpPr>
            <p:spPr>
              <a:xfrm>
                <a:off x="56388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7" name="Rectangle 1086"/>
              <p:cNvSpPr/>
              <p:nvPr/>
            </p:nvSpPr>
            <p:spPr>
              <a:xfrm flipV="1">
                <a:off x="58674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8" name="Rectangle 1087"/>
              <p:cNvSpPr/>
              <p:nvPr/>
            </p:nvSpPr>
            <p:spPr>
              <a:xfrm flipV="1">
                <a:off x="58674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9" name="Rectangle 1088"/>
              <p:cNvSpPr/>
              <p:nvPr/>
            </p:nvSpPr>
            <p:spPr>
              <a:xfrm flipV="1">
                <a:off x="58674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0" name="Rectangle 1089"/>
              <p:cNvSpPr/>
              <p:nvPr/>
            </p:nvSpPr>
            <p:spPr>
              <a:xfrm flipV="1">
                <a:off x="58674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1" name="Rectangle 1090"/>
              <p:cNvSpPr/>
              <p:nvPr/>
            </p:nvSpPr>
            <p:spPr>
              <a:xfrm>
                <a:off x="51816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2" name="Rectangle 1091"/>
              <p:cNvSpPr/>
              <p:nvPr/>
            </p:nvSpPr>
            <p:spPr>
              <a:xfrm>
                <a:off x="51816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3" name="Rectangle 1092"/>
              <p:cNvSpPr/>
              <p:nvPr/>
            </p:nvSpPr>
            <p:spPr>
              <a:xfrm>
                <a:off x="51816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4" name="Rectangle 1093"/>
              <p:cNvSpPr/>
              <p:nvPr/>
            </p:nvSpPr>
            <p:spPr>
              <a:xfrm>
                <a:off x="51816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5" name="Rectangle 1094"/>
              <p:cNvSpPr/>
              <p:nvPr/>
            </p:nvSpPr>
            <p:spPr>
              <a:xfrm flipV="1">
                <a:off x="54102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6" name="Rectangle 1095"/>
              <p:cNvSpPr/>
              <p:nvPr/>
            </p:nvSpPr>
            <p:spPr>
              <a:xfrm flipV="1">
                <a:off x="54102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7" name="Rectangle 1096"/>
              <p:cNvSpPr/>
              <p:nvPr/>
            </p:nvSpPr>
            <p:spPr>
              <a:xfrm flipV="1">
                <a:off x="54102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8" name="Rectangle 1097"/>
              <p:cNvSpPr/>
              <p:nvPr/>
            </p:nvSpPr>
            <p:spPr>
              <a:xfrm flipV="1">
                <a:off x="54102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9" name="Rectangle 1098"/>
              <p:cNvSpPr/>
              <p:nvPr/>
            </p:nvSpPr>
            <p:spPr>
              <a:xfrm>
                <a:off x="56388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0" name="Rectangle 1099"/>
              <p:cNvSpPr/>
              <p:nvPr/>
            </p:nvSpPr>
            <p:spPr>
              <a:xfrm>
                <a:off x="56388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1" name="Rectangle 1100"/>
              <p:cNvSpPr/>
              <p:nvPr/>
            </p:nvSpPr>
            <p:spPr>
              <a:xfrm>
                <a:off x="56388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2" name="Rectangle 1101"/>
              <p:cNvSpPr/>
              <p:nvPr/>
            </p:nvSpPr>
            <p:spPr>
              <a:xfrm>
                <a:off x="56388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3" name="Rectangle 1102"/>
              <p:cNvSpPr/>
              <p:nvPr/>
            </p:nvSpPr>
            <p:spPr>
              <a:xfrm flipV="1">
                <a:off x="58674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4" name="Rectangle 1103"/>
              <p:cNvSpPr/>
              <p:nvPr/>
            </p:nvSpPr>
            <p:spPr>
              <a:xfrm flipV="1">
                <a:off x="58674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5" name="Rectangle 1104"/>
              <p:cNvSpPr/>
              <p:nvPr/>
            </p:nvSpPr>
            <p:spPr>
              <a:xfrm flipV="1">
                <a:off x="58674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6" name="Rectangle 1105"/>
              <p:cNvSpPr/>
              <p:nvPr/>
            </p:nvSpPr>
            <p:spPr>
              <a:xfrm flipV="1">
                <a:off x="58674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7" name="Rectangle 1106"/>
              <p:cNvSpPr/>
              <p:nvPr/>
            </p:nvSpPr>
            <p:spPr>
              <a:xfrm>
                <a:off x="60960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8" name="Rectangle 1107"/>
              <p:cNvSpPr/>
              <p:nvPr/>
            </p:nvSpPr>
            <p:spPr>
              <a:xfrm>
                <a:off x="60960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9" name="Rectangle 1108"/>
              <p:cNvSpPr/>
              <p:nvPr/>
            </p:nvSpPr>
            <p:spPr>
              <a:xfrm>
                <a:off x="60960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0" name="Rectangle 1109"/>
              <p:cNvSpPr/>
              <p:nvPr/>
            </p:nvSpPr>
            <p:spPr>
              <a:xfrm>
                <a:off x="60960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1" name="Rectangle 1110"/>
              <p:cNvSpPr/>
              <p:nvPr/>
            </p:nvSpPr>
            <p:spPr>
              <a:xfrm>
                <a:off x="60960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2" name="Rectangle 1111"/>
              <p:cNvSpPr/>
              <p:nvPr/>
            </p:nvSpPr>
            <p:spPr>
              <a:xfrm>
                <a:off x="60960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3" name="Rectangle 1112"/>
              <p:cNvSpPr/>
              <p:nvPr/>
            </p:nvSpPr>
            <p:spPr>
              <a:xfrm>
                <a:off x="60960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4" name="Rectangle 1113"/>
              <p:cNvSpPr/>
              <p:nvPr/>
            </p:nvSpPr>
            <p:spPr>
              <a:xfrm>
                <a:off x="60960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6" name="Group 75"/>
            <p:cNvGrpSpPr/>
            <p:nvPr/>
          </p:nvGrpSpPr>
          <p:grpSpPr>
            <a:xfrm>
              <a:off x="6858000" y="1828800"/>
              <a:ext cx="457200" cy="457200"/>
              <a:chOff x="4495800" y="1981200"/>
              <a:chExt cx="1828800" cy="1828800"/>
            </a:xfrm>
          </p:grpSpPr>
          <p:sp>
            <p:nvSpPr>
              <p:cNvPr id="987" name="Rectangle 986"/>
              <p:cNvSpPr/>
              <p:nvPr/>
            </p:nvSpPr>
            <p:spPr>
              <a:xfrm flipV="1">
                <a:off x="44958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8" name="Rectangle 987"/>
              <p:cNvSpPr/>
              <p:nvPr/>
            </p:nvSpPr>
            <p:spPr>
              <a:xfrm flipV="1">
                <a:off x="44958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9" name="Rectangle 988"/>
              <p:cNvSpPr/>
              <p:nvPr/>
            </p:nvSpPr>
            <p:spPr>
              <a:xfrm flipV="1">
                <a:off x="44958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0" name="Rectangle 989"/>
              <p:cNvSpPr/>
              <p:nvPr/>
            </p:nvSpPr>
            <p:spPr>
              <a:xfrm flipV="1">
                <a:off x="44958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1" name="Rectangle 990"/>
              <p:cNvSpPr/>
              <p:nvPr/>
            </p:nvSpPr>
            <p:spPr>
              <a:xfrm>
                <a:off x="47244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2" name="Rectangle 991"/>
              <p:cNvSpPr/>
              <p:nvPr/>
            </p:nvSpPr>
            <p:spPr>
              <a:xfrm>
                <a:off x="47244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3" name="Rectangle 992"/>
              <p:cNvSpPr/>
              <p:nvPr/>
            </p:nvSpPr>
            <p:spPr>
              <a:xfrm>
                <a:off x="47244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4" name="Rectangle 993"/>
              <p:cNvSpPr/>
              <p:nvPr/>
            </p:nvSpPr>
            <p:spPr>
              <a:xfrm>
                <a:off x="47244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5" name="Rectangle 994"/>
              <p:cNvSpPr/>
              <p:nvPr/>
            </p:nvSpPr>
            <p:spPr>
              <a:xfrm flipV="1">
                <a:off x="49530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6" name="Rectangle 995"/>
              <p:cNvSpPr/>
              <p:nvPr/>
            </p:nvSpPr>
            <p:spPr>
              <a:xfrm flipV="1">
                <a:off x="49530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7" name="Rectangle 996"/>
              <p:cNvSpPr/>
              <p:nvPr/>
            </p:nvSpPr>
            <p:spPr>
              <a:xfrm flipV="1">
                <a:off x="49530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8" name="Rectangle 997"/>
              <p:cNvSpPr/>
              <p:nvPr/>
            </p:nvSpPr>
            <p:spPr>
              <a:xfrm flipV="1">
                <a:off x="49530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9" name="Rectangle 998"/>
              <p:cNvSpPr/>
              <p:nvPr/>
            </p:nvSpPr>
            <p:spPr>
              <a:xfrm flipV="1">
                <a:off x="44958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0" name="Rectangle 999"/>
              <p:cNvSpPr/>
              <p:nvPr/>
            </p:nvSpPr>
            <p:spPr>
              <a:xfrm flipV="1">
                <a:off x="44958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1" name="Rectangle 1000"/>
              <p:cNvSpPr/>
              <p:nvPr/>
            </p:nvSpPr>
            <p:spPr>
              <a:xfrm flipV="1">
                <a:off x="44958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2" name="Rectangle 1001"/>
              <p:cNvSpPr/>
              <p:nvPr/>
            </p:nvSpPr>
            <p:spPr>
              <a:xfrm flipV="1">
                <a:off x="44958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3" name="Rectangle 1002"/>
              <p:cNvSpPr/>
              <p:nvPr/>
            </p:nvSpPr>
            <p:spPr>
              <a:xfrm>
                <a:off x="47244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4" name="Rectangle 1003"/>
              <p:cNvSpPr/>
              <p:nvPr/>
            </p:nvSpPr>
            <p:spPr>
              <a:xfrm>
                <a:off x="47244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5" name="Rectangle 1004"/>
              <p:cNvSpPr/>
              <p:nvPr/>
            </p:nvSpPr>
            <p:spPr>
              <a:xfrm>
                <a:off x="47244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6" name="Rectangle 1005"/>
              <p:cNvSpPr/>
              <p:nvPr/>
            </p:nvSpPr>
            <p:spPr>
              <a:xfrm>
                <a:off x="47244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7" name="Rectangle 1006"/>
              <p:cNvSpPr/>
              <p:nvPr/>
            </p:nvSpPr>
            <p:spPr>
              <a:xfrm flipV="1">
                <a:off x="49530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8" name="Rectangle 1007"/>
              <p:cNvSpPr/>
              <p:nvPr/>
            </p:nvSpPr>
            <p:spPr>
              <a:xfrm flipV="1">
                <a:off x="49530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9" name="Rectangle 1008"/>
              <p:cNvSpPr/>
              <p:nvPr/>
            </p:nvSpPr>
            <p:spPr>
              <a:xfrm flipV="1">
                <a:off x="49530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0" name="Rectangle 1009"/>
              <p:cNvSpPr/>
              <p:nvPr/>
            </p:nvSpPr>
            <p:spPr>
              <a:xfrm flipV="1">
                <a:off x="49530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1" name="Rectangle 1010"/>
              <p:cNvSpPr/>
              <p:nvPr/>
            </p:nvSpPr>
            <p:spPr>
              <a:xfrm>
                <a:off x="51816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2" name="Rectangle 1011"/>
              <p:cNvSpPr/>
              <p:nvPr/>
            </p:nvSpPr>
            <p:spPr>
              <a:xfrm>
                <a:off x="51816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3" name="Rectangle 1012"/>
              <p:cNvSpPr/>
              <p:nvPr/>
            </p:nvSpPr>
            <p:spPr>
              <a:xfrm>
                <a:off x="51816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4" name="Rectangle 1013"/>
              <p:cNvSpPr/>
              <p:nvPr/>
            </p:nvSpPr>
            <p:spPr>
              <a:xfrm>
                <a:off x="51816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5" name="Rectangle 1014"/>
              <p:cNvSpPr/>
              <p:nvPr/>
            </p:nvSpPr>
            <p:spPr>
              <a:xfrm flipV="1">
                <a:off x="54102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6" name="Rectangle 1015"/>
              <p:cNvSpPr/>
              <p:nvPr/>
            </p:nvSpPr>
            <p:spPr>
              <a:xfrm flipV="1">
                <a:off x="54102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7" name="Rectangle 1016"/>
              <p:cNvSpPr/>
              <p:nvPr/>
            </p:nvSpPr>
            <p:spPr>
              <a:xfrm flipV="1">
                <a:off x="54102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8" name="Rectangle 1017"/>
              <p:cNvSpPr/>
              <p:nvPr/>
            </p:nvSpPr>
            <p:spPr>
              <a:xfrm flipV="1">
                <a:off x="54102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9" name="Rectangle 1018"/>
              <p:cNvSpPr/>
              <p:nvPr/>
            </p:nvSpPr>
            <p:spPr>
              <a:xfrm>
                <a:off x="56388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0" name="Rectangle 1019"/>
              <p:cNvSpPr/>
              <p:nvPr/>
            </p:nvSpPr>
            <p:spPr>
              <a:xfrm>
                <a:off x="56388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1" name="Rectangle 1020"/>
              <p:cNvSpPr/>
              <p:nvPr/>
            </p:nvSpPr>
            <p:spPr>
              <a:xfrm>
                <a:off x="56388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2" name="Rectangle 1021"/>
              <p:cNvSpPr/>
              <p:nvPr/>
            </p:nvSpPr>
            <p:spPr>
              <a:xfrm>
                <a:off x="56388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3" name="Rectangle 1022"/>
              <p:cNvSpPr/>
              <p:nvPr/>
            </p:nvSpPr>
            <p:spPr>
              <a:xfrm flipV="1">
                <a:off x="58674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4" name="Rectangle 1023"/>
              <p:cNvSpPr/>
              <p:nvPr/>
            </p:nvSpPr>
            <p:spPr>
              <a:xfrm flipV="1">
                <a:off x="58674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5" name="Rectangle 1024"/>
              <p:cNvSpPr/>
              <p:nvPr/>
            </p:nvSpPr>
            <p:spPr>
              <a:xfrm flipV="1">
                <a:off x="58674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6" name="Rectangle 1025"/>
              <p:cNvSpPr/>
              <p:nvPr/>
            </p:nvSpPr>
            <p:spPr>
              <a:xfrm flipV="1">
                <a:off x="58674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7" name="Rectangle 1026"/>
              <p:cNvSpPr/>
              <p:nvPr/>
            </p:nvSpPr>
            <p:spPr>
              <a:xfrm>
                <a:off x="51816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8" name="Rectangle 1027"/>
              <p:cNvSpPr/>
              <p:nvPr/>
            </p:nvSpPr>
            <p:spPr>
              <a:xfrm>
                <a:off x="51816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9" name="Rectangle 1028"/>
              <p:cNvSpPr/>
              <p:nvPr/>
            </p:nvSpPr>
            <p:spPr>
              <a:xfrm>
                <a:off x="51816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0" name="Rectangle 1029"/>
              <p:cNvSpPr/>
              <p:nvPr/>
            </p:nvSpPr>
            <p:spPr>
              <a:xfrm>
                <a:off x="51816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1" name="Rectangle 1030"/>
              <p:cNvSpPr/>
              <p:nvPr/>
            </p:nvSpPr>
            <p:spPr>
              <a:xfrm flipV="1">
                <a:off x="54102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2" name="Rectangle 1031"/>
              <p:cNvSpPr/>
              <p:nvPr/>
            </p:nvSpPr>
            <p:spPr>
              <a:xfrm flipV="1">
                <a:off x="54102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3" name="Rectangle 1032"/>
              <p:cNvSpPr/>
              <p:nvPr/>
            </p:nvSpPr>
            <p:spPr>
              <a:xfrm flipV="1">
                <a:off x="54102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4" name="Rectangle 1033"/>
              <p:cNvSpPr/>
              <p:nvPr/>
            </p:nvSpPr>
            <p:spPr>
              <a:xfrm flipV="1">
                <a:off x="54102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5" name="Rectangle 1034"/>
              <p:cNvSpPr/>
              <p:nvPr/>
            </p:nvSpPr>
            <p:spPr>
              <a:xfrm>
                <a:off x="56388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6" name="Rectangle 1035"/>
              <p:cNvSpPr/>
              <p:nvPr/>
            </p:nvSpPr>
            <p:spPr>
              <a:xfrm>
                <a:off x="56388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7" name="Rectangle 1036"/>
              <p:cNvSpPr/>
              <p:nvPr/>
            </p:nvSpPr>
            <p:spPr>
              <a:xfrm>
                <a:off x="56388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8" name="Rectangle 1037"/>
              <p:cNvSpPr/>
              <p:nvPr/>
            </p:nvSpPr>
            <p:spPr>
              <a:xfrm>
                <a:off x="56388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9" name="Rectangle 1038"/>
              <p:cNvSpPr/>
              <p:nvPr/>
            </p:nvSpPr>
            <p:spPr>
              <a:xfrm flipV="1">
                <a:off x="58674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0" name="Rectangle 1039"/>
              <p:cNvSpPr/>
              <p:nvPr/>
            </p:nvSpPr>
            <p:spPr>
              <a:xfrm flipV="1">
                <a:off x="58674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1" name="Rectangle 1040"/>
              <p:cNvSpPr/>
              <p:nvPr/>
            </p:nvSpPr>
            <p:spPr>
              <a:xfrm flipV="1">
                <a:off x="58674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2" name="Rectangle 1041"/>
              <p:cNvSpPr/>
              <p:nvPr/>
            </p:nvSpPr>
            <p:spPr>
              <a:xfrm flipV="1">
                <a:off x="58674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3" name="Rectangle 1042"/>
              <p:cNvSpPr/>
              <p:nvPr/>
            </p:nvSpPr>
            <p:spPr>
              <a:xfrm>
                <a:off x="60960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4" name="Rectangle 1043"/>
              <p:cNvSpPr/>
              <p:nvPr/>
            </p:nvSpPr>
            <p:spPr>
              <a:xfrm>
                <a:off x="60960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5" name="Rectangle 1044"/>
              <p:cNvSpPr/>
              <p:nvPr/>
            </p:nvSpPr>
            <p:spPr>
              <a:xfrm>
                <a:off x="60960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6" name="Rectangle 1045"/>
              <p:cNvSpPr/>
              <p:nvPr/>
            </p:nvSpPr>
            <p:spPr>
              <a:xfrm>
                <a:off x="60960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7" name="Rectangle 1046"/>
              <p:cNvSpPr/>
              <p:nvPr/>
            </p:nvSpPr>
            <p:spPr>
              <a:xfrm>
                <a:off x="60960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8" name="Rectangle 1047"/>
              <p:cNvSpPr/>
              <p:nvPr/>
            </p:nvSpPr>
            <p:spPr>
              <a:xfrm>
                <a:off x="60960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9" name="Rectangle 1048"/>
              <p:cNvSpPr/>
              <p:nvPr/>
            </p:nvSpPr>
            <p:spPr>
              <a:xfrm>
                <a:off x="60960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0" name="Rectangle 1049"/>
              <p:cNvSpPr/>
              <p:nvPr/>
            </p:nvSpPr>
            <p:spPr>
              <a:xfrm>
                <a:off x="60960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7" name="Group 76"/>
            <p:cNvGrpSpPr/>
            <p:nvPr/>
          </p:nvGrpSpPr>
          <p:grpSpPr>
            <a:xfrm>
              <a:off x="6400800" y="2286000"/>
              <a:ext cx="457200" cy="457200"/>
              <a:chOff x="4495800" y="1981200"/>
              <a:chExt cx="1828800" cy="1828800"/>
            </a:xfrm>
          </p:grpSpPr>
          <p:sp>
            <p:nvSpPr>
              <p:cNvPr id="923" name="Rectangle 922"/>
              <p:cNvSpPr/>
              <p:nvPr/>
            </p:nvSpPr>
            <p:spPr>
              <a:xfrm flipV="1">
                <a:off x="44958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4" name="Rectangle 923"/>
              <p:cNvSpPr/>
              <p:nvPr/>
            </p:nvSpPr>
            <p:spPr>
              <a:xfrm flipV="1">
                <a:off x="44958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5" name="Rectangle 924"/>
              <p:cNvSpPr/>
              <p:nvPr/>
            </p:nvSpPr>
            <p:spPr>
              <a:xfrm flipV="1">
                <a:off x="44958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6" name="Rectangle 925"/>
              <p:cNvSpPr/>
              <p:nvPr/>
            </p:nvSpPr>
            <p:spPr>
              <a:xfrm flipV="1">
                <a:off x="44958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7" name="Rectangle 926"/>
              <p:cNvSpPr/>
              <p:nvPr/>
            </p:nvSpPr>
            <p:spPr>
              <a:xfrm>
                <a:off x="47244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8" name="Rectangle 927"/>
              <p:cNvSpPr/>
              <p:nvPr/>
            </p:nvSpPr>
            <p:spPr>
              <a:xfrm>
                <a:off x="47244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9" name="Rectangle 928"/>
              <p:cNvSpPr/>
              <p:nvPr/>
            </p:nvSpPr>
            <p:spPr>
              <a:xfrm>
                <a:off x="47244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0" name="Rectangle 929"/>
              <p:cNvSpPr/>
              <p:nvPr/>
            </p:nvSpPr>
            <p:spPr>
              <a:xfrm>
                <a:off x="47244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1" name="Rectangle 930"/>
              <p:cNvSpPr/>
              <p:nvPr/>
            </p:nvSpPr>
            <p:spPr>
              <a:xfrm flipV="1">
                <a:off x="49530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2" name="Rectangle 931"/>
              <p:cNvSpPr/>
              <p:nvPr/>
            </p:nvSpPr>
            <p:spPr>
              <a:xfrm flipV="1">
                <a:off x="49530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3" name="Rectangle 932"/>
              <p:cNvSpPr/>
              <p:nvPr/>
            </p:nvSpPr>
            <p:spPr>
              <a:xfrm flipV="1">
                <a:off x="49530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4" name="Rectangle 933"/>
              <p:cNvSpPr/>
              <p:nvPr/>
            </p:nvSpPr>
            <p:spPr>
              <a:xfrm flipV="1">
                <a:off x="49530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5" name="Rectangle 934"/>
              <p:cNvSpPr/>
              <p:nvPr/>
            </p:nvSpPr>
            <p:spPr>
              <a:xfrm flipV="1">
                <a:off x="44958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6" name="Rectangle 935"/>
              <p:cNvSpPr/>
              <p:nvPr/>
            </p:nvSpPr>
            <p:spPr>
              <a:xfrm flipV="1">
                <a:off x="44958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7" name="Rectangle 936"/>
              <p:cNvSpPr/>
              <p:nvPr/>
            </p:nvSpPr>
            <p:spPr>
              <a:xfrm flipV="1">
                <a:off x="44958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8" name="Rectangle 937"/>
              <p:cNvSpPr/>
              <p:nvPr/>
            </p:nvSpPr>
            <p:spPr>
              <a:xfrm flipV="1">
                <a:off x="44958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9" name="Rectangle 938"/>
              <p:cNvSpPr/>
              <p:nvPr/>
            </p:nvSpPr>
            <p:spPr>
              <a:xfrm>
                <a:off x="47244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0" name="Rectangle 939"/>
              <p:cNvSpPr/>
              <p:nvPr/>
            </p:nvSpPr>
            <p:spPr>
              <a:xfrm>
                <a:off x="47244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1" name="Rectangle 940"/>
              <p:cNvSpPr/>
              <p:nvPr/>
            </p:nvSpPr>
            <p:spPr>
              <a:xfrm>
                <a:off x="47244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2" name="Rectangle 941"/>
              <p:cNvSpPr/>
              <p:nvPr/>
            </p:nvSpPr>
            <p:spPr>
              <a:xfrm>
                <a:off x="47244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3" name="Rectangle 942"/>
              <p:cNvSpPr/>
              <p:nvPr/>
            </p:nvSpPr>
            <p:spPr>
              <a:xfrm flipV="1">
                <a:off x="49530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4" name="Rectangle 943"/>
              <p:cNvSpPr/>
              <p:nvPr/>
            </p:nvSpPr>
            <p:spPr>
              <a:xfrm flipV="1">
                <a:off x="49530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5" name="Rectangle 944"/>
              <p:cNvSpPr/>
              <p:nvPr/>
            </p:nvSpPr>
            <p:spPr>
              <a:xfrm flipV="1">
                <a:off x="49530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6" name="Rectangle 945"/>
              <p:cNvSpPr/>
              <p:nvPr/>
            </p:nvSpPr>
            <p:spPr>
              <a:xfrm flipV="1">
                <a:off x="49530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7" name="Rectangle 946"/>
              <p:cNvSpPr/>
              <p:nvPr/>
            </p:nvSpPr>
            <p:spPr>
              <a:xfrm>
                <a:off x="51816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8" name="Rectangle 947"/>
              <p:cNvSpPr/>
              <p:nvPr/>
            </p:nvSpPr>
            <p:spPr>
              <a:xfrm>
                <a:off x="51816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9" name="Rectangle 948"/>
              <p:cNvSpPr/>
              <p:nvPr/>
            </p:nvSpPr>
            <p:spPr>
              <a:xfrm>
                <a:off x="51816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0" name="Rectangle 949"/>
              <p:cNvSpPr/>
              <p:nvPr/>
            </p:nvSpPr>
            <p:spPr>
              <a:xfrm>
                <a:off x="51816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1" name="Rectangle 950"/>
              <p:cNvSpPr/>
              <p:nvPr/>
            </p:nvSpPr>
            <p:spPr>
              <a:xfrm flipV="1">
                <a:off x="54102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2" name="Rectangle 951"/>
              <p:cNvSpPr/>
              <p:nvPr/>
            </p:nvSpPr>
            <p:spPr>
              <a:xfrm flipV="1">
                <a:off x="54102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3" name="Rectangle 952"/>
              <p:cNvSpPr/>
              <p:nvPr/>
            </p:nvSpPr>
            <p:spPr>
              <a:xfrm flipV="1">
                <a:off x="54102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4" name="Rectangle 953"/>
              <p:cNvSpPr/>
              <p:nvPr/>
            </p:nvSpPr>
            <p:spPr>
              <a:xfrm flipV="1">
                <a:off x="54102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5" name="Rectangle 954"/>
              <p:cNvSpPr/>
              <p:nvPr/>
            </p:nvSpPr>
            <p:spPr>
              <a:xfrm>
                <a:off x="56388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6" name="Rectangle 955"/>
              <p:cNvSpPr/>
              <p:nvPr/>
            </p:nvSpPr>
            <p:spPr>
              <a:xfrm>
                <a:off x="56388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7" name="Rectangle 956"/>
              <p:cNvSpPr/>
              <p:nvPr/>
            </p:nvSpPr>
            <p:spPr>
              <a:xfrm>
                <a:off x="56388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8" name="Rectangle 957"/>
              <p:cNvSpPr/>
              <p:nvPr/>
            </p:nvSpPr>
            <p:spPr>
              <a:xfrm>
                <a:off x="56388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9" name="Rectangle 958"/>
              <p:cNvSpPr/>
              <p:nvPr/>
            </p:nvSpPr>
            <p:spPr>
              <a:xfrm flipV="1">
                <a:off x="58674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0" name="Rectangle 959"/>
              <p:cNvSpPr/>
              <p:nvPr/>
            </p:nvSpPr>
            <p:spPr>
              <a:xfrm flipV="1">
                <a:off x="58674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1" name="Rectangle 960"/>
              <p:cNvSpPr/>
              <p:nvPr/>
            </p:nvSpPr>
            <p:spPr>
              <a:xfrm flipV="1">
                <a:off x="58674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2" name="Rectangle 961"/>
              <p:cNvSpPr/>
              <p:nvPr/>
            </p:nvSpPr>
            <p:spPr>
              <a:xfrm flipV="1">
                <a:off x="58674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3" name="Rectangle 962"/>
              <p:cNvSpPr/>
              <p:nvPr/>
            </p:nvSpPr>
            <p:spPr>
              <a:xfrm>
                <a:off x="51816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4" name="Rectangle 963"/>
              <p:cNvSpPr/>
              <p:nvPr/>
            </p:nvSpPr>
            <p:spPr>
              <a:xfrm>
                <a:off x="51816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5" name="Rectangle 964"/>
              <p:cNvSpPr/>
              <p:nvPr/>
            </p:nvSpPr>
            <p:spPr>
              <a:xfrm>
                <a:off x="51816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6" name="Rectangle 965"/>
              <p:cNvSpPr/>
              <p:nvPr/>
            </p:nvSpPr>
            <p:spPr>
              <a:xfrm>
                <a:off x="51816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7" name="Rectangle 966"/>
              <p:cNvSpPr/>
              <p:nvPr/>
            </p:nvSpPr>
            <p:spPr>
              <a:xfrm flipV="1">
                <a:off x="54102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8" name="Rectangle 967"/>
              <p:cNvSpPr/>
              <p:nvPr/>
            </p:nvSpPr>
            <p:spPr>
              <a:xfrm flipV="1">
                <a:off x="54102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9" name="Rectangle 968"/>
              <p:cNvSpPr/>
              <p:nvPr/>
            </p:nvSpPr>
            <p:spPr>
              <a:xfrm flipV="1">
                <a:off x="54102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0" name="Rectangle 969"/>
              <p:cNvSpPr/>
              <p:nvPr/>
            </p:nvSpPr>
            <p:spPr>
              <a:xfrm flipV="1">
                <a:off x="54102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1" name="Rectangle 970"/>
              <p:cNvSpPr/>
              <p:nvPr/>
            </p:nvSpPr>
            <p:spPr>
              <a:xfrm>
                <a:off x="56388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2" name="Rectangle 971"/>
              <p:cNvSpPr/>
              <p:nvPr/>
            </p:nvSpPr>
            <p:spPr>
              <a:xfrm>
                <a:off x="56388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3" name="Rectangle 972"/>
              <p:cNvSpPr/>
              <p:nvPr/>
            </p:nvSpPr>
            <p:spPr>
              <a:xfrm>
                <a:off x="56388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4" name="Rectangle 973"/>
              <p:cNvSpPr/>
              <p:nvPr/>
            </p:nvSpPr>
            <p:spPr>
              <a:xfrm>
                <a:off x="56388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5" name="Rectangle 974"/>
              <p:cNvSpPr/>
              <p:nvPr/>
            </p:nvSpPr>
            <p:spPr>
              <a:xfrm flipV="1">
                <a:off x="58674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6" name="Rectangle 975"/>
              <p:cNvSpPr/>
              <p:nvPr/>
            </p:nvSpPr>
            <p:spPr>
              <a:xfrm flipV="1">
                <a:off x="58674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7" name="Rectangle 976"/>
              <p:cNvSpPr/>
              <p:nvPr/>
            </p:nvSpPr>
            <p:spPr>
              <a:xfrm flipV="1">
                <a:off x="58674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8" name="Rectangle 977"/>
              <p:cNvSpPr/>
              <p:nvPr/>
            </p:nvSpPr>
            <p:spPr>
              <a:xfrm flipV="1">
                <a:off x="58674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9" name="Rectangle 978"/>
              <p:cNvSpPr/>
              <p:nvPr/>
            </p:nvSpPr>
            <p:spPr>
              <a:xfrm>
                <a:off x="60960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0" name="Rectangle 979"/>
              <p:cNvSpPr/>
              <p:nvPr/>
            </p:nvSpPr>
            <p:spPr>
              <a:xfrm>
                <a:off x="60960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1" name="Rectangle 980"/>
              <p:cNvSpPr/>
              <p:nvPr/>
            </p:nvSpPr>
            <p:spPr>
              <a:xfrm>
                <a:off x="60960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2" name="Rectangle 981"/>
              <p:cNvSpPr/>
              <p:nvPr/>
            </p:nvSpPr>
            <p:spPr>
              <a:xfrm>
                <a:off x="60960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3" name="Rectangle 982"/>
              <p:cNvSpPr/>
              <p:nvPr/>
            </p:nvSpPr>
            <p:spPr>
              <a:xfrm>
                <a:off x="60960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4" name="Rectangle 983"/>
              <p:cNvSpPr/>
              <p:nvPr/>
            </p:nvSpPr>
            <p:spPr>
              <a:xfrm>
                <a:off x="60960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5" name="Rectangle 984"/>
              <p:cNvSpPr/>
              <p:nvPr/>
            </p:nvSpPr>
            <p:spPr>
              <a:xfrm>
                <a:off x="60960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6" name="Rectangle 985"/>
              <p:cNvSpPr/>
              <p:nvPr/>
            </p:nvSpPr>
            <p:spPr>
              <a:xfrm>
                <a:off x="60960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8" name="Group 77"/>
            <p:cNvGrpSpPr/>
            <p:nvPr/>
          </p:nvGrpSpPr>
          <p:grpSpPr>
            <a:xfrm>
              <a:off x="6858000" y="2286000"/>
              <a:ext cx="457200" cy="457200"/>
              <a:chOff x="4495800" y="1981200"/>
              <a:chExt cx="1828800" cy="1828800"/>
            </a:xfrm>
          </p:grpSpPr>
          <p:sp>
            <p:nvSpPr>
              <p:cNvPr id="859" name="Rectangle 858"/>
              <p:cNvSpPr/>
              <p:nvPr/>
            </p:nvSpPr>
            <p:spPr>
              <a:xfrm flipV="1">
                <a:off x="44958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0" name="Rectangle 859"/>
              <p:cNvSpPr/>
              <p:nvPr/>
            </p:nvSpPr>
            <p:spPr>
              <a:xfrm flipV="1">
                <a:off x="44958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1" name="Rectangle 860"/>
              <p:cNvSpPr/>
              <p:nvPr/>
            </p:nvSpPr>
            <p:spPr>
              <a:xfrm flipV="1">
                <a:off x="44958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2" name="Rectangle 861"/>
              <p:cNvSpPr/>
              <p:nvPr/>
            </p:nvSpPr>
            <p:spPr>
              <a:xfrm flipV="1">
                <a:off x="44958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3" name="Rectangle 862"/>
              <p:cNvSpPr/>
              <p:nvPr/>
            </p:nvSpPr>
            <p:spPr>
              <a:xfrm>
                <a:off x="47244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4" name="Rectangle 863"/>
              <p:cNvSpPr/>
              <p:nvPr/>
            </p:nvSpPr>
            <p:spPr>
              <a:xfrm>
                <a:off x="47244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5" name="Rectangle 864"/>
              <p:cNvSpPr/>
              <p:nvPr/>
            </p:nvSpPr>
            <p:spPr>
              <a:xfrm>
                <a:off x="47244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6" name="Rectangle 865"/>
              <p:cNvSpPr/>
              <p:nvPr/>
            </p:nvSpPr>
            <p:spPr>
              <a:xfrm>
                <a:off x="47244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7" name="Rectangle 866"/>
              <p:cNvSpPr/>
              <p:nvPr/>
            </p:nvSpPr>
            <p:spPr>
              <a:xfrm flipV="1">
                <a:off x="49530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8" name="Rectangle 867"/>
              <p:cNvSpPr/>
              <p:nvPr/>
            </p:nvSpPr>
            <p:spPr>
              <a:xfrm flipV="1">
                <a:off x="49530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9" name="Rectangle 868"/>
              <p:cNvSpPr/>
              <p:nvPr/>
            </p:nvSpPr>
            <p:spPr>
              <a:xfrm flipV="1">
                <a:off x="49530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0" name="Rectangle 869"/>
              <p:cNvSpPr/>
              <p:nvPr/>
            </p:nvSpPr>
            <p:spPr>
              <a:xfrm flipV="1">
                <a:off x="49530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1" name="Rectangle 870"/>
              <p:cNvSpPr/>
              <p:nvPr/>
            </p:nvSpPr>
            <p:spPr>
              <a:xfrm flipV="1">
                <a:off x="44958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2" name="Rectangle 871"/>
              <p:cNvSpPr/>
              <p:nvPr/>
            </p:nvSpPr>
            <p:spPr>
              <a:xfrm flipV="1">
                <a:off x="44958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3" name="Rectangle 872"/>
              <p:cNvSpPr/>
              <p:nvPr/>
            </p:nvSpPr>
            <p:spPr>
              <a:xfrm flipV="1">
                <a:off x="44958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4" name="Rectangle 873"/>
              <p:cNvSpPr/>
              <p:nvPr/>
            </p:nvSpPr>
            <p:spPr>
              <a:xfrm flipV="1">
                <a:off x="44958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5" name="Rectangle 874"/>
              <p:cNvSpPr/>
              <p:nvPr/>
            </p:nvSpPr>
            <p:spPr>
              <a:xfrm>
                <a:off x="47244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6" name="Rectangle 875"/>
              <p:cNvSpPr/>
              <p:nvPr/>
            </p:nvSpPr>
            <p:spPr>
              <a:xfrm>
                <a:off x="47244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7" name="Rectangle 876"/>
              <p:cNvSpPr/>
              <p:nvPr/>
            </p:nvSpPr>
            <p:spPr>
              <a:xfrm>
                <a:off x="47244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8" name="Rectangle 877"/>
              <p:cNvSpPr/>
              <p:nvPr/>
            </p:nvSpPr>
            <p:spPr>
              <a:xfrm>
                <a:off x="47244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9" name="Rectangle 878"/>
              <p:cNvSpPr/>
              <p:nvPr/>
            </p:nvSpPr>
            <p:spPr>
              <a:xfrm flipV="1">
                <a:off x="49530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0" name="Rectangle 879"/>
              <p:cNvSpPr/>
              <p:nvPr/>
            </p:nvSpPr>
            <p:spPr>
              <a:xfrm flipV="1">
                <a:off x="49530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1" name="Rectangle 880"/>
              <p:cNvSpPr/>
              <p:nvPr/>
            </p:nvSpPr>
            <p:spPr>
              <a:xfrm flipV="1">
                <a:off x="49530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2" name="Rectangle 881"/>
              <p:cNvSpPr/>
              <p:nvPr/>
            </p:nvSpPr>
            <p:spPr>
              <a:xfrm flipV="1">
                <a:off x="49530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3" name="Rectangle 882"/>
              <p:cNvSpPr/>
              <p:nvPr/>
            </p:nvSpPr>
            <p:spPr>
              <a:xfrm>
                <a:off x="51816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4" name="Rectangle 883"/>
              <p:cNvSpPr/>
              <p:nvPr/>
            </p:nvSpPr>
            <p:spPr>
              <a:xfrm>
                <a:off x="51816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5" name="Rectangle 884"/>
              <p:cNvSpPr/>
              <p:nvPr/>
            </p:nvSpPr>
            <p:spPr>
              <a:xfrm>
                <a:off x="51816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6" name="Rectangle 885"/>
              <p:cNvSpPr/>
              <p:nvPr/>
            </p:nvSpPr>
            <p:spPr>
              <a:xfrm>
                <a:off x="51816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7" name="Rectangle 886"/>
              <p:cNvSpPr/>
              <p:nvPr/>
            </p:nvSpPr>
            <p:spPr>
              <a:xfrm flipV="1">
                <a:off x="54102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8" name="Rectangle 887"/>
              <p:cNvSpPr/>
              <p:nvPr/>
            </p:nvSpPr>
            <p:spPr>
              <a:xfrm flipV="1">
                <a:off x="54102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9" name="Rectangle 888"/>
              <p:cNvSpPr/>
              <p:nvPr/>
            </p:nvSpPr>
            <p:spPr>
              <a:xfrm flipV="1">
                <a:off x="54102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0" name="Rectangle 889"/>
              <p:cNvSpPr/>
              <p:nvPr/>
            </p:nvSpPr>
            <p:spPr>
              <a:xfrm flipV="1">
                <a:off x="54102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1" name="Rectangle 890"/>
              <p:cNvSpPr/>
              <p:nvPr/>
            </p:nvSpPr>
            <p:spPr>
              <a:xfrm>
                <a:off x="56388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2" name="Rectangle 891"/>
              <p:cNvSpPr/>
              <p:nvPr/>
            </p:nvSpPr>
            <p:spPr>
              <a:xfrm>
                <a:off x="56388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3" name="Rectangle 892"/>
              <p:cNvSpPr/>
              <p:nvPr/>
            </p:nvSpPr>
            <p:spPr>
              <a:xfrm>
                <a:off x="56388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4" name="Rectangle 893"/>
              <p:cNvSpPr/>
              <p:nvPr/>
            </p:nvSpPr>
            <p:spPr>
              <a:xfrm>
                <a:off x="56388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5" name="Rectangle 894"/>
              <p:cNvSpPr/>
              <p:nvPr/>
            </p:nvSpPr>
            <p:spPr>
              <a:xfrm flipV="1">
                <a:off x="58674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6" name="Rectangle 895"/>
              <p:cNvSpPr/>
              <p:nvPr/>
            </p:nvSpPr>
            <p:spPr>
              <a:xfrm flipV="1">
                <a:off x="58674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7" name="Rectangle 896"/>
              <p:cNvSpPr/>
              <p:nvPr/>
            </p:nvSpPr>
            <p:spPr>
              <a:xfrm flipV="1">
                <a:off x="58674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8" name="Rectangle 897"/>
              <p:cNvSpPr/>
              <p:nvPr/>
            </p:nvSpPr>
            <p:spPr>
              <a:xfrm flipV="1">
                <a:off x="58674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9" name="Rectangle 898"/>
              <p:cNvSpPr/>
              <p:nvPr/>
            </p:nvSpPr>
            <p:spPr>
              <a:xfrm>
                <a:off x="51816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0" name="Rectangle 899"/>
              <p:cNvSpPr/>
              <p:nvPr/>
            </p:nvSpPr>
            <p:spPr>
              <a:xfrm>
                <a:off x="51816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1" name="Rectangle 900"/>
              <p:cNvSpPr/>
              <p:nvPr/>
            </p:nvSpPr>
            <p:spPr>
              <a:xfrm>
                <a:off x="51816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2" name="Rectangle 901"/>
              <p:cNvSpPr/>
              <p:nvPr/>
            </p:nvSpPr>
            <p:spPr>
              <a:xfrm>
                <a:off x="51816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3" name="Rectangle 902"/>
              <p:cNvSpPr/>
              <p:nvPr/>
            </p:nvSpPr>
            <p:spPr>
              <a:xfrm flipV="1">
                <a:off x="54102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4" name="Rectangle 903"/>
              <p:cNvSpPr/>
              <p:nvPr/>
            </p:nvSpPr>
            <p:spPr>
              <a:xfrm flipV="1">
                <a:off x="54102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5" name="Rectangle 904"/>
              <p:cNvSpPr/>
              <p:nvPr/>
            </p:nvSpPr>
            <p:spPr>
              <a:xfrm flipV="1">
                <a:off x="54102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6" name="Rectangle 905"/>
              <p:cNvSpPr/>
              <p:nvPr/>
            </p:nvSpPr>
            <p:spPr>
              <a:xfrm flipV="1">
                <a:off x="54102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7" name="Rectangle 906"/>
              <p:cNvSpPr/>
              <p:nvPr/>
            </p:nvSpPr>
            <p:spPr>
              <a:xfrm>
                <a:off x="56388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8" name="Rectangle 907"/>
              <p:cNvSpPr/>
              <p:nvPr/>
            </p:nvSpPr>
            <p:spPr>
              <a:xfrm>
                <a:off x="56388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9" name="Rectangle 908"/>
              <p:cNvSpPr/>
              <p:nvPr/>
            </p:nvSpPr>
            <p:spPr>
              <a:xfrm>
                <a:off x="56388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0" name="Rectangle 909"/>
              <p:cNvSpPr/>
              <p:nvPr/>
            </p:nvSpPr>
            <p:spPr>
              <a:xfrm>
                <a:off x="56388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1" name="Rectangle 910"/>
              <p:cNvSpPr/>
              <p:nvPr/>
            </p:nvSpPr>
            <p:spPr>
              <a:xfrm flipV="1">
                <a:off x="58674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2" name="Rectangle 911"/>
              <p:cNvSpPr/>
              <p:nvPr/>
            </p:nvSpPr>
            <p:spPr>
              <a:xfrm flipV="1">
                <a:off x="58674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3" name="Rectangle 912"/>
              <p:cNvSpPr/>
              <p:nvPr/>
            </p:nvSpPr>
            <p:spPr>
              <a:xfrm flipV="1">
                <a:off x="58674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4" name="Rectangle 913"/>
              <p:cNvSpPr/>
              <p:nvPr/>
            </p:nvSpPr>
            <p:spPr>
              <a:xfrm flipV="1">
                <a:off x="58674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5" name="Rectangle 914"/>
              <p:cNvSpPr/>
              <p:nvPr/>
            </p:nvSpPr>
            <p:spPr>
              <a:xfrm>
                <a:off x="60960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6" name="Rectangle 915"/>
              <p:cNvSpPr/>
              <p:nvPr/>
            </p:nvSpPr>
            <p:spPr>
              <a:xfrm>
                <a:off x="60960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7" name="Rectangle 916"/>
              <p:cNvSpPr/>
              <p:nvPr/>
            </p:nvSpPr>
            <p:spPr>
              <a:xfrm>
                <a:off x="60960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8" name="Rectangle 917"/>
              <p:cNvSpPr/>
              <p:nvPr/>
            </p:nvSpPr>
            <p:spPr>
              <a:xfrm>
                <a:off x="60960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9" name="Rectangle 918"/>
              <p:cNvSpPr/>
              <p:nvPr/>
            </p:nvSpPr>
            <p:spPr>
              <a:xfrm>
                <a:off x="60960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0" name="Rectangle 919"/>
              <p:cNvSpPr/>
              <p:nvPr/>
            </p:nvSpPr>
            <p:spPr>
              <a:xfrm>
                <a:off x="60960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1" name="Rectangle 920"/>
              <p:cNvSpPr/>
              <p:nvPr/>
            </p:nvSpPr>
            <p:spPr>
              <a:xfrm>
                <a:off x="60960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2" name="Rectangle 921"/>
              <p:cNvSpPr/>
              <p:nvPr/>
            </p:nvSpPr>
            <p:spPr>
              <a:xfrm>
                <a:off x="60960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9" name="Group 78"/>
            <p:cNvGrpSpPr/>
            <p:nvPr/>
          </p:nvGrpSpPr>
          <p:grpSpPr>
            <a:xfrm>
              <a:off x="7315200" y="1828800"/>
              <a:ext cx="457200" cy="457200"/>
              <a:chOff x="4495800" y="1981200"/>
              <a:chExt cx="1828800" cy="1828800"/>
            </a:xfrm>
          </p:grpSpPr>
          <p:sp>
            <p:nvSpPr>
              <p:cNvPr id="795" name="Rectangle 794"/>
              <p:cNvSpPr/>
              <p:nvPr/>
            </p:nvSpPr>
            <p:spPr>
              <a:xfrm flipV="1">
                <a:off x="44958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6" name="Rectangle 795"/>
              <p:cNvSpPr/>
              <p:nvPr/>
            </p:nvSpPr>
            <p:spPr>
              <a:xfrm flipV="1">
                <a:off x="44958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7" name="Rectangle 796"/>
              <p:cNvSpPr/>
              <p:nvPr/>
            </p:nvSpPr>
            <p:spPr>
              <a:xfrm flipV="1">
                <a:off x="44958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8" name="Rectangle 797"/>
              <p:cNvSpPr/>
              <p:nvPr/>
            </p:nvSpPr>
            <p:spPr>
              <a:xfrm flipV="1">
                <a:off x="44958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9" name="Rectangle 798"/>
              <p:cNvSpPr/>
              <p:nvPr/>
            </p:nvSpPr>
            <p:spPr>
              <a:xfrm>
                <a:off x="47244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0" name="Rectangle 799"/>
              <p:cNvSpPr/>
              <p:nvPr/>
            </p:nvSpPr>
            <p:spPr>
              <a:xfrm>
                <a:off x="47244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1" name="Rectangle 800"/>
              <p:cNvSpPr/>
              <p:nvPr/>
            </p:nvSpPr>
            <p:spPr>
              <a:xfrm>
                <a:off x="47244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2" name="Rectangle 801"/>
              <p:cNvSpPr/>
              <p:nvPr/>
            </p:nvSpPr>
            <p:spPr>
              <a:xfrm>
                <a:off x="47244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3" name="Rectangle 802"/>
              <p:cNvSpPr/>
              <p:nvPr/>
            </p:nvSpPr>
            <p:spPr>
              <a:xfrm flipV="1">
                <a:off x="49530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4" name="Rectangle 803"/>
              <p:cNvSpPr/>
              <p:nvPr/>
            </p:nvSpPr>
            <p:spPr>
              <a:xfrm flipV="1">
                <a:off x="49530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5" name="Rectangle 804"/>
              <p:cNvSpPr/>
              <p:nvPr/>
            </p:nvSpPr>
            <p:spPr>
              <a:xfrm flipV="1">
                <a:off x="49530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6" name="Rectangle 805"/>
              <p:cNvSpPr/>
              <p:nvPr/>
            </p:nvSpPr>
            <p:spPr>
              <a:xfrm flipV="1">
                <a:off x="49530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7" name="Rectangle 806"/>
              <p:cNvSpPr/>
              <p:nvPr/>
            </p:nvSpPr>
            <p:spPr>
              <a:xfrm flipV="1">
                <a:off x="44958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8" name="Rectangle 807"/>
              <p:cNvSpPr/>
              <p:nvPr/>
            </p:nvSpPr>
            <p:spPr>
              <a:xfrm flipV="1">
                <a:off x="44958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9" name="Rectangle 808"/>
              <p:cNvSpPr/>
              <p:nvPr/>
            </p:nvSpPr>
            <p:spPr>
              <a:xfrm flipV="1">
                <a:off x="44958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0" name="Rectangle 809"/>
              <p:cNvSpPr/>
              <p:nvPr/>
            </p:nvSpPr>
            <p:spPr>
              <a:xfrm flipV="1">
                <a:off x="44958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1" name="Rectangle 810"/>
              <p:cNvSpPr/>
              <p:nvPr/>
            </p:nvSpPr>
            <p:spPr>
              <a:xfrm>
                <a:off x="47244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2" name="Rectangle 811"/>
              <p:cNvSpPr/>
              <p:nvPr/>
            </p:nvSpPr>
            <p:spPr>
              <a:xfrm>
                <a:off x="47244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3" name="Rectangle 812"/>
              <p:cNvSpPr/>
              <p:nvPr/>
            </p:nvSpPr>
            <p:spPr>
              <a:xfrm>
                <a:off x="47244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4" name="Rectangle 813"/>
              <p:cNvSpPr/>
              <p:nvPr/>
            </p:nvSpPr>
            <p:spPr>
              <a:xfrm>
                <a:off x="47244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5" name="Rectangle 814"/>
              <p:cNvSpPr/>
              <p:nvPr/>
            </p:nvSpPr>
            <p:spPr>
              <a:xfrm flipV="1">
                <a:off x="49530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6" name="Rectangle 815"/>
              <p:cNvSpPr/>
              <p:nvPr/>
            </p:nvSpPr>
            <p:spPr>
              <a:xfrm flipV="1">
                <a:off x="49530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7" name="Rectangle 816"/>
              <p:cNvSpPr/>
              <p:nvPr/>
            </p:nvSpPr>
            <p:spPr>
              <a:xfrm flipV="1">
                <a:off x="49530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8" name="Rectangle 817"/>
              <p:cNvSpPr/>
              <p:nvPr/>
            </p:nvSpPr>
            <p:spPr>
              <a:xfrm flipV="1">
                <a:off x="49530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9" name="Rectangle 818"/>
              <p:cNvSpPr/>
              <p:nvPr/>
            </p:nvSpPr>
            <p:spPr>
              <a:xfrm>
                <a:off x="51816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0" name="Rectangle 819"/>
              <p:cNvSpPr/>
              <p:nvPr/>
            </p:nvSpPr>
            <p:spPr>
              <a:xfrm>
                <a:off x="51816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1" name="Rectangle 820"/>
              <p:cNvSpPr/>
              <p:nvPr/>
            </p:nvSpPr>
            <p:spPr>
              <a:xfrm>
                <a:off x="51816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2" name="Rectangle 821"/>
              <p:cNvSpPr/>
              <p:nvPr/>
            </p:nvSpPr>
            <p:spPr>
              <a:xfrm>
                <a:off x="51816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3" name="Rectangle 822"/>
              <p:cNvSpPr/>
              <p:nvPr/>
            </p:nvSpPr>
            <p:spPr>
              <a:xfrm flipV="1">
                <a:off x="54102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4" name="Rectangle 823"/>
              <p:cNvSpPr/>
              <p:nvPr/>
            </p:nvSpPr>
            <p:spPr>
              <a:xfrm flipV="1">
                <a:off x="54102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5" name="Rectangle 824"/>
              <p:cNvSpPr/>
              <p:nvPr/>
            </p:nvSpPr>
            <p:spPr>
              <a:xfrm flipV="1">
                <a:off x="54102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6" name="Rectangle 825"/>
              <p:cNvSpPr/>
              <p:nvPr/>
            </p:nvSpPr>
            <p:spPr>
              <a:xfrm flipV="1">
                <a:off x="54102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7" name="Rectangle 826"/>
              <p:cNvSpPr/>
              <p:nvPr/>
            </p:nvSpPr>
            <p:spPr>
              <a:xfrm>
                <a:off x="56388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8" name="Rectangle 827"/>
              <p:cNvSpPr/>
              <p:nvPr/>
            </p:nvSpPr>
            <p:spPr>
              <a:xfrm>
                <a:off x="56388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9" name="Rectangle 828"/>
              <p:cNvSpPr/>
              <p:nvPr/>
            </p:nvSpPr>
            <p:spPr>
              <a:xfrm>
                <a:off x="56388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0" name="Rectangle 829"/>
              <p:cNvSpPr/>
              <p:nvPr/>
            </p:nvSpPr>
            <p:spPr>
              <a:xfrm>
                <a:off x="56388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1" name="Rectangle 830"/>
              <p:cNvSpPr/>
              <p:nvPr/>
            </p:nvSpPr>
            <p:spPr>
              <a:xfrm flipV="1">
                <a:off x="58674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2" name="Rectangle 831"/>
              <p:cNvSpPr/>
              <p:nvPr/>
            </p:nvSpPr>
            <p:spPr>
              <a:xfrm flipV="1">
                <a:off x="58674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3" name="Rectangle 832"/>
              <p:cNvSpPr/>
              <p:nvPr/>
            </p:nvSpPr>
            <p:spPr>
              <a:xfrm flipV="1">
                <a:off x="58674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4" name="Rectangle 833"/>
              <p:cNvSpPr/>
              <p:nvPr/>
            </p:nvSpPr>
            <p:spPr>
              <a:xfrm flipV="1">
                <a:off x="58674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5" name="Rectangle 834"/>
              <p:cNvSpPr/>
              <p:nvPr/>
            </p:nvSpPr>
            <p:spPr>
              <a:xfrm>
                <a:off x="51816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6" name="Rectangle 835"/>
              <p:cNvSpPr/>
              <p:nvPr/>
            </p:nvSpPr>
            <p:spPr>
              <a:xfrm>
                <a:off x="51816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7" name="Rectangle 836"/>
              <p:cNvSpPr/>
              <p:nvPr/>
            </p:nvSpPr>
            <p:spPr>
              <a:xfrm>
                <a:off x="51816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8" name="Rectangle 837"/>
              <p:cNvSpPr/>
              <p:nvPr/>
            </p:nvSpPr>
            <p:spPr>
              <a:xfrm>
                <a:off x="51816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9" name="Rectangle 838"/>
              <p:cNvSpPr/>
              <p:nvPr/>
            </p:nvSpPr>
            <p:spPr>
              <a:xfrm flipV="1">
                <a:off x="54102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0" name="Rectangle 839"/>
              <p:cNvSpPr/>
              <p:nvPr/>
            </p:nvSpPr>
            <p:spPr>
              <a:xfrm flipV="1">
                <a:off x="54102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1" name="Rectangle 840"/>
              <p:cNvSpPr/>
              <p:nvPr/>
            </p:nvSpPr>
            <p:spPr>
              <a:xfrm flipV="1">
                <a:off x="54102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2" name="Rectangle 841"/>
              <p:cNvSpPr/>
              <p:nvPr/>
            </p:nvSpPr>
            <p:spPr>
              <a:xfrm flipV="1">
                <a:off x="54102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3" name="Rectangle 842"/>
              <p:cNvSpPr/>
              <p:nvPr/>
            </p:nvSpPr>
            <p:spPr>
              <a:xfrm>
                <a:off x="56388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4" name="Rectangle 843"/>
              <p:cNvSpPr/>
              <p:nvPr/>
            </p:nvSpPr>
            <p:spPr>
              <a:xfrm>
                <a:off x="56388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5" name="Rectangle 844"/>
              <p:cNvSpPr/>
              <p:nvPr/>
            </p:nvSpPr>
            <p:spPr>
              <a:xfrm>
                <a:off x="56388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6" name="Rectangle 845"/>
              <p:cNvSpPr/>
              <p:nvPr/>
            </p:nvSpPr>
            <p:spPr>
              <a:xfrm>
                <a:off x="56388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7" name="Rectangle 846"/>
              <p:cNvSpPr/>
              <p:nvPr/>
            </p:nvSpPr>
            <p:spPr>
              <a:xfrm flipV="1">
                <a:off x="58674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8" name="Rectangle 847"/>
              <p:cNvSpPr/>
              <p:nvPr/>
            </p:nvSpPr>
            <p:spPr>
              <a:xfrm flipV="1">
                <a:off x="58674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9" name="Rectangle 848"/>
              <p:cNvSpPr/>
              <p:nvPr/>
            </p:nvSpPr>
            <p:spPr>
              <a:xfrm flipV="1">
                <a:off x="58674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0" name="Rectangle 849"/>
              <p:cNvSpPr/>
              <p:nvPr/>
            </p:nvSpPr>
            <p:spPr>
              <a:xfrm flipV="1">
                <a:off x="58674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1" name="Rectangle 850"/>
              <p:cNvSpPr/>
              <p:nvPr/>
            </p:nvSpPr>
            <p:spPr>
              <a:xfrm>
                <a:off x="60960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2" name="Rectangle 851"/>
              <p:cNvSpPr/>
              <p:nvPr/>
            </p:nvSpPr>
            <p:spPr>
              <a:xfrm>
                <a:off x="60960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3" name="Rectangle 852"/>
              <p:cNvSpPr/>
              <p:nvPr/>
            </p:nvSpPr>
            <p:spPr>
              <a:xfrm>
                <a:off x="60960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4" name="Rectangle 853"/>
              <p:cNvSpPr/>
              <p:nvPr/>
            </p:nvSpPr>
            <p:spPr>
              <a:xfrm>
                <a:off x="60960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5" name="Rectangle 854"/>
              <p:cNvSpPr/>
              <p:nvPr/>
            </p:nvSpPr>
            <p:spPr>
              <a:xfrm>
                <a:off x="60960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6" name="Rectangle 855"/>
              <p:cNvSpPr/>
              <p:nvPr/>
            </p:nvSpPr>
            <p:spPr>
              <a:xfrm>
                <a:off x="60960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7" name="Rectangle 856"/>
              <p:cNvSpPr/>
              <p:nvPr/>
            </p:nvSpPr>
            <p:spPr>
              <a:xfrm>
                <a:off x="60960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8" name="Rectangle 857"/>
              <p:cNvSpPr/>
              <p:nvPr/>
            </p:nvSpPr>
            <p:spPr>
              <a:xfrm>
                <a:off x="60960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0" name="Group 79"/>
            <p:cNvGrpSpPr/>
            <p:nvPr/>
          </p:nvGrpSpPr>
          <p:grpSpPr>
            <a:xfrm>
              <a:off x="7772400" y="1828800"/>
              <a:ext cx="457200" cy="457200"/>
              <a:chOff x="4495800" y="1981200"/>
              <a:chExt cx="1828800" cy="1828800"/>
            </a:xfrm>
          </p:grpSpPr>
          <p:sp>
            <p:nvSpPr>
              <p:cNvPr id="731" name="Rectangle 730"/>
              <p:cNvSpPr/>
              <p:nvPr/>
            </p:nvSpPr>
            <p:spPr>
              <a:xfrm flipV="1">
                <a:off x="44958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2" name="Rectangle 731"/>
              <p:cNvSpPr/>
              <p:nvPr/>
            </p:nvSpPr>
            <p:spPr>
              <a:xfrm flipV="1">
                <a:off x="44958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3" name="Rectangle 732"/>
              <p:cNvSpPr/>
              <p:nvPr/>
            </p:nvSpPr>
            <p:spPr>
              <a:xfrm flipV="1">
                <a:off x="44958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4" name="Rectangle 733"/>
              <p:cNvSpPr/>
              <p:nvPr/>
            </p:nvSpPr>
            <p:spPr>
              <a:xfrm flipV="1">
                <a:off x="44958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5" name="Rectangle 734"/>
              <p:cNvSpPr/>
              <p:nvPr/>
            </p:nvSpPr>
            <p:spPr>
              <a:xfrm>
                <a:off x="47244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6" name="Rectangle 735"/>
              <p:cNvSpPr/>
              <p:nvPr/>
            </p:nvSpPr>
            <p:spPr>
              <a:xfrm>
                <a:off x="47244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7" name="Rectangle 736"/>
              <p:cNvSpPr/>
              <p:nvPr/>
            </p:nvSpPr>
            <p:spPr>
              <a:xfrm>
                <a:off x="47244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8" name="Rectangle 737"/>
              <p:cNvSpPr/>
              <p:nvPr/>
            </p:nvSpPr>
            <p:spPr>
              <a:xfrm>
                <a:off x="47244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9" name="Rectangle 738"/>
              <p:cNvSpPr/>
              <p:nvPr/>
            </p:nvSpPr>
            <p:spPr>
              <a:xfrm flipV="1">
                <a:off x="49530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0" name="Rectangle 739"/>
              <p:cNvSpPr/>
              <p:nvPr/>
            </p:nvSpPr>
            <p:spPr>
              <a:xfrm flipV="1">
                <a:off x="49530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1" name="Rectangle 740"/>
              <p:cNvSpPr/>
              <p:nvPr/>
            </p:nvSpPr>
            <p:spPr>
              <a:xfrm flipV="1">
                <a:off x="49530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2" name="Rectangle 741"/>
              <p:cNvSpPr/>
              <p:nvPr/>
            </p:nvSpPr>
            <p:spPr>
              <a:xfrm flipV="1">
                <a:off x="49530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3" name="Rectangle 742"/>
              <p:cNvSpPr/>
              <p:nvPr/>
            </p:nvSpPr>
            <p:spPr>
              <a:xfrm flipV="1">
                <a:off x="44958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4" name="Rectangle 743"/>
              <p:cNvSpPr/>
              <p:nvPr/>
            </p:nvSpPr>
            <p:spPr>
              <a:xfrm flipV="1">
                <a:off x="44958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5" name="Rectangle 744"/>
              <p:cNvSpPr/>
              <p:nvPr/>
            </p:nvSpPr>
            <p:spPr>
              <a:xfrm flipV="1">
                <a:off x="44958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6" name="Rectangle 745"/>
              <p:cNvSpPr/>
              <p:nvPr/>
            </p:nvSpPr>
            <p:spPr>
              <a:xfrm flipV="1">
                <a:off x="44958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7" name="Rectangle 746"/>
              <p:cNvSpPr/>
              <p:nvPr/>
            </p:nvSpPr>
            <p:spPr>
              <a:xfrm>
                <a:off x="47244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8" name="Rectangle 747"/>
              <p:cNvSpPr/>
              <p:nvPr/>
            </p:nvSpPr>
            <p:spPr>
              <a:xfrm>
                <a:off x="47244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9" name="Rectangle 748"/>
              <p:cNvSpPr/>
              <p:nvPr/>
            </p:nvSpPr>
            <p:spPr>
              <a:xfrm>
                <a:off x="47244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0" name="Rectangle 749"/>
              <p:cNvSpPr/>
              <p:nvPr/>
            </p:nvSpPr>
            <p:spPr>
              <a:xfrm>
                <a:off x="47244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1" name="Rectangle 750"/>
              <p:cNvSpPr/>
              <p:nvPr/>
            </p:nvSpPr>
            <p:spPr>
              <a:xfrm flipV="1">
                <a:off x="49530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2" name="Rectangle 751"/>
              <p:cNvSpPr/>
              <p:nvPr/>
            </p:nvSpPr>
            <p:spPr>
              <a:xfrm flipV="1">
                <a:off x="49530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3" name="Rectangle 752"/>
              <p:cNvSpPr/>
              <p:nvPr/>
            </p:nvSpPr>
            <p:spPr>
              <a:xfrm flipV="1">
                <a:off x="49530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4" name="Rectangle 753"/>
              <p:cNvSpPr/>
              <p:nvPr/>
            </p:nvSpPr>
            <p:spPr>
              <a:xfrm flipV="1">
                <a:off x="49530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5" name="Rectangle 754"/>
              <p:cNvSpPr/>
              <p:nvPr/>
            </p:nvSpPr>
            <p:spPr>
              <a:xfrm>
                <a:off x="51816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6" name="Rectangle 755"/>
              <p:cNvSpPr/>
              <p:nvPr/>
            </p:nvSpPr>
            <p:spPr>
              <a:xfrm>
                <a:off x="51816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7" name="Rectangle 756"/>
              <p:cNvSpPr/>
              <p:nvPr/>
            </p:nvSpPr>
            <p:spPr>
              <a:xfrm>
                <a:off x="51816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8" name="Rectangle 757"/>
              <p:cNvSpPr/>
              <p:nvPr/>
            </p:nvSpPr>
            <p:spPr>
              <a:xfrm>
                <a:off x="51816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9" name="Rectangle 758"/>
              <p:cNvSpPr/>
              <p:nvPr/>
            </p:nvSpPr>
            <p:spPr>
              <a:xfrm flipV="1">
                <a:off x="54102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0" name="Rectangle 759"/>
              <p:cNvSpPr/>
              <p:nvPr/>
            </p:nvSpPr>
            <p:spPr>
              <a:xfrm flipV="1">
                <a:off x="54102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1" name="Rectangle 760"/>
              <p:cNvSpPr/>
              <p:nvPr/>
            </p:nvSpPr>
            <p:spPr>
              <a:xfrm flipV="1">
                <a:off x="54102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2" name="Rectangle 761"/>
              <p:cNvSpPr/>
              <p:nvPr/>
            </p:nvSpPr>
            <p:spPr>
              <a:xfrm flipV="1">
                <a:off x="54102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3" name="Rectangle 762"/>
              <p:cNvSpPr/>
              <p:nvPr/>
            </p:nvSpPr>
            <p:spPr>
              <a:xfrm>
                <a:off x="56388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4" name="Rectangle 763"/>
              <p:cNvSpPr/>
              <p:nvPr/>
            </p:nvSpPr>
            <p:spPr>
              <a:xfrm>
                <a:off x="56388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5" name="Rectangle 764"/>
              <p:cNvSpPr/>
              <p:nvPr/>
            </p:nvSpPr>
            <p:spPr>
              <a:xfrm>
                <a:off x="56388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6" name="Rectangle 765"/>
              <p:cNvSpPr/>
              <p:nvPr/>
            </p:nvSpPr>
            <p:spPr>
              <a:xfrm>
                <a:off x="56388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7" name="Rectangle 766"/>
              <p:cNvSpPr/>
              <p:nvPr/>
            </p:nvSpPr>
            <p:spPr>
              <a:xfrm flipV="1">
                <a:off x="58674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8" name="Rectangle 767"/>
              <p:cNvSpPr/>
              <p:nvPr/>
            </p:nvSpPr>
            <p:spPr>
              <a:xfrm flipV="1">
                <a:off x="58674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9" name="Rectangle 768"/>
              <p:cNvSpPr/>
              <p:nvPr/>
            </p:nvSpPr>
            <p:spPr>
              <a:xfrm flipV="1">
                <a:off x="58674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0" name="Rectangle 769"/>
              <p:cNvSpPr/>
              <p:nvPr/>
            </p:nvSpPr>
            <p:spPr>
              <a:xfrm flipV="1">
                <a:off x="58674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1" name="Rectangle 770"/>
              <p:cNvSpPr/>
              <p:nvPr/>
            </p:nvSpPr>
            <p:spPr>
              <a:xfrm>
                <a:off x="51816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2" name="Rectangle 771"/>
              <p:cNvSpPr/>
              <p:nvPr/>
            </p:nvSpPr>
            <p:spPr>
              <a:xfrm>
                <a:off x="51816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3" name="Rectangle 772"/>
              <p:cNvSpPr/>
              <p:nvPr/>
            </p:nvSpPr>
            <p:spPr>
              <a:xfrm>
                <a:off x="51816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4" name="Rectangle 773"/>
              <p:cNvSpPr/>
              <p:nvPr/>
            </p:nvSpPr>
            <p:spPr>
              <a:xfrm>
                <a:off x="51816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5" name="Rectangle 774"/>
              <p:cNvSpPr/>
              <p:nvPr/>
            </p:nvSpPr>
            <p:spPr>
              <a:xfrm flipV="1">
                <a:off x="54102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6" name="Rectangle 775"/>
              <p:cNvSpPr/>
              <p:nvPr/>
            </p:nvSpPr>
            <p:spPr>
              <a:xfrm flipV="1">
                <a:off x="54102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7" name="Rectangle 776"/>
              <p:cNvSpPr/>
              <p:nvPr/>
            </p:nvSpPr>
            <p:spPr>
              <a:xfrm flipV="1">
                <a:off x="54102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8" name="Rectangle 777"/>
              <p:cNvSpPr/>
              <p:nvPr/>
            </p:nvSpPr>
            <p:spPr>
              <a:xfrm flipV="1">
                <a:off x="54102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9" name="Rectangle 778"/>
              <p:cNvSpPr/>
              <p:nvPr/>
            </p:nvSpPr>
            <p:spPr>
              <a:xfrm>
                <a:off x="56388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0" name="Rectangle 779"/>
              <p:cNvSpPr/>
              <p:nvPr/>
            </p:nvSpPr>
            <p:spPr>
              <a:xfrm>
                <a:off x="56388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1" name="Rectangle 780"/>
              <p:cNvSpPr/>
              <p:nvPr/>
            </p:nvSpPr>
            <p:spPr>
              <a:xfrm>
                <a:off x="56388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2" name="Rectangle 781"/>
              <p:cNvSpPr/>
              <p:nvPr/>
            </p:nvSpPr>
            <p:spPr>
              <a:xfrm>
                <a:off x="56388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3" name="Rectangle 782"/>
              <p:cNvSpPr/>
              <p:nvPr/>
            </p:nvSpPr>
            <p:spPr>
              <a:xfrm flipV="1">
                <a:off x="58674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4" name="Rectangle 783"/>
              <p:cNvSpPr/>
              <p:nvPr/>
            </p:nvSpPr>
            <p:spPr>
              <a:xfrm flipV="1">
                <a:off x="58674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5" name="Rectangle 784"/>
              <p:cNvSpPr/>
              <p:nvPr/>
            </p:nvSpPr>
            <p:spPr>
              <a:xfrm flipV="1">
                <a:off x="58674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6" name="Rectangle 785"/>
              <p:cNvSpPr/>
              <p:nvPr/>
            </p:nvSpPr>
            <p:spPr>
              <a:xfrm flipV="1">
                <a:off x="58674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7" name="Rectangle 786"/>
              <p:cNvSpPr/>
              <p:nvPr/>
            </p:nvSpPr>
            <p:spPr>
              <a:xfrm>
                <a:off x="60960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8" name="Rectangle 787"/>
              <p:cNvSpPr/>
              <p:nvPr/>
            </p:nvSpPr>
            <p:spPr>
              <a:xfrm>
                <a:off x="60960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9" name="Rectangle 788"/>
              <p:cNvSpPr/>
              <p:nvPr/>
            </p:nvSpPr>
            <p:spPr>
              <a:xfrm>
                <a:off x="60960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0" name="Rectangle 789"/>
              <p:cNvSpPr/>
              <p:nvPr/>
            </p:nvSpPr>
            <p:spPr>
              <a:xfrm>
                <a:off x="60960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1" name="Rectangle 790"/>
              <p:cNvSpPr/>
              <p:nvPr/>
            </p:nvSpPr>
            <p:spPr>
              <a:xfrm>
                <a:off x="60960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2" name="Rectangle 791"/>
              <p:cNvSpPr/>
              <p:nvPr/>
            </p:nvSpPr>
            <p:spPr>
              <a:xfrm>
                <a:off x="60960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3" name="Rectangle 792"/>
              <p:cNvSpPr/>
              <p:nvPr/>
            </p:nvSpPr>
            <p:spPr>
              <a:xfrm>
                <a:off x="60960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4" name="Rectangle 793"/>
              <p:cNvSpPr/>
              <p:nvPr/>
            </p:nvSpPr>
            <p:spPr>
              <a:xfrm>
                <a:off x="60960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1" name="Group 80"/>
            <p:cNvGrpSpPr/>
            <p:nvPr/>
          </p:nvGrpSpPr>
          <p:grpSpPr>
            <a:xfrm>
              <a:off x="7315200" y="2286000"/>
              <a:ext cx="457200" cy="457200"/>
              <a:chOff x="4495800" y="1981200"/>
              <a:chExt cx="1828800" cy="1828800"/>
            </a:xfrm>
          </p:grpSpPr>
          <p:sp>
            <p:nvSpPr>
              <p:cNvPr id="667" name="Rectangle 666"/>
              <p:cNvSpPr/>
              <p:nvPr/>
            </p:nvSpPr>
            <p:spPr>
              <a:xfrm flipV="1">
                <a:off x="44958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8" name="Rectangle 667"/>
              <p:cNvSpPr/>
              <p:nvPr/>
            </p:nvSpPr>
            <p:spPr>
              <a:xfrm flipV="1">
                <a:off x="44958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9" name="Rectangle 668"/>
              <p:cNvSpPr/>
              <p:nvPr/>
            </p:nvSpPr>
            <p:spPr>
              <a:xfrm flipV="1">
                <a:off x="44958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0" name="Rectangle 669"/>
              <p:cNvSpPr/>
              <p:nvPr/>
            </p:nvSpPr>
            <p:spPr>
              <a:xfrm flipV="1">
                <a:off x="44958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1" name="Rectangle 670"/>
              <p:cNvSpPr/>
              <p:nvPr/>
            </p:nvSpPr>
            <p:spPr>
              <a:xfrm>
                <a:off x="47244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2" name="Rectangle 671"/>
              <p:cNvSpPr/>
              <p:nvPr/>
            </p:nvSpPr>
            <p:spPr>
              <a:xfrm>
                <a:off x="47244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3" name="Rectangle 672"/>
              <p:cNvSpPr/>
              <p:nvPr/>
            </p:nvSpPr>
            <p:spPr>
              <a:xfrm>
                <a:off x="47244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4" name="Rectangle 673"/>
              <p:cNvSpPr/>
              <p:nvPr/>
            </p:nvSpPr>
            <p:spPr>
              <a:xfrm>
                <a:off x="47244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5" name="Rectangle 674"/>
              <p:cNvSpPr/>
              <p:nvPr/>
            </p:nvSpPr>
            <p:spPr>
              <a:xfrm flipV="1">
                <a:off x="49530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6" name="Rectangle 675"/>
              <p:cNvSpPr/>
              <p:nvPr/>
            </p:nvSpPr>
            <p:spPr>
              <a:xfrm flipV="1">
                <a:off x="49530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7" name="Rectangle 676"/>
              <p:cNvSpPr/>
              <p:nvPr/>
            </p:nvSpPr>
            <p:spPr>
              <a:xfrm flipV="1">
                <a:off x="49530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8" name="Rectangle 677"/>
              <p:cNvSpPr/>
              <p:nvPr/>
            </p:nvSpPr>
            <p:spPr>
              <a:xfrm flipV="1">
                <a:off x="49530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9" name="Rectangle 678"/>
              <p:cNvSpPr/>
              <p:nvPr/>
            </p:nvSpPr>
            <p:spPr>
              <a:xfrm flipV="1">
                <a:off x="44958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0" name="Rectangle 679"/>
              <p:cNvSpPr/>
              <p:nvPr/>
            </p:nvSpPr>
            <p:spPr>
              <a:xfrm flipV="1">
                <a:off x="44958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1" name="Rectangle 680"/>
              <p:cNvSpPr/>
              <p:nvPr/>
            </p:nvSpPr>
            <p:spPr>
              <a:xfrm flipV="1">
                <a:off x="44958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2" name="Rectangle 681"/>
              <p:cNvSpPr/>
              <p:nvPr/>
            </p:nvSpPr>
            <p:spPr>
              <a:xfrm flipV="1">
                <a:off x="44958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3" name="Rectangle 682"/>
              <p:cNvSpPr/>
              <p:nvPr/>
            </p:nvSpPr>
            <p:spPr>
              <a:xfrm>
                <a:off x="47244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4" name="Rectangle 683"/>
              <p:cNvSpPr/>
              <p:nvPr/>
            </p:nvSpPr>
            <p:spPr>
              <a:xfrm>
                <a:off x="47244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5" name="Rectangle 684"/>
              <p:cNvSpPr/>
              <p:nvPr/>
            </p:nvSpPr>
            <p:spPr>
              <a:xfrm>
                <a:off x="47244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6" name="Rectangle 685"/>
              <p:cNvSpPr/>
              <p:nvPr/>
            </p:nvSpPr>
            <p:spPr>
              <a:xfrm>
                <a:off x="47244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7" name="Rectangle 686"/>
              <p:cNvSpPr/>
              <p:nvPr/>
            </p:nvSpPr>
            <p:spPr>
              <a:xfrm flipV="1">
                <a:off x="49530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8" name="Rectangle 687"/>
              <p:cNvSpPr/>
              <p:nvPr/>
            </p:nvSpPr>
            <p:spPr>
              <a:xfrm flipV="1">
                <a:off x="49530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9" name="Rectangle 688"/>
              <p:cNvSpPr/>
              <p:nvPr/>
            </p:nvSpPr>
            <p:spPr>
              <a:xfrm flipV="1">
                <a:off x="49530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0" name="Rectangle 689"/>
              <p:cNvSpPr/>
              <p:nvPr/>
            </p:nvSpPr>
            <p:spPr>
              <a:xfrm flipV="1">
                <a:off x="49530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1" name="Rectangle 690"/>
              <p:cNvSpPr/>
              <p:nvPr/>
            </p:nvSpPr>
            <p:spPr>
              <a:xfrm>
                <a:off x="51816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2" name="Rectangle 691"/>
              <p:cNvSpPr/>
              <p:nvPr/>
            </p:nvSpPr>
            <p:spPr>
              <a:xfrm>
                <a:off x="51816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3" name="Rectangle 692"/>
              <p:cNvSpPr/>
              <p:nvPr/>
            </p:nvSpPr>
            <p:spPr>
              <a:xfrm>
                <a:off x="51816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4" name="Rectangle 693"/>
              <p:cNvSpPr/>
              <p:nvPr/>
            </p:nvSpPr>
            <p:spPr>
              <a:xfrm>
                <a:off x="51816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5" name="Rectangle 694"/>
              <p:cNvSpPr/>
              <p:nvPr/>
            </p:nvSpPr>
            <p:spPr>
              <a:xfrm flipV="1">
                <a:off x="54102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6" name="Rectangle 695"/>
              <p:cNvSpPr/>
              <p:nvPr/>
            </p:nvSpPr>
            <p:spPr>
              <a:xfrm flipV="1">
                <a:off x="54102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7" name="Rectangle 696"/>
              <p:cNvSpPr/>
              <p:nvPr/>
            </p:nvSpPr>
            <p:spPr>
              <a:xfrm flipV="1">
                <a:off x="54102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8" name="Rectangle 697"/>
              <p:cNvSpPr/>
              <p:nvPr/>
            </p:nvSpPr>
            <p:spPr>
              <a:xfrm flipV="1">
                <a:off x="54102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9" name="Rectangle 698"/>
              <p:cNvSpPr/>
              <p:nvPr/>
            </p:nvSpPr>
            <p:spPr>
              <a:xfrm>
                <a:off x="56388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0" name="Rectangle 699"/>
              <p:cNvSpPr/>
              <p:nvPr/>
            </p:nvSpPr>
            <p:spPr>
              <a:xfrm>
                <a:off x="56388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1" name="Rectangle 700"/>
              <p:cNvSpPr/>
              <p:nvPr/>
            </p:nvSpPr>
            <p:spPr>
              <a:xfrm>
                <a:off x="56388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2" name="Rectangle 701"/>
              <p:cNvSpPr/>
              <p:nvPr/>
            </p:nvSpPr>
            <p:spPr>
              <a:xfrm>
                <a:off x="56388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3" name="Rectangle 702"/>
              <p:cNvSpPr/>
              <p:nvPr/>
            </p:nvSpPr>
            <p:spPr>
              <a:xfrm flipV="1">
                <a:off x="58674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4" name="Rectangle 703"/>
              <p:cNvSpPr/>
              <p:nvPr/>
            </p:nvSpPr>
            <p:spPr>
              <a:xfrm flipV="1">
                <a:off x="58674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5" name="Rectangle 704"/>
              <p:cNvSpPr/>
              <p:nvPr/>
            </p:nvSpPr>
            <p:spPr>
              <a:xfrm flipV="1">
                <a:off x="58674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6" name="Rectangle 705"/>
              <p:cNvSpPr/>
              <p:nvPr/>
            </p:nvSpPr>
            <p:spPr>
              <a:xfrm flipV="1">
                <a:off x="58674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7" name="Rectangle 706"/>
              <p:cNvSpPr/>
              <p:nvPr/>
            </p:nvSpPr>
            <p:spPr>
              <a:xfrm>
                <a:off x="51816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8" name="Rectangle 707"/>
              <p:cNvSpPr/>
              <p:nvPr/>
            </p:nvSpPr>
            <p:spPr>
              <a:xfrm>
                <a:off x="51816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9" name="Rectangle 708"/>
              <p:cNvSpPr/>
              <p:nvPr/>
            </p:nvSpPr>
            <p:spPr>
              <a:xfrm>
                <a:off x="51816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0" name="Rectangle 709"/>
              <p:cNvSpPr/>
              <p:nvPr/>
            </p:nvSpPr>
            <p:spPr>
              <a:xfrm>
                <a:off x="51816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1" name="Rectangle 710"/>
              <p:cNvSpPr/>
              <p:nvPr/>
            </p:nvSpPr>
            <p:spPr>
              <a:xfrm flipV="1">
                <a:off x="54102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2" name="Rectangle 711"/>
              <p:cNvSpPr/>
              <p:nvPr/>
            </p:nvSpPr>
            <p:spPr>
              <a:xfrm flipV="1">
                <a:off x="54102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3" name="Rectangle 712"/>
              <p:cNvSpPr/>
              <p:nvPr/>
            </p:nvSpPr>
            <p:spPr>
              <a:xfrm flipV="1">
                <a:off x="54102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4" name="Rectangle 713"/>
              <p:cNvSpPr/>
              <p:nvPr/>
            </p:nvSpPr>
            <p:spPr>
              <a:xfrm flipV="1">
                <a:off x="54102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5" name="Rectangle 714"/>
              <p:cNvSpPr/>
              <p:nvPr/>
            </p:nvSpPr>
            <p:spPr>
              <a:xfrm>
                <a:off x="56388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6" name="Rectangle 715"/>
              <p:cNvSpPr/>
              <p:nvPr/>
            </p:nvSpPr>
            <p:spPr>
              <a:xfrm>
                <a:off x="56388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7" name="Rectangle 716"/>
              <p:cNvSpPr/>
              <p:nvPr/>
            </p:nvSpPr>
            <p:spPr>
              <a:xfrm>
                <a:off x="56388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8" name="Rectangle 717"/>
              <p:cNvSpPr/>
              <p:nvPr/>
            </p:nvSpPr>
            <p:spPr>
              <a:xfrm>
                <a:off x="56388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9" name="Rectangle 718"/>
              <p:cNvSpPr/>
              <p:nvPr/>
            </p:nvSpPr>
            <p:spPr>
              <a:xfrm flipV="1">
                <a:off x="58674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0" name="Rectangle 719"/>
              <p:cNvSpPr/>
              <p:nvPr/>
            </p:nvSpPr>
            <p:spPr>
              <a:xfrm flipV="1">
                <a:off x="58674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1" name="Rectangle 720"/>
              <p:cNvSpPr/>
              <p:nvPr/>
            </p:nvSpPr>
            <p:spPr>
              <a:xfrm flipV="1">
                <a:off x="58674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2" name="Rectangle 721"/>
              <p:cNvSpPr/>
              <p:nvPr/>
            </p:nvSpPr>
            <p:spPr>
              <a:xfrm flipV="1">
                <a:off x="58674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3" name="Rectangle 722"/>
              <p:cNvSpPr/>
              <p:nvPr/>
            </p:nvSpPr>
            <p:spPr>
              <a:xfrm>
                <a:off x="60960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4" name="Rectangle 723"/>
              <p:cNvSpPr/>
              <p:nvPr/>
            </p:nvSpPr>
            <p:spPr>
              <a:xfrm>
                <a:off x="60960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5" name="Rectangle 724"/>
              <p:cNvSpPr/>
              <p:nvPr/>
            </p:nvSpPr>
            <p:spPr>
              <a:xfrm>
                <a:off x="60960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6" name="Rectangle 725"/>
              <p:cNvSpPr/>
              <p:nvPr/>
            </p:nvSpPr>
            <p:spPr>
              <a:xfrm>
                <a:off x="60960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7" name="Rectangle 726"/>
              <p:cNvSpPr/>
              <p:nvPr/>
            </p:nvSpPr>
            <p:spPr>
              <a:xfrm>
                <a:off x="60960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8" name="Rectangle 727"/>
              <p:cNvSpPr/>
              <p:nvPr/>
            </p:nvSpPr>
            <p:spPr>
              <a:xfrm>
                <a:off x="60960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9" name="Rectangle 728"/>
              <p:cNvSpPr/>
              <p:nvPr/>
            </p:nvSpPr>
            <p:spPr>
              <a:xfrm>
                <a:off x="60960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0" name="Rectangle 729"/>
              <p:cNvSpPr/>
              <p:nvPr/>
            </p:nvSpPr>
            <p:spPr>
              <a:xfrm>
                <a:off x="60960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7772400" y="2286000"/>
              <a:ext cx="457200" cy="457200"/>
              <a:chOff x="4495800" y="1981200"/>
              <a:chExt cx="1828800" cy="1828800"/>
            </a:xfrm>
          </p:grpSpPr>
          <p:sp>
            <p:nvSpPr>
              <p:cNvPr id="603" name="Rectangle 602"/>
              <p:cNvSpPr/>
              <p:nvPr/>
            </p:nvSpPr>
            <p:spPr>
              <a:xfrm flipV="1">
                <a:off x="44958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4" name="Rectangle 603"/>
              <p:cNvSpPr/>
              <p:nvPr/>
            </p:nvSpPr>
            <p:spPr>
              <a:xfrm flipV="1">
                <a:off x="44958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5" name="Rectangle 604"/>
              <p:cNvSpPr/>
              <p:nvPr/>
            </p:nvSpPr>
            <p:spPr>
              <a:xfrm flipV="1">
                <a:off x="44958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6" name="Rectangle 605"/>
              <p:cNvSpPr/>
              <p:nvPr/>
            </p:nvSpPr>
            <p:spPr>
              <a:xfrm flipV="1">
                <a:off x="44958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7" name="Rectangle 606"/>
              <p:cNvSpPr/>
              <p:nvPr/>
            </p:nvSpPr>
            <p:spPr>
              <a:xfrm>
                <a:off x="47244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8" name="Rectangle 607"/>
              <p:cNvSpPr/>
              <p:nvPr/>
            </p:nvSpPr>
            <p:spPr>
              <a:xfrm>
                <a:off x="47244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9" name="Rectangle 608"/>
              <p:cNvSpPr/>
              <p:nvPr/>
            </p:nvSpPr>
            <p:spPr>
              <a:xfrm>
                <a:off x="47244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0" name="Rectangle 609"/>
              <p:cNvSpPr/>
              <p:nvPr/>
            </p:nvSpPr>
            <p:spPr>
              <a:xfrm>
                <a:off x="47244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1" name="Rectangle 610"/>
              <p:cNvSpPr/>
              <p:nvPr/>
            </p:nvSpPr>
            <p:spPr>
              <a:xfrm flipV="1">
                <a:off x="49530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2" name="Rectangle 611"/>
              <p:cNvSpPr/>
              <p:nvPr/>
            </p:nvSpPr>
            <p:spPr>
              <a:xfrm flipV="1">
                <a:off x="49530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3" name="Rectangle 612"/>
              <p:cNvSpPr/>
              <p:nvPr/>
            </p:nvSpPr>
            <p:spPr>
              <a:xfrm flipV="1">
                <a:off x="49530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4" name="Rectangle 613"/>
              <p:cNvSpPr/>
              <p:nvPr/>
            </p:nvSpPr>
            <p:spPr>
              <a:xfrm flipV="1">
                <a:off x="49530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5" name="Rectangle 614"/>
              <p:cNvSpPr/>
              <p:nvPr/>
            </p:nvSpPr>
            <p:spPr>
              <a:xfrm flipV="1">
                <a:off x="44958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6" name="Rectangle 615"/>
              <p:cNvSpPr/>
              <p:nvPr/>
            </p:nvSpPr>
            <p:spPr>
              <a:xfrm flipV="1">
                <a:off x="44958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7" name="Rectangle 616"/>
              <p:cNvSpPr/>
              <p:nvPr/>
            </p:nvSpPr>
            <p:spPr>
              <a:xfrm flipV="1">
                <a:off x="44958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8" name="Rectangle 617"/>
              <p:cNvSpPr/>
              <p:nvPr/>
            </p:nvSpPr>
            <p:spPr>
              <a:xfrm flipV="1">
                <a:off x="44958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9" name="Rectangle 618"/>
              <p:cNvSpPr/>
              <p:nvPr/>
            </p:nvSpPr>
            <p:spPr>
              <a:xfrm>
                <a:off x="47244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0" name="Rectangle 619"/>
              <p:cNvSpPr/>
              <p:nvPr/>
            </p:nvSpPr>
            <p:spPr>
              <a:xfrm>
                <a:off x="47244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1" name="Rectangle 620"/>
              <p:cNvSpPr/>
              <p:nvPr/>
            </p:nvSpPr>
            <p:spPr>
              <a:xfrm>
                <a:off x="47244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2" name="Rectangle 621"/>
              <p:cNvSpPr/>
              <p:nvPr/>
            </p:nvSpPr>
            <p:spPr>
              <a:xfrm>
                <a:off x="47244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3" name="Rectangle 622"/>
              <p:cNvSpPr/>
              <p:nvPr/>
            </p:nvSpPr>
            <p:spPr>
              <a:xfrm flipV="1">
                <a:off x="49530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4" name="Rectangle 623"/>
              <p:cNvSpPr/>
              <p:nvPr/>
            </p:nvSpPr>
            <p:spPr>
              <a:xfrm flipV="1">
                <a:off x="49530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5" name="Rectangle 624"/>
              <p:cNvSpPr/>
              <p:nvPr/>
            </p:nvSpPr>
            <p:spPr>
              <a:xfrm flipV="1">
                <a:off x="49530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6" name="Rectangle 625"/>
              <p:cNvSpPr/>
              <p:nvPr/>
            </p:nvSpPr>
            <p:spPr>
              <a:xfrm flipV="1">
                <a:off x="49530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7" name="Rectangle 626"/>
              <p:cNvSpPr/>
              <p:nvPr/>
            </p:nvSpPr>
            <p:spPr>
              <a:xfrm>
                <a:off x="51816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8" name="Rectangle 627"/>
              <p:cNvSpPr/>
              <p:nvPr/>
            </p:nvSpPr>
            <p:spPr>
              <a:xfrm>
                <a:off x="51816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9" name="Rectangle 628"/>
              <p:cNvSpPr/>
              <p:nvPr/>
            </p:nvSpPr>
            <p:spPr>
              <a:xfrm>
                <a:off x="51816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0" name="Rectangle 629"/>
              <p:cNvSpPr/>
              <p:nvPr/>
            </p:nvSpPr>
            <p:spPr>
              <a:xfrm>
                <a:off x="51816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1" name="Rectangle 630"/>
              <p:cNvSpPr/>
              <p:nvPr/>
            </p:nvSpPr>
            <p:spPr>
              <a:xfrm flipV="1">
                <a:off x="54102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2" name="Rectangle 631"/>
              <p:cNvSpPr/>
              <p:nvPr/>
            </p:nvSpPr>
            <p:spPr>
              <a:xfrm flipV="1">
                <a:off x="54102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3" name="Rectangle 632"/>
              <p:cNvSpPr/>
              <p:nvPr/>
            </p:nvSpPr>
            <p:spPr>
              <a:xfrm flipV="1">
                <a:off x="54102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4" name="Rectangle 633"/>
              <p:cNvSpPr/>
              <p:nvPr/>
            </p:nvSpPr>
            <p:spPr>
              <a:xfrm flipV="1">
                <a:off x="54102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5" name="Rectangle 634"/>
              <p:cNvSpPr/>
              <p:nvPr/>
            </p:nvSpPr>
            <p:spPr>
              <a:xfrm>
                <a:off x="56388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6" name="Rectangle 635"/>
              <p:cNvSpPr/>
              <p:nvPr/>
            </p:nvSpPr>
            <p:spPr>
              <a:xfrm>
                <a:off x="56388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7" name="Rectangle 636"/>
              <p:cNvSpPr/>
              <p:nvPr/>
            </p:nvSpPr>
            <p:spPr>
              <a:xfrm>
                <a:off x="56388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8" name="Rectangle 637"/>
              <p:cNvSpPr/>
              <p:nvPr/>
            </p:nvSpPr>
            <p:spPr>
              <a:xfrm>
                <a:off x="56388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9" name="Rectangle 638"/>
              <p:cNvSpPr/>
              <p:nvPr/>
            </p:nvSpPr>
            <p:spPr>
              <a:xfrm flipV="1">
                <a:off x="58674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0" name="Rectangle 639"/>
              <p:cNvSpPr/>
              <p:nvPr/>
            </p:nvSpPr>
            <p:spPr>
              <a:xfrm flipV="1">
                <a:off x="58674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1" name="Rectangle 640"/>
              <p:cNvSpPr/>
              <p:nvPr/>
            </p:nvSpPr>
            <p:spPr>
              <a:xfrm flipV="1">
                <a:off x="58674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2" name="Rectangle 641"/>
              <p:cNvSpPr/>
              <p:nvPr/>
            </p:nvSpPr>
            <p:spPr>
              <a:xfrm flipV="1">
                <a:off x="58674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3" name="Rectangle 642"/>
              <p:cNvSpPr/>
              <p:nvPr/>
            </p:nvSpPr>
            <p:spPr>
              <a:xfrm>
                <a:off x="51816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4" name="Rectangle 643"/>
              <p:cNvSpPr/>
              <p:nvPr/>
            </p:nvSpPr>
            <p:spPr>
              <a:xfrm>
                <a:off x="51816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5" name="Rectangle 644"/>
              <p:cNvSpPr/>
              <p:nvPr/>
            </p:nvSpPr>
            <p:spPr>
              <a:xfrm>
                <a:off x="51816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6" name="Rectangle 645"/>
              <p:cNvSpPr/>
              <p:nvPr/>
            </p:nvSpPr>
            <p:spPr>
              <a:xfrm>
                <a:off x="51816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7" name="Rectangle 646"/>
              <p:cNvSpPr/>
              <p:nvPr/>
            </p:nvSpPr>
            <p:spPr>
              <a:xfrm flipV="1">
                <a:off x="54102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8" name="Rectangle 647"/>
              <p:cNvSpPr/>
              <p:nvPr/>
            </p:nvSpPr>
            <p:spPr>
              <a:xfrm flipV="1">
                <a:off x="54102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9" name="Rectangle 648"/>
              <p:cNvSpPr/>
              <p:nvPr/>
            </p:nvSpPr>
            <p:spPr>
              <a:xfrm flipV="1">
                <a:off x="54102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0" name="Rectangle 649"/>
              <p:cNvSpPr/>
              <p:nvPr/>
            </p:nvSpPr>
            <p:spPr>
              <a:xfrm flipV="1">
                <a:off x="54102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1" name="Rectangle 650"/>
              <p:cNvSpPr/>
              <p:nvPr/>
            </p:nvSpPr>
            <p:spPr>
              <a:xfrm>
                <a:off x="56388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2" name="Rectangle 651"/>
              <p:cNvSpPr/>
              <p:nvPr/>
            </p:nvSpPr>
            <p:spPr>
              <a:xfrm>
                <a:off x="56388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3" name="Rectangle 652"/>
              <p:cNvSpPr/>
              <p:nvPr/>
            </p:nvSpPr>
            <p:spPr>
              <a:xfrm>
                <a:off x="56388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4" name="Rectangle 653"/>
              <p:cNvSpPr/>
              <p:nvPr/>
            </p:nvSpPr>
            <p:spPr>
              <a:xfrm>
                <a:off x="56388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5" name="Rectangle 654"/>
              <p:cNvSpPr/>
              <p:nvPr/>
            </p:nvSpPr>
            <p:spPr>
              <a:xfrm flipV="1">
                <a:off x="58674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6" name="Rectangle 655"/>
              <p:cNvSpPr/>
              <p:nvPr/>
            </p:nvSpPr>
            <p:spPr>
              <a:xfrm flipV="1">
                <a:off x="58674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7" name="Rectangle 656"/>
              <p:cNvSpPr/>
              <p:nvPr/>
            </p:nvSpPr>
            <p:spPr>
              <a:xfrm flipV="1">
                <a:off x="58674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8" name="Rectangle 657"/>
              <p:cNvSpPr/>
              <p:nvPr/>
            </p:nvSpPr>
            <p:spPr>
              <a:xfrm flipV="1">
                <a:off x="58674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9" name="Rectangle 658"/>
              <p:cNvSpPr/>
              <p:nvPr/>
            </p:nvSpPr>
            <p:spPr>
              <a:xfrm>
                <a:off x="60960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0" name="Rectangle 659"/>
              <p:cNvSpPr/>
              <p:nvPr/>
            </p:nvSpPr>
            <p:spPr>
              <a:xfrm>
                <a:off x="60960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1" name="Rectangle 660"/>
              <p:cNvSpPr/>
              <p:nvPr/>
            </p:nvSpPr>
            <p:spPr>
              <a:xfrm>
                <a:off x="60960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2" name="Rectangle 661"/>
              <p:cNvSpPr/>
              <p:nvPr/>
            </p:nvSpPr>
            <p:spPr>
              <a:xfrm>
                <a:off x="60960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3" name="Rectangle 662"/>
              <p:cNvSpPr/>
              <p:nvPr/>
            </p:nvSpPr>
            <p:spPr>
              <a:xfrm>
                <a:off x="60960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4" name="Rectangle 663"/>
              <p:cNvSpPr/>
              <p:nvPr/>
            </p:nvSpPr>
            <p:spPr>
              <a:xfrm>
                <a:off x="60960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5" name="Rectangle 664"/>
              <p:cNvSpPr/>
              <p:nvPr/>
            </p:nvSpPr>
            <p:spPr>
              <a:xfrm>
                <a:off x="60960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6" name="Rectangle 665"/>
              <p:cNvSpPr/>
              <p:nvPr/>
            </p:nvSpPr>
            <p:spPr>
              <a:xfrm>
                <a:off x="60960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3" name="Group 82"/>
            <p:cNvGrpSpPr/>
            <p:nvPr/>
          </p:nvGrpSpPr>
          <p:grpSpPr>
            <a:xfrm>
              <a:off x="6400800" y="2743200"/>
              <a:ext cx="457200" cy="457200"/>
              <a:chOff x="4495800" y="1981200"/>
              <a:chExt cx="1828800" cy="1828800"/>
            </a:xfrm>
          </p:grpSpPr>
          <p:sp>
            <p:nvSpPr>
              <p:cNvPr id="539" name="Rectangle 538"/>
              <p:cNvSpPr/>
              <p:nvPr/>
            </p:nvSpPr>
            <p:spPr>
              <a:xfrm flipV="1">
                <a:off x="44958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0" name="Rectangle 539"/>
              <p:cNvSpPr/>
              <p:nvPr/>
            </p:nvSpPr>
            <p:spPr>
              <a:xfrm flipV="1">
                <a:off x="44958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1" name="Rectangle 540"/>
              <p:cNvSpPr/>
              <p:nvPr/>
            </p:nvSpPr>
            <p:spPr>
              <a:xfrm flipV="1">
                <a:off x="44958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2" name="Rectangle 541"/>
              <p:cNvSpPr/>
              <p:nvPr/>
            </p:nvSpPr>
            <p:spPr>
              <a:xfrm flipV="1">
                <a:off x="44958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3" name="Rectangle 542"/>
              <p:cNvSpPr/>
              <p:nvPr/>
            </p:nvSpPr>
            <p:spPr>
              <a:xfrm>
                <a:off x="47244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4" name="Rectangle 543"/>
              <p:cNvSpPr/>
              <p:nvPr/>
            </p:nvSpPr>
            <p:spPr>
              <a:xfrm>
                <a:off x="47244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5" name="Rectangle 544"/>
              <p:cNvSpPr/>
              <p:nvPr/>
            </p:nvSpPr>
            <p:spPr>
              <a:xfrm>
                <a:off x="47244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6" name="Rectangle 545"/>
              <p:cNvSpPr/>
              <p:nvPr/>
            </p:nvSpPr>
            <p:spPr>
              <a:xfrm>
                <a:off x="47244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7" name="Rectangle 546"/>
              <p:cNvSpPr/>
              <p:nvPr/>
            </p:nvSpPr>
            <p:spPr>
              <a:xfrm flipV="1">
                <a:off x="49530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8" name="Rectangle 547"/>
              <p:cNvSpPr/>
              <p:nvPr/>
            </p:nvSpPr>
            <p:spPr>
              <a:xfrm flipV="1">
                <a:off x="49530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9" name="Rectangle 548"/>
              <p:cNvSpPr/>
              <p:nvPr/>
            </p:nvSpPr>
            <p:spPr>
              <a:xfrm flipV="1">
                <a:off x="49530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0" name="Rectangle 549"/>
              <p:cNvSpPr/>
              <p:nvPr/>
            </p:nvSpPr>
            <p:spPr>
              <a:xfrm flipV="1">
                <a:off x="49530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1" name="Rectangle 550"/>
              <p:cNvSpPr/>
              <p:nvPr/>
            </p:nvSpPr>
            <p:spPr>
              <a:xfrm flipV="1">
                <a:off x="44958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2" name="Rectangle 551"/>
              <p:cNvSpPr/>
              <p:nvPr/>
            </p:nvSpPr>
            <p:spPr>
              <a:xfrm flipV="1">
                <a:off x="44958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3" name="Rectangle 552"/>
              <p:cNvSpPr/>
              <p:nvPr/>
            </p:nvSpPr>
            <p:spPr>
              <a:xfrm flipV="1">
                <a:off x="44958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4" name="Rectangle 553"/>
              <p:cNvSpPr/>
              <p:nvPr/>
            </p:nvSpPr>
            <p:spPr>
              <a:xfrm flipV="1">
                <a:off x="44958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5" name="Rectangle 554"/>
              <p:cNvSpPr/>
              <p:nvPr/>
            </p:nvSpPr>
            <p:spPr>
              <a:xfrm>
                <a:off x="47244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6" name="Rectangle 555"/>
              <p:cNvSpPr/>
              <p:nvPr/>
            </p:nvSpPr>
            <p:spPr>
              <a:xfrm>
                <a:off x="47244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7" name="Rectangle 556"/>
              <p:cNvSpPr/>
              <p:nvPr/>
            </p:nvSpPr>
            <p:spPr>
              <a:xfrm>
                <a:off x="47244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8" name="Rectangle 557"/>
              <p:cNvSpPr/>
              <p:nvPr/>
            </p:nvSpPr>
            <p:spPr>
              <a:xfrm>
                <a:off x="47244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9" name="Rectangle 558"/>
              <p:cNvSpPr/>
              <p:nvPr/>
            </p:nvSpPr>
            <p:spPr>
              <a:xfrm flipV="1">
                <a:off x="49530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0" name="Rectangle 559"/>
              <p:cNvSpPr/>
              <p:nvPr/>
            </p:nvSpPr>
            <p:spPr>
              <a:xfrm flipV="1">
                <a:off x="49530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1" name="Rectangle 560"/>
              <p:cNvSpPr/>
              <p:nvPr/>
            </p:nvSpPr>
            <p:spPr>
              <a:xfrm flipV="1">
                <a:off x="49530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2" name="Rectangle 561"/>
              <p:cNvSpPr/>
              <p:nvPr/>
            </p:nvSpPr>
            <p:spPr>
              <a:xfrm flipV="1">
                <a:off x="49530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3" name="Rectangle 562"/>
              <p:cNvSpPr/>
              <p:nvPr/>
            </p:nvSpPr>
            <p:spPr>
              <a:xfrm>
                <a:off x="51816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4" name="Rectangle 563"/>
              <p:cNvSpPr/>
              <p:nvPr/>
            </p:nvSpPr>
            <p:spPr>
              <a:xfrm>
                <a:off x="51816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5" name="Rectangle 564"/>
              <p:cNvSpPr/>
              <p:nvPr/>
            </p:nvSpPr>
            <p:spPr>
              <a:xfrm>
                <a:off x="51816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6" name="Rectangle 565"/>
              <p:cNvSpPr/>
              <p:nvPr/>
            </p:nvSpPr>
            <p:spPr>
              <a:xfrm>
                <a:off x="51816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7" name="Rectangle 566"/>
              <p:cNvSpPr/>
              <p:nvPr/>
            </p:nvSpPr>
            <p:spPr>
              <a:xfrm flipV="1">
                <a:off x="54102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8" name="Rectangle 567"/>
              <p:cNvSpPr/>
              <p:nvPr/>
            </p:nvSpPr>
            <p:spPr>
              <a:xfrm flipV="1">
                <a:off x="54102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9" name="Rectangle 568"/>
              <p:cNvSpPr/>
              <p:nvPr/>
            </p:nvSpPr>
            <p:spPr>
              <a:xfrm flipV="1">
                <a:off x="54102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0" name="Rectangle 569"/>
              <p:cNvSpPr/>
              <p:nvPr/>
            </p:nvSpPr>
            <p:spPr>
              <a:xfrm flipV="1">
                <a:off x="54102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1" name="Rectangle 570"/>
              <p:cNvSpPr/>
              <p:nvPr/>
            </p:nvSpPr>
            <p:spPr>
              <a:xfrm>
                <a:off x="56388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2" name="Rectangle 571"/>
              <p:cNvSpPr/>
              <p:nvPr/>
            </p:nvSpPr>
            <p:spPr>
              <a:xfrm>
                <a:off x="56388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3" name="Rectangle 572"/>
              <p:cNvSpPr/>
              <p:nvPr/>
            </p:nvSpPr>
            <p:spPr>
              <a:xfrm>
                <a:off x="56388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4" name="Rectangle 573"/>
              <p:cNvSpPr/>
              <p:nvPr/>
            </p:nvSpPr>
            <p:spPr>
              <a:xfrm>
                <a:off x="56388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5" name="Rectangle 574"/>
              <p:cNvSpPr/>
              <p:nvPr/>
            </p:nvSpPr>
            <p:spPr>
              <a:xfrm flipV="1">
                <a:off x="58674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6" name="Rectangle 575"/>
              <p:cNvSpPr/>
              <p:nvPr/>
            </p:nvSpPr>
            <p:spPr>
              <a:xfrm flipV="1">
                <a:off x="58674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7" name="Rectangle 576"/>
              <p:cNvSpPr/>
              <p:nvPr/>
            </p:nvSpPr>
            <p:spPr>
              <a:xfrm flipV="1">
                <a:off x="58674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8" name="Rectangle 577"/>
              <p:cNvSpPr/>
              <p:nvPr/>
            </p:nvSpPr>
            <p:spPr>
              <a:xfrm flipV="1">
                <a:off x="58674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9" name="Rectangle 578"/>
              <p:cNvSpPr/>
              <p:nvPr/>
            </p:nvSpPr>
            <p:spPr>
              <a:xfrm>
                <a:off x="51816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0" name="Rectangle 579"/>
              <p:cNvSpPr/>
              <p:nvPr/>
            </p:nvSpPr>
            <p:spPr>
              <a:xfrm>
                <a:off x="51816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1" name="Rectangle 580"/>
              <p:cNvSpPr/>
              <p:nvPr/>
            </p:nvSpPr>
            <p:spPr>
              <a:xfrm>
                <a:off x="51816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2" name="Rectangle 581"/>
              <p:cNvSpPr/>
              <p:nvPr/>
            </p:nvSpPr>
            <p:spPr>
              <a:xfrm>
                <a:off x="51816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3" name="Rectangle 582"/>
              <p:cNvSpPr/>
              <p:nvPr/>
            </p:nvSpPr>
            <p:spPr>
              <a:xfrm flipV="1">
                <a:off x="54102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4" name="Rectangle 583"/>
              <p:cNvSpPr/>
              <p:nvPr/>
            </p:nvSpPr>
            <p:spPr>
              <a:xfrm flipV="1">
                <a:off x="54102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5" name="Rectangle 584"/>
              <p:cNvSpPr/>
              <p:nvPr/>
            </p:nvSpPr>
            <p:spPr>
              <a:xfrm flipV="1">
                <a:off x="54102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6" name="Rectangle 585"/>
              <p:cNvSpPr/>
              <p:nvPr/>
            </p:nvSpPr>
            <p:spPr>
              <a:xfrm flipV="1">
                <a:off x="54102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7" name="Rectangle 586"/>
              <p:cNvSpPr/>
              <p:nvPr/>
            </p:nvSpPr>
            <p:spPr>
              <a:xfrm>
                <a:off x="56388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8" name="Rectangle 587"/>
              <p:cNvSpPr/>
              <p:nvPr/>
            </p:nvSpPr>
            <p:spPr>
              <a:xfrm>
                <a:off x="56388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9" name="Rectangle 588"/>
              <p:cNvSpPr/>
              <p:nvPr/>
            </p:nvSpPr>
            <p:spPr>
              <a:xfrm>
                <a:off x="56388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0" name="Rectangle 589"/>
              <p:cNvSpPr/>
              <p:nvPr/>
            </p:nvSpPr>
            <p:spPr>
              <a:xfrm>
                <a:off x="56388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1" name="Rectangle 590"/>
              <p:cNvSpPr/>
              <p:nvPr/>
            </p:nvSpPr>
            <p:spPr>
              <a:xfrm flipV="1">
                <a:off x="58674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2" name="Rectangle 591"/>
              <p:cNvSpPr/>
              <p:nvPr/>
            </p:nvSpPr>
            <p:spPr>
              <a:xfrm flipV="1">
                <a:off x="58674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3" name="Rectangle 592"/>
              <p:cNvSpPr/>
              <p:nvPr/>
            </p:nvSpPr>
            <p:spPr>
              <a:xfrm flipV="1">
                <a:off x="58674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4" name="Rectangle 593"/>
              <p:cNvSpPr/>
              <p:nvPr/>
            </p:nvSpPr>
            <p:spPr>
              <a:xfrm flipV="1">
                <a:off x="58674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5" name="Rectangle 594"/>
              <p:cNvSpPr/>
              <p:nvPr/>
            </p:nvSpPr>
            <p:spPr>
              <a:xfrm>
                <a:off x="60960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6" name="Rectangle 595"/>
              <p:cNvSpPr/>
              <p:nvPr/>
            </p:nvSpPr>
            <p:spPr>
              <a:xfrm>
                <a:off x="60960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7" name="Rectangle 596"/>
              <p:cNvSpPr/>
              <p:nvPr/>
            </p:nvSpPr>
            <p:spPr>
              <a:xfrm>
                <a:off x="60960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8" name="Rectangle 597"/>
              <p:cNvSpPr/>
              <p:nvPr/>
            </p:nvSpPr>
            <p:spPr>
              <a:xfrm>
                <a:off x="60960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9" name="Rectangle 598"/>
              <p:cNvSpPr/>
              <p:nvPr/>
            </p:nvSpPr>
            <p:spPr>
              <a:xfrm>
                <a:off x="60960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0" name="Rectangle 599"/>
              <p:cNvSpPr/>
              <p:nvPr/>
            </p:nvSpPr>
            <p:spPr>
              <a:xfrm>
                <a:off x="60960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1" name="Rectangle 600"/>
              <p:cNvSpPr/>
              <p:nvPr/>
            </p:nvSpPr>
            <p:spPr>
              <a:xfrm>
                <a:off x="60960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2" name="Rectangle 601"/>
              <p:cNvSpPr/>
              <p:nvPr/>
            </p:nvSpPr>
            <p:spPr>
              <a:xfrm>
                <a:off x="60960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6858000" y="2743200"/>
              <a:ext cx="457200" cy="457200"/>
              <a:chOff x="4495800" y="1981200"/>
              <a:chExt cx="1828800" cy="1828800"/>
            </a:xfrm>
          </p:grpSpPr>
          <p:sp>
            <p:nvSpPr>
              <p:cNvPr id="475" name="Rectangle 474"/>
              <p:cNvSpPr/>
              <p:nvPr/>
            </p:nvSpPr>
            <p:spPr>
              <a:xfrm flipV="1">
                <a:off x="44958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6" name="Rectangle 475"/>
              <p:cNvSpPr/>
              <p:nvPr/>
            </p:nvSpPr>
            <p:spPr>
              <a:xfrm flipV="1">
                <a:off x="44958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7" name="Rectangle 476"/>
              <p:cNvSpPr/>
              <p:nvPr/>
            </p:nvSpPr>
            <p:spPr>
              <a:xfrm flipV="1">
                <a:off x="44958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8" name="Rectangle 477"/>
              <p:cNvSpPr/>
              <p:nvPr/>
            </p:nvSpPr>
            <p:spPr>
              <a:xfrm flipV="1">
                <a:off x="44958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9" name="Rectangle 478"/>
              <p:cNvSpPr/>
              <p:nvPr/>
            </p:nvSpPr>
            <p:spPr>
              <a:xfrm>
                <a:off x="47244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0" name="Rectangle 479"/>
              <p:cNvSpPr/>
              <p:nvPr/>
            </p:nvSpPr>
            <p:spPr>
              <a:xfrm>
                <a:off x="47244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1" name="Rectangle 480"/>
              <p:cNvSpPr/>
              <p:nvPr/>
            </p:nvSpPr>
            <p:spPr>
              <a:xfrm>
                <a:off x="47244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2" name="Rectangle 481"/>
              <p:cNvSpPr/>
              <p:nvPr/>
            </p:nvSpPr>
            <p:spPr>
              <a:xfrm>
                <a:off x="47244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3" name="Rectangle 482"/>
              <p:cNvSpPr/>
              <p:nvPr/>
            </p:nvSpPr>
            <p:spPr>
              <a:xfrm flipV="1">
                <a:off x="49530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4" name="Rectangle 483"/>
              <p:cNvSpPr/>
              <p:nvPr/>
            </p:nvSpPr>
            <p:spPr>
              <a:xfrm flipV="1">
                <a:off x="49530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5" name="Rectangle 484"/>
              <p:cNvSpPr/>
              <p:nvPr/>
            </p:nvSpPr>
            <p:spPr>
              <a:xfrm flipV="1">
                <a:off x="49530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6" name="Rectangle 485"/>
              <p:cNvSpPr/>
              <p:nvPr/>
            </p:nvSpPr>
            <p:spPr>
              <a:xfrm flipV="1">
                <a:off x="49530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7" name="Rectangle 486"/>
              <p:cNvSpPr/>
              <p:nvPr/>
            </p:nvSpPr>
            <p:spPr>
              <a:xfrm flipV="1">
                <a:off x="44958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8" name="Rectangle 487"/>
              <p:cNvSpPr/>
              <p:nvPr/>
            </p:nvSpPr>
            <p:spPr>
              <a:xfrm flipV="1">
                <a:off x="44958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9" name="Rectangle 488"/>
              <p:cNvSpPr/>
              <p:nvPr/>
            </p:nvSpPr>
            <p:spPr>
              <a:xfrm flipV="1">
                <a:off x="44958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0" name="Rectangle 489"/>
              <p:cNvSpPr/>
              <p:nvPr/>
            </p:nvSpPr>
            <p:spPr>
              <a:xfrm flipV="1">
                <a:off x="44958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1" name="Rectangle 490"/>
              <p:cNvSpPr/>
              <p:nvPr/>
            </p:nvSpPr>
            <p:spPr>
              <a:xfrm>
                <a:off x="47244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2" name="Rectangle 491"/>
              <p:cNvSpPr/>
              <p:nvPr/>
            </p:nvSpPr>
            <p:spPr>
              <a:xfrm>
                <a:off x="47244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3" name="Rectangle 492"/>
              <p:cNvSpPr/>
              <p:nvPr/>
            </p:nvSpPr>
            <p:spPr>
              <a:xfrm>
                <a:off x="47244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4" name="Rectangle 493"/>
              <p:cNvSpPr/>
              <p:nvPr/>
            </p:nvSpPr>
            <p:spPr>
              <a:xfrm>
                <a:off x="47244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5" name="Rectangle 494"/>
              <p:cNvSpPr/>
              <p:nvPr/>
            </p:nvSpPr>
            <p:spPr>
              <a:xfrm flipV="1">
                <a:off x="49530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6" name="Rectangle 495"/>
              <p:cNvSpPr/>
              <p:nvPr/>
            </p:nvSpPr>
            <p:spPr>
              <a:xfrm flipV="1">
                <a:off x="49530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7" name="Rectangle 496"/>
              <p:cNvSpPr/>
              <p:nvPr/>
            </p:nvSpPr>
            <p:spPr>
              <a:xfrm flipV="1">
                <a:off x="49530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8" name="Rectangle 497"/>
              <p:cNvSpPr/>
              <p:nvPr/>
            </p:nvSpPr>
            <p:spPr>
              <a:xfrm flipV="1">
                <a:off x="49530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9" name="Rectangle 498"/>
              <p:cNvSpPr/>
              <p:nvPr/>
            </p:nvSpPr>
            <p:spPr>
              <a:xfrm>
                <a:off x="51816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0" name="Rectangle 499"/>
              <p:cNvSpPr/>
              <p:nvPr/>
            </p:nvSpPr>
            <p:spPr>
              <a:xfrm>
                <a:off x="51816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1" name="Rectangle 500"/>
              <p:cNvSpPr/>
              <p:nvPr/>
            </p:nvSpPr>
            <p:spPr>
              <a:xfrm>
                <a:off x="51816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2" name="Rectangle 501"/>
              <p:cNvSpPr/>
              <p:nvPr/>
            </p:nvSpPr>
            <p:spPr>
              <a:xfrm>
                <a:off x="51816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3" name="Rectangle 502"/>
              <p:cNvSpPr/>
              <p:nvPr/>
            </p:nvSpPr>
            <p:spPr>
              <a:xfrm flipV="1">
                <a:off x="54102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4" name="Rectangle 503"/>
              <p:cNvSpPr/>
              <p:nvPr/>
            </p:nvSpPr>
            <p:spPr>
              <a:xfrm flipV="1">
                <a:off x="54102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5" name="Rectangle 504"/>
              <p:cNvSpPr/>
              <p:nvPr/>
            </p:nvSpPr>
            <p:spPr>
              <a:xfrm flipV="1">
                <a:off x="54102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6" name="Rectangle 505"/>
              <p:cNvSpPr/>
              <p:nvPr/>
            </p:nvSpPr>
            <p:spPr>
              <a:xfrm flipV="1">
                <a:off x="54102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7" name="Rectangle 506"/>
              <p:cNvSpPr/>
              <p:nvPr/>
            </p:nvSpPr>
            <p:spPr>
              <a:xfrm>
                <a:off x="56388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8" name="Rectangle 507"/>
              <p:cNvSpPr/>
              <p:nvPr/>
            </p:nvSpPr>
            <p:spPr>
              <a:xfrm>
                <a:off x="56388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9" name="Rectangle 508"/>
              <p:cNvSpPr/>
              <p:nvPr/>
            </p:nvSpPr>
            <p:spPr>
              <a:xfrm>
                <a:off x="56388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0" name="Rectangle 509"/>
              <p:cNvSpPr/>
              <p:nvPr/>
            </p:nvSpPr>
            <p:spPr>
              <a:xfrm>
                <a:off x="56388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1" name="Rectangle 510"/>
              <p:cNvSpPr/>
              <p:nvPr/>
            </p:nvSpPr>
            <p:spPr>
              <a:xfrm flipV="1">
                <a:off x="58674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2" name="Rectangle 511"/>
              <p:cNvSpPr/>
              <p:nvPr/>
            </p:nvSpPr>
            <p:spPr>
              <a:xfrm flipV="1">
                <a:off x="58674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3" name="Rectangle 512"/>
              <p:cNvSpPr/>
              <p:nvPr/>
            </p:nvSpPr>
            <p:spPr>
              <a:xfrm flipV="1">
                <a:off x="58674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4" name="Rectangle 513"/>
              <p:cNvSpPr/>
              <p:nvPr/>
            </p:nvSpPr>
            <p:spPr>
              <a:xfrm flipV="1">
                <a:off x="58674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5" name="Rectangle 514"/>
              <p:cNvSpPr/>
              <p:nvPr/>
            </p:nvSpPr>
            <p:spPr>
              <a:xfrm>
                <a:off x="51816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6" name="Rectangle 515"/>
              <p:cNvSpPr/>
              <p:nvPr/>
            </p:nvSpPr>
            <p:spPr>
              <a:xfrm>
                <a:off x="51816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7" name="Rectangle 516"/>
              <p:cNvSpPr/>
              <p:nvPr/>
            </p:nvSpPr>
            <p:spPr>
              <a:xfrm>
                <a:off x="51816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8" name="Rectangle 517"/>
              <p:cNvSpPr/>
              <p:nvPr/>
            </p:nvSpPr>
            <p:spPr>
              <a:xfrm>
                <a:off x="51816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9" name="Rectangle 518"/>
              <p:cNvSpPr/>
              <p:nvPr/>
            </p:nvSpPr>
            <p:spPr>
              <a:xfrm flipV="1">
                <a:off x="54102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0" name="Rectangle 519"/>
              <p:cNvSpPr/>
              <p:nvPr/>
            </p:nvSpPr>
            <p:spPr>
              <a:xfrm flipV="1">
                <a:off x="54102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1" name="Rectangle 520"/>
              <p:cNvSpPr/>
              <p:nvPr/>
            </p:nvSpPr>
            <p:spPr>
              <a:xfrm flipV="1">
                <a:off x="54102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2" name="Rectangle 521"/>
              <p:cNvSpPr/>
              <p:nvPr/>
            </p:nvSpPr>
            <p:spPr>
              <a:xfrm flipV="1">
                <a:off x="54102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3" name="Rectangle 522"/>
              <p:cNvSpPr/>
              <p:nvPr/>
            </p:nvSpPr>
            <p:spPr>
              <a:xfrm>
                <a:off x="56388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4" name="Rectangle 523"/>
              <p:cNvSpPr/>
              <p:nvPr/>
            </p:nvSpPr>
            <p:spPr>
              <a:xfrm>
                <a:off x="56388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5" name="Rectangle 524"/>
              <p:cNvSpPr/>
              <p:nvPr/>
            </p:nvSpPr>
            <p:spPr>
              <a:xfrm>
                <a:off x="56388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6" name="Rectangle 525"/>
              <p:cNvSpPr/>
              <p:nvPr/>
            </p:nvSpPr>
            <p:spPr>
              <a:xfrm>
                <a:off x="56388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7" name="Rectangle 526"/>
              <p:cNvSpPr/>
              <p:nvPr/>
            </p:nvSpPr>
            <p:spPr>
              <a:xfrm flipV="1">
                <a:off x="58674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8" name="Rectangle 527"/>
              <p:cNvSpPr/>
              <p:nvPr/>
            </p:nvSpPr>
            <p:spPr>
              <a:xfrm flipV="1">
                <a:off x="58674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9" name="Rectangle 528"/>
              <p:cNvSpPr/>
              <p:nvPr/>
            </p:nvSpPr>
            <p:spPr>
              <a:xfrm flipV="1">
                <a:off x="58674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0" name="Rectangle 529"/>
              <p:cNvSpPr/>
              <p:nvPr/>
            </p:nvSpPr>
            <p:spPr>
              <a:xfrm flipV="1">
                <a:off x="58674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1" name="Rectangle 530"/>
              <p:cNvSpPr/>
              <p:nvPr/>
            </p:nvSpPr>
            <p:spPr>
              <a:xfrm>
                <a:off x="60960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2" name="Rectangle 531"/>
              <p:cNvSpPr/>
              <p:nvPr/>
            </p:nvSpPr>
            <p:spPr>
              <a:xfrm>
                <a:off x="60960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3" name="Rectangle 532"/>
              <p:cNvSpPr/>
              <p:nvPr/>
            </p:nvSpPr>
            <p:spPr>
              <a:xfrm>
                <a:off x="60960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4" name="Rectangle 533"/>
              <p:cNvSpPr/>
              <p:nvPr/>
            </p:nvSpPr>
            <p:spPr>
              <a:xfrm>
                <a:off x="60960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5" name="Rectangle 534"/>
              <p:cNvSpPr/>
              <p:nvPr/>
            </p:nvSpPr>
            <p:spPr>
              <a:xfrm>
                <a:off x="60960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6" name="Rectangle 535"/>
              <p:cNvSpPr/>
              <p:nvPr/>
            </p:nvSpPr>
            <p:spPr>
              <a:xfrm>
                <a:off x="60960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7" name="Rectangle 536"/>
              <p:cNvSpPr/>
              <p:nvPr/>
            </p:nvSpPr>
            <p:spPr>
              <a:xfrm>
                <a:off x="60960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8" name="Rectangle 537"/>
              <p:cNvSpPr/>
              <p:nvPr/>
            </p:nvSpPr>
            <p:spPr>
              <a:xfrm>
                <a:off x="60960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5" name="Group 84"/>
            <p:cNvGrpSpPr/>
            <p:nvPr/>
          </p:nvGrpSpPr>
          <p:grpSpPr>
            <a:xfrm>
              <a:off x="6400800" y="3200400"/>
              <a:ext cx="457200" cy="457200"/>
              <a:chOff x="4495800" y="1981200"/>
              <a:chExt cx="1828800" cy="1828800"/>
            </a:xfrm>
          </p:grpSpPr>
          <p:sp>
            <p:nvSpPr>
              <p:cNvPr id="411" name="Rectangle 410"/>
              <p:cNvSpPr/>
              <p:nvPr/>
            </p:nvSpPr>
            <p:spPr>
              <a:xfrm flipV="1">
                <a:off x="44958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Rectangle 411"/>
              <p:cNvSpPr/>
              <p:nvPr/>
            </p:nvSpPr>
            <p:spPr>
              <a:xfrm flipV="1">
                <a:off x="44958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3" name="Rectangle 412"/>
              <p:cNvSpPr/>
              <p:nvPr/>
            </p:nvSpPr>
            <p:spPr>
              <a:xfrm flipV="1">
                <a:off x="44958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4" name="Rectangle 413"/>
              <p:cNvSpPr/>
              <p:nvPr/>
            </p:nvSpPr>
            <p:spPr>
              <a:xfrm flipV="1">
                <a:off x="44958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5" name="Rectangle 414"/>
              <p:cNvSpPr/>
              <p:nvPr/>
            </p:nvSpPr>
            <p:spPr>
              <a:xfrm>
                <a:off x="47244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6" name="Rectangle 415"/>
              <p:cNvSpPr/>
              <p:nvPr/>
            </p:nvSpPr>
            <p:spPr>
              <a:xfrm>
                <a:off x="47244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7" name="Rectangle 416"/>
              <p:cNvSpPr/>
              <p:nvPr/>
            </p:nvSpPr>
            <p:spPr>
              <a:xfrm>
                <a:off x="47244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8" name="Rectangle 417"/>
              <p:cNvSpPr/>
              <p:nvPr/>
            </p:nvSpPr>
            <p:spPr>
              <a:xfrm>
                <a:off x="47244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9" name="Rectangle 418"/>
              <p:cNvSpPr/>
              <p:nvPr/>
            </p:nvSpPr>
            <p:spPr>
              <a:xfrm flipV="1">
                <a:off x="49530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0" name="Rectangle 419"/>
              <p:cNvSpPr/>
              <p:nvPr/>
            </p:nvSpPr>
            <p:spPr>
              <a:xfrm flipV="1">
                <a:off x="49530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1" name="Rectangle 420"/>
              <p:cNvSpPr/>
              <p:nvPr/>
            </p:nvSpPr>
            <p:spPr>
              <a:xfrm flipV="1">
                <a:off x="49530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2" name="Rectangle 421"/>
              <p:cNvSpPr/>
              <p:nvPr/>
            </p:nvSpPr>
            <p:spPr>
              <a:xfrm flipV="1">
                <a:off x="49530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3" name="Rectangle 422"/>
              <p:cNvSpPr/>
              <p:nvPr/>
            </p:nvSpPr>
            <p:spPr>
              <a:xfrm flipV="1">
                <a:off x="44958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4" name="Rectangle 423"/>
              <p:cNvSpPr/>
              <p:nvPr/>
            </p:nvSpPr>
            <p:spPr>
              <a:xfrm flipV="1">
                <a:off x="44958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5" name="Rectangle 424"/>
              <p:cNvSpPr/>
              <p:nvPr/>
            </p:nvSpPr>
            <p:spPr>
              <a:xfrm flipV="1">
                <a:off x="44958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6" name="Rectangle 425"/>
              <p:cNvSpPr/>
              <p:nvPr/>
            </p:nvSpPr>
            <p:spPr>
              <a:xfrm flipV="1">
                <a:off x="44958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7" name="Rectangle 426"/>
              <p:cNvSpPr/>
              <p:nvPr/>
            </p:nvSpPr>
            <p:spPr>
              <a:xfrm>
                <a:off x="47244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8" name="Rectangle 427"/>
              <p:cNvSpPr/>
              <p:nvPr/>
            </p:nvSpPr>
            <p:spPr>
              <a:xfrm>
                <a:off x="47244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9" name="Rectangle 428"/>
              <p:cNvSpPr/>
              <p:nvPr/>
            </p:nvSpPr>
            <p:spPr>
              <a:xfrm>
                <a:off x="47244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0" name="Rectangle 429"/>
              <p:cNvSpPr/>
              <p:nvPr/>
            </p:nvSpPr>
            <p:spPr>
              <a:xfrm>
                <a:off x="47244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1" name="Rectangle 430"/>
              <p:cNvSpPr/>
              <p:nvPr/>
            </p:nvSpPr>
            <p:spPr>
              <a:xfrm flipV="1">
                <a:off x="49530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2" name="Rectangle 431"/>
              <p:cNvSpPr/>
              <p:nvPr/>
            </p:nvSpPr>
            <p:spPr>
              <a:xfrm flipV="1">
                <a:off x="49530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3" name="Rectangle 432"/>
              <p:cNvSpPr/>
              <p:nvPr/>
            </p:nvSpPr>
            <p:spPr>
              <a:xfrm flipV="1">
                <a:off x="49530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4" name="Rectangle 433"/>
              <p:cNvSpPr/>
              <p:nvPr/>
            </p:nvSpPr>
            <p:spPr>
              <a:xfrm flipV="1">
                <a:off x="49530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5" name="Rectangle 434"/>
              <p:cNvSpPr/>
              <p:nvPr/>
            </p:nvSpPr>
            <p:spPr>
              <a:xfrm>
                <a:off x="51816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6" name="Rectangle 435"/>
              <p:cNvSpPr/>
              <p:nvPr/>
            </p:nvSpPr>
            <p:spPr>
              <a:xfrm>
                <a:off x="51816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7" name="Rectangle 436"/>
              <p:cNvSpPr/>
              <p:nvPr/>
            </p:nvSpPr>
            <p:spPr>
              <a:xfrm>
                <a:off x="51816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8" name="Rectangle 437"/>
              <p:cNvSpPr/>
              <p:nvPr/>
            </p:nvSpPr>
            <p:spPr>
              <a:xfrm>
                <a:off x="51816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9" name="Rectangle 438"/>
              <p:cNvSpPr/>
              <p:nvPr/>
            </p:nvSpPr>
            <p:spPr>
              <a:xfrm flipV="1">
                <a:off x="54102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0" name="Rectangle 439"/>
              <p:cNvSpPr/>
              <p:nvPr/>
            </p:nvSpPr>
            <p:spPr>
              <a:xfrm flipV="1">
                <a:off x="54102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1" name="Rectangle 440"/>
              <p:cNvSpPr/>
              <p:nvPr/>
            </p:nvSpPr>
            <p:spPr>
              <a:xfrm flipV="1">
                <a:off x="54102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2" name="Rectangle 441"/>
              <p:cNvSpPr/>
              <p:nvPr/>
            </p:nvSpPr>
            <p:spPr>
              <a:xfrm flipV="1">
                <a:off x="54102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3" name="Rectangle 442"/>
              <p:cNvSpPr/>
              <p:nvPr/>
            </p:nvSpPr>
            <p:spPr>
              <a:xfrm>
                <a:off x="56388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4" name="Rectangle 443"/>
              <p:cNvSpPr/>
              <p:nvPr/>
            </p:nvSpPr>
            <p:spPr>
              <a:xfrm>
                <a:off x="56388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5" name="Rectangle 444"/>
              <p:cNvSpPr/>
              <p:nvPr/>
            </p:nvSpPr>
            <p:spPr>
              <a:xfrm>
                <a:off x="56388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6" name="Rectangle 445"/>
              <p:cNvSpPr/>
              <p:nvPr/>
            </p:nvSpPr>
            <p:spPr>
              <a:xfrm>
                <a:off x="56388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7" name="Rectangle 446"/>
              <p:cNvSpPr/>
              <p:nvPr/>
            </p:nvSpPr>
            <p:spPr>
              <a:xfrm flipV="1">
                <a:off x="58674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8" name="Rectangle 447"/>
              <p:cNvSpPr/>
              <p:nvPr/>
            </p:nvSpPr>
            <p:spPr>
              <a:xfrm flipV="1">
                <a:off x="58674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9" name="Rectangle 448"/>
              <p:cNvSpPr/>
              <p:nvPr/>
            </p:nvSpPr>
            <p:spPr>
              <a:xfrm flipV="1">
                <a:off x="58674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0" name="Rectangle 449"/>
              <p:cNvSpPr/>
              <p:nvPr/>
            </p:nvSpPr>
            <p:spPr>
              <a:xfrm flipV="1">
                <a:off x="58674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1" name="Rectangle 450"/>
              <p:cNvSpPr/>
              <p:nvPr/>
            </p:nvSpPr>
            <p:spPr>
              <a:xfrm>
                <a:off x="51816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2" name="Rectangle 451"/>
              <p:cNvSpPr/>
              <p:nvPr/>
            </p:nvSpPr>
            <p:spPr>
              <a:xfrm>
                <a:off x="51816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3" name="Rectangle 452"/>
              <p:cNvSpPr/>
              <p:nvPr/>
            </p:nvSpPr>
            <p:spPr>
              <a:xfrm>
                <a:off x="51816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4" name="Rectangle 453"/>
              <p:cNvSpPr/>
              <p:nvPr/>
            </p:nvSpPr>
            <p:spPr>
              <a:xfrm>
                <a:off x="51816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5" name="Rectangle 454"/>
              <p:cNvSpPr/>
              <p:nvPr/>
            </p:nvSpPr>
            <p:spPr>
              <a:xfrm flipV="1">
                <a:off x="54102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6" name="Rectangle 455"/>
              <p:cNvSpPr/>
              <p:nvPr/>
            </p:nvSpPr>
            <p:spPr>
              <a:xfrm flipV="1">
                <a:off x="54102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7" name="Rectangle 456"/>
              <p:cNvSpPr/>
              <p:nvPr/>
            </p:nvSpPr>
            <p:spPr>
              <a:xfrm flipV="1">
                <a:off x="54102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8" name="Rectangle 457"/>
              <p:cNvSpPr/>
              <p:nvPr/>
            </p:nvSpPr>
            <p:spPr>
              <a:xfrm flipV="1">
                <a:off x="54102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9" name="Rectangle 458"/>
              <p:cNvSpPr/>
              <p:nvPr/>
            </p:nvSpPr>
            <p:spPr>
              <a:xfrm>
                <a:off x="56388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0" name="Rectangle 459"/>
              <p:cNvSpPr/>
              <p:nvPr/>
            </p:nvSpPr>
            <p:spPr>
              <a:xfrm>
                <a:off x="56388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1" name="Rectangle 460"/>
              <p:cNvSpPr/>
              <p:nvPr/>
            </p:nvSpPr>
            <p:spPr>
              <a:xfrm>
                <a:off x="56388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2" name="Rectangle 461"/>
              <p:cNvSpPr/>
              <p:nvPr/>
            </p:nvSpPr>
            <p:spPr>
              <a:xfrm>
                <a:off x="56388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3" name="Rectangle 462"/>
              <p:cNvSpPr/>
              <p:nvPr/>
            </p:nvSpPr>
            <p:spPr>
              <a:xfrm flipV="1">
                <a:off x="58674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4" name="Rectangle 463"/>
              <p:cNvSpPr/>
              <p:nvPr/>
            </p:nvSpPr>
            <p:spPr>
              <a:xfrm flipV="1">
                <a:off x="58674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5" name="Rectangle 464"/>
              <p:cNvSpPr/>
              <p:nvPr/>
            </p:nvSpPr>
            <p:spPr>
              <a:xfrm flipV="1">
                <a:off x="58674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6" name="Rectangle 465"/>
              <p:cNvSpPr/>
              <p:nvPr/>
            </p:nvSpPr>
            <p:spPr>
              <a:xfrm flipV="1">
                <a:off x="58674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7" name="Rectangle 466"/>
              <p:cNvSpPr/>
              <p:nvPr/>
            </p:nvSpPr>
            <p:spPr>
              <a:xfrm>
                <a:off x="60960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8" name="Rectangle 467"/>
              <p:cNvSpPr/>
              <p:nvPr/>
            </p:nvSpPr>
            <p:spPr>
              <a:xfrm>
                <a:off x="60960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9" name="Rectangle 468"/>
              <p:cNvSpPr/>
              <p:nvPr/>
            </p:nvSpPr>
            <p:spPr>
              <a:xfrm>
                <a:off x="60960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0" name="Rectangle 469"/>
              <p:cNvSpPr/>
              <p:nvPr/>
            </p:nvSpPr>
            <p:spPr>
              <a:xfrm>
                <a:off x="60960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1" name="Rectangle 470"/>
              <p:cNvSpPr/>
              <p:nvPr/>
            </p:nvSpPr>
            <p:spPr>
              <a:xfrm>
                <a:off x="60960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2" name="Rectangle 471"/>
              <p:cNvSpPr/>
              <p:nvPr/>
            </p:nvSpPr>
            <p:spPr>
              <a:xfrm>
                <a:off x="60960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3" name="Rectangle 472"/>
              <p:cNvSpPr/>
              <p:nvPr/>
            </p:nvSpPr>
            <p:spPr>
              <a:xfrm>
                <a:off x="60960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4" name="Rectangle 473"/>
              <p:cNvSpPr/>
              <p:nvPr/>
            </p:nvSpPr>
            <p:spPr>
              <a:xfrm>
                <a:off x="60960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6858000" y="3200400"/>
              <a:ext cx="457200" cy="457200"/>
              <a:chOff x="4495800" y="1981200"/>
              <a:chExt cx="1828800" cy="1828800"/>
            </a:xfrm>
          </p:grpSpPr>
          <p:sp>
            <p:nvSpPr>
              <p:cNvPr id="347" name="Rectangle 346"/>
              <p:cNvSpPr/>
              <p:nvPr/>
            </p:nvSpPr>
            <p:spPr>
              <a:xfrm flipV="1">
                <a:off x="44958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" name="Rectangle 347"/>
              <p:cNvSpPr/>
              <p:nvPr/>
            </p:nvSpPr>
            <p:spPr>
              <a:xfrm flipV="1">
                <a:off x="44958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" name="Rectangle 348"/>
              <p:cNvSpPr/>
              <p:nvPr/>
            </p:nvSpPr>
            <p:spPr>
              <a:xfrm flipV="1">
                <a:off x="44958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" name="Rectangle 349"/>
              <p:cNvSpPr/>
              <p:nvPr/>
            </p:nvSpPr>
            <p:spPr>
              <a:xfrm flipV="1">
                <a:off x="44958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" name="Rectangle 350"/>
              <p:cNvSpPr/>
              <p:nvPr/>
            </p:nvSpPr>
            <p:spPr>
              <a:xfrm>
                <a:off x="47244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" name="Rectangle 351"/>
              <p:cNvSpPr/>
              <p:nvPr/>
            </p:nvSpPr>
            <p:spPr>
              <a:xfrm>
                <a:off x="47244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" name="Rectangle 352"/>
              <p:cNvSpPr/>
              <p:nvPr/>
            </p:nvSpPr>
            <p:spPr>
              <a:xfrm>
                <a:off x="47244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" name="Rectangle 353"/>
              <p:cNvSpPr/>
              <p:nvPr/>
            </p:nvSpPr>
            <p:spPr>
              <a:xfrm>
                <a:off x="47244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" name="Rectangle 354"/>
              <p:cNvSpPr/>
              <p:nvPr/>
            </p:nvSpPr>
            <p:spPr>
              <a:xfrm flipV="1">
                <a:off x="49530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" name="Rectangle 355"/>
              <p:cNvSpPr/>
              <p:nvPr/>
            </p:nvSpPr>
            <p:spPr>
              <a:xfrm flipV="1">
                <a:off x="49530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7" name="Rectangle 356"/>
              <p:cNvSpPr/>
              <p:nvPr/>
            </p:nvSpPr>
            <p:spPr>
              <a:xfrm flipV="1">
                <a:off x="49530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" name="Rectangle 357"/>
              <p:cNvSpPr/>
              <p:nvPr/>
            </p:nvSpPr>
            <p:spPr>
              <a:xfrm flipV="1">
                <a:off x="49530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" name="Rectangle 358"/>
              <p:cNvSpPr/>
              <p:nvPr/>
            </p:nvSpPr>
            <p:spPr>
              <a:xfrm flipV="1">
                <a:off x="44958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" name="Rectangle 359"/>
              <p:cNvSpPr/>
              <p:nvPr/>
            </p:nvSpPr>
            <p:spPr>
              <a:xfrm flipV="1">
                <a:off x="44958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" name="Rectangle 360"/>
              <p:cNvSpPr/>
              <p:nvPr/>
            </p:nvSpPr>
            <p:spPr>
              <a:xfrm flipV="1">
                <a:off x="44958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" name="Rectangle 361"/>
              <p:cNvSpPr/>
              <p:nvPr/>
            </p:nvSpPr>
            <p:spPr>
              <a:xfrm flipV="1">
                <a:off x="44958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" name="Rectangle 362"/>
              <p:cNvSpPr/>
              <p:nvPr/>
            </p:nvSpPr>
            <p:spPr>
              <a:xfrm>
                <a:off x="47244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" name="Rectangle 363"/>
              <p:cNvSpPr/>
              <p:nvPr/>
            </p:nvSpPr>
            <p:spPr>
              <a:xfrm>
                <a:off x="47244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" name="Rectangle 364"/>
              <p:cNvSpPr/>
              <p:nvPr/>
            </p:nvSpPr>
            <p:spPr>
              <a:xfrm>
                <a:off x="47244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" name="Rectangle 365"/>
              <p:cNvSpPr/>
              <p:nvPr/>
            </p:nvSpPr>
            <p:spPr>
              <a:xfrm>
                <a:off x="47244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7" name="Rectangle 366"/>
              <p:cNvSpPr/>
              <p:nvPr/>
            </p:nvSpPr>
            <p:spPr>
              <a:xfrm flipV="1">
                <a:off x="49530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" name="Rectangle 367"/>
              <p:cNvSpPr/>
              <p:nvPr/>
            </p:nvSpPr>
            <p:spPr>
              <a:xfrm flipV="1">
                <a:off x="49530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" name="Rectangle 368"/>
              <p:cNvSpPr/>
              <p:nvPr/>
            </p:nvSpPr>
            <p:spPr>
              <a:xfrm flipV="1">
                <a:off x="49530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" name="Rectangle 369"/>
              <p:cNvSpPr/>
              <p:nvPr/>
            </p:nvSpPr>
            <p:spPr>
              <a:xfrm flipV="1">
                <a:off x="49530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" name="Rectangle 370"/>
              <p:cNvSpPr/>
              <p:nvPr/>
            </p:nvSpPr>
            <p:spPr>
              <a:xfrm>
                <a:off x="51816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" name="Rectangle 371"/>
              <p:cNvSpPr/>
              <p:nvPr/>
            </p:nvSpPr>
            <p:spPr>
              <a:xfrm>
                <a:off x="51816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" name="Rectangle 372"/>
              <p:cNvSpPr/>
              <p:nvPr/>
            </p:nvSpPr>
            <p:spPr>
              <a:xfrm>
                <a:off x="51816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" name="Rectangle 373"/>
              <p:cNvSpPr/>
              <p:nvPr/>
            </p:nvSpPr>
            <p:spPr>
              <a:xfrm>
                <a:off x="51816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" name="Rectangle 374"/>
              <p:cNvSpPr/>
              <p:nvPr/>
            </p:nvSpPr>
            <p:spPr>
              <a:xfrm flipV="1">
                <a:off x="54102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" name="Rectangle 375"/>
              <p:cNvSpPr/>
              <p:nvPr/>
            </p:nvSpPr>
            <p:spPr>
              <a:xfrm flipV="1">
                <a:off x="54102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" name="Rectangle 376"/>
              <p:cNvSpPr/>
              <p:nvPr/>
            </p:nvSpPr>
            <p:spPr>
              <a:xfrm flipV="1">
                <a:off x="54102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" name="Rectangle 377"/>
              <p:cNvSpPr/>
              <p:nvPr/>
            </p:nvSpPr>
            <p:spPr>
              <a:xfrm flipV="1">
                <a:off x="54102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" name="Rectangle 378"/>
              <p:cNvSpPr/>
              <p:nvPr/>
            </p:nvSpPr>
            <p:spPr>
              <a:xfrm>
                <a:off x="56388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" name="Rectangle 379"/>
              <p:cNvSpPr/>
              <p:nvPr/>
            </p:nvSpPr>
            <p:spPr>
              <a:xfrm>
                <a:off x="56388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" name="Rectangle 380"/>
              <p:cNvSpPr/>
              <p:nvPr/>
            </p:nvSpPr>
            <p:spPr>
              <a:xfrm>
                <a:off x="56388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" name="Rectangle 381"/>
              <p:cNvSpPr/>
              <p:nvPr/>
            </p:nvSpPr>
            <p:spPr>
              <a:xfrm>
                <a:off x="56388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" name="Rectangle 382"/>
              <p:cNvSpPr/>
              <p:nvPr/>
            </p:nvSpPr>
            <p:spPr>
              <a:xfrm flipV="1">
                <a:off x="58674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4" name="Rectangle 383"/>
              <p:cNvSpPr/>
              <p:nvPr/>
            </p:nvSpPr>
            <p:spPr>
              <a:xfrm flipV="1">
                <a:off x="58674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5" name="Rectangle 384"/>
              <p:cNvSpPr/>
              <p:nvPr/>
            </p:nvSpPr>
            <p:spPr>
              <a:xfrm flipV="1">
                <a:off x="58674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6" name="Rectangle 385"/>
              <p:cNvSpPr/>
              <p:nvPr/>
            </p:nvSpPr>
            <p:spPr>
              <a:xfrm flipV="1">
                <a:off x="58674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7" name="Rectangle 386"/>
              <p:cNvSpPr/>
              <p:nvPr/>
            </p:nvSpPr>
            <p:spPr>
              <a:xfrm>
                <a:off x="51816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8" name="Rectangle 387"/>
              <p:cNvSpPr/>
              <p:nvPr/>
            </p:nvSpPr>
            <p:spPr>
              <a:xfrm>
                <a:off x="51816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9" name="Rectangle 388"/>
              <p:cNvSpPr/>
              <p:nvPr/>
            </p:nvSpPr>
            <p:spPr>
              <a:xfrm>
                <a:off x="51816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0" name="Rectangle 389"/>
              <p:cNvSpPr/>
              <p:nvPr/>
            </p:nvSpPr>
            <p:spPr>
              <a:xfrm>
                <a:off x="51816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1" name="Rectangle 390"/>
              <p:cNvSpPr/>
              <p:nvPr/>
            </p:nvSpPr>
            <p:spPr>
              <a:xfrm flipV="1">
                <a:off x="54102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2" name="Rectangle 391"/>
              <p:cNvSpPr/>
              <p:nvPr/>
            </p:nvSpPr>
            <p:spPr>
              <a:xfrm flipV="1">
                <a:off x="54102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3" name="Rectangle 392"/>
              <p:cNvSpPr/>
              <p:nvPr/>
            </p:nvSpPr>
            <p:spPr>
              <a:xfrm flipV="1">
                <a:off x="54102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4" name="Rectangle 393"/>
              <p:cNvSpPr/>
              <p:nvPr/>
            </p:nvSpPr>
            <p:spPr>
              <a:xfrm flipV="1">
                <a:off x="54102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5" name="Rectangle 394"/>
              <p:cNvSpPr/>
              <p:nvPr/>
            </p:nvSpPr>
            <p:spPr>
              <a:xfrm>
                <a:off x="56388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6" name="Rectangle 395"/>
              <p:cNvSpPr/>
              <p:nvPr/>
            </p:nvSpPr>
            <p:spPr>
              <a:xfrm>
                <a:off x="56388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7" name="Rectangle 396"/>
              <p:cNvSpPr/>
              <p:nvPr/>
            </p:nvSpPr>
            <p:spPr>
              <a:xfrm>
                <a:off x="56388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8" name="Rectangle 397"/>
              <p:cNvSpPr/>
              <p:nvPr/>
            </p:nvSpPr>
            <p:spPr>
              <a:xfrm>
                <a:off x="56388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Rectangle 398"/>
              <p:cNvSpPr/>
              <p:nvPr/>
            </p:nvSpPr>
            <p:spPr>
              <a:xfrm flipV="1">
                <a:off x="58674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0" name="Rectangle 399"/>
              <p:cNvSpPr/>
              <p:nvPr/>
            </p:nvSpPr>
            <p:spPr>
              <a:xfrm flipV="1">
                <a:off x="58674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1" name="Rectangle 400"/>
              <p:cNvSpPr/>
              <p:nvPr/>
            </p:nvSpPr>
            <p:spPr>
              <a:xfrm flipV="1">
                <a:off x="58674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Rectangle 401"/>
              <p:cNvSpPr/>
              <p:nvPr/>
            </p:nvSpPr>
            <p:spPr>
              <a:xfrm flipV="1">
                <a:off x="58674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3" name="Rectangle 402"/>
              <p:cNvSpPr/>
              <p:nvPr/>
            </p:nvSpPr>
            <p:spPr>
              <a:xfrm>
                <a:off x="60960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4" name="Rectangle 403"/>
              <p:cNvSpPr/>
              <p:nvPr/>
            </p:nvSpPr>
            <p:spPr>
              <a:xfrm>
                <a:off x="60960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5" name="Rectangle 404"/>
              <p:cNvSpPr/>
              <p:nvPr/>
            </p:nvSpPr>
            <p:spPr>
              <a:xfrm>
                <a:off x="60960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6" name="Rectangle 405"/>
              <p:cNvSpPr/>
              <p:nvPr/>
            </p:nvSpPr>
            <p:spPr>
              <a:xfrm>
                <a:off x="60960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7" name="Rectangle 406"/>
              <p:cNvSpPr/>
              <p:nvPr/>
            </p:nvSpPr>
            <p:spPr>
              <a:xfrm>
                <a:off x="60960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8" name="Rectangle 407"/>
              <p:cNvSpPr/>
              <p:nvPr/>
            </p:nvSpPr>
            <p:spPr>
              <a:xfrm>
                <a:off x="60960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9" name="Rectangle 408"/>
              <p:cNvSpPr/>
              <p:nvPr/>
            </p:nvSpPr>
            <p:spPr>
              <a:xfrm>
                <a:off x="60960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0" name="Rectangle 409"/>
              <p:cNvSpPr/>
              <p:nvPr/>
            </p:nvSpPr>
            <p:spPr>
              <a:xfrm>
                <a:off x="60960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7" name="Group 86"/>
            <p:cNvGrpSpPr/>
            <p:nvPr/>
          </p:nvGrpSpPr>
          <p:grpSpPr>
            <a:xfrm>
              <a:off x="7315200" y="2743200"/>
              <a:ext cx="457200" cy="457200"/>
              <a:chOff x="4495800" y="1981200"/>
              <a:chExt cx="1828800" cy="1828800"/>
            </a:xfrm>
          </p:grpSpPr>
          <p:sp>
            <p:nvSpPr>
              <p:cNvPr id="283" name="Rectangle 282"/>
              <p:cNvSpPr/>
              <p:nvPr/>
            </p:nvSpPr>
            <p:spPr>
              <a:xfrm flipV="1">
                <a:off x="44958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" name="Rectangle 283"/>
              <p:cNvSpPr/>
              <p:nvPr/>
            </p:nvSpPr>
            <p:spPr>
              <a:xfrm flipV="1">
                <a:off x="44958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" name="Rectangle 284"/>
              <p:cNvSpPr/>
              <p:nvPr/>
            </p:nvSpPr>
            <p:spPr>
              <a:xfrm flipV="1">
                <a:off x="44958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Rectangle 285"/>
              <p:cNvSpPr/>
              <p:nvPr/>
            </p:nvSpPr>
            <p:spPr>
              <a:xfrm flipV="1">
                <a:off x="44958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Rectangle 286"/>
              <p:cNvSpPr/>
              <p:nvPr/>
            </p:nvSpPr>
            <p:spPr>
              <a:xfrm>
                <a:off x="47244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" name="Rectangle 287"/>
              <p:cNvSpPr/>
              <p:nvPr/>
            </p:nvSpPr>
            <p:spPr>
              <a:xfrm>
                <a:off x="47244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" name="Rectangle 288"/>
              <p:cNvSpPr/>
              <p:nvPr/>
            </p:nvSpPr>
            <p:spPr>
              <a:xfrm>
                <a:off x="47244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0" name="Rectangle 289"/>
              <p:cNvSpPr/>
              <p:nvPr/>
            </p:nvSpPr>
            <p:spPr>
              <a:xfrm>
                <a:off x="47244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" name="Rectangle 290"/>
              <p:cNvSpPr/>
              <p:nvPr/>
            </p:nvSpPr>
            <p:spPr>
              <a:xfrm flipV="1">
                <a:off x="49530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" name="Rectangle 291"/>
              <p:cNvSpPr/>
              <p:nvPr/>
            </p:nvSpPr>
            <p:spPr>
              <a:xfrm flipV="1">
                <a:off x="49530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3" name="Rectangle 292"/>
              <p:cNvSpPr/>
              <p:nvPr/>
            </p:nvSpPr>
            <p:spPr>
              <a:xfrm flipV="1">
                <a:off x="49530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" name="Rectangle 293"/>
              <p:cNvSpPr/>
              <p:nvPr/>
            </p:nvSpPr>
            <p:spPr>
              <a:xfrm flipV="1">
                <a:off x="49530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" name="Rectangle 294"/>
              <p:cNvSpPr/>
              <p:nvPr/>
            </p:nvSpPr>
            <p:spPr>
              <a:xfrm flipV="1">
                <a:off x="44958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6" name="Rectangle 295"/>
              <p:cNvSpPr/>
              <p:nvPr/>
            </p:nvSpPr>
            <p:spPr>
              <a:xfrm flipV="1">
                <a:off x="44958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" name="Rectangle 296"/>
              <p:cNvSpPr/>
              <p:nvPr/>
            </p:nvSpPr>
            <p:spPr>
              <a:xfrm flipV="1">
                <a:off x="44958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Rectangle 297"/>
              <p:cNvSpPr/>
              <p:nvPr/>
            </p:nvSpPr>
            <p:spPr>
              <a:xfrm flipV="1">
                <a:off x="44958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" name="Rectangle 298"/>
              <p:cNvSpPr/>
              <p:nvPr/>
            </p:nvSpPr>
            <p:spPr>
              <a:xfrm>
                <a:off x="47244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Rectangle 299"/>
              <p:cNvSpPr/>
              <p:nvPr/>
            </p:nvSpPr>
            <p:spPr>
              <a:xfrm>
                <a:off x="47244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Rectangle 300"/>
              <p:cNvSpPr/>
              <p:nvPr/>
            </p:nvSpPr>
            <p:spPr>
              <a:xfrm>
                <a:off x="47244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" name="Rectangle 301"/>
              <p:cNvSpPr/>
              <p:nvPr/>
            </p:nvSpPr>
            <p:spPr>
              <a:xfrm>
                <a:off x="47244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" name="Rectangle 302"/>
              <p:cNvSpPr/>
              <p:nvPr/>
            </p:nvSpPr>
            <p:spPr>
              <a:xfrm flipV="1">
                <a:off x="49530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Rectangle 303"/>
              <p:cNvSpPr/>
              <p:nvPr/>
            </p:nvSpPr>
            <p:spPr>
              <a:xfrm flipV="1">
                <a:off x="49530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" name="Rectangle 304"/>
              <p:cNvSpPr/>
              <p:nvPr/>
            </p:nvSpPr>
            <p:spPr>
              <a:xfrm flipV="1">
                <a:off x="49530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6" name="Rectangle 305"/>
              <p:cNvSpPr/>
              <p:nvPr/>
            </p:nvSpPr>
            <p:spPr>
              <a:xfrm flipV="1">
                <a:off x="49530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7" name="Rectangle 306"/>
              <p:cNvSpPr/>
              <p:nvPr/>
            </p:nvSpPr>
            <p:spPr>
              <a:xfrm>
                <a:off x="51816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Rectangle 307"/>
              <p:cNvSpPr/>
              <p:nvPr/>
            </p:nvSpPr>
            <p:spPr>
              <a:xfrm>
                <a:off x="51816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Rectangle 308"/>
              <p:cNvSpPr/>
              <p:nvPr/>
            </p:nvSpPr>
            <p:spPr>
              <a:xfrm>
                <a:off x="51816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" name="Rectangle 309"/>
              <p:cNvSpPr/>
              <p:nvPr/>
            </p:nvSpPr>
            <p:spPr>
              <a:xfrm>
                <a:off x="51816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1" name="Rectangle 310"/>
              <p:cNvSpPr/>
              <p:nvPr/>
            </p:nvSpPr>
            <p:spPr>
              <a:xfrm flipV="1">
                <a:off x="54102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Rectangle 311"/>
              <p:cNvSpPr/>
              <p:nvPr/>
            </p:nvSpPr>
            <p:spPr>
              <a:xfrm flipV="1">
                <a:off x="54102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3" name="Rectangle 312"/>
              <p:cNvSpPr/>
              <p:nvPr/>
            </p:nvSpPr>
            <p:spPr>
              <a:xfrm flipV="1">
                <a:off x="54102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" name="Rectangle 313"/>
              <p:cNvSpPr/>
              <p:nvPr/>
            </p:nvSpPr>
            <p:spPr>
              <a:xfrm flipV="1">
                <a:off x="54102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" name="Rectangle 314"/>
              <p:cNvSpPr/>
              <p:nvPr/>
            </p:nvSpPr>
            <p:spPr>
              <a:xfrm>
                <a:off x="56388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" name="Rectangle 315"/>
              <p:cNvSpPr/>
              <p:nvPr/>
            </p:nvSpPr>
            <p:spPr>
              <a:xfrm>
                <a:off x="56388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7" name="Rectangle 316"/>
              <p:cNvSpPr/>
              <p:nvPr/>
            </p:nvSpPr>
            <p:spPr>
              <a:xfrm>
                <a:off x="56388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" name="Rectangle 317"/>
              <p:cNvSpPr/>
              <p:nvPr/>
            </p:nvSpPr>
            <p:spPr>
              <a:xfrm>
                <a:off x="56388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" name="Rectangle 318"/>
              <p:cNvSpPr/>
              <p:nvPr/>
            </p:nvSpPr>
            <p:spPr>
              <a:xfrm flipV="1">
                <a:off x="58674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" name="Rectangle 319"/>
              <p:cNvSpPr/>
              <p:nvPr/>
            </p:nvSpPr>
            <p:spPr>
              <a:xfrm flipV="1">
                <a:off x="58674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Rectangle 320"/>
              <p:cNvSpPr/>
              <p:nvPr/>
            </p:nvSpPr>
            <p:spPr>
              <a:xfrm flipV="1">
                <a:off x="58674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" name="Rectangle 321"/>
              <p:cNvSpPr/>
              <p:nvPr/>
            </p:nvSpPr>
            <p:spPr>
              <a:xfrm flipV="1">
                <a:off x="58674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" name="Rectangle 322"/>
              <p:cNvSpPr/>
              <p:nvPr/>
            </p:nvSpPr>
            <p:spPr>
              <a:xfrm>
                <a:off x="51816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Rectangle 323"/>
              <p:cNvSpPr/>
              <p:nvPr/>
            </p:nvSpPr>
            <p:spPr>
              <a:xfrm>
                <a:off x="51816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" name="Rectangle 324"/>
              <p:cNvSpPr/>
              <p:nvPr/>
            </p:nvSpPr>
            <p:spPr>
              <a:xfrm>
                <a:off x="51816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Rectangle 325"/>
              <p:cNvSpPr/>
              <p:nvPr/>
            </p:nvSpPr>
            <p:spPr>
              <a:xfrm>
                <a:off x="51816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7" name="Rectangle 326"/>
              <p:cNvSpPr/>
              <p:nvPr/>
            </p:nvSpPr>
            <p:spPr>
              <a:xfrm flipV="1">
                <a:off x="54102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8" name="Rectangle 327"/>
              <p:cNvSpPr/>
              <p:nvPr/>
            </p:nvSpPr>
            <p:spPr>
              <a:xfrm flipV="1">
                <a:off x="54102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9" name="Rectangle 328"/>
              <p:cNvSpPr/>
              <p:nvPr/>
            </p:nvSpPr>
            <p:spPr>
              <a:xfrm flipV="1">
                <a:off x="54102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0" name="Rectangle 329"/>
              <p:cNvSpPr/>
              <p:nvPr/>
            </p:nvSpPr>
            <p:spPr>
              <a:xfrm flipV="1">
                <a:off x="54102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" name="Rectangle 330"/>
              <p:cNvSpPr/>
              <p:nvPr/>
            </p:nvSpPr>
            <p:spPr>
              <a:xfrm>
                <a:off x="56388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2" name="Rectangle 331"/>
              <p:cNvSpPr/>
              <p:nvPr/>
            </p:nvSpPr>
            <p:spPr>
              <a:xfrm>
                <a:off x="56388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" name="Rectangle 332"/>
              <p:cNvSpPr/>
              <p:nvPr/>
            </p:nvSpPr>
            <p:spPr>
              <a:xfrm>
                <a:off x="56388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Rectangle 333"/>
              <p:cNvSpPr/>
              <p:nvPr/>
            </p:nvSpPr>
            <p:spPr>
              <a:xfrm>
                <a:off x="56388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5" name="Rectangle 334"/>
              <p:cNvSpPr/>
              <p:nvPr/>
            </p:nvSpPr>
            <p:spPr>
              <a:xfrm flipV="1">
                <a:off x="58674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" name="Rectangle 335"/>
              <p:cNvSpPr/>
              <p:nvPr/>
            </p:nvSpPr>
            <p:spPr>
              <a:xfrm flipV="1">
                <a:off x="58674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" name="Rectangle 336"/>
              <p:cNvSpPr/>
              <p:nvPr/>
            </p:nvSpPr>
            <p:spPr>
              <a:xfrm flipV="1">
                <a:off x="58674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" name="Rectangle 337"/>
              <p:cNvSpPr/>
              <p:nvPr/>
            </p:nvSpPr>
            <p:spPr>
              <a:xfrm flipV="1">
                <a:off x="58674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" name="Rectangle 338"/>
              <p:cNvSpPr/>
              <p:nvPr/>
            </p:nvSpPr>
            <p:spPr>
              <a:xfrm>
                <a:off x="60960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Rectangle 339"/>
              <p:cNvSpPr/>
              <p:nvPr/>
            </p:nvSpPr>
            <p:spPr>
              <a:xfrm>
                <a:off x="60960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" name="Rectangle 340"/>
              <p:cNvSpPr/>
              <p:nvPr/>
            </p:nvSpPr>
            <p:spPr>
              <a:xfrm>
                <a:off x="60960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" name="Rectangle 341"/>
              <p:cNvSpPr/>
              <p:nvPr/>
            </p:nvSpPr>
            <p:spPr>
              <a:xfrm>
                <a:off x="60960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" name="Rectangle 342"/>
              <p:cNvSpPr/>
              <p:nvPr/>
            </p:nvSpPr>
            <p:spPr>
              <a:xfrm>
                <a:off x="60960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4" name="Rectangle 343"/>
              <p:cNvSpPr/>
              <p:nvPr/>
            </p:nvSpPr>
            <p:spPr>
              <a:xfrm>
                <a:off x="60960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5" name="Rectangle 344"/>
              <p:cNvSpPr/>
              <p:nvPr/>
            </p:nvSpPr>
            <p:spPr>
              <a:xfrm>
                <a:off x="60960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" name="Rectangle 345"/>
              <p:cNvSpPr/>
              <p:nvPr/>
            </p:nvSpPr>
            <p:spPr>
              <a:xfrm>
                <a:off x="60960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8" name="Group 87"/>
            <p:cNvGrpSpPr/>
            <p:nvPr/>
          </p:nvGrpSpPr>
          <p:grpSpPr>
            <a:xfrm>
              <a:off x="7772400" y="2743200"/>
              <a:ext cx="457200" cy="457200"/>
              <a:chOff x="4495800" y="1981200"/>
              <a:chExt cx="1828800" cy="1828800"/>
            </a:xfrm>
          </p:grpSpPr>
          <p:sp>
            <p:nvSpPr>
              <p:cNvPr id="219" name="Rectangle 218"/>
              <p:cNvSpPr/>
              <p:nvPr/>
            </p:nvSpPr>
            <p:spPr>
              <a:xfrm flipV="1">
                <a:off x="44958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Rectangle 219"/>
              <p:cNvSpPr/>
              <p:nvPr/>
            </p:nvSpPr>
            <p:spPr>
              <a:xfrm flipV="1">
                <a:off x="44958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Rectangle 220"/>
              <p:cNvSpPr/>
              <p:nvPr/>
            </p:nvSpPr>
            <p:spPr>
              <a:xfrm flipV="1">
                <a:off x="44958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Rectangle 221"/>
              <p:cNvSpPr/>
              <p:nvPr/>
            </p:nvSpPr>
            <p:spPr>
              <a:xfrm flipV="1">
                <a:off x="44958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Rectangle 222"/>
              <p:cNvSpPr/>
              <p:nvPr/>
            </p:nvSpPr>
            <p:spPr>
              <a:xfrm>
                <a:off x="47244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Rectangle 223"/>
              <p:cNvSpPr/>
              <p:nvPr/>
            </p:nvSpPr>
            <p:spPr>
              <a:xfrm>
                <a:off x="47244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Rectangle 224"/>
              <p:cNvSpPr/>
              <p:nvPr/>
            </p:nvSpPr>
            <p:spPr>
              <a:xfrm>
                <a:off x="47244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Rectangle 225"/>
              <p:cNvSpPr/>
              <p:nvPr/>
            </p:nvSpPr>
            <p:spPr>
              <a:xfrm>
                <a:off x="47244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Rectangle 226"/>
              <p:cNvSpPr/>
              <p:nvPr/>
            </p:nvSpPr>
            <p:spPr>
              <a:xfrm flipV="1">
                <a:off x="49530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Rectangle 227"/>
              <p:cNvSpPr/>
              <p:nvPr/>
            </p:nvSpPr>
            <p:spPr>
              <a:xfrm flipV="1">
                <a:off x="49530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Rectangle 228"/>
              <p:cNvSpPr/>
              <p:nvPr/>
            </p:nvSpPr>
            <p:spPr>
              <a:xfrm flipV="1">
                <a:off x="49530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Rectangle 229"/>
              <p:cNvSpPr/>
              <p:nvPr/>
            </p:nvSpPr>
            <p:spPr>
              <a:xfrm flipV="1">
                <a:off x="49530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" name="Rectangle 230"/>
              <p:cNvSpPr/>
              <p:nvPr/>
            </p:nvSpPr>
            <p:spPr>
              <a:xfrm flipV="1">
                <a:off x="44958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" name="Rectangle 231"/>
              <p:cNvSpPr/>
              <p:nvPr/>
            </p:nvSpPr>
            <p:spPr>
              <a:xfrm flipV="1">
                <a:off x="44958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" name="Rectangle 232"/>
              <p:cNvSpPr/>
              <p:nvPr/>
            </p:nvSpPr>
            <p:spPr>
              <a:xfrm flipV="1">
                <a:off x="44958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" name="Rectangle 233"/>
              <p:cNvSpPr/>
              <p:nvPr/>
            </p:nvSpPr>
            <p:spPr>
              <a:xfrm flipV="1">
                <a:off x="44958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" name="Rectangle 234"/>
              <p:cNvSpPr/>
              <p:nvPr/>
            </p:nvSpPr>
            <p:spPr>
              <a:xfrm>
                <a:off x="47244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Rectangle 235"/>
              <p:cNvSpPr/>
              <p:nvPr/>
            </p:nvSpPr>
            <p:spPr>
              <a:xfrm>
                <a:off x="47244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Rectangle 236"/>
              <p:cNvSpPr/>
              <p:nvPr/>
            </p:nvSpPr>
            <p:spPr>
              <a:xfrm>
                <a:off x="47244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" name="Rectangle 237"/>
              <p:cNvSpPr/>
              <p:nvPr/>
            </p:nvSpPr>
            <p:spPr>
              <a:xfrm>
                <a:off x="47244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Rectangle 238"/>
              <p:cNvSpPr/>
              <p:nvPr/>
            </p:nvSpPr>
            <p:spPr>
              <a:xfrm flipV="1">
                <a:off x="49530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Rectangle 239"/>
              <p:cNvSpPr/>
              <p:nvPr/>
            </p:nvSpPr>
            <p:spPr>
              <a:xfrm flipV="1">
                <a:off x="49530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Rectangle 240"/>
              <p:cNvSpPr/>
              <p:nvPr/>
            </p:nvSpPr>
            <p:spPr>
              <a:xfrm flipV="1">
                <a:off x="49530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Rectangle 241"/>
              <p:cNvSpPr/>
              <p:nvPr/>
            </p:nvSpPr>
            <p:spPr>
              <a:xfrm flipV="1">
                <a:off x="49530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" name="Rectangle 242"/>
              <p:cNvSpPr/>
              <p:nvPr/>
            </p:nvSpPr>
            <p:spPr>
              <a:xfrm>
                <a:off x="51816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Rectangle 243"/>
              <p:cNvSpPr/>
              <p:nvPr/>
            </p:nvSpPr>
            <p:spPr>
              <a:xfrm>
                <a:off x="51816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Rectangle 244"/>
              <p:cNvSpPr/>
              <p:nvPr/>
            </p:nvSpPr>
            <p:spPr>
              <a:xfrm>
                <a:off x="51816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" name="Rectangle 245"/>
              <p:cNvSpPr/>
              <p:nvPr/>
            </p:nvSpPr>
            <p:spPr>
              <a:xfrm>
                <a:off x="51816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" name="Rectangle 246"/>
              <p:cNvSpPr/>
              <p:nvPr/>
            </p:nvSpPr>
            <p:spPr>
              <a:xfrm flipV="1">
                <a:off x="54102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Rectangle 247"/>
              <p:cNvSpPr/>
              <p:nvPr/>
            </p:nvSpPr>
            <p:spPr>
              <a:xfrm flipV="1">
                <a:off x="54102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" name="Rectangle 248"/>
              <p:cNvSpPr/>
              <p:nvPr/>
            </p:nvSpPr>
            <p:spPr>
              <a:xfrm flipV="1">
                <a:off x="54102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Rectangle 249"/>
              <p:cNvSpPr/>
              <p:nvPr/>
            </p:nvSpPr>
            <p:spPr>
              <a:xfrm flipV="1">
                <a:off x="54102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Rectangle 250"/>
              <p:cNvSpPr/>
              <p:nvPr/>
            </p:nvSpPr>
            <p:spPr>
              <a:xfrm>
                <a:off x="56388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Rectangle 251"/>
              <p:cNvSpPr/>
              <p:nvPr/>
            </p:nvSpPr>
            <p:spPr>
              <a:xfrm>
                <a:off x="56388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Rectangle 252"/>
              <p:cNvSpPr/>
              <p:nvPr/>
            </p:nvSpPr>
            <p:spPr>
              <a:xfrm>
                <a:off x="56388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Rectangle 253"/>
              <p:cNvSpPr/>
              <p:nvPr/>
            </p:nvSpPr>
            <p:spPr>
              <a:xfrm>
                <a:off x="56388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Rectangle 254"/>
              <p:cNvSpPr/>
              <p:nvPr/>
            </p:nvSpPr>
            <p:spPr>
              <a:xfrm flipV="1">
                <a:off x="58674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Rectangle 255"/>
              <p:cNvSpPr/>
              <p:nvPr/>
            </p:nvSpPr>
            <p:spPr>
              <a:xfrm flipV="1">
                <a:off x="58674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" name="Rectangle 256"/>
              <p:cNvSpPr/>
              <p:nvPr/>
            </p:nvSpPr>
            <p:spPr>
              <a:xfrm flipV="1">
                <a:off x="58674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Rectangle 257"/>
              <p:cNvSpPr/>
              <p:nvPr/>
            </p:nvSpPr>
            <p:spPr>
              <a:xfrm flipV="1">
                <a:off x="58674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Rectangle 258"/>
              <p:cNvSpPr/>
              <p:nvPr/>
            </p:nvSpPr>
            <p:spPr>
              <a:xfrm>
                <a:off x="51816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Rectangle 259"/>
              <p:cNvSpPr/>
              <p:nvPr/>
            </p:nvSpPr>
            <p:spPr>
              <a:xfrm>
                <a:off x="51816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Rectangle 260"/>
              <p:cNvSpPr/>
              <p:nvPr/>
            </p:nvSpPr>
            <p:spPr>
              <a:xfrm>
                <a:off x="51816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Rectangle 261"/>
              <p:cNvSpPr/>
              <p:nvPr/>
            </p:nvSpPr>
            <p:spPr>
              <a:xfrm>
                <a:off x="51816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" name="Rectangle 262"/>
              <p:cNvSpPr/>
              <p:nvPr/>
            </p:nvSpPr>
            <p:spPr>
              <a:xfrm flipV="1">
                <a:off x="54102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Rectangle 263"/>
              <p:cNvSpPr/>
              <p:nvPr/>
            </p:nvSpPr>
            <p:spPr>
              <a:xfrm flipV="1">
                <a:off x="54102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Rectangle 264"/>
              <p:cNvSpPr/>
              <p:nvPr/>
            </p:nvSpPr>
            <p:spPr>
              <a:xfrm flipV="1">
                <a:off x="54102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Rectangle 265"/>
              <p:cNvSpPr/>
              <p:nvPr/>
            </p:nvSpPr>
            <p:spPr>
              <a:xfrm flipV="1">
                <a:off x="54102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Rectangle 266"/>
              <p:cNvSpPr/>
              <p:nvPr/>
            </p:nvSpPr>
            <p:spPr>
              <a:xfrm>
                <a:off x="56388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Rectangle 267"/>
              <p:cNvSpPr/>
              <p:nvPr/>
            </p:nvSpPr>
            <p:spPr>
              <a:xfrm>
                <a:off x="56388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Rectangle 268"/>
              <p:cNvSpPr/>
              <p:nvPr/>
            </p:nvSpPr>
            <p:spPr>
              <a:xfrm>
                <a:off x="56388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" name="Rectangle 269"/>
              <p:cNvSpPr/>
              <p:nvPr/>
            </p:nvSpPr>
            <p:spPr>
              <a:xfrm>
                <a:off x="56388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" name="Rectangle 270"/>
              <p:cNvSpPr/>
              <p:nvPr/>
            </p:nvSpPr>
            <p:spPr>
              <a:xfrm flipV="1">
                <a:off x="58674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" name="Rectangle 271"/>
              <p:cNvSpPr/>
              <p:nvPr/>
            </p:nvSpPr>
            <p:spPr>
              <a:xfrm flipV="1">
                <a:off x="58674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Rectangle 272"/>
              <p:cNvSpPr/>
              <p:nvPr/>
            </p:nvSpPr>
            <p:spPr>
              <a:xfrm flipV="1">
                <a:off x="58674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Rectangle 273"/>
              <p:cNvSpPr/>
              <p:nvPr/>
            </p:nvSpPr>
            <p:spPr>
              <a:xfrm flipV="1">
                <a:off x="58674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" name="Rectangle 274"/>
              <p:cNvSpPr/>
              <p:nvPr/>
            </p:nvSpPr>
            <p:spPr>
              <a:xfrm>
                <a:off x="60960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" name="Rectangle 275"/>
              <p:cNvSpPr/>
              <p:nvPr/>
            </p:nvSpPr>
            <p:spPr>
              <a:xfrm>
                <a:off x="60960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Rectangle 276"/>
              <p:cNvSpPr/>
              <p:nvPr/>
            </p:nvSpPr>
            <p:spPr>
              <a:xfrm>
                <a:off x="60960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" name="Rectangle 277"/>
              <p:cNvSpPr/>
              <p:nvPr/>
            </p:nvSpPr>
            <p:spPr>
              <a:xfrm>
                <a:off x="60960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" name="Rectangle 278"/>
              <p:cNvSpPr/>
              <p:nvPr/>
            </p:nvSpPr>
            <p:spPr>
              <a:xfrm>
                <a:off x="60960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Rectangle 279"/>
              <p:cNvSpPr/>
              <p:nvPr/>
            </p:nvSpPr>
            <p:spPr>
              <a:xfrm>
                <a:off x="60960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" name="Rectangle 280"/>
              <p:cNvSpPr/>
              <p:nvPr/>
            </p:nvSpPr>
            <p:spPr>
              <a:xfrm>
                <a:off x="60960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" name="Rectangle 281"/>
              <p:cNvSpPr/>
              <p:nvPr/>
            </p:nvSpPr>
            <p:spPr>
              <a:xfrm>
                <a:off x="60960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9" name="Group 88"/>
            <p:cNvGrpSpPr/>
            <p:nvPr/>
          </p:nvGrpSpPr>
          <p:grpSpPr>
            <a:xfrm>
              <a:off x="7315200" y="3200400"/>
              <a:ext cx="457200" cy="457200"/>
              <a:chOff x="4495800" y="1981200"/>
              <a:chExt cx="1828800" cy="1828800"/>
            </a:xfrm>
          </p:grpSpPr>
          <p:sp>
            <p:nvSpPr>
              <p:cNvPr id="155" name="Rectangle 154"/>
              <p:cNvSpPr/>
              <p:nvPr/>
            </p:nvSpPr>
            <p:spPr>
              <a:xfrm flipV="1">
                <a:off x="44958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tangle 155"/>
              <p:cNvSpPr/>
              <p:nvPr/>
            </p:nvSpPr>
            <p:spPr>
              <a:xfrm flipV="1">
                <a:off x="44958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tangle 156"/>
              <p:cNvSpPr/>
              <p:nvPr/>
            </p:nvSpPr>
            <p:spPr>
              <a:xfrm flipV="1">
                <a:off x="44958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 157"/>
              <p:cNvSpPr/>
              <p:nvPr/>
            </p:nvSpPr>
            <p:spPr>
              <a:xfrm flipV="1">
                <a:off x="44958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47244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/>
              <p:cNvSpPr/>
              <p:nvPr/>
            </p:nvSpPr>
            <p:spPr>
              <a:xfrm>
                <a:off x="47244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/>
              <p:cNvSpPr/>
              <p:nvPr/>
            </p:nvSpPr>
            <p:spPr>
              <a:xfrm>
                <a:off x="47244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tangle 161"/>
              <p:cNvSpPr/>
              <p:nvPr/>
            </p:nvSpPr>
            <p:spPr>
              <a:xfrm>
                <a:off x="47244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 162"/>
              <p:cNvSpPr/>
              <p:nvPr/>
            </p:nvSpPr>
            <p:spPr>
              <a:xfrm flipV="1">
                <a:off x="49530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tangle 163"/>
              <p:cNvSpPr/>
              <p:nvPr/>
            </p:nvSpPr>
            <p:spPr>
              <a:xfrm flipV="1">
                <a:off x="49530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tangle 164"/>
              <p:cNvSpPr/>
              <p:nvPr/>
            </p:nvSpPr>
            <p:spPr>
              <a:xfrm flipV="1">
                <a:off x="49530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tangle 165"/>
              <p:cNvSpPr/>
              <p:nvPr/>
            </p:nvSpPr>
            <p:spPr>
              <a:xfrm flipV="1">
                <a:off x="49530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tangle 166"/>
              <p:cNvSpPr/>
              <p:nvPr/>
            </p:nvSpPr>
            <p:spPr>
              <a:xfrm flipV="1">
                <a:off x="44958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/>
              <p:cNvSpPr/>
              <p:nvPr/>
            </p:nvSpPr>
            <p:spPr>
              <a:xfrm flipV="1">
                <a:off x="44958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tangle 168"/>
              <p:cNvSpPr/>
              <p:nvPr/>
            </p:nvSpPr>
            <p:spPr>
              <a:xfrm flipV="1">
                <a:off x="44958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/>
              <p:cNvSpPr/>
              <p:nvPr/>
            </p:nvSpPr>
            <p:spPr>
              <a:xfrm flipV="1">
                <a:off x="44958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/>
              <p:cNvSpPr/>
              <p:nvPr/>
            </p:nvSpPr>
            <p:spPr>
              <a:xfrm>
                <a:off x="47244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/>
              <p:cNvSpPr/>
              <p:nvPr/>
            </p:nvSpPr>
            <p:spPr>
              <a:xfrm>
                <a:off x="47244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/>
              <p:cNvSpPr/>
              <p:nvPr/>
            </p:nvSpPr>
            <p:spPr>
              <a:xfrm>
                <a:off x="47244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tangle 173"/>
              <p:cNvSpPr/>
              <p:nvPr/>
            </p:nvSpPr>
            <p:spPr>
              <a:xfrm>
                <a:off x="47244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tangle 174"/>
              <p:cNvSpPr/>
              <p:nvPr/>
            </p:nvSpPr>
            <p:spPr>
              <a:xfrm flipV="1">
                <a:off x="49530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tangle 175"/>
              <p:cNvSpPr/>
              <p:nvPr/>
            </p:nvSpPr>
            <p:spPr>
              <a:xfrm flipV="1">
                <a:off x="49530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tangle 176"/>
              <p:cNvSpPr/>
              <p:nvPr/>
            </p:nvSpPr>
            <p:spPr>
              <a:xfrm flipV="1">
                <a:off x="49530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tangle 177"/>
              <p:cNvSpPr/>
              <p:nvPr/>
            </p:nvSpPr>
            <p:spPr>
              <a:xfrm flipV="1">
                <a:off x="49530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tangle 178"/>
              <p:cNvSpPr/>
              <p:nvPr/>
            </p:nvSpPr>
            <p:spPr>
              <a:xfrm>
                <a:off x="51816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tangle 179"/>
              <p:cNvSpPr/>
              <p:nvPr/>
            </p:nvSpPr>
            <p:spPr>
              <a:xfrm>
                <a:off x="51816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 180"/>
              <p:cNvSpPr/>
              <p:nvPr/>
            </p:nvSpPr>
            <p:spPr>
              <a:xfrm>
                <a:off x="51816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 181"/>
              <p:cNvSpPr/>
              <p:nvPr/>
            </p:nvSpPr>
            <p:spPr>
              <a:xfrm>
                <a:off x="51816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ectangle 182"/>
              <p:cNvSpPr/>
              <p:nvPr/>
            </p:nvSpPr>
            <p:spPr>
              <a:xfrm flipV="1">
                <a:off x="54102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 183"/>
              <p:cNvSpPr/>
              <p:nvPr/>
            </p:nvSpPr>
            <p:spPr>
              <a:xfrm flipV="1">
                <a:off x="54102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ectangle 184"/>
              <p:cNvSpPr/>
              <p:nvPr/>
            </p:nvSpPr>
            <p:spPr>
              <a:xfrm flipV="1">
                <a:off x="54102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ectangle 185"/>
              <p:cNvSpPr/>
              <p:nvPr/>
            </p:nvSpPr>
            <p:spPr>
              <a:xfrm flipV="1">
                <a:off x="54102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ectangle 186"/>
              <p:cNvSpPr/>
              <p:nvPr/>
            </p:nvSpPr>
            <p:spPr>
              <a:xfrm>
                <a:off x="56388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187"/>
              <p:cNvSpPr/>
              <p:nvPr/>
            </p:nvSpPr>
            <p:spPr>
              <a:xfrm>
                <a:off x="56388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Rectangle 188"/>
              <p:cNvSpPr/>
              <p:nvPr/>
            </p:nvSpPr>
            <p:spPr>
              <a:xfrm>
                <a:off x="56388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Rectangle 189"/>
              <p:cNvSpPr/>
              <p:nvPr/>
            </p:nvSpPr>
            <p:spPr>
              <a:xfrm>
                <a:off x="56388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Rectangle 190"/>
              <p:cNvSpPr/>
              <p:nvPr/>
            </p:nvSpPr>
            <p:spPr>
              <a:xfrm flipV="1">
                <a:off x="58674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Rectangle 191"/>
              <p:cNvSpPr/>
              <p:nvPr/>
            </p:nvSpPr>
            <p:spPr>
              <a:xfrm flipV="1">
                <a:off x="58674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/>
              <p:cNvSpPr/>
              <p:nvPr/>
            </p:nvSpPr>
            <p:spPr>
              <a:xfrm flipV="1">
                <a:off x="58674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Rectangle 193"/>
              <p:cNvSpPr/>
              <p:nvPr/>
            </p:nvSpPr>
            <p:spPr>
              <a:xfrm flipV="1">
                <a:off x="58674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194"/>
              <p:cNvSpPr/>
              <p:nvPr/>
            </p:nvSpPr>
            <p:spPr>
              <a:xfrm>
                <a:off x="51816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/>
              <p:cNvSpPr/>
              <p:nvPr/>
            </p:nvSpPr>
            <p:spPr>
              <a:xfrm>
                <a:off x="51816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/>
              <p:cNvSpPr/>
              <p:nvPr/>
            </p:nvSpPr>
            <p:spPr>
              <a:xfrm>
                <a:off x="51816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/>
              <p:cNvSpPr/>
              <p:nvPr/>
            </p:nvSpPr>
            <p:spPr>
              <a:xfrm>
                <a:off x="51816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Rectangle 198"/>
              <p:cNvSpPr/>
              <p:nvPr/>
            </p:nvSpPr>
            <p:spPr>
              <a:xfrm flipV="1">
                <a:off x="54102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/>
              <p:cNvSpPr/>
              <p:nvPr/>
            </p:nvSpPr>
            <p:spPr>
              <a:xfrm flipV="1">
                <a:off x="54102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/>
              <p:cNvSpPr/>
              <p:nvPr/>
            </p:nvSpPr>
            <p:spPr>
              <a:xfrm flipV="1">
                <a:off x="54102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/>
              <p:cNvSpPr/>
              <p:nvPr/>
            </p:nvSpPr>
            <p:spPr>
              <a:xfrm flipV="1">
                <a:off x="54102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Rectangle 202"/>
              <p:cNvSpPr/>
              <p:nvPr/>
            </p:nvSpPr>
            <p:spPr>
              <a:xfrm>
                <a:off x="56388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Rectangle 203"/>
              <p:cNvSpPr/>
              <p:nvPr/>
            </p:nvSpPr>
            <p:spPr>
              <a:xfrm>
                <a:off x="56388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204"/>
              <p:cNvSpPr/>
              <p:nvPr/>
            </p:nvSpPr>
            <p:spPr>
              <a:xfrm>
                <a:off x="56388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Rectangle 205"/>
              <p:cNvSpPr/>
              <p:nvPr/>
            </p:nvSpPr>
            <p:spPr>
              <a:xfrm>
                <a:off x="56388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Rectangle 206"/>
              <p:cNvSpPr/>
              <p:nvPr/>
            </p:nvSpPr>
            <p:spPr>
              <a:xfrm flipV="1">
                <a:off x="58674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Rectangle 207"/>
              <p:cNvSpPr/>
              <p:nvPr/>
            </p:nvSpPr>
            <p:spPr>
              <a:xfrm flipV="1">
                <a:off x="58674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Rectangle 208"/>
              <p:cNvSpPr/>
              <p:nvPr/>
            </p:nvSpPr>
            <p:spPr>
              <a:xfrm flipV="1">
                <a:off x="58674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Rectangle 209"/>
              <p:cNvSpPr/>
              <p:nvPr/>
            </p:nvSpPr>
            <p:spPr>
              <a:xfrm flipV="1">
                <a:off x="58674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Rectangle 210"/>
              <p:cNvSpPr/>
              <p:nvPr/>
            </p:nvSpPr>
            <p:spPr>
              <a:xfrm>
                <a:off x="60960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Rectangle 211"/>
              <p:cNvSpPr/>
              <p:nvPr/>
            </p:nvSpPr>
            <p:spPr>
              <a:xfrm>
                <a:off x="60960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Rectangle 212"/>
              <p:cNvSpPr/>
              <p:nvPr/>
            </p:nvSpPr>
            <p:spPr>
              <a:xfrm>
                <a:off x="60960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Rectangle 213"/>
              <p:cNvSpPr/>
              <p:nvPr/>
            </p:nvSpPr>
            <p:spPr>
              <a:xfrm>
                <a:off x="60960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Rectangle 214"/>
              <p:cNvSpPr/>
              <p:nvPr/>
            </p:nvSpPr>
            <p:spPr>
              <a:xfrm>
                <a:off x="60960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Rectangle 215"/>
              <p:cNvSpPr/>
              <p:nvPr/>
            </p:nvSpPr>
            <p:spPr>
              <a:xfrm>
                <a:off x="60960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Rectangle 216"/>
              <p:cNvSpPr/>
              <p:nvPr/>
            </p:nvSpPr>
            <p:spPr>
              <a:xfrm>
                <a:off x="60960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Rectangle 217"/>
              <p:cNvSpPr/>
              <p:nvPr/>
            </p:nvSpPr>
            <p:spPr>
              <a:xfrm>
                <a:off x="60960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/>
            <p:cNvGrpSpPr/>
            <p:nvPr/>
          </p:nvGrpSpPr>
          <p:grpSpPr>
            <a:xfrm>
              <a:off x="7772400" y="3200400"/>
              <a:ext cx="457200" cy="457200"/>
              <a:chOff x="4495800" y="1981200"/>
              <a:chExt cx="1828800" cy="1828800"/>
            </a:xfrm>
          </p:grpSpPr>
          <p:sp>
            <p:nvSpPr>
              <p:cNvPr id="91" name="Rectangle 90"/>
              <p:cNvSpPr/>
              <p:nvPr/>
            </p:nvSpPr>
            <p:spPr>
              <a:xfrm flipV="1">
                <a:off x="44958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/>
              <p:cNvSpPr/>
              <p:nvPr/>
            </p:nvSpPr>
            <p:spPr>
              <a:xfrm flipV="1">
                <a:off x="44958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/>
              <p:cNvSpPr/>
              <p:nvPr/>
            </p:nvSpPr>
            <p:spPr>
              <a:xfrm flipV="1">
                <a:off x="44958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93"/>
              <p:cNvSpPr/>
              <p:nvPr/>
            </p:nvSpPr>
            <p:spPr>
              <a:xfrm flipV="1">
                <a:off x="44958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47244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47244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 96"/>
              <p:cNvSpPr/>
              <p:nvPr/>
            </p:nvSpPr>
            <p:spPr>
              <a:xfrm>
                <a:off x="47244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47244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/>
              <p:cNvSpPr/>
              <p:nvPr/>
            </p:nvSpPr>
            <p:spPr>
              <a:xfrm flipV="1">
                <a:off x="49530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/>
              <p:cNvSpPr/>
              <p:nvPr/>
            </p:nvSpPr>
            <p:spPr>
              <a:xfrm flipV="1">
                <a:off x="49530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/>
              <p:cNvSpPr/>
              <p:nvPr/>
            </p:nvSpPr>
            <p:spPr>
              <a:xfrm flipV="1">
                <a:off x="49530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Rectangle 101"/>
              <p:cNvSpPr/>
              <p:nvPr/>
            </p:nvSpPr>
            <p:spPr>
              <a:xfrm flipV="1">
                <a:off x="49530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 102"/>
              <p:cNvSpPr/>
              <p:nvPr/>
            </p:nvSpPr>
            <p:spPr>
              <a:xfrm flipV="1">
                <a:off x="44958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angle 103"/>
              <p:cNvSpPr/>
              <p:nvPr/>
            </p:nvSpPr>
            <p:spPr>
              <a:xfrm flipV="1">
                <a:off x="44958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 flipV="1">
                <a:off x="44958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 flipV="1">
                <a:off x="44958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Rectangle 106"/>
              <p:cNvSpPr/>
              <p:nvPr/>
            </p:nvSpPr>
            <p:spPr>
              <a:xfrm>
                <a:off x="47244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Rectangle 107"/>
              <p:cNvSpPr/>
              <p:nvPr/>
            </p:nvSpPr>
            <p:spPr>
              <a:xfrm>
                <a:off x="47244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 108"/>
              <p:cNvSpPr/>
              <p:nvPr/>
            </p:nvSpPr>
            <p:spPr>
              <a:xfrm>
                <a:off x="47244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7244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 flipV="1">
                <a:off x="49530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/>
              <p:cNvSpPr/>
              <p:nvPr/>
            </p:nvSpPr>
            <p:spPr>
              <a:xfrm flipV="1">
                <a:off x="49530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 flipV="1">
                <a:off x="49530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Rectangle 113"/>
              <p:cNvSpPr/>
              <p:nvPr/>
            </p:nvSpPr>
            <p:spPr>
              <a:xfrm flipV="1">
                <a:off x="49530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51816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51816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51816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51816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tangle 118"/>
              <p:cNvSpPr/>
              <p:nvPr/>
            </p:nvSpPr>
            <p:spPr>
              <a:xfrm flipV="1">
                <a:off x="54102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tangle 119"/>
              <p:cNvSpPr/>
              <p:nvPr/>
            </p:nvSpPr>
            <p:spPr>
              <a:xfrm flipV="1">
                <a:off x="54102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 120"/>
              <p:cNvSpPr/>
              <p:nvPr/>
            </p:nvSpPr>
            <p:spPr>
              <a:xfrm flipV="1">
                <a:off x="54102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tangle 121"/>
              <p:cNvSpPr/>
              <p:nvPr/>
            </p:nvSpPr>
            <p:spPr>
              <a:xfrm flipV="1">
                <a:off x="54102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56388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56388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/>
              <p:cNvSpPr/>
              <p:nvPr/>
            </p:nvSpPr>
            <p:spPr>
              <a:xfrm>
                <a:off x="56388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tangle 125"/>
              <p:cNvSpPr/>
              <p:nvPr/>
            </p:nvSpPr>
            <p:spPr>
              <a:xfrm>
                <a:off x="56388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tangle 126"/>
              <p:cNvSpPr/>
              <p:nvPr/>
            </p:nvSpPr>
            <p:spPr>
              <a:xfrm flipV="1">
                <a:off x="5867400" y="26670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 127"/>
              <p:cNvSpPr/>
              <p:nvPr/>
            </p:nvSpPr>
            <p:spPr>
              <a:xfrm flipV="1">
                <a:off x="5867400" y="2438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tangle 128"/>
              <p:cNvSpPr/>
              <p:nvPr/>
            </p:nvSpPr>
            <p:spPr>
              <a:xfrm flipV="1">
                <a:off x="5867400" y="2209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 129"/>
              <p:cNvSpPr/>
              <p:nvPr/>
            </p:nvSpPr>
            <p:spPr>
              <a:xfrm flipV="1">
                <a:off x="5867400" y="1981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tangle 130"/>
              <p:cNvSpPr/>
              <p:nvPr/>
            </p:nvSpPr>
            <p:spPr>
              <a:xfrm>
                <a:off x="51816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tangle 131"/>
              <p:cNvSpPr/>
              <p:nvPr/>
            </p:nvSpPr>
            <p:spPr>
              <a:xfrm>
                <a:off x="51816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tangle 132"/>
              <p:cNvSpPr/>
              <p:nvPr/>
            </p:nvSpPr>
            <p:spPr>
              <a:xfrm>
                <a:off x="51816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133"/>
              <p:cNvSpPr/>
              <p:nvPr/>
            </p:nvSpPr>
            <p:spPr>
              <a:xfrm>
                <a:off x="51816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tangle 134"/>
              <p:cNvSpPr/>
              <p:nvPr/>
            </p:nvSpPr>
            <p:spPr>
              <a:xfrm flipV="1">
                <a:off x="54102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tangle 135"/>
              <p:cNvSpPr/>
              <p:nvPr/>
            </p:nvSpPr>
            <p:spPr>
              <a:xfrm flipV="1">
                <a:off x="54102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 136"/>
              <p:cNvSpPr/>
              <p:nvPr/>
            </p:nvSpPr>
            <p:spPr>
              <a:xfrm flipV="1">
                <a:off x="54102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tangle 137"/>
              <p:cNvSpPr/>
              <p:nvPr/>
            </p:nvSpPr>
            <p:spPr>
              <a:xfrm flipV="1">
                <a:off x="54102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tangle 138"/>
              <p:cNvSpPr/>
              <p:nvPr/>
            </p:nvSpPr>
            <p:spPr>
              <a:xfrm>
                <a:off x="56388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tangle 139"/>
              <p:cNvSpPr/>
              <p:nvPr/>
            </p:nvSpPr>
            <p:spPr>
              <a:xfrm>
                <a:off x="56388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tangle 140"/>
              <p:cNvSpPr/>
              <p:nvPr/>
            </p:nvSpPr>
            <p:spPr>
              <a:xfrm>
                <a:off x="56388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tangle 141"/>
              <p:cNvSpPr/>
              <p:nvPr/>
            </p:nvSpPr>
            <p:spPr>
              <a:xfrm>
                <a:off x="56388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tangle 142"/>
              <p:cNvSpPr/>
              <p:nvPr/>
            </p:nvSpPr>
            <p:spPr>
              <a:xfrm flipV="1">
                <a:off x="5867400" y="3581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tangle 143"/>
              <p:cNvSpPr/>
              <p:nvPr/>
            </p:nvSpPr>
            <p:spPr>
              <a:xfrm flipV="1">
                <a:off x="5867400" y="3352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tangle 144"/>
              <p:cNvSpPr/>
              <p:nvPr/>
            </p:nvSpPr>
            <p:spPr>
              <a:xfrm flipV="1">
                <a:off x="5867400" y="3124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tangle 145"/>
              <p:cNvSpPr/>
              <p:nvPr/>
            </p:nvSpPr>
            <p:spPr>
              <a:xfrm flipV="1">
                <a:off x="5867400" y="28956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6096000" y="19812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6096000" y="22098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/>
              <p:cNvSpPr/>
              <p:nvPr/>
            </p:nvSpPr>
            <p:spPr>
              <a:xfrm>
                <a:off x="6096000" y="24384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/>
              <p:cNvSpPr/>
              <p:nvPr/>
            </p:nvSpPr>
            <p:spPr>
              <a:xfrm>
                <a:off x="6096000" y="26670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tangle 150"/>
              <p:cNvSpPr/>
              <p:nvPr/>
            </p:nvSpPr>
            <p:spPr>
              <a:xfrm>
                <a:off x="6096000" y="28956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tangle 151"/>
              <p:cNvSpPr/>
              <p:nvPr/>
            </p:nvSpPr>
            <p:spPr>
              <a:xfrm>
                <a:off x="6096000" y="31242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tangle 152"/>
              <p:cNvSpPr/>
              <p:nvPr/>
            </p:nvSpPr>
            <p:spPr>
              <a:xfrm>
                <a:off x="6096000" y="3352800"/>
                <a:ext cx="228600" cy="228600"/>
              </a:xfrm>
              <a:prstGeom prst="rect">
                <a:avLst/>
              </a:prstGeom>
              <a:solidFill>
                <a:srgbClr val="9999FF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tangle 153"/>
              <p:cNvSpPr/>
              <p:nvPr/>
            </p:nvSpPr>
            <p:spPr>
              <a:xfrm>
                <a:off x="6096000" y="3581400"/>
                <a:ext cx="228600" cy="228600"/>
              </a:xfrm>
              <a:prstGeom prst="rect">
                <a:avLst/>
              </a:prstGeom>
              <a:solidFill>
                <a:srgbClr val="FFFF66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115" name="Right Arrow 1114"/>
          <p:cNvSpPr/>
          <p:nvPr/>
        </p:nvSpPr>
        <p:spPr>
          <a:xfrm>
            <a:off x="3090672" y="3618340"/>
            <a:ext cx="685800" cy="457200"/>
          </a:xfrm>
          <a:prstGeom prst="rightArrow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" name="Right Arrow 1115"/>
          <p:cNvSpPr/>
          <p:nvPr/>
        </p:nvSpPr>
        <p:spPr>
          <a:xfrm>
            <a:off x="5833872" y="3618340"/>
            <a:ext cx="685800" cy="457200"/>
          </a:xfrm>
          <a:prstGeom prst="rightArrow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" name="Rectangle 1116"/>
          <p:cNvSpPr/>
          <p:nvPr/>
        </p:nvSpPr>
        <p:spPr>
          <a:xfrm>
            <a:off x="1143000" y="2932540"/>
            <a:ext cx="1828800" cy="1828800"/>
          </a:xfrm>
          <a:prstGeom prst="rect">
            <a:avLst/>
          </a:prstGeom>
          <a:noFill/>
          <a:ln w="38100">
            <a:solidFill>
              <a:srgbClr val="FF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" name="Rectangle 1117"/>
          <p:cNvSpPr/>
          <p:nvPr/>
        </p:nvSpPr>
        <p:spPr>
          <a:xfrm>
            <a:off x="3886200" y="2924634"/>
            <a:ext cx="914400" cy="914400"/>
          </a:xfrm>
          <a:prstGeom prst="rect">
            <a:avLst/>
          </a:prstGeom>
          <a:noFill/>
          <a:ln w="28575">
            <a:solidFill>
              <a:srgbClr val="FF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/>
          <p:cNvSpPr/>
          <p:nvPr/>
        </p:nvSpPr>
        <p:spPr>
          <a:xfrm>
            <a:off x="4800600" y="2924634"/>
            <a:ext cx="914400" cy="914400"/>
          </a:xfrm>
          <a:prstGeom prst="rect">
            <a:avLst/>
          </a:prstGeom>
          <a:noFill/>
          <a:ln w="28575">
            <a:solidFill>
              <a:srgbClr val="FF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/>
          <p:cNvSpPr/>
          <p:nvPr/>
        </p:nvSpPr>
        <p:spPr>
          <a:xfrm>
            <a:off x="3886200" y="3839034"/>
            <a:ext cx="914400" cy="914400"/>
          </a:xfrm>
          <a:prstGeom prst="rect">
            <a:avLst/>
          </a:prstGeom>
          <a:noFill/>
          <a:ln w="28575">
            <a:solidFill>
              <a:srgbClr val="FF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/>
          <p:cNvSpPr/>
          <p:nvPr/>
        </p:nvSpPr>
        <p:spPr>
          <a:xfrm>
            <a:off x="4800600" y="3839034"/>
            <a:ext cx="914400" cy="914400"/>
          </a:xfrm>
          <a:prstGeom prst="rect">
            <a:avLst/>
          </a:prstGeom>
          <a:noFill/>
          <a:ln w="28575">
            <a:solidFill>
              <a:srgbClr val="FF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2" name="Group 1121"/>
          <p:cNvGrpSpPr>
            <a:grpSpLocks noChangeAspect="1"/>
          </p:cNvGrpSpPr>
          <p:nvPr/>
        </p:nvGrpSpPr>
        <p:grpSpPr>
          <a:xfrm>
            <a:off x="6629400" y="2924634"/>
            <a:ext cx="457200" cy="457200"/>
            <a:chOff x="9144000" y="3006698"/>
            <a:chExt cx="1828800" cy="1828800"/>
          </a:xfrm>
          <a:effectLst/>
        </p:grpSpPr>
        <p:sp>
          <p:nvSpPr>
            <p:cNvPr id="1123" name="Rectangle 1122"/>
            <p:cNvSpPr/>
            <p:nvPr/>
          </p:nvSpPr>
          <p:spPr>
            <a:xfrm>
              <a:off x="91440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4" name="Rectangle 1123"/>
            <p:cNvSpPr/>
            <p:nvPr/>
          </p:nvSpPr>
          <p:spPr>
            <a:xfrm>
              <a:off x="100584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5" name="Rectangle 1124"/>
            <p:cNvSpPr/>
            <p:nvPr/>
          </p:nvSpPr>
          <p:spPr>
            <a:xfrm>
              <a:off x="91440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6" name="Rectangle 1125"/>
            <p:cNvSpPr/>
            <p:nvPr/>
          </p:nvSpPr>
          <p:spPr>
            <a:xfrm>
              <a:off x="100584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27" name="Group 1126"/>
          <p:cNvGrpSpPr>
            <a:grpSpLocks noChangeAspect="1"/>
          </p:cNvGrpSpPr>
          <p:nvPr/>
        </p:nvGrpSpPr>
        <p:grpSpPr>
          <a:xfrm>
            <a:off x="7086600" y="2924634"/>
            <a:ext cx="457200" cy="457200"/>
            <a:chOff x="9144000" y="3006698"/>
            <a:chExt cx="1828800" cy="1828800"/>
          </a:xfrm>
          <a:effectLst/>
        </p:grpSpPr>
        <p:sp>
          <p:nvSpPr>
            <p:cNvPr id="1128" name="Rectangle 1127"/>
            <p:cNvSpPr/>
            <p:nvPr/>
          </p:nvSpPr>
          <p:spPr>
            <a:xfrm>
              <a:off x="91440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9" name="Rectangle 1128"/>
            <p:cNvSpPr/>
            <p:nvPr/>
          </p:nvSpPr>
          <p:spPr>
            <a:xfrm>
              <a:off x="100584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0" name="Rectangle 1129"/>
            <p:cNvSpPr/>
            <p:nvPr/>
          </p:nvSpPr>
          <p:spPr>
            <a:xfrm>
              <a:off x="91440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1" name="Rectangle 1130"/>
            <p:cNvSpPr/>
            <p:nvPr/>
          </p:nvSpPr>
          <p:spPr>
            <a:xfrm>
              <a:off x="100584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32" name="Group 1131"/>
          <p:cNvGrpSpPr>
            <a:grpSpLocks noChangeAspect="1"/>
          </p:cNvGrpSpPr>
          <p:nvPr/>
        </p:nvGrpSpPr>
        <p:grpSpPr>
          <a:xfrm>
            <a:off x="7543800" y="2924634"/>
            <a:ext cx="457200" cy="457200"/>
            <a:chOff x="9144000" y="3006698"/>
            <a:chExt cx="1828800" cy="1828800"/>
          </a:xfrm>
          <a:effectLst/>
        </p:grpSpPr>
        <p:sp>
          <p:nvSpPr>
            <p:cNvPr id="1133" name="Rectangle 1132"/>
            <p:cNvSpPr/>
            <p:nvPr/>
          </p:nvSpPr>
          <p:spPr>
            <a:xfrm>
              <a:off x="91440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4" name="Rectangle 1133"/>
            <p:cNvSpPr/>
            <p:nvPr/>
          </p:nvSpPr>
          <p:spPr>
            <a:xfrm>
              <a:off x="100584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5" name="Rectangle 1134"/>
            <p:cNvSpPr/>
            <p:nvPr/>
          </p:nvSpPr>
          <p:spPr>
            <a:xfrm>
              <a:off x="91440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6" name="Rectangle 1135"/>
            <p:cNvSpPr/>
            <p:nvPr/>
          </p:nvSpPr>
          <p:spPr>
            <a:xfrm>
              <a:off x="100584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37" name="Group 1136"/>
          <p:cNvGrpSpPr>
            <a:grpSpLocks noChangeAspect="1"/>
          </p:cNvGrpSpPr>
          <p:nvPr/>
        </p:nvGrpSpPr>
        <p:grpSpPr>
          <a:xfrm>
            <a:off x="8001000" y="2924634"/>
            <a:ext cx="457200" cy="457200"/>
            <a:chOff x="9144000" y="3006698"/>
            <a:chExt cx="1828800" cy="1828800"/>
          </a:xfrm>
          <a:effectLst/>
        </p:grpSpPr>
        <p:sp>
          <p:nvSpPr>
            <p:cNvPr id="1138" name="Rectangle 1137"/>
            <p:cNvSpPr/>
            <p:nvPr/>
          </p:nvSpPr>
          <p:spPr>
            <a:xfrm>
              <a:off x="91440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9" name="Rectangle 1138"/>
            <p:cNvSpPr/>
            <p:nvPr/>
          </p:nvSpPr>
          <p:spPr>
            <a:xfrm>
              <a:off x="100584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0" name="Rectangle 1139"/>
            <p:cNvSpPr/>
            <p:nvPr/>
          </p:nvSpPr>
          <p:spPr>
            <a:xfrm>
              <a:off x="91440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1" name="Rectangle 1140"/>
            <p:cNvSpPr/>
            <p:nvPr/>
          </p:nvSpPr>
          <p:spPr>
            <a:xfrm>
              <a:off x="100584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2" name="Group 1141"/>
          <p:cNvGrpSpPr>
            <a:grpSpLocks noChangeAspect="1"/>
          </p:cNvGrpSpPr>
          <p:nvPr/>
        </p:nvGrpSpPr>
        <p:grpSpPr>
          <a:xfrm>
            <a:off x="6629400" y="3381834"/>
            <a:ext cx="457200" cy="457200"/>
            <a:chOff x="9144000" y="3006698"/>
            <a:chExt cx="1828800" cy="1828800"/>
          </a:xfrm>
          <a:effectLst/>
        </p:grpSpPr>
        <p:sp>
          <p:nvSpPr>
            <p:cNvPr id="1143" name="Rectangle 1142"/>
            <p:cNvSpPr/>
            <p:nvPr/>
          </p:nvSpPr>
          <p:spPr>
            <a:xfrm>
              <a:off x="91440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4" name="Rectangle 1143"/>
            <p:cNvSpPr/>
            <p:nvPr/>
          </p:nvSpPr>
          <p:spPr>
            <a:xfrm>
              <a:off x="100584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5" name="Rectangle 1144"/>
            <p:cNvSpPr/>
            <p:nvPr/>
          </p:nvSpPr>
          <p:spPr>
            <a:xfrm>
              <a:off x="91440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6" name="Rectangle 1145"/>
            <p:cNvSpPr/>
            <p:nvPr/>
          </p:nvSpPr>
          <p:spPr>
            <a:xfrm>
              <a:off x="100584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7" name="Group 1146"/>
          <p:cNvGrpSpPr>
            <a:grpSpLocks noChangeAspect="1"/>
          </p:cNvGrpSpPr>
          <p:nvPr/>
        </p:nvGrpSpPr>
        <p:grpSpPr>
          <a:xfrm>
            <a:off x="7086600" y="3381834"/>
            <a:ext cx="457200" cy="457200"/>
            <a:chOff x="9144000" y="3006698"/>
            <a:chExt cx="1828800" cy="1828800"/>
          </a:xfrm>
          <a:effectLst/>
        </p:grpSpPr>
        <p:sp>
          <p:nvSpPr>
            <p:cNvPr id="1148" name="Rectangle 1147"/>
            <p:cNvSpPr/>
            <p:nvPr/>
          </p:nvSpPr>
          <p:spPr>
            <a:xfrm>
              <a:off x="91440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9" name="Rectangle 1148"/>
            <p:cNvSpPr/>
            <p:nvPr/>
          </p:nvSpPr>
          <p:spPr>
            <a:xfrm>
              <a:off x="100584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0" name="Rectangle 1149"/>
            <p:cNvSpPr/>
            <p:nvPr/>
          </p:nvSpPr>
          <p:spPr>
            <a:xfrm>
              <a:off x="91440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1" name="Rectangle 1150"/>
            <p:cNvSpPr/>
            <p:nvPr/>
          </p:nvSpPr>
          <p:spPr>
            <a:xfrm>
              <a:off x="100584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52" name="Group 1151"/>
          <p:cNvGrpSpPr>
            <a:grpSpLocks noChangeAspect="1"/>
          </p:cNvGrpSpPr>
          <p:nvPr/>
        </p:nvGrpSpPr>
        <p:grpSpPr>
          <a:xfrm>
            <a:off x="7543800" y="3381834"/>
            <a:ext cx="457200" cy="457200"/>
            <a:chOff x="9144000" y="3006698"/>
            <a:chExt cx="1828800" cy="1828800"/>
          </a:xfrm>
          <a:effectLst/>
        </p:grpSpPr>
        <p:sp>
          <p:nvSpPr>
            <p:cNvPr id="1153" name="Rectangle 1152"/>
            <p:cNvSpPr/>
            <p:nvPr/>
          </p:nvSpPr>
          <p:spPr>
            <a:xfrm>
              <a:off x="91440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4" name="Rectangle 1153"/>
            <p:cNvSpPr/>
            <p:nvPr/>
          </p:nvSpPr>
          <p:spPr>
            <a:xfrm>
              <a:off x="100584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5" name="Rectangle 1154"/>
            <p:cNvSpPr/>
            <p:nvPr/>
          </p:nvSpPr>
          <p:spPr>
            <a:xfrm>
              <a:off x="91440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6" name="Rectangle 1155"/>
            <p:cNvSpPr/>
            <p:nvPr/>
          </p:nvSpPr>
          <p:spPr>
            <a:xfrm>
              <a:off x="100584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57" name="Group 1156"/>
          <p:cNvGrpSpPr>
            <a:grpSpLocks noChangeAspect="1"/>
          </p:cNvGrpSpPr>
          <p:nvPr/>
        </p:nvGrpSpPr>
        <p:grpSpPr>
          <a:xfrm>
            <a:off x="8001000" y="3381834"/>
            <a:ext cx="457200" cy="457200"/>
            <a:chOff x="9144000" y="3006698"/>
            <a:chExt cx="1828800" cy="1828800"/>
          </a:xfrm>
          <a:effectLst/>
        </p:grpSpPr>
        <p:sp>
          <p:nvSpPr>
            <p:cNvPr id="1158" name="Rectangle 1157"/>
            <p:cNvSpPr/>
            <p:nvPr/>
          </p:nvSpPr>
          <p:spPr>
            <a:xfrm>
              <a:off x="91440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9" name="Rectangle 1158"/>
            <p:cNvSpPr/>
            <p:nvPr/>
          </p:nvSpPr>
          <p:spPr>
            <a:xfrm>
              <a:off x="100584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0" name="Rectangle 1159"/>
            <p:cNvSpPr/>
            <p:nvPr/>
          </p:nvSpPr>
          <p:spPr>
            <a:xfrm>
              <a:off x="91440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1" name="Rectangle 1160"/>
            <p:cNvSpPr/>
            <p:nvPr/>
          </p:nvSpPr>
          <p:spPr>
            <a:xfrm>
              <a:off x="100584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2" name="Group 1161"/>
          <p:cNvGrpSpPr>
            <a:grpSpLocks noChangeAspect="1"/>
          </p:cNvGrpSpPr>
          <p:nvPr/>
        </p:nvGrpSpPr>
        <p:grpSpPr>
          <a:xfrm>
            <a:off x="6629400" y="3839034"/>
            <a:ext cx="457200" cy="457200"/>
            <a:chOff x="9144000" y="3006698"/>
            <a:chExt cx="1828800" cy="1828800"/>
          </a:xfrm>
          <a:effectLst/>
        </p:grpSpPr>
        <p:sp>
          <p:nvSpPr>
            <p:cNvPr id="1163" name="Rectangle 1162"/>
            <p:cNvSpPr/>
            <p:nvPr/>
          </p:nvSpPr>
          <p:spPr>
            <a:xfrm>
              <a:off x="91440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4" name="Rectangle 1163"/>
            <p:cNvSpPr/>
            <p:nvPr/>
          </p:nvSpPr>
          <p:spPr>
            <a:xfrm>
              <a:off x="100584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5" name="Rectangle 1164"/>
            <p:cNvSpPr/>
            <p:nvPr/>
          </p:nvSpPr>
          <p:spPr>
            <a:xfrm>
              <a:off x="91440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6" name="Rectangle 1165"/>
            <p:cNvSpPr/>
            <p:nvPr/>
          </p:nvSpPr>
          <p:spPr>
            <a:xfrm>
              <a:off x="100584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7" name="Group 1166"/>
          <p:cNvGrpSpPr>
            <a:grpSpLocks noChangeAspect="1"/>
          </p:cNvGrpSpPr>
          <p:nvPr/>
        </p:nvGrpSpPr>
        <p:grpSpPr>
          <a:xfrm>
            <a:off x="7086600" y="3839034"/>
            <a:ext cx="457200" cy="457200"/>
            <a:chOff x="9144000" y="3006698"/>
            <a:chExt cx="1828800" cy="1828800"/>
          </a:xfrm>
          <a:effectLst/>
        </p:grpSpPr>
        <p:sp>
          <p:nvSpPr>
            <p:cNvPr id="1168" name="Rectangle 1167"/>
            <p:cNvSpPr/>
            <p:nvPr/>
          </p:nvSpPr>
          <p:spPr>
            <a:xfrm>
              <a:off x="91440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9" name="Rectangle 1168"/>
            <p:cNvSpPr/>
            <p:nvPr/>
          </p:nvSpPr>
          <p:spPr>
            <a:xfrm>
              <a:off x="100584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0" name="Rectangle 1169"/>
            <p:cNvSpPr/>
            <p:nvPr/>
          </p:nvSpPr>
          <p:spPr>
            <a:xfrm>
              <a:off x="91440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1" name="Rectangle 1170"/>
            <p:cNvSpPr/>
            <p:nvPr/>
          </p:nvSpPr>
          <p:spPr>
            <a:xfrm>
              <a:off x="100584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2" name="Group 1171"/>
          <p:cNvGrpSpPr>
            <a:grpSpLocks noChangeAspect="1"/>
          </p:cNvGrpSpPr>
          <p:nvPr/>
        </p:nvGrpSpPr>
        <p:grpSpPr>
          <a:xfrm>
            <a:off x="7543800" y="3839034"/>
            <a:ext cx="457200" cy="457200"/>
            <a:chOff x="9144000" y="3006698"/>
            <a:chExt cx="1828800" cy="1828800"/>
          </a:xfrm>
          <a:effectLst/>
        </p:grpSpPr>
        <p:sp>
          <p:nvSpPr>
            <p:cNvPr id="1173" name="Rectangle 1172"/>
            <p:cNvSpPr/>
            <p:nvPr/>
          </p:nvSpPr>
          <p:spPr>
            <a:xfrm>
              <a:off x="91440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4" name="Rectangle 1173"/>
            <p:cNvSpPr/>
            <p:nvPr/>
          </p:nvSpPr>
          <p:spPr>
            <a:xfrm>
              <a:off x="100584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5" name="Rectangle 1174"/>
            <p:cNvSpPr/>
            <p:nvPr/>
          </p:nvSpPr>
          <p:spPr>
            <a:xfrm>
              <a:off x="91440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6" name="Rectangle 1175"/>
            <p:cNvSpPr/>
            <p:nvPr/>
          </p:nvSpPr>
          <p:spPr>
            <a:xfrm>
              <a:off x="100584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7" name="Group 1176"/>
          <p:cNvGrpSpPr>
            <a:grpSpLocks noChangeAspect="1"/>
          </p:cNvGrpSpPr>
          <p:nvPr/>
        </p:nvGrpSpPr>
        <p:grpSpPr>
          <a:xfrm>
            <a:off x="8001000" y="3839034"/>
            <a:ext cx="457200" cy="457200"/>
            <a:chOff x="9144000" y="3006698"/>
            <a:chExt cx="1828800" cy="1828800"/>
          </a:xfrm>
          <a:effectLst/>
        </p:grpSpPr>
        <p:sp>
          <p:nvSpPr>
            <p:cNvPr id="1178" name="Rectangle 1177"/>
            <p:cNvSpPr/>
            <p:nvPr/>
          </p:nvSpPr>
          <p:spPr>
            <a:xfrm>
              <a:off x="91440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9" name="Rectangle 1178"/>
            <p:cNvSpPr/>
            <p:nvPr/>
          </p:nvSpPr>
          <p:spPr>
            <a:xfrm>
              <a:off x="100584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0" name="Rectangle 1179"/>
            <p:cNvSpPr/>
            <p:nvPr/>
          </p:nvSpPr>
          <p:spPr>
            <a:xfrm>
              <a:off x="91440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1" name="Rectangle 1180"/>
            <p:cNvSpPr/>
            <p:nvPr/>
          </p:nvSpPr>
          <p:spPr>
            <a:xfrm>
              <a:off x="100584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82" name="Group 1181"/>
          <p:cNvGrpSpPr>
            <a:grpSpLocks noChangeAspect="1"/>
          </p:cNvGrpSpPr>
          <p:nvPr/>
        </p:nvGrpSpPr>
        <p:grpSpPr>
          <a:xfrm>
            <a:off x="6629400" y="4296234"/>
            <a:ext cx="457200" cy="457200"/>
            <a:chOff x="9144000" y="3006698"/>
            <a:chExt cx="1828800" cy="1828800"/>
          </a:xfrm>
          <a:effectLst/>
        </p:grpSpPr>
        <p:sp>
          <p:nvSpPr>
            <p:cNvPr id="1183" name="Rectangle 1182"/>
            <p:cNvSpPr/>
            <p:nvPr/>
          </p:nvSpPr>
          <p:spPr>
            <a:xfrm>
              <a:off x="91440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4" name="Rectangle 1183"/>
            <p:cNvSpPr/>
            <p:nvPr/>
          </p:nvSpPr>
          <p:spPr>
            <a:xfrm>
              <a:off x="100584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5" name="Rectangle 1184"/>
            <p:cNvSpPr/>
            <p:nvPr/>
          </p:nvSpPr>
          <p:spPr>
            <a:xfrm>
              <a:off x="91440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6" name="Rectangle 1185"/>
            <p:cNvSpPr/>
            <p:nvPr/>
          </p:nvSpPr>
          <p:spPr>
            <a:xfrm>
              <a:off x="100584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87" name="Group 1186"/>
          <p:cNvGrpSpPr>
            <a:grpSpLocks noChangeAspect="1"/>
          </p:cNvGrpSpPr>
          <p:nvPr/>
        </p:nvGrpSpPr>
        <p:grpSpPr>
          <a:xfrm>
            <a:off x="7086600" y="4296234"/>
            <a:ext cx="457200" cy="457200"/>
            <a:chOff x="9144000" y="3006698"/>
            <a:chExt cx="1828800" cy="1828800"/>
          </a:xfrm>
          <a:effectLst/>
        </p:grpSpPr>
        <p:sp>
          <p:nvSpPr>
            <p:cNvPr id="1188" name="Rectangle 1187"/>
            <p:cNvSpPr/>
            <p:nvPr/>
          </p:nvSpPr>
          <p:spPr>
            <a:xfrm>
              <a:off x="91440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9" name="Rectangle 1188"/>
            <p:cNvSpPr/>
            <p:nvPr/>
          </p:nvSpPr>
          <p:spPr>
            <a:xfrm>
              <a:off x="100584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0" name="Rectangle 1189"/>
            <p:cNvSpPr/>
            <p:nvPr/>
          </p:nvSpPr>
          <p:spPr>
            <a:xfrm>
              <a:off x="91440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1" name="Rectangle 1190"/>
            <p:cNvSpPr/>
            <p:nvPr/>
          </p:nvSpPr>
          <p:spPr>
            <a:xfrm>
              <a:off x="100584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92" name="Group 1191"/>
          <p:cNvGrpSpPr>
            <a:grpSpLocks noChangeAspect="1"/>
          </p:cNvGrpSpPr>
          <p:nvPr/>
        </p:nvGrpSpPr>
        <p:grpSpPr>
          <a:xfrm>
            <a:off x="7543800" y="4296234"/>
            <a:ext cx="457200" cy="457200"/>
            <a:chOff x="9144000" y="3006698"/>
            <a:chExt cx="1828800" cy="1828800"/>
          </a:xfrm>
          <a:effectLst/>
        </p:grpSpPr>
        <p:sp>
          <p:nvSpPr>
            <p:cNvPr id="1193" name="Rectangle 1192"/>
            <p:cNvSpPr/>
            <p:nvPr/>
          </p:nvSpPr>
          <p:spPr>
            <a:xfrm>
              <a:off x="91440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4" name="Rectangle 1193"/>
            <p:cNvSpPr/>
            <p:nvPr/>
          </p:nvSpPr>
          <p:spPr>
            <a:xfrm>
              <a:off x="100584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5" name="Rectangle 1194"/>
            <p:cNvSpPr/>
            <p:nvPr/>
          </p:nvSpPr>
          <p:spPr>
            <a:xfrm>
              <a:off x="91440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6" name="Rectangle 1195"/>
            <p:cNvSpPr/>
            <p:nvPr/>
          </p:nvSpPr>
          <p:spPr>
            <a:xfrm>
              <a:off x="100584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97" name="Group 1196"/>
          <p:cNvGrpSpPr>
            <a:grpSpLocks noChangeAspect="1"/>
          </p:cNvGrpSpPr>
          <p:nvPr/>
        </p:nvGrpSpPr>
        <p:grpSpPr>
          <a:xfrm>
            <a:off x="8001000" y="4296234"/>
            <a:ext cx="457200" cy="457200"/>
            <a:chOff x="9144000" y="3006698"/>
            <a:chExt cx="1828800" cy="1828800"/>
          </a:xfrm>
          <a:effectLst/>
        </p:grpSpPr>
        <p:sp>
          <p:nvSpPr>
            <p:cNvPr id="1198" name="Rectangle 1197"/>
            <p:cNvSpPr/>
            <p:nvPr/>
          </p:nvSpPr>
          <p:spPr>
            <a:xfrm>
              <a:off x="91440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9" name="Rectangle 1198"/>
            <p:cNvSpPr/>
            <p:nvPr/>
          </p:nvSpPr>
          <p:spPr>
            <a:xfrm>
              <a:off x="10058400" y="30066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0" name="Rectangle 1199"/>
            <p:cNvSpPr/>
            <p:nvPr/>
          </p:nvSpPr>
          <p:spPr>
            <a:xfrm>
              <a:off x="91440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1" name="Rectangle 1200"/>
            <p:cNvSpPr/>
            <p:nvPr/>
          </p:nvSpPr>
          <p:spPr>
            <a:xfrm>
              <a:off x="10058400" y="3921098"/>
              <a:ext cx="914400" cy="914400"/>
            </a:xfrm>
            <a:prstGeom prst="rect">
              <a:avLst/>
            </a:prstGeom>
            <a:noFill/>
            <a:ln w="19050">
              <a:solidFill>
                <a:srgbClr val="FF66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02" name="TextBox 1201"/>
          <p:cNvSpPr txBox="1"/>
          <p:nvPr/>
        </p:nvSpPr>
        <p:spPr>
          <a:xfrm>
            <a:off x="1143000" y="244676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Coarse</a:t>
            </a:r>
          </a:p>
        </p:txBody>
      </p:sp>
      <p:sp>
        <p:nvSpPr>
          <p:cNvPr id="1203" name="TextBox 1202"/>
          <p:cNvSpPr txBox="1"/>
          <p:nvPr/>
        </p:nvSpPr>
        <p:spPr>
          <a:xfrm>
            <a:off x="3886200" y="244676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Medium</a:t>
            </a:r>
            <a:endParaRPr lang="en-US" sz="2400" dirty="0">
              <a:solidFill>
                <a:srgbClr val="0000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04" name="TextBox 1203"/>
          <p:cNvSpPr txBox="1"/>
          <p:nvPr/>
        </p:nvSpPr>
        <p:spPr>
          <a:xfrm>
            <a:off x="6629400" y="244676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Fine</a:t>
            </a:r>
            <a:endParaRPr lang="en-US" sz="2400" dirty="0">
              <a:solidFill>
                <a:srgbClr val="0000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05" name="TextBox 1204"/>
          <p:cNvSpPr txBox="1"/>
          <p:nvPr/>
        </p:nvSpPr>
        <p:spPr>
          <a:xfrm>
            <a:off x="2971800" y="2446768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anose="05000000000000000000" pitchFamily="2" charset="2"/>
              </a:rPr>
              <a:t>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06" name="TextBox 1205"/>
          <p:cNvSpPr txBox="1"/>
          <p:nvPr/>
        </p:nvSpPr>
        <p:spPr>
          <a:xfrm>
            <a:off x="5715000" y="2438400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anose="05000000000000000000" pitchFamily="2" charset="2"/>
              </a:rPr>
              <a:t>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07" name="TextBox 1206"/>
          <p:cNvSpPr txBox="1"/>
          <p:nvPr/>
        </p:nvSpPr>
        <p:spPr>
          <a:xfrm>
            <a:off x="1143000" y="541856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Few (1)</a:t>
            </a:r>
            <a:endParaRPr lang="en-US" sz="2400" dirty="0">
              <a:solidFill>
                <a:srgbClr val="0000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08" name="TextBox 1207"/>
          <p:cNvSpPr txBox="1"/>
          <p:nvPr/>
        </p:nvSpPr>
        <p:spPr>
          <a:xfrm>
            <a:off x="3886200" y="541856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Some (4)</a:t>
            </a:r>
            <a:endParaRPr lang="en-US" sz="2400" dirty="0">
              <a:solidFill>
                <a:srgbClr val="0000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09" name="TextBox 1208"/>
          <p:cNvSpPr txBox="1"/>
          <p:nvPr/>
        </p:nvSpPr>
        <p:spPr>
          <a:xfrm>
            <a:off x="6629400" y="541856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Many (64)</a:t>
            </a:r>
            <a:endParaRPr lang="en-US" sz="2400" dirty="0">
              <a:solidFill>
                <a:srgbClr val="0000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10" name="TextBox 1209"/>
          <p:cNvSpPr txBox="1"/>
          <p:nvPr/>
        </p:nvSpPr>
        <p:spPr>
          <a:xfrm>
            <a:off x="2971800" y="5418568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anose="05000000000000000000" pitchFamily="2" charset="2"/>
              </a:rPr>
              <a:t>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11" name="TextBox 1210"/>
          <p:cNvSpPr txBox="1"/>
          <p:nvPr/>
        </p:nvSpPr>
        <p:spPr>
          <a:xfrm>
            <a:off x="5715000" y="5410200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anose="05000000000000000000" pitchFamily="2" charset="2"/>
              </a:rPr>
              <a:t>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Master/Slaves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023360" y="2209800"/>
            <a:ext cx="1097280" cy="548640"/>
          </a:xfrm>
          <a:prstGeom prst="rect">
            <a:avLst/>
          </a:prstGeom>
          <a:solidFill>
            <a:srgbClr val="FF9999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Master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1097280" cy="548640"/>
          </a:xfrm>
          <a:prstGeom prst="rect">
            <a:avLst/>
          </a:prstGeom>
          <a:solidFill>
            <a:srgbClr val="9999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03120" y="3566160"/>
            <a:ext cx="1097280" cy="548640"/>
          </a:xfrm>
          <a:prstGeom prst="rect">
            <a:avLst/>
          </a:prstGeom>
          <a:solidFill>
            <a:srgbClr val="9999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83280" y="3566160"/>
            <a:ext cx="1097280" cy="548640"/>
          </a:xfrm>
          <a:prstGeom prst="rect">
            <a:avLst/>
          </a:prstGeom>
          <a:solidFill>
            <a:srgbClr val="9999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63440" y="3566160"/>
            <a:ext cx="1097280" cy="548640"/>
          </a:xfrm>
          <a:prstGeom prst="rect">
            <a:avLst/>
          </a:prstGeom>
          <a:solidFill>
            <a:srgbClr val="9999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0" y="3566160"/>
            <a:ext cx="1097280" cy="548640"/>
          </a:xfrm>
          <a:prstGeom prst="rect">
            <a:avLst/>
          </a:prstGeom>
          <a:solidFill>
            <a:srgbClr val="9999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23760" y="3566160"/>
            <a:ext cx="1097280" cy="548640"/>
          </a:xfrm>
          <a:prstGeom prst="rect">
            <a:avLst/>
          </a:prstGeom>
          <a:solidFill>
            <a:srgbClr val="9999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9322" y="4389120"/>
            <a:ext cx="1097280" cy="548640"/>
          </a:xfrm>
          <a:prstGeom prst="rect">
            <a:avLst/>
          </a:prstGeom>
          <a:solidFill>
            <a:srgbClr val="9999FF">
              <a:alpha val="50000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09482" y="4389120"/>
            <a:ext cx="1097280" cy="548640"/>
          </a:xfrm>
          <a:prstGeom prst="rect">
            <a:avLst/>
          </a:prstGeom>
          <a:solidFill>
            <a:srgbClr val="9999FF">
              <a:alpha val="50000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89642" y="4389120"/>
            <a:ext cx="1097280" cy="548640"/>
          </a:xfrm>
          <a:prstGeom prst="rect">
            <a:avLst/>
          </a:prstGeom>
          <a:solidFill>
            <a:srgbClr val="9999FF">
              <a:alpha val="50000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669802" y="4389120"/>
            <a:ext cx="1097280" cy="548640"/>
          </a:xfrm>
          <a:prstGeom prst="rect">
            <a:avLst/>
          </a:prstGeom>
          <a:solidFill>
            <a:srgbClr val="9999FF">
              <a:alpha val="50000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49962" y="4389120"/>
            <a:ext cx="1097280" cy="548640"/>
          </a:xfrm>
          <a:prstGeom prst="rect">
            <a:avLst/>
          </a:prstGeom>
          <a:solidFill>
            <a:srgbClr val="9999FF">
              <a:alpha val="50000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30122" y="4389120"/>
            <a:ext cx="1097280" cy="548640"/>
          </a:xfrm>
          <a:prstGeom prst="rect">
            <a:avLst/>
          </a:prstGeom>
          <a:solidFill>
            <a:srgbClr val="9999FF">
              <a:alpha val="50000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5684" y="5212080"/>
            <a:ext cx="1097280" cy="548640"/>
          </a:xfrm>
          <a:prstGeom prst="rect">
            <a:avLst/>
          </a:prstGeom>
          <a:solidFill>
            <a:srgbClr val="9999FF">
              <a:alpha val="20000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115844" y="5212080"/>
            <a:ext cx="1097280" cy="548640"/>
          </a:xfrm>
          <a:prstGeom prst="rect">
            <a:avLst/>
          </a:prstGeom>
          <a:solidFill>
            <a:srgbClr val="9999FF">
              <a:alpha val="20000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96004" y="5212080"/>
            <a:ext cx="1097280" cy="548640"/>
          </a:xfrm>
          <a:prstGeom prst="rect">
            <a:avLst/>
          </a:prstGeom>
          <a:solidFill>
            <a:srgbClr val="9999FF">
              <a:alpha val="20000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76164" y="5212080"/>
            <a:ext cx="1097280" cy="548640"/>
          </a:xfrm>
          <a:prstGeom prst="rect">
            <a:avLst/>
          </a:prstGeom>
          <a:solidFill>
            <a:srgbClr val="9999FF">
              <a:alpha val="20000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56324" y="5212080"/>
            <a:ext cx="1097280" cy="548640"/>
          </a:xfrm>
          <a:prstGeom prst="rect">
            <a:avLst/>
          </a:prstGeom>
          <a:solidFill>
            <a:srgbClr val="9999FF">
              <a:alpha val="20000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236484" y="5212080"/>
            <a:ext cx="1097280" cy="548640"/>
          </a:xfrm>
          <a:prstGeom prst="rect">
            <a:avLst/>
          </a:prstGeom>
          <a:solidFill>
            <a:srgbClr val="9999FF">
              <a:alpha val="20000"/>
            </a:srgb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Slave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Secondary Simulations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992868"/>
            <a:ext cx="457200" cy="457200"/>
          </a:xfrm>
          <a:prstGeom prst="rect">
            <a:avLst/>
          </a:prstGeom>
          <a:solidFill>
            <a:srgbClr val="9999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2450068"/>
            <a:ext cx="457200" cy="457200"/>
          </a:xfrm>
          <a:prstGeom prst="rect">
            <a:avLst/>
          </a:prstGeom>
          <a:solidFill>
            <a:srgbClr val="FFFF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907268"/>
            <a:ext cx="457200" cy="457200"/>
          </a:xfrm>
          <a:prstGeom prst="rect">
            <a:avLst/>
          </a:prstGeom>
          <a:solidFill>
            <a:srgbClr val="9999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364468"/>
            <a:ext cx="457200" cy="457200"/>
          </a:xfrm>
          <a:prstGeom prst="rect">
            <a:avLst/>
          </a:prstGeom>
          <a:solidFill>
            <a:srgbClr val="FFFF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3821668"/>
            <a:ext cx="457200" cy="457200"/>
          </a:xfrm>
          <a:prstGeom prst="rect">
            <a:avLst/>
          </a:prstGeom>
          <a:solidFill>
            <a:srgbClr val="9999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4278868"/>
            <a:ext cx="457200" cy="457200"/>
          </a:xfrm>
          <a:prstGeom prst="rect">
            <a:avLst/>
          </a:prstGeom>
          <a:solidFill>
            <a:srgbClr val="FFFF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4736068"/>
            <a:ext cx="457200" cy="457200"/>
          </a:xfrm>
          <a:prstGeom prst="rect">
            <a:avLst/>
          </a:prstGeom>
          <a:solidFill>
            <a:srgbClr val="9999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5193268"/>
            <a:ext cx="457200" cy="457200"/>
          </a:xfrm>
          <a:prstGeom prst="rect">
            <a:avLst/>
          </a:prstGeom>
          <a:solidFill>
            <a:srgbClr val="FFFF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914400" y="1992868"/>
            <a:ext cx="0" cy="3657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914400" y="5650468"/>
            <a:ext cx="7315200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371600" y="3352800"/>
            <a:ext cx="914400" cy="1828800"/>
          </a:xfrm>
          <a:prstGeom prst="rect">
            <a:avLst/>
          </a:prstGeom>
          <a:solidFill>
            <a:srgbClr val="CCCCCC"/>
          </a:solidFill>
          <a:ln w="38100"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</a:t>
            </a:r>
            <a:r>
              <a:rPr lang="en-US" b="1" baseline="-25000" dirty="0" smtClean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188912"/>
            <a:ext cx="7315199" cy="457200"/>
          </a:xfrm>
          <a:prstGeom prst="rect">
            <a:avLst/>
          </a:prstGeom>
          <a:solidFill>
            <a:srgbClr val="CCCCCC"/>
          </a:solidFill>
          <a:ln w="38100"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Primary Simulation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9016" y="5650468"/>
            <a:ext cx="788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Calibri" panose="020F0502020204030204" pitchFamily="34" charset="0"/>
              </a:rPr>
              <a:t>0     15    30    45     60    75    90   105  120  135  150  165   180  195  210  225  240</a:t>
            </a:r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00400" y="3352800"/>
            <a:ext cx="914400" cy="1828800"/>
          </a:xfrm>
          <a:prstGeom prst="rect">
            <a:avLst/>
          </a:prstGeom>
          <a:solidFill>
            <a:srgbClr val="CCCCCC"/>
          </a:solidFill>
          <a:ln w="38100"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</a:t>
            </a:r>
            <a:r>
              <a:rPr lang="en-US" b="1" baseline="-25000" dirty="0" smtClean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438400"/>
            <a:ext cx="914400" cy="2743200"/>
          </a:xfrm>
          <a:prstGeom prst="rect">
            <a:avLst/>
          </a:prstGeom>
          <a:solidFill>
            <a:srgbClr val="CCCCCC"/>
          </a:solidFill>
          <a:ln w="38100"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</a:t>
            </a:r>
            <a:r>
              <a:rPr lang="en-US" b="1" baseline="-25000" dirty="0" smtClean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438400"/>
            <a:ext cx="914400" cy="2743200"/>
          </a:xfrm>
          <a:prstGeom prst="rect">
            <a:avLst/>
          </a:prstGeom>
          <a:solidFill>
            <a:srgbClr val="CCCCCC"/>
          </a:solidFill>
          <a:ln w="38100"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</a:t>
            </a:r>
            <a:r>
              <a:rPr lang="en-US" b="1" baseline="-25000" dirty="0" smtClean="0">
                <a:solidFill>
                  <a:schemeClr val="tx1"/>
                </a:solidFill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TextBox 516"/>
          <p:cNvSpPr txBox="1"/>
          <p:nvPr/>
        </p:nvSpPr>
        <p:spPr>
          <a:xfrm>
            <a:off x="381000" y="2438400"/>
            <a:ext cx="8229600" cy="3657600"/>
          </a:xfrm>
          <a:prstGeom prst="rect">
            <a:avLst/>
          </a:prstGeom>
          <a:solidFill>
            <a:srgbClr val="F0FFFF"/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Same Network Domain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305800" cy="4343400"/>
          </a:xfrm>
        </p:spPr>
        <p:txBody>
          <a:bodyPr/>
          <a:lstStyle/>
          <a:p>
            <a:r>
              <a:rPr lang="en-US" dirty="0" smtClean="0"/>
              <a:t>Cluster Booster</a:t>
            </a:r>
          </a:p>
          <a:p>
            <a:pPr lvl="1">
              <a:spcBef>
                <a:spcPts val="1800"/>
              </a:spcBef>
              <a:buNone/>
              <a:tabLst>
                <a:tab pos="4456113" algn="l"/>
              </a:tabLst>
            </a:pPr>
            <a:r>
              <a:rPr lang="en-US" dirty="0" smtClean="0"/>
              <a:t>			Many-core “Booster”</a:t>
            </a:r>
          </a:p>
          <a:p>
            <a:pPr marL="684213" lvl="1" indent="-227013">
              <a:spcBef>
                <a:spcPts val="0"/>
              </a:spcBef>
              <a:buNone/>
              <a:tabLst>
                <a:tab pos="4456113" algn="l"/>
              </a:tabLst>
            </a:pPr>
            <a:r>
              <a:rPr lang="en-US" dirty="0" smtClean="0"/>
              <a:t>	Multi-core “Cluster”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r>
              <a:rPr lang="en-US" sz="2400" i="1" dirty="0" smtClean="0"/>
              <a:t>Multi-core jobs dynamically</a:t>
            </a:r>
          </a:p>
          <a:p>
            <a:pPr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i="1" dirty="0" smtClean="0"/>
              <a:t>burst out to parallel “booster”</a:t>
            </a:r>
          </a:p>
          <a:p>
            <a:pPr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i="1" dirty="0" smtClean="0"/>
              <a:t>nodes with accelerators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Unconventional Architectures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4724400" y="3352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953000" y="3352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181600" y="3352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410200" y="3352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638800" y="3352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5867400" y="3352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6096000" y="3352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6324600" y="3352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6553200" y="3352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6781800" y="3352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7010400" y="3352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7239000" y="3352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7467600" y="3352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7696200" y="3352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7924800" y="3352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8153400" y="3352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4724400" y="3581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953000" y="3581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5181600" y="3581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5410200" y="3581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5638800" y="3581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5867400" y="3581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6096000" y="3581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6324600" y="3581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6553200" y="3581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6781800" y="3581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7010400" y="3581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7239000" y="3581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7467600" y="3581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7696200" y="3581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7924800" y="3581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8153400" y="3581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4724400" y="3810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4953000" y="3810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5181600" y="3810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5410200" y="3810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5638800" y="3810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5867400" y="3810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6096000" y="3810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6324600" y="3810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6553200" y="3810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6781800" y="3810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7010400" y="3810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7239000" y="3810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7467600" y="3810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7696200" y="3810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7924800" y="3810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8153400" y="3810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4724400" y="4038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4953000" y="4038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5181600" y="4038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5410200" y="4038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5638800" y="4038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7" name="Rectangle 56"/>
          <p:cNvSpPr/>
          <p:nvPr/>
        </p:nvSpPr>
        <p:spPr bwMode="auto">
          <a:xfrm>
            <a:off x="5867400" y="4038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6096000" y="4038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6324600" y="4038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6553200" y="4038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1" name="Rectangle 60"/>
          <p:cNvSpPr/>
          <p:nvPr/>
        </p:nvSpPr>
        <p:spPr bwMode="auto">
          <a:xfrm>
            <a:off x="6781800" y="4038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7010400" y="4038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7239000" y="4038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4" name="Rectangle 63"/>
          <p:cNvSpPr/>
          <p:nvPr/>
        </p:nvSpPr>
        <p:spPr bwMode="auto">
          <a:xfrm>
            <a:off x="7467600" y="4038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7696200" y="4038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6" name="Rectangle 65"/>
          <p:cNvSpPr/>
          <p:nvPr/>
        </p:nvSpPr>
        <p:spPr bwMode="auto">
          <a:xfrm>
            <a:off x="7924800" y="4038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8153400" y="4038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8" name="Rectangle 67"/>
          <p:cNvSpPr/>
          <p:nvPr/>
        </p:nvSpPr>
        <p:spPr bwMode="auto">
          <a:xfrm>
            <a:off x="4724400" y="4267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4953000" y="4267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0" name="Rectangle 69"/>
          <p:cNvSpPr/>
          <p:nvPr/>
        </p:nvSpPr>
        <p:spPr bwMode="auto">
          <a:xfrm>
            <a:off x="5181600" y="4267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1" name="Rectangle 70"/>
          <p:cNvSpPr/>
          <p:nvPr/>
        </p:nvSpPr>
        <p:spPr bwMode="auto">
          <a:xfrm>
            <a:off x="5410200" y="4267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2" name="Rectangle 71"/>
          <p:cNvSpPr/>
          <p:nvPr/>
        </p:nvSpPr>
        <p:spPr bwMode="auto">
          <a:xfrm>
            <a:off x="5638800" y="4267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3" name="Rectangle 72"/>
          <p:cNvSpPr/>
          <p:nvPr/>
        </p:nvSpPr>
        <p:spPr bwMode="auto">
          <a:xfrm>
            <a:off x="5867400" y="4267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4" name="Rectangle 73"/>
          <p:cNvSpPr/>
          <p:nvPr/>
        </p:nvSpPr>
        <p:spPr bwMode="auto">
          <a:xfrm>
            <a:off x="6096000" y="4267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5" name="Rectangle 74"/>
          <p:cNvSpPr/>
          <p:nvPr/>
        </p:nvSpPr>
        <p:spPr bwMode="auto">
          <a:xfrm>
            <a:off x="6324600" y="4267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6" name="Rectangle 75"/>
          <p:cNvSpPr/>
          <p:nvPr/>
        </p:nvSpPr>
        <p:spPr bwMode="auto">
          <a:xfrm>
            <a:off x="6553200" y="4267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7" name="Rectangle 76"/>
          <p:cNvSpPr/>
          <p:nvPr/>
        </p:nvSpPr>
        <p:spPr bwMode="auto">
          <a:xfrm>
            <a:off x="6781800" y="4267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8" name="Rectangle 77"/>
          <p:cNvSpPr/>
          <p:nvPr/>
        </p:nvSpPr>
        <p:spPr bwMode="auto">
          <a:xfrm>
            <a:off x="7010400" y="4267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9" name="Rectangle 78"/>
          <p:cNvSpPr/>
          <p:nvPr/>
        </p:nvSpPr>
        <p:spPr bwMode="auto">
          <a:xfrm>
            <a:off x="7239000" y="4267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0" name="Rectangle 79"/>
          <p:cNvSpPr/>
          <p:nvPr/>
        </p:nvSpPr>
        <p:spPr bwMode="auto">
          <a:xfrm>
            <a:off x="7467600" y="4267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1" name="Rectangle 80"/>
          <p:cNvSpPr/>
          <p:nvPr/>
        </p:nvSpPr>
        <p:spPr bwMode="auto">
          <a:xfrm>
            <a:off x="7696200" y="4267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2" name="Rectangle 81"/>
          <p:cNvSpPr/>
          <p:nvPr/>
        </p:nvSpPr>
        <p:spPr bwMode="auto">
          <a:xfrm>
            <a:off x="7924800" y="4267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3" name="Rectangle 82"/>
          <p:cNvSpPr/>
          <p:nvPr/>
        </p:nvSpPr>
        <p:spPr bwMode="auto">
          <a:xfrm>
            <a:off x="8153400" y="4267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4" name="Rectangle 83"/>
          <p:cNvSpPr/>
          <p:nvPr/>
        </p:nvSpPr>
        <p:spPr bwMode="auto">
          <a:xfrm>
            <a:off x="4724400" y="4495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5" name="Rectangle 84"/>
          <p:cNvSpPr/>
          <p:nvPr/>
        </p:nvSpPr>
        <p:spPr bwMode="auto">
          <a:xfrm>
            <a:off x="4953000" y="4495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6" name="Rectangle 85"/>
          <p:cNvSpPr/>
          <p:nvPr/>
        </p:nvSpPr>
        <p:spPr bwMode="auto">
          <a:xfrm>
            <a:off x="5181600" y="4495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7" name="Rectangle 86"/>
          <p:cNvSpPr/>
          <p:nvPr/>
        </p:nvSpPr>
        <p:spPr bwMode="auto">
          <a:xfrm>
            <a:off x="5410200" y="4495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8" name="Rectangle 87"/>
          <p:cNvSpPr/>
          <p:nvPr/>
        </p:nvSpPr>
        <p:spPr bwMode="auto">
          <a:xfrm>
            <a:off x="5638800" y="4495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9" name="Rectangle 88"/>
          <p:cNvSpPr/>
          <p:nvPr/>
        </p:nvSpPr>
        <p:spPr bwMode="auto">
          <a:xfrm>
            <a:off x="5867400" y="4495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6096000" y="4495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1" name="Rectangle 90"/>
          <p:cNvSpPr/>
          <p:nvPr/>
        </p:nvSpPr>
        <p:spPr bwMode="auto">
          <a:xfrm>
            <a:off x="6324600" y="4495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2" name="Rectangle 91"/>
          <p:cNvSpPr/>
          <p:nvPr/>
        </p:nvSpPr>
        <p:spPr bwMode="auto">
          <a:xfrm>
            <a:off x="6553200" y="4495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3" name="Rectangle 92"/>
          <p:cNvSpPr/>
          <p:nvPr/>
        </p:nvSpPr>
        <p:spPr bwMode="auto">
          <a:xfrm>
            <a:off x="6781800" y="4495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4" name="Rectangle 93"/>
          <p:cNvSpPr/>
          <p:nvPr/>
        </p:nvSpPr>
        <p:spPr bwMode="auto">
          <a:xfrm>
            <a:off x="7010400" y="4495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5" name="Rectangle 94"/>
          <p:cNvSpPr/>
          <p:nvPr/>
        </p:nvSpPr>
        <p:spPr bwMode="auto">
          <a:xfrm>
            <a:off x="7239000" y="4495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6" name="Rectangle 95"/>
          <p:cNvSpPr/>
          <p:nvPr/>
        </p:nvSpPr>
        <p:spPr bwMode="auto">
          <a:xfrm>
            <a:off x="7467600" y="4495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7" name="Rectangle 96"/>
          <p:cNvSpPr/>
          <p:nvPr/>
        </p:nvSpPr>
        <p:spPr bwMode="auto">
          <a:xfrm>
            <a:off x="7696200" y="4495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8" name="Rectangle 97"/>
          <p:cNvSpPr/>
          <p:nvPr/>
        </p:nvSpPr>
        <p:spPr bwMode="auto">
          <a:xfrm>
            <a:off x="7924800" y="4495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9" name="Rectangle 98"/>
          <p:cNvSpPr/>
          <p:nvPr/>
        </p:nvSpPr>
        <p:spPr bwMode="auto">
          <a:xfrm>
            <a:off x="8153400" y="4495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0" name="Rectangle 99"/>
          <p:cNvSpPr/>
          <p:nvPr/>
        </p:nvSpPr>
        <p:spPr bwMode="auto">
          <a:xfrm>
            <a:off x="4724400" y="4724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1" name="Rectangle 100"/>
          <p:cNvSpPr/>
          <p:nvPr/>
        </p:nvSpPr>
        <p:spPr bwMode="auto">
          <a:xfrm>
            <a:off x="4953000" y="4724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2" name="Rectangle 101"/>
          <p:cNvSpPr/>
          <p:nvPr/>
        </p:nvSpPr>
        <p:spPr bwMode="auto">
          <a:xfrm>
            <a:off x="5181600" y="4724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3" name="Rectangle 102"/>
          <p:cNvSpPr/>
          <p:nvPr/>
        </p:nvSpPr>
        <p:spPr bwMode="auto">
          <a:xfrm>
            <a:off x="5410200" y="4724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5638800" y="4724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5" name="Rectangle 104"/>
          <p:cNvSpPr/>
          <p:nvPr/>
        </p:nvSpPr>
        <p:spPr bwMode="auto">
          <a:xfrm>
            <a:off x="5867400" y="4724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6" name="Rectangle 105"/>
          <p:cNvSpPr/>
          <p:nvPr/>
        </p:nvSpPr>
        <p:spPr bwMode="auto">
          <a:xfrm>
            <a:off x="6096000" y="4724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7" name="Rectangle 106"/>
          <p:cNvSpPr/>
          <p:nvPr/>
        </p:nvSpPr>
        <p:spPr bwMode="auto">
          <a:xfrm>
            <a:off x="6324600" y="4724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8" name="Rectangle 107"/>
          <p:cNvSpPr/>
          <p:nvPr/>
        </p:nvSpPr>
        <p:spPr bwMode="auto">
          <a:xfrm>
            <a:off x="6553200" y="4724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9" name="Rectangle 108"/>
          <p:cNvSpPr/>
          <p:nvPr/>
        </p:nvSpPr>
        <p:spPr bwMode="auto">
          <a:xfrm>
            <a:off x="6781800" y="4724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0" name="Rectangle 109"/>
          <p:cNvSpPr/>
          <p:nvPr/>
        </p:nvSpPr>
        <p:spPr bwMode="auto">
          <a:xfrm>
            <a:off x="7010400" y="4724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1" name="Rectangle 110"/>
          <p:cNvSpPr/>
          <p:nvPr/>
        </p:nvSpPr>
        <p:spPr bwMode="auto">
          <a:xfrm>
            <a:off x="7239000" y="4724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2" name="Rectangle 111"/>
          <p:cNvSpPr/>
          <p:nvPr/>
        </p:nvSpPr>
        <p:spPr bwMode="auto">
          <a:xfrm>
            <a:off x="7467600" y="4724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3" name="Rectangle 112"/>
          <p:cNvSpPr/>
          <p:nvPr/>
        </p:nvSpPr>
        <p:spPr bwMode="auto">
          <a:xfrm>
            <a:off x="7696200" y="4724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4" name="Rectangle 113"/>
          <p:cNvSpPr/>
          <p:nvPr/>
        </p:nvSpPr>
        <p:spPr bwMode="auto">
          <a:xfrm>
            <a:off x="7924800" y="4724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5" name="Rectangle 114"/>
          <p:cNvSpPr/>
          <p:nvPr/>
        </p:nvSpPr>
        <p:spPr bwMode="auto">
          <a:xfrm>
            <a:off x="8153400" y="47244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4724400" y="4953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7" name="Rectangle 116"/>
          <p:cNvSpPr/>
          <p:nvPr/>
        </p:nvSpPr>
        <p:spPr bwMode="auto">
          <a:xfrm>
            <a:off x="4953000" y="4953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8" name="Rectangle 117"/>
          <p:cNvSpPr/>
          <p:nvPr/>
        </p:nvSpPr>
        <p:spPr bwMode="auto">
          <a:xfrm>
            <a:off x="5181600" y="4953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9" name="Rectangle 118"/>
          <p:cNvSpPr/>
          <p:nvPr/>
        </p:nvSpPr>
        <p:spPr bwMode="auto">
          <a:xfrm>
            <a:off x="5410200" y="4953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5638800" y="4953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21" name="Rectangle 120"/>
          <p:cNvSpPr/>
          <p:nvPr/>
        </p:nvSpPr>
        <p:spPr bwMode="auto">
          <a:xfrm>
            <a:off x="5867400" y="4953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22" name="Rectangle 121"/>
          <p:cNvSpPr/>
          <p:nvPr/>
        </p:nvSpPr>
        <p:spPr bwMode="auto">
          <a:xfrm>
            <a:off x="6096000" y="4953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23" name="Rectangle 122"/>
          <p:cNvSpPr/>
          <p:nvPr/>
        </p:nvSpPr>
        <p:spPr bwMode="auto">
          <a:xfrm>
            <a:off x="6324600" y="4953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24" name="Rectangle 123"/>
          <p:cNvSpPr/>
          <p:nvPr/>
        </p:nvSpPr>
        <p:spPr bwMode="auto">
          <a:xfrm>
            <a:off x="6553200" y="4953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25" name="Rectangle 124"/>
          <p:cNvSpPr/>
          <p:nvPr/>
        </p:nvSpPr>
        <p:spPr bwMode="auto">
          <a:xfrm>
            <a:off x="6781800" y="4953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26" name="Rectangle 125"/>
          <p:cNvSpPr/>
          <p:nvPr/>
        </p:nvSpPr>
        <p:spPr bwMode="auto">
          <a:xfrm>
            <a:off x="7010400" y="4953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27" name="Rectangle 126"/>
          <p:cNvSpPr/>
          <p:nvPr/>
        </p:nvSpPr>
        <p:spPr bwMode="auto">
          <a:xfrm>
            <a:off x="7239000" y="4953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28" name="Rectangle 127"/>
          <p:cNvSpPr/>
          <p:nvPr/>
        </p:nvSpPr>
        <p:spPr bwMode="auto">
          <a:xfrm>
            <a:off x="7467600" y="4953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29" name="Rectangle 128"/>
          <p:cNvSpPr/>
          <p:nvPr/>
        </p:nvSpPr>
        <p:spPr bwMode="auto">
          <a:xfrm>
            <a:off x="7696200" y="4953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30" name="Rectangle 129"/>
          <p:cNvSpPr/>
          <p:nvPr/>
        </p:nvSpPr>
        <p:spPr bwMode="auto">
          <a:xfrm>
            <a:off x="7924800" y="4953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31" name="Rectangle 130"/>
          <p:cNvSpPr/>
          <p:nvPr/>
        </p:nvSpPr>
        <p:spPr bwMode="auto">
          <a:xfrm>
            <a:off x="8153400" y="49530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32" name="Rectangle 131"/>
          <p:cNvSpPr/>
          <p:nvPr/>
        </p:nvSpPr>
        <p:spPr bwMode="auto">
          <a:xfrm>
            <a:off x="4724400" y="5181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33" name="Rectangle 132"/>
          <p:cNvSpPr/>
          <p:nvPr/>
        </p:nvSpPr>
        <p:spPr bwMode="auto">
          <a:xfrm>
            <a:off x="4953000" y="5181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34" name="Rectangle 133"/>
          <p:cNvSpPr/>
          <p:nvPr/>
        </p:nvSpPr>
        <p:spPr bwMode="auto">
          <a:xfrm>
            <a:off x="5181600" y="5181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35" name="Rectangle 134"/>
          <p:cNvSpPr/>
          <p:nvPr/>
        </p:nvSpPr>
        <p:spPr bwMode="auto">
          <a:xfrm>
            <a:off x="5410200" y="5181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36" name="Rectangle 135"/>
          <p:cNvSpPr/>
          <p:nvPr/>
        </p:nvSpPr>
        <p:spPr bwMode="auto">
          <a:xfrm>
            <a:off x="5638800" y="5181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37" name="Rectangle 136"/>
          <p:cNvSpPr/>
          <p:nvPr/>
        </p:nvSpPr>
        <p:spPr bwMode="auto">
          <a:xfrm>
            <a:off x="5867400" y="5181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38" name="Rectangle 137"/>
          <p:cNvSpPr/>
          <p:nvPr/>
        </p:nvSpPr>
        <p:spPr bwMode="auto">
          <a:xfrm>
            <a:off x="6096000" y="5181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39" name="Rectangle 138"/>
          <p:cNvSpPr/>
          <p:nvPr/>
        </p:nvSpPr>
        <p:spPr bwMode="auto">
          <a:xfrm>
            <a:off x="6324600" y="5181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0" name="Rectangle 139"/>
          <p:cNvSpPr/>
          <p:nvPr/>
        </p:nvSpPr>
        <p:spPr bwMode="auto">
          <a:xfrm>
            <a:off x="6553200" y="5181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6781800" y="5181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2" name="Rectangle 141"/>
          <p:cNvSpPr/>
          <p:nvPr/>
        </p:nvSpPr>
        <p:spPr bwMode="auto">
          <a:xfrm>
            <a:off x="7010400" y="5181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3" name="Rectangle 142"/>
          <p:cNvSpPr/>
          <p:nvPr/>
        </p:nvSpPr>
        <p:spPr bwMode="auto">
          <a:xfrm>
            <a:off x="7239000" y="5181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4" name="Rectangle 143"/>
          <p:cNvSpPr/>
          <p:nvPr/>
        </p:nvSpPr>
        <p:spPr bwMode="auto">
          <a:xfrm>
            <a:off x="7467600" y="5181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5" name="Rectangle 144"/>
          <p:cNvSpPr/>
          <p:nvPr/>
        </p:nvSpPr>
        <p:spPr bwMode="auto">
          <a:xfrm>
            <a:off x="7696200" y="5181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6" name="Rectangle 145"/>
          <p:cNvSpPr/>
          <p:nvPr/>
        </p:nvSpPr>
        <p:spPr bwMode="auto">
          <a:xfrm>
            <a:off x="7924800" y="5181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7" name="Rectangle 146"/>
          <p:cNvSpPr/>
          <p:nvPr/>
        </p:nvSpPr>
        <p:spPr bwMode="auto">
          <a:xfrm>
            <a:off x="8153400" y="51816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4724400" y="5410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4953000" y="5410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50" name="Rectangle 149"/>
          <p:cNvSpPr/>
          <p:nvPr/>
        </p:nvSpPr>
        <p:spPr bwMode="auto">
          <a:xfrm>
            <a:off x="5181600" y="5410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51" name="Rectangle 150"/>
          <p:cNvSpPr/>
          <p:nvPr/>
        </p:nvSpPr>
        <p:spPr bwMode="auto">
          <a:xfrm>
            <a:off x="5410200" y="5410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52" name="Rectangle 151"/>
          <p:cNvSpPr/>
          <p:nvPr/>
        </p:nvSpPr>
        <p:spPr bwMode="auto">
          <a:xfrm>
            <a:off x="5638800" y="5410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53" name="Rectangle 152"/>
          <p:cNvSpPr/>
          <p:nvPr/>
        </p:nvSpPr>
        <p:spPr bwMode="auto">
          <a:xfrm>
            <a:off x="5867400" y="5410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54" name="Rectangle 153"/>
          <p:cNvSpPr/>
          <p:nvPr/>
        </p:nvSpPr>
        <p:spPr bwMode="auto">
          <a:xfrm>
            <a:off x="6096000" y="5410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55" name="Rectangle 154"/>
          <p:cNvSpPr/>
          <p:nvPr/>
        </p:nvSpPr>
        <p:spPr bwMode="auto">
          <a:xfrm>
            <a:off x="6324600" y="5410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56" name="Rectangle 155"/>
          <p:cNvSpPr/>
          <p:nvPr/>
        </p:nvSpPr>
        <p:spPr bwMode="auto">
          <a:xfrm>
            <a:off x="6553200" y="5410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57" name="Rectangle 156"/>
          <p:cNvSpPr/>
          <p:nvPr/>
        </p:nvSpPr>
        <p:spPr bwMode="auto">
          <a:xfrm>
            <a:off x="6781800" y="5410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58" name="Rectangle 157"/>
          <p:cNvSpPr/>
          <p:nvPr/>
        </p:nvSpPr>
        <p:spPr bwMode="auto">
          <a:xfrm>
            <a:off x="7010400" y="5410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59" name="Rectangle 158"/>
          <p:cNvSpPr/>
          <p:nvPr/>
        </p:nvSpPr>
        <p:spPr bwMode="auto">
          <a:xfrm>
            <a:off x="7239000" y="5410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60" name="Rectangle 159"/>
          <p:cNvSpPr/>
          <p:nvPr/>
        </p:nvSpPr>
        <p:spPr bwMode="auto">
          <a:xfrm>
            <a:off x="7467600" y="5410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61" name="Rectangle 160"/>
          <p:cNvSpPr/>
          <p:nvPr/>
        </p:nvSpPr>
        <p:spPr bwMode="auto">
          <a:xfrm>
            <a:off x="7696200" y="5410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62" name="Rectangle 161"/>
          <p:cNvSpPr/>
          <p:nvPr/>
        </p:nvSpPr>
        <p:spPr bwMode="auto">
          <a:xfrm>
            <a:off x="7924800" y="5410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63" name="Rectangle 162"/>
          <p:cNvSpPr/>
          <p:nvPr/>
        </p:nvSpPr>
        <p:spPr bwMode="auto">
          <a:xfrm>
            <a:off x="8153400" y="5410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64" name="Rectangle 163"/>
          <p:cNvSpPr/>
          <p:nvPr/>
        </p:nvSpPr>
        <p:spPr bwMode="auto">
          <a:xfrm>
            <a:off x="4724400" y="5638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65" name="Rectangle 164"/>
          <p:cNvSpPr/>
          <p:nvPr/>
        </p:nvSpPr>
        <p:spPr bwMode="auto">
          <a:xfrm>
            <a:off x="4953000" y="5638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66" name="Rectangle 165"/>
          <p:cNvSpPr/>
          <p:nvPr/>
        </p:nvSpPr>
        <p:spPr bwMode="auto">
          <a:xfrm>
            <a:off x="5181600" y="5638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67" name="Rectangle 166"/>
          <p:cNvSpPr/>
          <p:nvPr/>
        </p:nvSpPr>
        <p:spPr bwMode="auto">
          <a:xfrm>
            <a:off x="5410200" y="5638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68" name="Rectangle 167"/>
          <p:cNvSpPr/>
          <p:nvPr/>
        </p:nvSpPr>
        <p:spPr bwMode="auto">
          <a:xfrm>
            <a:off x="5638800" y="5638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69" name="Rectangle 168"/>
          <p:cNvSpPr/>
          <p:nvPr/>
        </p:nvSpPr>
        <p:spPr bwMode="auto">
          <a:xfrm>
            <a:off x="5867400" y="5638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0" name="Rectangle 169"/>
          <p:cNvSpPr/>
          <p:nvPr/>
        </p:nvSpPr>
        <p:spPr bwMode="auto">
          <a:xfrm>
            <a:off x="6096000" y="5638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1" name="Rectangle 170"/>
          <p:cNvSpPr/>
          <p:nvPr/>
        </p:nvSpPr>
        <p:spPr bwMode="auto">
          <a:xfrm>
            <a:off x="6324600" y="5638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2" name="Rectangle 171"/>
          <p:cNvSpPr/>
          <p:nvPr/>
        </p:nvSpPr>
        <p:spPr bwMode="auto">
          <a:xfrm>
            <a:off x="6553200" y="5638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3" name="Rectangle 172"/>
          <p:cNvSpPr/>
          <p:nvPr/>
        </p:nvSpPr>
        <p:spPr bwMode="auto">
          <a:xfrm>
            <a:off x="6781800" y="5638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4" name="Rectangle 173"/>
          <p:cNvSpPr/>
          <p:nvPr/>
        </p:nvSpPr>
        <p:spPr bwMode="auto">
          <a:xfrm>
            <a:off x="7010400" y="5638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5" name="Rectangle 174"/>
          <p:cNvSpPr/>
          <p:nvPr/>
        </p:nvSpPr>
        <p:spPr bwMode="auto">
          <a:xfrm>
            <a:off x="7239000" y="5638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6" name="Rectangle 175"/>
          <p:cNvSpPr/>
          <p:nvPr/>
        </p:nvSpPr>
        <p:spPr bwMode="auto">
          <a:xfrm>
            <a:off x="7467600" y="5638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7" name="Rectangle 176"/>
          <p:cNvSpPr/>
          <p:nvPr/>
        </p:nvSpPr>
        <p:spPr bwMode="auto">
          <a:xfrm>
            <a:off x="7696200" y="5638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8" name="Rectangle 177"/>
          <p:cNvSpPr/>
          <p:nvPr/>
        </p:nvSpPr>
        <p:spPr bwMode="auto">
          <a:xfrm>
            <a:off x="7924800" y="5638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9" name="Rectangle 178"/>
          <p:cNvSpPr/>
          <p:nvPr/>
        </p:nvSpPr>
        <p:spPr bwMode="auto">
          <a:xfrm>
            <a:off x="8153400" y="56388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0" name="Rectangle 179"/>
          <p:cNvSpPr/>
          <p:nvPr/>
        </p:nvSpPr>
        <p:spPr bwMode="auto">
          <a:xfrm>
            <a:off x="4724400" y="3124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1" name="Rectangle 180"/>
          <p:cNvSpPr/>
          <p:nvPr/>
        </p:nvSpPr>
        <p:spPr bwMode="auto">
          <a:xfrm>
            <a:off x="4953000" y="3124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2" name="Rectangle 181"/>
          <p:cNvSpPr/>
          <p:nvPr/>
        </p:nvSpPr>
        <p:spPr bwMode="auto">
          <a:xfrm>
            <a:off x="5181600" y="3124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3" name="Rectangle 182"/>
          <p:cNvSpPr/>
          <p:nvPr/>
        </p:nvSpPr>
        <p:spPr bwMode="auto">
          <a:xfrm>
            <a:off x="5410200" y="3124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4" name="Rectangle 183"/>
          <p:cNvSpPr/>
          <p:nvPr/>
        </p:nvSpPr>
        <p:spPr bwMode="auto">
          <a:xfrm>
            <a:off x="5638800" y="3124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5" name="Rectangle 184"/>
          <p:cNvSpPr/>
          <p:nvPr/>
        </p:nvSpPr>
        <p:spPr bwMode="auto">
          <a:xfrm>
            <a:off x="5867400" y="3124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6" name="Rectangle 185"/>
          <p:cNvSpPr/>
          <p:nvPr/>
        </p:nvSpPr>
        <p:spPr bwMode="auto">
          <a:xfrm>
            <a:off x="6096000" y="3124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7" name="Rectangle 186"/>
          <p:cNvSpPr/>
          <p:nvPr/>
        </p:nvSpPr>
        <p:spPr bwMode="auto">
          <a:xfrm>
            <a:off x="6324600" y="3124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8" name="Rectangle 187"/>
          <p:cNvSpPr/>
          <p:nvPr/>
        </p:nvSpPr>
        <p:spPr bwMode="auto">
          <a:xfrm>
            <a:off x="6553200" y="3124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9" name="Rectangle 188"/>
          <p:cNvSpPr/>
          <p:nvPr/>
        </p:nvSpPr>
        <p:spPr bwMode="auto">
          <a:xfrm>
            <a:off x="6781800" y="3124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0" name="Rectangle 189"/>
          <p:cNvSpPr/>
          <p:nvPr/>
        </p:nvSpPr>
        <p:spPr bwMode="auto">
          <a:xfrm>
            <a:off x="7010400" y="3124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1" name="Rectangle 190"/>
          <p:cNvSpPr/>
          <p:nvPr/>
        </p:nvSpPr>
        <p:spPr bwMode="auto">
          <a:xfrm>
            <a:off x="7239000" y="3124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2" name="Rectangle 191"/>
          <p:cNvSpPr/>
          <p:nvPr/>
        </p:nvSpPr>
        <p:spPr bwMode="auto">
          <a:xfrm>
            <a:off x="7467600" y="3124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3" name="Rectangle 192"/>
          <p:cNvSpPr/>
          <p:nvPr/>
        </p:nvSpPr>
        <p:spPr bwMode="auto">
          <a:xfrm>
            <a:off x="7696200" y="3124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4" name="Rectangle 193"/>
          <p:cNvSpPr/>
          <p:nvPr/>
        </p:nvSpPr>
        <p:spPr bwMode="auto">
          <a:xfrm>
            <a:off x="7924800" y="3124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5" name="Rectangle 194"/>
          <p:cNvSpPr/>
          <p:nvPr/>
        </p:nvSpPr>
        <p:spPr bwMode="auto">
          <a:xfrm>
            <a:off x="8153400" y="3124200"/>
            <a:ext cx="228600" cy="228600"/>
          </a:xfrm>
          <a:prstGeom prst="rect">
            <a:avLst/>
          </a:prstGeom>
          <a:solidFill>
            <a:srgbClr val="CCCC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6" name="Rectangle 195"/>
          <p:cNvSpPr/>
          <p:nvPr/>
        </p:nvSpPr>
        <p:spPr bwMode="auto">
          <a:xfrm>
            <a:off x="1524000" y="3505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7" name="Rectangle 196"/>
          <p:cNvSpPr/>
          <p:nvPr/>
        </p:nvSpPr>
        <p:spPr bwMode="auto">
          <a:xfrm>
            <a:off x="1752600" y="3505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8" name="Rectangle 197"/>
          <p:cNvSpPr/>
          <p:nvPr/>
        </p:nvSpPr>
        <p:spPr bwMode="auto">
          <a:xfrm>
            <a:off x="1981200" y="3505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9" name="Rectangle 198"/>
          <p:cNvSpPr/>
          <p:nvPr/>
        </p:nvSpPr>
        <p:spPr bwMode="auto">
          <a:xfrm>
            <a:off x="2209800" y="3505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00" name="Rectangle 199"/>
          <p:cNvSpPr/>
          <p:nvPr/>
        </p:nvSpPr>
        <p:spPr bwMode="auto">
          <a:xfrm>
            <a:off x="2438400" y="3505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01" name="Rectangle 200"/>
          <p:cNvSpPr/>
          <p:nvPr/>
        </p:nvSpPr>
        <p:spPr bwMode="auto">
          <a:xfrm>
            <a:off x="2667000" y="3505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02" name="Rectangle 201"/>
          <p:cNvSpPr/>
          <p:nvPr/>
        </p:nvSpPr>
        <p:spPr bwMode="auto">
          <a:xfrm>
            <a:off x="2895600" y="3505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03" name="Rectangle 202"/>
          <p:cNvSpPr/>
          <p:nvPr/>
        </p:nvSpPr>
        <p:spPr bwMode="auto">
          <a:xfrm>
            <a:off x="3124200" y="3505200"/>
            <a:ext cx="228600" cy="228600"/>
          </a:xfrm>
          <a:prstGeom prst="rect">
            <a:avLst/>
          </a:prstGeom>
          <a:solidFill>
            <a:srgbClr val="0066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04" name="Rectangle 203"/>
          <p:cNvSpPr/>
          <p:nvPr/>
        </p:nvSpPr>
        <p:spPr bwMode="auto">
          <a:xfrm>
            <a:off x="3352800" y="3505200"/>
            <a:ext cx="228600" cy="228600"/>
          </a:xfrm>
          <a:prstGeom prst="rect">
            <a:avLst/>
          </a:prstGeom>
          <a:solidFill>
            <a:srgbClr val="0066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05" name="Rectangle 204"/>
          <p:cNvSpPr/>
          <p:nvPr/>
        </p:nvSpPr>
        <p:spPr bwMode="auto">
          <a:xfrm>
            <a:off x="3581400" y="3505200"/>
            <a:ext cx="228600" cy="228600"/>
          </a:xfrm>
          <a:prstGeom prst="rect">
            <a:avLst/>
          </a:prstGeom>
          <a:solidFill>
            <a:srgbClr val="0066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06" name="Rectangle 205"/>
          <p:cNvSpPr/>
          <p:nvPr/>
        </p:nvSpPr>
        <p:spPr bwMode="auto">
          <a:xfrm>
            <a:off x="1524000" y="37338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07" name="Rectangle 206"/>
          <p:cNvSpPr/>
          <p:nvPr/>
        </p:nvSpPr>
        <p:spPr bwMode="auto">
          <a:xfrm>
            <a:off x="1752600" y="37338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08" name="Rectangle 207"/>
          <p:cNvSpPr/>
          <p:nvPr/>
        </p:nvSpPr>
        <p:spPr bwMode="auto">
          <a:xfrm>
            <a:off x="1981200" y="37338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09" name="Rectangle 208"/>
          <p:cNvSpPr/>
          <p:nvPr/>
        </p:nvSpPr>
        <p:spPr bwMode="auto">
          <a:xfrm>
            <a:off x="2209800" y="37338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10" name="Rectangle 209"/>
          <p:cNvSpPr/>
          <p:nvPr/>
        </p:nvSpPr>
        <p:spPr bwMode="auto">
          <a:xfrm>
            <a:off x="2438400" y="37338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11" name="Rectangle 210"/>
          <p:cNvSpPr/>
          <p:nvPr/>
        </p:nvSpPr>
        <p:spPr bwMode="auto">
          <a:xfrm>
            <a:off x="2667000" y="37338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12" name="Rectangle 211"/>
          <p:cNvSpPr/>
          <p:nvPr/>
        </p:nvSpPr>
        <p:spPr bwMode="auto">
          <a:xfrm>
            <a:off x="2895600" y="37338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13" name="Rectangle 212"/>
          <p:cNvSpPr/>
          <p:nvPr/>
        </p:nvSpPr>
        <p:spPr bwMode="auto">
          <a:xfrm>
            <a:off x="3124200" y="3733800"/>
            <a:ext cx="228600" cy="228600"/>
          </a:xfrm>
          <a:prstGeom prst="rect">
            <a:avLst/>
          </a:prstGeom>
          <a:solidFill>
            <a:srgbClr val="0066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14" name="Rectangle 213"/>
          <p:cNvSpPr/>
          <p:nvPr/>
        </p:nvSpPr>
        <p:spPr bwMode="auto">
          <a:xfrm>
            <a:off x="3352800" y="3733800"/>
            <a:ext cx="228600" cy="228600"/>
          </a:xfrm>
          <a:prstGeom prst="rect">
            <a:avLst/>
          </a:prstGeom>
          <a:solidFill>
            <a:srgbClr val="0066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15" name="Rectangle 214"/>
          <p:cNvSpPr/>
          <p:nvPr/>
        </p:nvSpPr>
        <p:spPr bwMode="auto">
          <a:xfrm>
            <a:off x="3581400" y="3733800"/>
            <a:ext cx="228600" cy="228600"/>
          </a:xfrm>
          <a:prstGeom prst="rect">
            <a:avLst/>
          </a:prstGeom>
          <a:solidFill>
            <a:srgbClr val="0066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16" name="Rectangle 215"/>
          <p:cNvSpPr/>
          <p:nvPr/>
        </p:nvSpPr>
        <p:spPr bwMode="auto">
          <a:xfrm>
            <a:off x="1524000" y="39624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17" name="Rectangle 216"/>
          <p:cNvSpPr/>
          <p:nvPr/>
        </p:nvSpPr>
        <p:spPr bwMode="auto">
          <a:xfrm>
            <a:off x="1752600" y="39624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18" name="Rectangle 217"/>
          <p:cNvSpPr/>
          <p:nvPr/>
        </p:nvSpPr>
        <p:spPr bwMode="auto">
          <a:xfrm>
            <a:off x="1981200" y="39624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19" name="Rectangle 218"/>
          <p:cNvSpPr/>
          <p:nvPr/>
        </p:nvSpPr>
        <p:spPr bwMode="auto">
          <a:xfrm>
            <a:off x="2209800" y="39624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20" name="Rectangle 219"/>
          <p:cNvSpPr/>
          <p:nvPr/>
        </p:nvSpPr>
        <p:spPr bwMode="auto">
          <a:xfrm>
            <a:off x="2438400" y="39624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21" name="Rectangle 220"/>
          <p:cNvSpPr/>
          <p:nvPr/>
        </p:nvSpPr>
        <p:spPr bwMode="auto">
          <a:xfrm>
            <a:off x="2667000" y="39624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22" name="Rectangle 221"/>
          <p:cNvSpPr/>
          <p:nvPr/>
        </p:nvSpPr>
        <p:spPr bwMode="auto">
          <a:xfrm>
            <a:off x="2895600" y="39624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23" name="Rectangle 222"/>
          <p:cNvSpPr/>
          <p:nvPr/>
        </p:nvSpPr>
        <p:spPr bwMode="auto">
          <a:xfrm>
            <a:off x="3124200" y="3962400"/>
            <a:ext cx="228600" cy="228600"/>
          </a:xfrm>
          <a:prstGeom prst="rect">
            <a:avLst/>
          </a:prstGeom>
          <a:solidFill>
            <a:srgbClr val="FF66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24" name="Rectangle 223"/>
          <p:cNvSpPr/>
          <p:nvPr/>
        </p:nvSpPr>
        <p:spPr bwMode="auto">
          <a:xfrm>
            <a:off x="3352800" y="3962400"/>
            <a:ext cx="228600" cy="228600"/>
          </a:xfrm>
          <a:prstGeom prst="rect">
            <a:avLst/>
          </a:prstGeom>
          <a:solidFill>
            <a:srgbClr val="FF66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25" name="Rectangle 224"/>
          <p:cNvSpPr/>
          <p:nvPr/>
        </p:nvSpPr>
        <p:spPr bwMode="auto">
          <a:xfrm>
            <a:off x="3581400" y="3962400"/>
            <a:ext cx="228600" cy="228600"/>
          </a:xfrm>
          <a:prstGeom prst="rect">
            <a:avLst/>
          </a:prstGeom>
          <a:solidFill>
            <a:srgbClr val="FF66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26" name="Rectangle 225"/>
          <p:cNvSpPr/>
          <p:nvPr/>
        </p:nvSpPr>
        <p:spPr bwMode="auto">
          <a:xfrm>
            <a:off x="1524000" y="41910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27" name="Rectangle 226"/>
          <p:cNvSpPr/>
          <p:nvPr/>
        </p:nvSpPr>
        <p:spPr bwMode="auto">
          <a:xfrm>
            <a:off x="1752600" y="41910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28" name="Rectangle 227"/>
          <p:cNvSpPr/>
          <p:nvPr/>
        </p:nvSpPr>
        <p:spPr bwMode="auto">
          <a:xfrm>
            <a:off x="1981200" y="41910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29" name="Rectangle 228"/>
          <p:cNvSpPr/>
          <p:nvPr/>
        </p:nvSpPr>
        <p:spPr bwMode="auto">
          <a:xfrm>
            <a:off x="2209800" y="41910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30" name="Rectangle 229"/>
          <p:cNvSpPr/>
          <p:nvPr/>
        </p:nvSpPr>
        <p:spPr bwMode="auto">
          <a:xfrm>
            <a:off x="2438400" y="41910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31" name="Rectangle 230"/>
          <p:cNvSpPr/>
          <p:nvPr/>
        </p:nvSpPr>
        <p:spPr bwMode="auto">
          <a:xfrm>
            <a:off x="2667000" y="41910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32" name="Rectangle 231"/>
          <p:cNvSpPr/>
          <p:nvPr/>
        </p:nvSpPr>
        <p:spPr bwMode="auto">
          <a:xfrm>
            <a:off x="2895600" y="41910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33" name="Rectangle 232"/>
          <p:cNvSpPr/>
          <p:nvPr/>
        </p:nvSpPr>
        <p:spPr bwMode="auto">
          <a:xfrm>
            <a:off x="3124200" y="4191000"/>
            <a:ext cx="228600" cy="228600"/>
          </a:xfrm>
          <a:prstGeom prst="rect">
            <a:avLst/>
          </a:prstGeom>
          <a:solidFill>
            <a:srgbClr val="FF66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34" name="Rectangle 233"/>
          <p:cNvSpPr/>
          <p:nvPr/>
        </p:nvSpPr>
        <p:spPr bwMode="auto">
          <a:xfrm>
            <a:off x="3352800" y="4191000"/>
            <a:ext cx="228600" cy="228600"/>
          </a:xfrm>
          <a:prstGeom prst="rect">
            <a:avLst/>
          </a:prstGeom>
          <a:solidFill>
            <a:srgbClr val="FF66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35" name="Rectangle 234"/>
          <p:cNvSpPr/>
          <p:nvPr/>
        </p:nvSpPr>
        <p:spPr bwMode="auto">
          <a:xfrm>
            <a:off x="3581400" y="4191000"/>
            <a:ext cx="228600" cy="228600"/>
          </a:xfrm>
          <a:prstGeom prst="rect">
            <a:avLst/>
          </a:prstGeom>
          <a:solidFill>
            <a:srgbClr val="FF66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36" name="Rectangle 235"/>
          <p:cNvSpPr/>
          <p:nvPr/>
        </p:nvSpPr>
        <p:spPr bwMode="auto">
          <a:xfrm>
            <a:off x="1524000" y="44196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37" name="Rectangle 236"/>
          <p:cNvSpPr/>
          <p:nvPr/>
        </p:nvSpPr>
        <p:spPr bwMode="auto">
          <a:xfrm>
            <a:off x="1752600" y="44196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38" name="Rectangle 237"/>
          <p:cNvSpPr/>
          <p:nvPr/>
        </p:nvSpPr>
        <p:spPr bwMode="auto">
          <a:xfrm>
            <a:off x="1981200" y="44196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39" name="Rectangle 238"/>
          <p:cNvSpPr/>
          <p:nvPr/>
        </p:nvSpPr>
        <p:spPr bwMode="auto">
          <a:xfrm>
            <a:off x="2209800" y="44196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40" name="Rectangle 239"/>
          <p:cNvSpPr/>
          <p:nvPr/>
        </p:nvSpPr>
        <p:spPr bwMode="auto">
          <a:xfrm>
            <a:off x="2438400" y="44196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41" name="Rectangle 240"/>
          <p:cNvSpPr/>
          <p:nvPr/>
        </p:nvSpPr>
        <p:spPr bwMode="auto">
          <a:xfrm>
            <a:off x="2667000" y="44196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42" name="Rectangle 241"/>
          <p:cNvSpPr/>
          <p:nvPr/>
        </p:nvSpPr>
        <p:spPr bwMode="auto">
          <a:xfrm>
            <a:off x="2895600" y="44196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43" name="Rectangle 242"/>
          <p:cNvSpPr/>
          <p:nvPr/>
        </p:nvSpPr>
        <p:spPr bwMode="auto">
          <a:xfrm>
            <a:off x="3124200" y="4419600"/>
            <a:ext cx="228600" cy="228600"/>
          </a:xfrm>
          <a:prstGeom prst="rect">
            <a:avLst/>
          </a:prstGeom>
          <a:solidFill>
            <a:srgbClr val="FF66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44" name="Rectangle 243"/>
          <p:cNvSpPr/>
          <p:nvPr/>
        </p:nvSpPr>
        <p:spPr bwMode="auto">
          <a:xfrm>
            <a:off x="3352800" y="4419600"/>
            <a:ext cx="228600" cy="228600"/>
          </a:xfrm>
          <a:prstGeom prst="rect">
            <a:avLst/>
          </a:prstGeom>
          <a:solidFill>
            <a:srgbClr val="FF66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45" name="Rectangle 244"/>
          <p:cNvSpPr/>
          <p:nvPr/>
        </p:nvSpPr>
        <p:spPr bwMode="auto">
          <a:xfrm>
            <a:off x="3581400" y="4419600"/>
            <a:ext cx="228600" cy="228600"/>
          </a:xfrm>
          <a:prstGeom prst="rect">
            <a:avLst/>
          </a:prstGeom>
          <a:solidFill>
            <a:srgbClr val="FF66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46" name="Rectangle 245"/>
          <p:cNvSpPr/>
          <p:nvPr/>
        </p:nvSpPr>
        <p:spPr bwMode="auto">
          <a:xfrm>
            <a:off x="1524000" y="4648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47" name="Rectangle 246"/>
          <p:cNvSpPr/>
          <p:nvPr/>
        </p:nvSpPr>
        <p:spPr bwMode="auto">
          <a:xfrm>
            <a:off x="1752600" y="4648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48" name="Rectangle 247"/>
          <p:cNvSpPr/>
          <p:nvPr/>
        </p:nvSpPr>
        <p:spPr bwMode="auto">
          <a:xfrm>
            <a:off x="1981200" y="4648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49" name="Rectangle 248"/>
          <p:cNvSpPr/>
          <p:nvPr/>
        </p:nvSpPr>
        <p:spPr bwMode="auto">
          <a:xfrm>
            <a:off x="2209800" y="4648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50" name="Rectangle 249"/>
          <p:cNvSpPr/>
          <p:nvPr/>
        </p:nvSpPr>
        <p:spPr bwMode="auto">
          <a:xfrm>
            <a:off x="2438400" y="4648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51" name="Rectangle 250"/>
          <p:cNvSpPr/>
          <p:nvPr/>
        </p:nvSpPr>
        <p:spPr bwMode="auto">
          <a:xfrm>
            <a:off x="2667000" y="4648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52" name="Rectangle 251"/>
          <p:cNvSpPr/>
          <p:nvPr/>
        </p:nvSpPr>
        <p:spPr bwMode="auto">
          <a:xfrm>
            <a:off x="2895600" y="4648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53" name="Rectangle 252"/>
          <p:cNvSpPr/>
          <p:nvPr/>
        </p:nvSpPr>
        <p:spPr bwMode="auto">
          <a:xfrm>
            <a:off x="3124200" y="4648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54" name="Rectangle 253"/>
          <p:cNvSpPr/>
          <p:nvPr/>
        </p:nvSpPr>
        <p:spPr bwMode="auto">
          <a:xfrm>
            <a:off x="3352800" y="4648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55" name="Rectangle 254"/>
          <p:cNvSpPr/>
          <p:nvPr/>
        </p:nvSpPr>
        <p:spPr bwMode="auto">
          <a:xfrm>
            <a:off x="3581400" y="4648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grpSp>
        <p:nvGrpSpPr>
          <p:cNvPr id="355" name="Group 354"/>
          <p:cNvGrpSpPr/>
          <p:nvPr/>
        </p:nvGrpSpPr>
        <p:grpSpPr>
          <a:xfrm>
            <a:off x="4724400" y="3124200"/>
            <a:ext cx="2514600" cy="2057400"/>
            <a:chOff x="4724400" y="3200400"/>
            <a:chExt cx="2514600" cy="2057400"/>
          </a:xfrm>
        </p:grpSpPr>
        <p:sp>
          <p:nvSpPr>
            <p:cNvPr id="256" name="Rectangle 255"/>
            <p:cNvSpPr/>
            <p:nvPr/>
          </p:nvSpPr>
          <p:spPr bwMode="auto">
            <a:xfrm>
              <a:off x="4724400" y="3429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57" name="Rectangle 256"/>
            <p:cNvSpPr/>
            <p:nvPr/>
          </p:nvSpPr>
          <p:spPr bwMode="auto">
            <a:xfrm>
              <a:off x="4953000" y="3429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58" name="Rectangle 257"/>
            <p:cNvSpPr/>
            <p:nvPr/>
          </p:nvSpPr>
          <p:spPr bwMode="auto">
            <a:xfrm>
              <a:off x="5181600" y="3429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59" name="Rectangle 258"/>
            <p:cNvSpPr/>
            <p:nvPr/>
          </p:nvSpPr>
          <p:spPr bwMode="auto">
            <a:xfrm>
              <a:off x="5410200" y="3429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60" name="Rectangle 259"/>
            <p:cNvSpPr/>
            <p:nvPr/>
          </p:nvSpPr>
          <p:spPr bwMode="auto">
            <a:xfrm>
              <a:off x="5638800" y="3429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61" name="Rectangle 260"/>
            <p:cNvSpPr/>
            <p:nvPr/>
          </p:nvSpPr>
          <p:spPr bwMode="auto">
            <a:xfrm>
              <a:off x="5867400" y="3429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62" name="Rectangle 261"/>
            <p:cNvSpPr/>
            <p:nvPr/>
          </p:nvSpPr>
          <p:spPr bwMode="auto">
            <a:xfrm>
              <a:off x="6096000" y="3429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63" name="Rectangle 262"/>
            <p:cNvSpPr/>
            <p:nvPr/>
          </p:nvSpPr>
          <p:spPr bwMode="auto">
            <a:xfrm>
              <a:off x="6324600" y="3429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64" name="Rectangle 263"/>
            <p:cNvSpPr/>
            <p:nvPr/>
          </p:nvSpPr>
          <p:spPr bwMode="auto">
            <a:xfrm>
              <a:off x="6553200" y="3429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65" name="Rectangle 264"/>
            <p:cNvSpPr/>
            <p:nvPr/>
          </p:nvSpPr>
          <p:spPr bwMode="auto">
            <a:xfrm>
              <a:off x="6781800" y="3429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66" name="Rectangle 265"/>
            <p:cNvSpPr/>
            <p:nvPr/>
          </p:nvSpPr>
          <p:spPr bwMode="auto">
            <a:xfrm>
              <a:off x="7010400" y="3429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67" name="Rectangle 266"/>
            <p:cNvSpPr/>
            <p:nvPr/>
          </p:nvSpPr>
          <p:spPr bwMode="auto">
            <a:xfrm>
              <a:off x="4724400" y="3657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68" name="Rectangle 267"/>
            <p:cNvSpPr/>
            <p:nvPr/>
          </p:nvSpPr>
          <p:spPr bwMode="auto">
            <a:xfrm>
              <a:off x="4953000" y="3657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69" name="Rectangle 268"/>
            <p:cNvSpPr/>
            <p:nvPr/>
          </p:nvSpPr>
          <p:spPr bwMode="auto">
            <a:xfrm>
              <a:off x="5181600" y="3657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70" name="Rectangle 269"/>
            <p:cNvSpPr/>
            <p:nvPr/>
          </p:nvSpPr>
          <p:spPr bwMode="auto">
            <a:xfrm>
              <a:off x="5410200" y="3657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71" name="Rectangle 270"/>
            <p:cNvSpPr/>
            <p:nvPr/>
          </p:nvSpPr>
          <p:spPr bwMode="auto">
            <a:xfrm>
              <a:off x="5638800" y="3657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72" name="Rectangle 271"/>
            <p:cNvSpPr/>
            <p:nvPr/>
          </p:nvSpPr>
          <p:spPr bwMode="auto">
            <a:xfrm>
              <a:off x="5867400" y="3657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73" name="Rectangle 272"/>
            <p:cNvSpPr/>
            <p:nvPr/>
          </p:nvSpPr>
          <p:spPr bwMode="auto">
            <a:xfrm>
              <a:off x="6096000" y="3657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74" name="Rectangle 273"/>
            <p:cNvSpPr/>
            <p:nvPr/>
          </p:nvSpPr>
          <p:spPr bwMode="auto">
            <a:xfrm>
              <a:off x="6324600" y="3657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75" name="Rectangle 274"/>
            <p:cNvSpPr/>
            <p:nvPr/>
          </p:nvSpPr>
          <p:spPr bwMode="auto">
            <a:xfrm>
              <a:off x="6553200" y="3657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76" name="Rectangle 275"/>
            <p:cNvSpPr/>
            <p:nvPr/>
          </p:nvSpPr>
          <p:spPr bwMode="auto">
            <a:xfrm>
              <a:off x="6781800" y="3657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77" name="Rectangle 276"/>
            <p:cNvSpPr/>
            <p:nvPr/>
          </p:nvSpPr>
          <p:spPr bwMode="auto">
            <a:xfrm>
              <a:off x="7010400" y="3657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78" name="Rectangle 277"/>
            <p:cNvSpPr/>
            <p:nvPr/>
          </p:nvSpPr>
          <p:spPr bwMode="auto">
            <a:xfrm>
              <a:off x="4724400" y="3886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79" name="Rectangle 278"/>
            <p:cNvSpPr/>
            <p:nvPr/>
          </p:nvSpPr>
          <p:spPr bwMode="auto">
            <a:xfrm>
              <a:off x="4953000" y="3886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80" name="Rectangle 279"/>
            <p:cNvSpPr/>
            <p:nvPr/>
          </p:nvSpPr>
          <p:spPr bwMode="auto">
            <a:xfrm>
              <a:off x="5181600" y="3886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81" name="Rectangle 280"/>
            <p:cNvSpPr/>
            <p:nvPr/>
          </p:nvSpPr>
          <p:spPr bwMode="auto">
            <a:xfrm>
              <a:off x="5410200" y="3886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82" name="Rectangle 281"/>
            <p:cNvSpPr/>
            <p:nvPr/>
          </p:nvSpPr>
          <p:spPr bwMode="auto">
            <a:xfrm>
              <a:off x="5638800" y="3886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83" name="Rectangle 282"/>
            <p:cNvSpPr/>
            <p:nvPr/>
          </p:nvSpPr>
          <p:spPr bwMode="auto">
            <a:xfrm>
              <a:off x="5867400" y="3886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84" name="Rectangle 283"/>
            <p:cNvSpPr/>
            <p:nvPr/>
          </p:nvSpPr>
          <p:spPr bwMode="auto">
            <a:xfrm>
              <a:off x="6096000" y="3886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85" name="Rectangle 284"/>
            <p:cNvSpPr/>
            <p:nvPr/>
          </p:nvSpPr>
          <p:spPr bwMode="auto">
            <a:xfrm>
              <a:off x="6324600" y="3886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86" name="Rectangle 285"/>
            <p:cNvSpPr/>
            <p:nvPr/>
          </p:nvSpPr>
          <p:spPr bwMode="auto">
            <a:xfrm>
              <a:off x="6553200" y="3886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87" name="Rectangle 286"/>
            <p:cNvSpPr/>
            <p:nvPr/>
          </p:nvSpPr>
          <p:spPr bwMode="auto">
            <a:xfrm>
              <a:off x="6781800" y="3886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88" name="Rectangle 287"/>
            <p:cNvSpPr/>
            <p:nvPr/>
          </p:nvSpPr>
          <p:spPr bwMode="auto">
            <a:xfrm>
              <a:off x="7010400" y="3886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89" name="Rectangle 288"/>
            <p:cNvSpPr/>
            <p:nvPr/>
          </p:nvSpPr>
          <p:spPr bwMode="auto">
            <a:xfrm>
              <a:off x="4724400" y="41148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90" name="Rectangle 289"/>
            <p:cNvSpPr/>
            <p:nvPr/>
          </p:nvSpPr>
          <p:spPr bwMode="auto">
            <a:xfrm>
              <a:off x="4953000" y="41148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91" name="Rectangle 290"/>
            <p:cNvSpPr/>
            <p:nvPr/>
          </p:nvSpPr>
          <p:spPr bwMode="auto">
            <a:xfrm>
              <a:off x="5181600" y="41148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92" name="Rectangle 291"/>
            <p:cNvSpPr/>
            <p:nvPr/>
          </p:nvSpPr>
          <p:spPr bwMode="auto">
            <a:xfrm>
              <a:off x="5410200" y="41148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93" name="Rectangle 292"/>
            <p:cNvSpPr/>
            <p:nvPr/>
          </p:nvSpPr>
          <p:spPr bwMode="auto">
            <a:xfrm>
              <a:off x="5638800" y="41148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94" name="Rectangle 293"/>
            <p:cNvSpPr/>
            <p:nvPr/>
          </p:nvSpPr>
          <p:spPr bwMode="auto">
            <a:xfrm>
              <a:off x="5867400" y="41148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95" name="Rectangle 294"/>
            <p:cNvSpPr/>
            <p:nvPr/>
          </p:nvSpPr>
          <p:spPr bwMode="auto">
            <a:xfrm>
              <a:off x="6096000" y="41148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96" name="Rectangle 295"/>
            <p:cNvSpPr/>
            <p:nvPr/>
          </p:nvSpPr>
          <p:spPr bwMode="auto">
            <a:xfrm>
              <a:off x="6324600" y="41148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97" name="Rectangle 296"/>
            <p:cNvSpPr/>
            <p:nvPr/>
          </p:nvSpPr>
          <p:spPr bwMode="auto">
            <a:xfrm>
              <a:off x="6553200" y="41148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98" name="Rectangle 297"/>
            <p:cNvSpPr/>
            <p:nvPr/>
          </p:nvSpPr>
          <p:spPr bwMode="auto">
            <a:xfrm>
              <a:off x="6781800" y="41148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99" name="Rectangle 298"/>
            <p:cNvSpPr/>
            <p:nvPr/>
          </p:nvSpPr>
          <p:spPr bwMode="auto">
            <a:xfrm>
              <a:off x="7010400" y="41148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00" name="Rectangle 299"/>
            <p:cNvSpPr/>
            <p:nvPr/>
          </p:nvSpPr>
          <p:spPr bwMode="auto">
            <a:xfrm>
              <a:off x="4724400" y="4343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01" name="Rectangle 300"/>
            <p:cNvSpPr/>
            <p:nvPr/>
          </p:nvSpPr>
          <p:spPr bwMode="auto">
            <a:xfrm>
              <a:off x="4953000" y="4343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02" name="Rectangle 301"/>
            <p:cNvSpPr/>
            <p:nvPr/>
          </p:nvSpPr>
          <p:spPr bwMode="auto">
            <a:xfrm>
              <a:off x="5181600" y="4343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03" name="Rectangle 302"/>
            <p:cNvSpPr/>
            <p:nvPr/>
          </p:nvSpPr>
          <p:spPr bwMode="auto">
            <a:xfrm>
              <a:off x="5410200" y="4343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04" name="Rectangle 303"/>
            <p:cNvSpPr/>
            <p:nvPr/>
          </p:nvSpPr>
          <p:spPr bwMode="auto">
            <a:xfrm>
              <a:off x="5638800" y="4343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05" name="Rectangle 304"/>
            <p:cNvSpPr/>
            <p:nvPr/>
          </p:nvSpPr>
          <p:spPr bwMode="auto">
            <a:xfrm>
              <a:off x="5867400" y="4343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06" name="Rectangle 305"/>
            <p:cNvSpPr/>
            <p:nvPr/>
          </p:nvSpPr>
          <p:spPr bwMode="auto">
            <a:xfrm>
              <a:off x="6096000" y="4343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07" name="Rectangle 306"/>
            <p:cNvSpPr/>
            <p:nvPr/>
          </p:nvSpPr>
          <p:spPr bwMode="auto">
            <a:xfrm>
              <a:off x="6324600" y="4343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08" name="Rectangle 307"/>
            <p:cNvSpPr/>
            <p:nvPr/>
          </p:nvSpPr>
          <p:spPr bwMode="auto">
            <a:xfrm>
              <a:off x="6553200" y="4343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09" name="Rectangle 308"/>
            <p:cNvSpPr/>
            <p:nvPr/>
          </p:nvSpPr>
          <p:spPr bwMode="auto">
            <a:xfrm>
              <a:off x="6781800" y="4343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10" name="Rectangle 309"/>
            <p:cNvSpPr/>
            <p:nvPr/>
          </p:nvSpPr>
          <p:spPr bwMode="auto">
            <a:xfrm>
              <a:off x="7010400" y="4343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11" name="Rectangle 310"/>
            <p:cNvSpPr/>
            <p:nvPr/>
          </p:nvSpPr>
          <p:spPr bwMode="auto">
            <a:xfrm>
              <a:off x="4724400" y="4572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12" name="Rectangle 311"/>
            <p:cNvSpPr/>
            <p:nvPr/>
          </p:nvSpPr>
          <p:spPr bwMode="auto">
            <a:xfrm>
              <a:off x="4953000" y="4572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13" name="Rectangle 312"/>
            <p:cNvSpPr/>
            <p:nvPr/>
          </p:nvSpPr>
          <p:spPr bwMode="auto">
            <a:xfrm>
              <a:off x="5181600" y="4572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14" name="Rectangle 313"/>
            <p:cNvSpPr/>
            <p:nvPr/>
          </p:nvSpPr>
          <p:spPr bwMode="auto">
            <a:xfrm>
              <a:off x="5410200" y="4572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15" name="Rectangle 314"/>
            <p:cNvSpPr/>
            <p:nvPr/>
          </p:nvSpPr>
          <p:spPr bwMode="auto">
            <a:xfrm>
              <a:off x="5638800" y="4572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16" name="Rectangle 315"/>
            <p:cNvSpPr/>
            <p:nvPr/>
          </p:nvSpPr>
          <p:spPr bwMode="auto">
            <a:xfrm>
              <a:off x="5867400" y="4572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17" name="Rectangle 316"/>
            <p:cNvSpPr/>
            <p:nvPr/>
          </p:nvSpPr>
          <p:spPr bwMode="auto">
            <a:xfrm>
              <a:off x="6096000" y="4572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18" name="Rectangle 317"/>
            <p:cNvSpPr/>
            <p:nvPr/>
          </p:nvSpPr>
          <p:spPr bwMode="auto">
            <a:xfrm>
              <a:off x="6324600" y="4572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19" name="Rectangle 318"/>
            <p:cNvSpPr/>
            <p:nvPr/>
          </p:nvSpPr>
          <p:spPr bwMode="auto">
            <a:xfrm>
              <a:off x="6553200" y="4572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20" name="Rectangle 319"/>
            <p:cNvSpPr/>
            <p:nvPr/>
          </p:nvSpPr>
          <p:spPr bwMode="auto">
            <a:xfrm>
              <a:off x="6781800" y="4572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21" name="Rectangle 320"/>
            <p:cNvSpPr/>
            <p:nvPr/>
          </p:nvSpPr>
          <p:spPr bwMode="auto">
            <a:xfrm>
              <a:off x="7010400" y="45720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22" name="Rectangle 321"/>
            <p:cNvSpPr/>
            <p:nvPr/>
          </p:nvSpPr>
          <p:spPr bwMode="auto">
            <a:xfrm>
              <a:off x="4724400" y="4800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23" name="Rectangle 322"/>
            <p:cNvSpPr/>
            <p:nvPr/>
          </p:nvSpPr>
          <p:spPr bwMode="auto">
            <a:xfrm>
              <a:off x="4953000" y="4800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24" name="Rectangle 323"/>
            <p:cNvSpPr/>
            <p:nvPr/>
          </p:nvSpPr>
          <p:spPr bwMode="auto">
            <a:xfrm>
              <a:off x="5181600" y="4800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25" name="Rectangle 324"/>
            <p:cNvSpPr/>
            <p:nvPr/>
          </p:nvSpPr>
          <p:spPr bwMode="auto">
            <a:xfrm>
              <a:off x="5410200" y="4800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26" name="Rectangle 325"/>
            <p:cNvSpPr/>
            <p:nvPr/>
          </p:nvSpPr>
          <p:spPr bwMode="auto">
            <a:xfrm>
              <a:off x="5638800" y="4800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27" name="Rectangle 326"/>
            <p:cNvSpPr/>
            <p:nvPr/>
          </p:nvSpPr>
          <p:spPr bwMode="auto">
            <a:xfrm>
              <a:off x="5867400" y="4800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28" name="Rectangle 327"/>
            <p:cNvSpPr/>
            <p:nvPr/>
          </p:nvSpPr>
          <p:spPr bwMode="auto">
            <a:xfrm>
              <a:off x="6096000" y="4800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29" name="Rectangle 328"/>
            <p:cNvSpPr/>
            <p:nvPr/>
          </p:nvSpPr>
          <p:spPr bwMode="auto">
            <a:xfrm>
              <a:off x="6324600" y="4800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30" name="Rectangle 329"/>
            <p:cNvSpPr/>
            <p:nvPr/>
          </p:nvSpPr>
          <p:spPr bwMode="auto">
            <a:xfrm>
              <a:off x="6553200" y="4800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31" name="Rectangle 330"/>
            <p:cNvSpPr/>
            <p:nvPr/>
          </p:nvSpPr>
          <p:spPr bwMode="auto">
            <a:xfrm>
              <a:off x="6781800" y="4800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32" name="Rectangle 331"/>
            <p:cNvSpPr/>
            <p:nvPr/>
          </p:nvSpPr>
          <p:spPr bwMode="auto">
            <a:xfrm>
              <a:off x="7010400" y="48006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33" name="Rectangle 332"/>
            <p:cNvSpPr/>
            <p:nvPr/>
          </p:nvSpPr>
          <p:spPr bwMode="auto">
            <a:xfrm>
              <a:off x="4724400" y="5029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34" name="Rectangle 333"/>
            <p:cNvSpPr/>
            <p:nvPr/>
          </p:nvSpPr>
          <p:spPr bwMode="auto">
            <a:xfrm>
              <a:off x="4953000" y="5029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35" name="Rectangle 334"/>
            <p:cNvSpPr/>
            <p:nvPr/>
          </p:nvSpPr>
          <p:spPr bwMode="auto">
            <a:xfrm>
              <a:off x="5181600" y="5029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36" name="Rectangle 335"/>
            <p:cNvSpPr/>
            <p:nvPr/>
          </p:nvSpPr>
          <p:spPr bwMode="auto">
            <a:xfrm>
              <a:off x="5410200" y="5029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37" name="Rectangle 336"/>
            <p:cNvSpPr/>
            <p:nvPr/>
          </p:nvSpPr>
          <p:spPr bwMode="auto">
            <a:xfrm>
              <a:off x="5638800" y="5029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38" name="Rectangle 337"/>
            <p:cNvSpPr/>
            <p:nvPr/>
          </p:nvSpPr>
          <p:spPr bwMode="auto">
            <a:xfrm>
              <a:off x="5867400" y="5029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39" name="Rectangle 338"/>
            <p:cNvSpPr/>
            <p:nvPr/>
          </p:nvSpPr>
          <p:spPr bwMode="auto">
            <a:xfrm>
              <a:off x="6096000" y="5029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40" name="Rectangle 339"/>
            <p:cNvSpPr/>
            <p:nvPr/>
          </p:nvSpPr>
          <p:spPr bwMode="auto">
            <a:xfrm>
              <a:off x="6324600" y="5029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41" name="Rectangle 340"/>
            <p:cNvSpPr/>
            <p:nvPr/>
          </p:nvSpPr>
          <p:spPr bwMode="auto">
            <a:xfrm>
              <a:off x="6553200" y="5029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42" name="Rectangle 341"/>
            <p:cNvSpPr/>
            <p:nvPr/>
          </p:nvSpPr>
          <p:spPr bwMode="auto">
            <a:xfrm>
              <a:off x="6781800" y="5029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43" name="Rectangle 342"/>
            <p:cNvSpPr/>
            <p:nvPr/>
          </p:nvSpPr>
          <p:spPr bwMode="auto">
            <a:xfrm>
              <a:off x="7010400" y="50292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44" name="Rectangle 343"/>
            <p:cNvSpPr/>
            <p:nvPr/>
          </p:nvSpPr>
          <p:spPr bwMode="auto">
            <a:xfrm>
              <a:off x="4724400" y="3200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45" name="Rectangle 344"/>
            <p:cNvSpPr/>
            <p:nvPr/>
          </p:nvSpPr>
          <p:spPr bwMode="auto">
            <a:xfrm>
              <a:off x="4953000" y="3200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46" name="Rectangle 345"/>
            <p:cNvSpPr/>
            <p:nvPr/>
          </p:nvSpPr>
          <p:spPr bwMode="auto">
            <a:xfrm>
              <a:off x="5181600" y="3200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47" name="Rectangle 346"/>
            <p:cNvSpPr/>
            <p:nvPr/>
          </p:nvSpPr>
          <p:spPr bwMode="auto">
            <a:xfrm>
              <a:off x="5410200" y="3200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48" name="Rectangle 347"/>
            <p:cNvSpPr/>
            <p:nvPr/>
          </p:nvSpPr>
          <p:spPr bwMode="auto">
            <a:xfrm>
              <a:off x="5638800" y="3200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49" name="Rectangle 348"/>
            <p:cNvSpPr/>
            <p:nvPr/>
          </p:nvSpPr>
          <p:spPr bwMode="auto">
            <a:xfrm>
              <a:off x="5867400" y="3200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50" name="Rectangle 349"/>
            <p:cNvSpPr/>
            <p:nvPr/>
          </p:nvSpPr>
          <p:spPr bwMode="auto">
            <a:xfrm>
              <a:off x="6096000" y="3200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51" name="Rectangle 350"/>
            <p:cNvSpPr/>
            <p:nvPr/>
          </p:nvSpPr>
          <p:spPr bwMode="auto">
            <a:xfrm>
              <a:off x="6324600" y="3200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52" name="Rectangle 351"/>
            <p:cNvSpPr/>
            <p:nvPr/>
          </p:nvSpPr>
          <p:spPr bwMode="auto">
            <a:xfrm>
              <a:off x="6553200" y="3200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53" name="Rectangle 352"/>
            <p:cNvSpPr/>
            <p:nvPr/>
          </p:nvSpPr>
          <p:spPr bwMode="auto">
            <a:xfrm>
              <a:off x="6781800" y="3200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54" name="Rectangle 353"/>
            <p:cNvSpPr/>
            <p:nvPr/>
          </p:nvSpPr>
          <p:spPr bwMode="auto">
            <a:xfrm>
              <a:off x="7010400" y="3200400"/>
              <a:ext cx="228600" cy="228600"/>
            </a:xfrm>
            <a:prstGeom prst="rect">
              <a:avLst/>
            </a:prstGeom>
            <a:solidFill>
              <a:srgbClr val="0066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</p:grpSp>
      <p:grpSp>
        <p:nvGrpSpPr>
          <p:cNvPr id="416" name="Group 415"/>
          <p:cNvGrpSpPr/>
          <p:nvPr/>
        </p:nvGrpSpPr>
        <p:grpSpPr>
          <a:xfrm>
            <a:off x="7239000" y="3124200"/>
            <a:ext cx="1143000" cy="2743200"/>
            <a:chOff x="7239000" y="3200400"/>
            <a:chExt cx="1143000" cy="2743200"/>
          </a:xfrm>
        </p:grpSpPr>
        <p:sp>
          <p:nvSpPr>
            <p:cNvPr id="356" name="Rectangle 355"/>
            <p:cNvSpPr/>
            <p:nvPr/>
          </p:nvSpPr>
          <p:spPr bwMode="auto">
            <a:xfrm>
              <a:off x="7239000" y="3429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57" name="Rectangle 356"/>
            <p:cNvSpPr/>
            <p:nvPr/>
          </p:nvSpPr>
          <p:spPr bwMode="auto">
            <a:xfrm>
              <a:off x="7467600" y="3429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58" name="Rectangle 357"/>
            <p:cNvSpPr/>
            <p:nvPr/>
          </p:nvSpPr>
          <p:spPr bwMode="auto">
            <a:xfrm>
              <a:off x="7696200" y="3429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59" name="Rectangle 358"/>
            <p:cNvSpPr/>
            <p:nvPr/>
          </p:nvSpPr>
          <p:spPr bwMode="auto">
            <a:xfrm>
              <a:off x="7924800" y="3429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60" name="Rectangle 359"/>
            <p:cNvSpPr/>
            <p:nvPr/>
          </p:nvSpPr>
          <p:spPr bwMode="auto">
            <a:xfrm>
              <a:off x="8153400" y="3429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61" name="Rectangle 360"/>
            <p:cNvSpPr/>
            <p:nvPr/>
          </p:nvSpPr>
          <p:spPr bwMode="auto">
            <a:xfrm>
              <a:off x="7239000" y="36576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62" name="Rectangle 361"/>
            <p:cNvSpPr/>
            <p:nvPr/>
          </p:nvSpPr>
          <p:spPr bwMode="auto">
            <a:xfrm>
              <a:off x="7467600" y="36576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63" name="Rectangle 362"/>
            <p:cNvSpPr/>
            <p:nvPr/>
          </p:nvSpPr>
          <p:spPr bwMode="auto">
            <a:xfrm>
              <a:off x="7696200" y="36576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64" name="Rectangle 363"/>
            <p:cNvSpPr/>
            <p:nvPr/>
          </p:nvSpPr>
          <p:spPr bwMode="auto">
            <a:xfrm>
              <a:off x="7924800" y="36576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65" name="Rectangle 364"/>
            <p:cNvSpPr/>
            <p:nvPr/>
          </p:nvSpPr>
          <p:spPr bwMode="auto">
            <a:xfrm>
              <a:off x="8153400" y="36576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66" name="Rectangle 365"/>
            <p:cNvSpPr/>
            <p:nvPr/>
          </p:nvSpPr>
          <p:spPr bwMode="auto">
            <a:xfrm>
              <a:off x="7239000" y="38862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67" name="Rectangle 366"/>
            <p:cNvSpPr/>
            <p:nvPr/>
          </p:nvSpPr>
          <p:spPr bwMode="auto">
            <a:xfrm>
              <a:off x="7467600" y="38862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68" name="Rectangle 367"/>
            <p:cNvSpPr/>
            <p:nvPr/>
          </p:nvSpPr>
          <p:spPr bwMode="auto">
            <a:xfrm>
              <a:off x="7696200" y="38862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69" name="Rectangle 368"/>
            <p:cNvSpPr/>
            <p:nvPr/>
          </p:nvSpPr>
          <p:spPr bwMode="auto">
            <a:xfrm>
              <a:off x="7924800" y="38862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70" name="Rectangle 369"/>
            <p:cNvSpPr/>
            <p:nvPr/>
          </p:nvSpPr>
          <p:spPr bwMode="auto">
            <a:xfrm>
              <a:off x="8153400" y="38862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71" name="Rectangle 370"/>
            <p:cNvSpPr/>
            <p:nvPr/>
          </p:nvSpPr>
          <p:spPr bwMode="auto">
            <a:xfrm>
              <a:off x="7239000" y="41148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72" name="Rectangle 371"/>
            <p:cNvSpPr/>
            <p:nvPr/>
          </p:nvSpPr>
          <p:spPr bwMode="auto">
            <a:xfrm>
              <a:off x="7467600" y="41148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73" name="Rectangle 372"/>
            <p:cNvSpPr/>
            <p:nvPr/>
          </p:nvSpPr>
          <p:spPr bwMode="auto">
            <a:xfrm>
              <a:off x="7696200" y="41148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74" name="Rectangle 373"/>
            <p:cNvSpPr/>
            <p:nvPr/>
          </p:nvSpPr>
          <p:spPr bwMode="auto">
            <a:xfrm>
              <a:off x="7924800" y="41148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75" name="Rectangle 374"/>
            <p:cNvSpPr/>
            <p:nvPr/>
          </p:nvSpPr>
          <p:spPr bwMode="auto">
            <a:xfrm>
              <a:off x="8153400" y="41148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76" name="Rectangle 375"/>
            <p:cNvSpPr/>
            <p:nvPr/>
          </p:nvSpPr>
          <p:spPr bwMode="auto">
            <a:xfrm>
              <a:off x="7239000" y="4343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77" name="Rectangle 376"/>
            <p:cNvSpPr/>
            <p:nvPr/>
          </p:nvSpPr>
          <p:spPr bwMode="auto">
            <a:xfrm>
              <a:off x="7467600" y="4343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78" name="Rectangle 377"/>
            <p:cNvSpPr/>
            <p:nvPr/>
          </p:nvSpPr>
          <p:spPr bwMode="auto">
            <a:xfrm>
              <a:off x="7696200" y="4343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79" name="Rectangle 378"/>
            <p:cNvSpPr/>
            <p:nvPr/>
          </p:nvSpPr>
          <p:spPr bwMode="auto">
            <a:xfrm>
              <a:off x="7924800" y="4343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80" name="Rectangle 379"/>
            <p:cNvSpPr/>
            <p:nvPr/>
          </p:nvSpPr>
          <p:spPr bwMode="auto">
            <a:xfrm>
              <a:off x="8153400" y="4343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81" name="Rectangle 380"/>
            <p:cNvSpPr/>
            <p:nvPr/>
          </p:nvSpPr>
          <p:spPr bwMode="auto">
            <a:xfrm>
              <a:off x="7239000" y="4572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82" name="Rectangle 381"/>
            <p:cNvSpPr/>
            <p:nvPr/>
          </p:nvSpPr>
          <p:spPr bwMode="auto">
            <a:xfrm>
              <a:off x="7467600" y="4572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83" name="Rectangle 382"/>
            <p:cNvSpPr/>
            <p:nvPr/>
          </p:nvSpPr>
          <p:spPr bwMode="auto">
            <a:xfrm>
              <a:off x="7696200" y="4572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84" name="Rectangle 383"/>
            <p:cNvSpPr/>
            <p:nvPr/>
          </p:nvSpPr>
          <p:spPr bwMode="auto">
            <a:xfrm>
              <a:off x="7924800" y="4572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85" name="Rectangle 384"/>
            <p:cNvSpPr/>
            <p:nvPr/>
          </p:nvSpPr>
          <p:spPr bwMode="auto">
            <a:xfrm>
              <a:off x="8153400" y="4572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86" name="Rectangle 385"/>
            <p:cNvSpPr/>
            <p:nvPr/>
          </p:nvSpPr>
          <p:spPr bwMode="auto">
            <a:xfrm>
              <a:off x="7239000" y="48006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87" name="Rectangle 386"/>
            <p:cNvSpPr/>
            <p:nvPr/>
          </p:nvSpPr>
          <p:spPr bwMode="auto">
            <a:xfrm>
              <a:off x="7467600" y="48006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88" name="Rectangle 387"/>
            <p:cNvSpPr/>
            <p:nvPr/>
          </p:nvSpPr>
          <p:spPr bwMode="auto">
            <a:xfrm>
              <a:off x="7696200" y="48006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89" name="Rectangle 388"/>
            <p:cNvSpPr/>
            <p:nvPr/>
          </p:nvSpPr>
          <p:spPr bwMode="auto">
            <a:xfrm>
              <a:off x="7924800" y="48006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90" name="Rectangle 389"/>
            <p:cNvSpPr/>
            <p:nvPr/>
          </p:nvSpPr>
          <p:spPr bwMode="auto">
            <a:xfrm>
              <a:off x="8153400" y="48006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91" name="Rectangle 390"/>
            <p:cNvSpPr/>
            <p:nvPr/>
          </p:nvSpPr>
          <p:spPr bwMode="auto">
            <a:xfrm>
              <a:off x="7239000" y="50292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92" name="Rectangle 391"/>
            <p:cNvSpPr/>
            <p:nvPr/>
          </p:nvSpPr>
          <p:spPr bwMode="auto">
            <a:xfrm>
              <a:off x="7467600" y="50292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93" name="Rectangle 392"/>
            <p:cNvSpPr/>
            <p:nvPr/>
          </p:nvSpPr>
          <p:spPr bwMode="auto">
            <a:xfrm>
              <a:off x="7696200" y="50292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94" name="Rectangle 393"/>
            <p:cNvSpPr/>
            <p:nvPr/>
          </p:nvSpPr>
          <p:spPr bwMode="auto">
            <a:xfrm>
              <a:off x="7924800" y="50292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95" name="Rectangle 394"/>
            <p:cNvSpPr/>
            <p:nvPr/>
          </p:nvSpPr>
          <p:spPr bwMode="auto">
            <a:xfrm>
              <a:off x="8153400" y="50292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96" name="Rectangle 395"/>
            <p:cNvSpPr/>
            <p:nvPr/>
          </p:nvSpPr>
          <p:spPr bwMode="auto">
            <a:xfrm>
              <a:off x="7239000" y="52578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97" name="Rectangle 396"/>
            <p:cNvSpPr/>
            <p:nvPr/>
          </p:nvSpPr>
          <p:spPr bwMode="auto">
            <a:xfrm>
              <a:off x="7467600" y="52578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98" name="Rectangle 397"/>
            <p:cNvSpPr/>
            <p:nvPr/>
          </p:nvSpPr>
          <p:spPr bwMode="auto">
            <a:xfrm>
              <a:off x="7696200" y="52578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399" name="Rectangle 398"/>
            <p:cNvSpPr/>
            <p:nvPr/>
          </p:nvSpPr>
          <p:spPr bwMode="auto">
            <a:xfrm>
              <a:off x="7924800" y="52578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00" name="Rectangle 399"/>
            <p:cNvSpPr/>
            <p:nvPr/>
          </p:nvSpPr>
          <p:spPr bwMode="auto">
            <a:xfrm>
              <a:off x="8153400" y="52578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01" name="Rectangle 400"/>
            <p:cNvSpPr/>
            <p:nvPr/>
          </p:nvSpPr>
          <p:spPr bwMode="auto">
            <a:xfrm>
              <a:off x="7239000" y="5486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02" name="Rectangle 401"/>
            <p:cNvSpPr/>
            <p:nvPr/>
          </p:nvSpPr>
          <p:spPr bwMode="auto">
            <a:xfrm>
              <a:off x="7467600" y="5486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03" name="Rectangle 402"/>
            <p:cNvSpPr/>
            <p:nvPr/>
          </p:nvSpPr>
          <p:spPr bwMode="auto">
            <a:xfrm>
              <a:off x="7696200" y="5486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04" name="Rectangle 403"/>
            <p:cNvSpPr/>
            <p:nvPr/>
          </p:nvSpPr>
          <p:spPr bwMode="auto">
            <a:xfrm>
              <a:off x="7924800" y="5486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05" name="Rectangle 404"/>
            <p:cNvSpPr/>
            <p:nvPr/>
          </p:nvSpPr>
          <p:spPr bwMode="auto">
            <a:xfrm>
              <a:off x="8153400" y="5486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06" name="Rectangle 405"/>
            <p:cNvSpPr/>
            <p:nvPr/>
          </p:nvSpPr>
          <p:spPr bwMode="auto">
            <a:xfrm>
              <a:off x="7239000" y="5715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07" name="Rectangle 406"/>
            <p:cNvSpPr/>
            <p:nvPr/>
          </p:nvSpPr>
          <p:spPr bwMode="auto">
            <a:xfrm>
              <a:off x="7467600" y="5715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08" name="Rectangle 407"/>
            <p:cNvSpPr/>
            <p:nvPr/>
          </p:nvSpPr>
          <p:spPr bwMode="auto">
            <a:xfrm>
              <a:off x="7696200" y="5715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09" name="Rectangle 408"/>
            <p:cNvSpPr/>
            <p:nvPr/>
          </p:nvSpPr>
          <p:spPr bwMode="auto">
            <a:xfrm>
              <a:off x="7924800" y="5715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10" name="Rectangle 409"/>
            <p:cNvSpPr/>
            <p:nvPr/>
          </p:nvSpPr>
          <p:spPr bwMode="auto">
            <a:xfrm>
              <a:off x="8153400" y="5715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11" name="Rectangle 410"/>
            <p:cNvSpPr/>
            <p:nvPr/>
          </p:nvSpPr>
          <p:spPr bwMode="auto">
            <a:xfrm>
              <a:off x="7239000" y="3200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12" name="Rectangle 411"/>
            <p:cNvSpPr/>
            <p:nvPr/>
          </p:nvSpPr>
          <p:spPr bwMode="auto">
            <a:xfrm>
              <a:off x="7467600" y="3200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13" name="Rectangle 412"/>
            <p:cNvSpPr/>
            <p:nvPr/>
          </p:nvSpPr>
          <p:spPr bwMode="auto">
            <a:xfrm>
              <a:off x="7696200" y="3200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14" name="Rectangle 413"/>
            <p:cNvSpPr/>
            <p:nvPr/>
          </p:nvSpPr>
          <p:spPr bwMode="auto">
            <a:xfrm>
              <a:off x="7924800" y="3200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15" name="Rectangle 414"/>
            <p:cNvSpPr/>
            <p:nvPr/>
          </p:nvSpPr>
          <p:spPr bwMode="auto">
            <a:xfrm>
              <a:off x="8153400" y="3200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</p:grpSp>
      <p:grpSp>
        <p:nvGrpSpPr>
          <p:cNvPr id="429" name="Group 428"/>
          <p:cNvGrpSpPr/>
          <p:nvPr/>
        </p:nvGrpSpPr>
        <p:grpSpPr>
          <a:xfrm>
            <a:off x="6324600" y="5181600"/>
            <a:ext cx="914400" cy="685800"/>
            <a:chOff x="6324600" y="5257800"/>
            <a:chExt cx="914400" cy="685800"/>
          </a:xfrm>
        </p:grpSpPr>
        <p:sp>
          <p:nvSpPr>
            <p:cNvPr id="417" name="Rectangle 416"/>
            <p:cNvSpPr/>
            <p:nvPr/>
          </p:nvSpPr>
          <p:spPr bwMode="auto">
            <a:xfrm>
              <a:off x="6324600" y="52578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18" name="Rectangle 417"/>
            <p:cNvSpPr/>
            <p:nvPr/>
          </p:nvSpPr>
          <p:spPr bwMode="auto">
            <a:xfrm>
              <a:off x="6553200" y="52578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19" name="Rectangle 418"/>
            <p:cNvSpPr/>
            <p:nvPr/>
          </p:nvSpPr>
          <p:spPr bwMode="auto">
            <a:xfrm>
              <a:off x="6781800" y="52578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20" name="Rectangle 419"/>
            <p:cNvSpPr/>
            <p:nvPr/>
          </p:nvSpPr>
          <p:spPr bwMode="auto">
            <a:xfrm>
              <a:off x="7010400" y="52578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21" name="Rectangle 420"/>
            <p:cNvSpPr/>
            <p:nvPr/>
          </p:nvSpPr>
          <p:spPr bwMode="auto">
            <a:xfrm>
              <a:off x="6324600" y="5486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22" name="Rectangle 421"/>
            <p:cNvSpPr/>
            <p:nvPr/>
          </p:nvSpPr>
          <p:spPr bwMode="auto">
            <a:xfrm>
              <a:off x="6553200" y="5486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23" name="Rectangle 422"/>
            <p:cNvSpPr/>
            <p:nvPr/>
          </p:nvSpPr>
          <p:spPr bwMode="auto">
            <a:xfrm>
              <a:off x="6781800" y="5486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24" name="Rectangle 423"/>
            <p:cNvSpPr/>
            <p:nvPr/>
          </p:nvSpPr>
          <p:spPr bwMode="auto">
            <a:xfrm>
              <a:off x="7010400" y="54864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25" name="Rectangle 424"/>
            <p:cNvSpPr/>
            <p:nvPr/>
          </p:nvSpPr>
          <p:spPr bwMode="auto">
            <a:xfrm>
              <a:off x="6324600" y="5715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26" name="Rectangle 425"/>
            <p:cNvSpPr/>
            <p:nvPr/>
          </p:nvSpPr>
          <p:spPr bwMode="auto">
            <a:xfrm>
              <a:off x="6553200" y="5715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27" name="Rectangle 426"/>
            <p:cNvSpPr/>
            <p:nvPr/>
          </p:nvSpPr>
          <p:spPr bwMode="auto">
            <a:xfrm>
              <a:off x="6781800" y="5715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28" name="Rectangle 427"/>
            <p:cNvSpPr/>
            <p:nvPr/>
          </p:nvSpPr>
          <p:spPr bwMode="auto">
            <a:xfrm>
              <a:off x="7010400" y="5715000"/>
              <a:ext cx="228600" cy="228600"/>
            </a:xfrm>
            <a:prstGeom prst="rect">
              <a:avLst/>
            </a:prstGeom>
            <a:solidFill>
              <a:srgbClr val="FF66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</p:grpSp>
      <p:grpSp>
        <p:nvGrpSpPr>
          <p:cNvPr id="433" name="Group 432"/>
          <p:cNvGrpSpPr/>
          <p:nvPr/>
        </p:nvGrpSpPr>
        <p:grpSpPr>
          <a:xfrm>
            <a:off x="3124200" y="4648200"/>
            <a:ext cx="685800" cy="228600"/>
            <a:chOff x="3124200" y="4267200"/>
            <a:chExt cx="685800" cy="228600"/>
          </a:xfrm>
        </p:grpSpPr>
        <p:sp>
          <p:nvSpPr>
            <p:cNvPr id="430" name="Rectangle 429"/>
            <p:cNvSpPr/>
            <p:nvPr/>
          </p:nvSpPr>
          <p:spPr bwMode="auto">
            <a:xfrm>
              <a:off x="3124200" y="4267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31" name="Rectangle 430"/>
            <p:cNvSpPr/>
            <p:nvPr/>
          </p:nvSpPr>
          <p:spPr bwMode="auto">
            <a:xfrm>
              <a:off x="3352800" y="4267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32" name="Rectangle 431"/>
            <p:cNvSpPr/>
            <p:nvPr/>
          </p:nvSpPr>
          <p:spPr bwMode="auto">
            <a:xfrm>
              <a:off x="3581400" y="4267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</p:grpSp>
      <p:grpSp>
        <p:nvGrpSpPr>
          <p:cNvPr id="497" name="Group 496"/>
          <p:cNvGrpSpPr/>
          <p:nvPr/>
        </p:nvGrpSpPr>
        <p:grpSpPr>
          <a:xfrm>
            <a:off x="4724400" y="3124200"/>
            <a:ext cx="2057400" cy="1600200"/>
            <a:chOff x="4724400" y="3124200"/>
            <a:chExt cx="2057400" cy="1600200"/>
          </a:xfrm>
        </p:grpSpPr>
        <p:sp>
          <p:nvSpPr>
            <p:cNvPr id="434" name="Rectangle 433"/>
            <p:cNvSpPr/>
            <p:nvPr/>
          </p:nvSpPr>
          <p:spPr bwMode="auto">
            <a:xfrm>
              <a:off x="4724400" y="3124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35" name="Rectangle 434"/>
            <p:cNvSpPr/>
            <p:nvPr/>
          </p:nvSpPr>
          <p:spPr bwMode="auto">
            <a:xfrm>
              <a:off x="4953000" y="3124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36" name="Rectangle 435"/>
            <p:cNvSpPr/>
            <p:nvPr/>
          </p:nvSpPr>
          <p:spPr bwMode="auto">
            <a:xfrm>
              <a:off x="5181600" y="3124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37" name="Rectangle 436"/>
            <p:cNvSpPr/>
            <p:nvPr/>
          </p:nvSpPr>
          <p:spPr bwMode="auto">
            <a:xfrm>
              <a:off x="5410200" y="3124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38" name="Rectangle 437"/>
            <p:cNvSpPr/>
            <p:nvPr/>
          </p:nvSpPr>
          <p:spPr bwMode="auto">
            <a:xfrm>
              <a:off x="5638800" y="3124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39" name="Rectangle 438"/>
            <p:cNvSpPr/>
            <p:nvPr/>
          </p:nvSpPr>
          <p:spPr bwMode="auto">
            <a:xfrm>
              <a:off x="5867400" y="3124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40" name="Rectangle 439"/>
            <p:cNvSpPr/>
            <p:nvPr/>
          </p:nvSpPr>
          <p:spPr bwMode="auto">
            <a:xfrm>
              <a:off x="6096000" y="3124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41" name="Rectangle 440"/>
            <p:cNvSpPr/>
            <p:nvPr/>
          </p:nvSpPr>
          <p:spPr bwMode="auto">
            <a:xfrm>
              <a:off x="6324600" y="3124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42" name="Rectangle 441"/>
            <p:cNvSpPr/>
            <p:nvPr/>
          </p:nvSpPr>
          <p:spPr bwMode="auto">
            <a:xfrm>
              <a:off x="6553200" y="3124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43" name="Rectangle 442"/>
            <p:cNvSpPr/>
            <p:nvPr/>
          </p:nvSpPr>
          <p:spPr bwMode="auto">
            <a:xfrm>
              <a:off x="4724400" y="3352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44" name="Rectangle 443"/>
            <p:cNvSpPr/>
            <p:nvPr/>
          </p:nvSpPr>
          <p:spPr bwMode="auto">
            <a:xfrm>
              <a:off x="4953000" y="3352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45" name="Rectangle 444"/>
            <p:cNvSpPr/>
            <p:nvPr/>
          </p:nvSpPr>
          <p:spPr bwMode="auto">
            <a:xfrm>
              <a:off x="5181600" y="3352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46" name="Rectangle 445"/>
            <p:cNvSpPr/>
            <p:nvPr/>
          </p:nvSpPr>
          <p:spPr bwMode="auto">
            <a:xfrm>
              <a:off x="5410200" y="3352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47" name="Rectangle 446"/>
            <p:cNvSpPr/>
            <p:nvPr/>
          </p:nvSpPr>
          <p:spPr bwMode="auto">
            <a:xfrm>
              <a:off x="5638800" y="3352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48" name="Rectangle 447"/>
            <p:cNvSpPr/>
            <p:nvPr/>
          </p:nvSpPr>
          <p:spPr bwMode="auto">
            <a:xfrm>
              <a:off x="5867400" y="3352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49" name="Rectangle 448"/>
            <p:cNvSpPr/>
            <p:nvPr/>
          </p:nvSpPr>
          <p:spPr bwMode="auto">
            <a:xfrm>
              <a:off x="6096000" y="3352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50" name="Rectangle 449"/>
            <p:cNvSpPr/>
            <p:nvPr/>
          </p:nvSpPr>
          <p:spPr bwMode="auto">
            <a:xfrm>
              <a:off x="6324600" y="3352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51" name="Rectangle 450"/>
            <p:cNvSpPr/>
            <p:nvPr/>
          </p:nvSpPr>
          <p:spPr bwMode="auto">
            <a:xfrm>
              <a:off x="6553200" y="3352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52" name="Rectangle 451"/>
            <p:cNvSpPr/>
            <p:nvPr/>
          </p:nvSpPr>
          <p:spPr bwMode="auto">
            <a:xfrm>
              <a:off x="4724400" y="35814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53" name="Rectangle 452"/>
            <p:cNvSpPr/>
            <p:nvPr/>
          </p:nvSpPr>
          <p:spPr bwMode="auto">
            <a:xfrm>
              <a:off x="4953000" y="35814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54" name="Rectangle 453"/>
            <p:cNvSpPr/>
            <p:nvPr/>
          </p:nvSpPr>
          <p:spPr bwMode="auto">
            <a:xfrm>
              <a:off x="5181600" y="35814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55" name="Rectangle 454"/>
            <p:cNvSpPr/>
            <p:nvPr/>
          </p:nvSpPr>
          <p:spPr bwMode="auto">
            <a:xfrm>
              <a:off x="5410200" y="35814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56" name="Rectangle 455"/>
            <p:cNvSpPr/>
            <p:nvPr/>
          </p:nvSpPr>
          <p:spPr bwMode="auto">
            <a:xfrm>
              <a:off x="5638800" y="35814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57" name="Rectangle 456"/>
            <p:cNvSpPr/>
            <p:nvPr/>
          </p:nvSpPr>
          <p:spPr bwMode="auto">
            <a:xfrm>
              <a:off x="5867400" y="35814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58" name="Rectangle 457"/>
            <p:cNvSpPr/>
            <p:nvPr/>
          </p:nvSpPr>
          <p:spPr bwMode="auto">
            <a:xfrm>
              <a:off x="6096000" y="35814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59" name="Rectangle 458"/>
            <p:cNvSpPr/>
            <p:nvPr/>
          </p:nvSpPr>
          <p:spPr bwMode="auto">
            <a:xfrm>
              <a:off x="6324600" y="35814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60" name="Rectangle 459"/>
            <p:cNvSpPr/>
            <p:nvPr/>
          </p:nvSpPr>
          <p:spPr bwMode="auto">
            <a:xfrm>
              <a:off x="6553200" y="35814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61" name="Rectangle 460"/>
            <p:cNvSpPr/>
            <p:nvPr/>
          </p:nvSpPr>
          <p:spPr bwMode="auto">
            <a:xfrm>
              <a:off x="4724400" y="38100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62" name="Rectangle 461"/>
            <p:cNvSpPr/>
            <p:nvPr/>
          </p:nvSpPr>
          <p:spPr bwMode="auto">
            <a:xfrm>
              <a:off x="4953000" y="38100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63" name="Rectangle 462"/>
            <p:cNvSpPr/>
            <p:nvPr/>
          </p:nvSpPr>
          <p:spPr bwMode="auto">
            <a:xfrm>
              <a:off x="5181600" y="38100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64" name="Rectangle 463"/>
            <p:cNvSpPr/>
            <p:nvPr/>
          </p:nvSpPr>
          <p:spPr bwMode="auto">
            <a:xfrm>
              <a:off x="5410200" y="38100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65" name="Rectangle 464"/>
            <p:cNvSpPr/>
            <p:nvPr/>
          </p:nvSpPr>
          <p:spPr bwMode="auto">
            <a:xfrm>
              <a:off x="5638800" y="38100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66" name="Rectangle 465"/>
            <p:cNvSpPr/>
            <p:nvPr/>
          </p:nvSpPr>
          <p:spPr bwMode="auto">
            <a:xfrm>
              <a:off x="5867400" y="38100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67" name="Rectangle 466"/>
            <p:cNvSpPr/>
            <p:nvPr/>
          </p:nvSpPr>
          <p:spPr bwMode="auto">
            <a:xfrm>
              <a:off x="6096000" y="38100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68" name="Rectangle 467"/>
            <p:cNvSpPr/>
            <p:nvPr/>
          </p:nvSpPr>
          <p:spPr bwMode="auto">
            <a:xfrm>
              <a:off x="6324600" y="38100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69" name="Rectangle 468"/>
            <p:cNvSpPr/>
            <p:nvPr/>
          </p:nvSpPr>
          <p:spPr bwMode="auto">
            <a:xfrm>
              <a:off x="6553200" y="38100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70" name="Rectangle 469"/>
            <p:cNvSpPr/>
            <p:nvPr/>
          </p:nvSpPr>
          <p:spPr bwMode="auto">
            <a:xfrm>
              <a:off x="4724400" y="40386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71" name="Rectangle 470"/>
            <p:cNvSpPr/>
            <p:nvPr/>
          </p:nvSpPr>
          <p:spPr bwMode="auto">
            <a:xfrm>
              <a:off x="4953000" y="40386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72" name="Rectangle 471"/>
            <p:cNvSpPr/>
            <p:nvPr/>
          </p:nvSpPr>
          <p:spPr bwMode="auto">
            <a:xfrm>
              <a:off x="5181600" y="40386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73" name="Rectangle 472"/>
            <p:cNvSpPr/>
            <p:nvPr/>
          </p:nvSpPr>
          <p:spPr bwMode="auto">
            <a:xfrm>
              <a:off x="5410200" y="40386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74" name="Rectangle 473"/>
            <p:cNvSpPr/>
            <p:nvPr/>
          </p:nvSpPr>
          <p:spPr bwMode="auto">
            <a:xfrm>
              <a:off x="5638800" y="40386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75" name="Rectangle 474"/>
            <p:cNvSpPr/>
            <p:nvPr/>
          </p:nvSpPr>
          <p:spPr bwMode="auto">
            <a:xfrm>
              <a:off x="5867400" y="40386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76" name="Rectangle 475"/>
            <p:cNvSpPr/>
            <p:nvPr/>
          </p:nvSpPr>
          <p:spPr bwMode="auto">
            <a:xfrm>
              <a:off x="6096000" y="40386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77" name="Rectangle 476"/>
            <p:cNvSpPr/>
            <p:nvPr/>
          </p:nvSpPr>
          <p:spPr bwMode="auto">
            <a:xfrm>
              <a:off x="6324600" y="40386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78" name="Rectangle 477"/>
            <p:cNvSpPr/>
            <p:nvPr/>
          </p:nvSpPr>
          <p:spPr bwMode="auto">
            <a:xfrm>
              <a:off x="6553200" y="40386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79" name="Rectangle 478"/>
            <p:cNvSpPr/>
            <p:nvPr/>
          </p:nvSpPr>
          <p:spPr bwMode="auto">
            <a:xfrm>
              <a:off x="4724400" y="4267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80" name="Rectangle 479"/>
            <p:cNvSpPr/>
            <p:nvPr/>
          </p:nvSpPr>
          <p:spPr bwMode="auto">
            <a:xfrm>
              <a:off x="4953000" y="4267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81" name="Rectangle 480"/>
            <p:cNvSpPr/>
            <p:nvPr/>
          </p:nvSpPr>
          <p:spPr bwMode="auto">
            <a:xfrm>
              <a:off x="5181600" y="4267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82" name="Rectangle 481"/>
            <p:cNvSpPr/>
            <p:nvPr/>
          </p:nvSpPr>
          <p:spPr bwMode="auto">
            <a:xfrm>
              <a:off x="5410200" y="4267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83" name="Rectangle 482"/>
            <p:cNvSpPr/>
            <p:nvPr/>
          </p:nvSpPr>
          <p:spPr bwMode="auto">
            <a:xfrm>
              <a:off x="5638800" y="4267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84" name="Rectangle 483"/>
            <p:cNvSpPr/>
            <p:nvPr/>
          </p:nvSpPr>
          <p:spPr bwMode="auto">
            <a:xfrm>
              <a:off x="5867400" y="4267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85" name="Rectangle 484"/>
            <p:cNvSpPr/>
            <p:nvPr/>
          </p:nvSpPr>
          <p:spPr bwMode="auto">
            <a:xfrm>
              <a:off x="6096000" y="4267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86" name="Rectangle 485"/>
            <p:cNvSpPr/>
            <p:nvPr/>
          </p:nvSpPr>
          <p:spPr bwMode="auto">
            <a:xfrm>
              <a:off x="6324600" y="4267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87" name="Rectangle 486"/>
            <p:cNvSpPr/>
            <p:nvPr/>
          </p:nvSpPr>
          <p:spPr bwMode="auto">
            <a:xfrm>
              <a:off x="6553200" y="42672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88" name="Rectangle 487"/>
            <p:cNvSpPr/>
            <p:nvPr/>
          </p:nvSpPr>
          <p:spPr bwMode="auto">
            <a:xfrm>
              <a:off x="4724400" y="4495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89" name="Rectangle 488"/>
            <p:cNvSpPr/>
            <p:nvPr/>
          </p:nvSpPr>
          <p:spPr bwMode="auto">
            <a:xfrm>
              <a:off x="4953000" y="4495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90" name="Rectangle 489"/>
            <p:cNvSpPr/>
            <p:nvPr/>
          </p:nvSpPr>
          <p:spPr bwMode="auto">
            <a:xfrm>
              <a:off x="5181600" y="4495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91" name="Rectangle 490"/>
            <p:cNvSpPr/>
            <p:nvPr/>
          </p:nvSpPr>
          <p:spPr bwMode="auto">
            <a:xfrm>
              <a:off x="5410200" y="4495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92" name="Rectangle 491"/>
            <p:cNvSpPr/>
            <p:nvPr/>
          </p:nvSpPr>
          <p:spPr bwMode="auto">
            <a:xfrm>
              <a:off x="5638800" y="4495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93" name="Rectangle 492"/>
            <p:cNvSpPr/>
            <p:nvPr/>
          </p:nvSpPr>
          <p:spPr bwMode="auto">
            <a:xfrm>
              <a:off x="5867400" y="4495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94" name="Rectangle 493"/>
            <p:cNvSpPr/>
            <p:nvPr/>
          </p:nvSpPr>
          <p:spPr bwMode="auto">
            <a:xfrm>
              <a:off x="6096000" y="4495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95" name="Rectangle 494"/>
            <p:cNvSpPr/>
            <p:nvPr/>
          </p:nvSpPr>
          <p:spPr bwMode="auto">
            <a:xfrm>
              <a:off x="6324600" y="4495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96" name="Rectangle 495"/>
            <p:cNvSpPr/>
            <p:nvPr/>
          </p:nvSpPr>
          <p:spPr bwMode="auto">
            <a:xfrm>
              <a:off x="6553200" y="4495800"/>
              <a:ext cx="228600" cy="2286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</p:grpSp>
      <p:grpSp>
        <p:nvGrpSpPr>
          <p:cNvPr id="516" name="Group 515"/>
          <p:cNvGrpSpPr/>
          <p:nvPr/>
        </p:nvGrpSpPr>
        <p:grpSpPr>
          <a:xfrm>
            <a:off x="4724400" y="5181600"/>
            <a:ext cx="1371600" cy="685800"/>
            <a:chOff x="4724400" y="5181600"/>
            <a:chExt cx="1371600" cy="685800"/>
          </a:xfrm>
        </p:grpSpPr>
        <p:sp>
          <p:nvSpPr>
            <p:cNvPr id="498" name="Rectangle 497"/>
            <p:cNvSpPr/>
            <p:nvPr/>
          </p:nvSpPr>
          <p:spPr bwMode="auto">
            <a:xfrm>
              <a:off x="4724400" y="51816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499" name="Rectangle 498"/>
            <p:cNvSpPr/>
            <p:nvPr/>
          </p:nvSpPr>
          <p:spPr bwMode="auto">
            <a:xfrm>
              <a:off x="4953000" y="51816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500" name="Rectangle 499"/>
            <p:cNvSpPr/>
            <p:nvPr/>
          </p:nvSpPr>
          <p:spPr bwMode="auto">
            <a:xfrm>
              <a:off x="5181600" y="51816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501" name="Rectangle 500"/>
            <p:cNvSpPr/>
            <p:nvPr/>
          </p:nvSpPr>
          <p:spPr bwMode="auto">
            <a:xfrm>
              <a:off x="5410200" y="51816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502" name="Rectangle 501"/>
            <p:cNvSpPr/>
            <p:nvPr/>
          </p:nvSpPr>
          <p:spPr bwMode="auto">
            <a:xfrm>
              <a:off x="5638800" y="51816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503" name="Rectangle 502"/>
            <p:cNvSpPr/>
            <p:nvPr/>
          </p:nvSpPr>
          <p:spPr bwMode="auto">
            <a:xfrm>
              <a:off x="5867400" y="51816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504" name="Rectangle 503"/>
            <p:cNvSpPr/>
            <p:nvPr/>
          </p:nvSpPr>
          <p:spPr bwMode="auto">
            <a:xfrm>
              <a:off x="4724400" y="54102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505" name="Rectangle 504"/>
            <p:cNvSpPr/>
            <p:nvPr/>
          </p:nvSpPr>
          <p:spPr bwMode="auto">
            <a:xfrm>
              <a:off x="4953000" y="54102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506" name="Rectangle 505"/>
            <p:cNvSpPr/>
            <p:nvPr/>
          </p:nvSpPr>
          <p:spPr bwMode="auto">
            <a:xfrm>
              <a:off x="5181600" y="54102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507" name="Rectangle 506"/>
            <p:cNvSpPr/>
            <p:nvPr/>
          </p:nvSpPr>
          <p:spPr bwMode="auto">
            <a:xfrm>
              <a:off x="5410200" y="54102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508" name="Rectangle 507"/>
            <p:cNvSpPr/>
            <p:nvPr/>
          </p:nvSpPr>
          <p:spPr bwMode="auto">
            <a:xfrm>
              <a:off x="5638800" y="54102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509" name="Rectangle 508"/>
            <p:cNvSpPr/>
            <p:nvPr/>
          </p:nvSpPr>
          <p:spPr bwMode="auto">
            <a:xfrm>
              <a:off x="5867400" y="54102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510" name="Rectangle 509"/>
            <p:cNvSpPr/>
            <p:nvPr/>
          </p:nvSpPr>
          <p:spPr bwMode="auto">
            <a:xfrm>
              <a:off x="4724400" y="56388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511" name="Rectangle 510"/>
            <p:cNvSpPr/>
            <p:nvPr/>
          </p:nvSpPr>
          <p:spPr bwMode="auto">
            <a:xfrm>
              <a:off x="4953000" y="56388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512" name="Rectangle 511"/>
            <p:cNvSpPr/>
            <p:nvPr/>
          </p:nvSpPr>
          <p:spPr bwMode="auto">
            <a:xfrm>
              <a:off x="5181600" y="56388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513" name="Rectangle 512"/>
            <p:cNvSpPr/>
            <p:nvPr/>
          </p:nvSpPr>
          <p:spPr bwMode="auto">
            <a:xfrm>
              <a:off x="5410200" y="56388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514" name="Rectangle 513"/>
            <p:cNvSpPr/>
            <p:nvPr/>
          </p:nvSpPr>
          <p:spPr bwMode="auto">
            <a:xfrm>
              <a:off x="5638800" y="56388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515" name="Rectangle 514"/>
            <p:cNvSpPr/>
            <p:nvPr/>
          </p:nvSpPr>
          <p:spPr bwMode="auto">
            <a:xfrm>
              <a:off x="5867400" y="5638800"/>
              <a:ext cx="228600" cy="228600"/>
            </a:xfrm>
            <a:prstGeom prst="rect">
              <a:avLst/>
            </a:prstGeom>
            <a:solidFill>
              <a:srgbClr val="33CC33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Apps, RTEs and </a:t>
            </a:r>
            <a:r>
              <a:rPr lang="en-US" dirty="0" err="1" smtClean="0"/>
              <a:t>Archs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572000" cy="3951288"/>
          </a:xfrm>
        </p:spPr>
        <p:txBody>
          <a:bodyPr/>
          <a:lstStyle/>
          <a:p>
            <a:r>
              <a:rPr lang="en-US" dirty="0" smtClean="0"/>
              <a:t>Astrophysics</a:t>
            </a:r>
          </a:p>
          <a:p>
            <a:r>
              <a:rPr lang="en-US" dirty="0" smtClean="0"/>
              <a:t>Brain simulation</a:t>
            </a:r>
          </a:p>
          <a:p>
            <a:r>
              <a:rPr lang="en-US" dirty="0" smtClean="0"/>
              <a:t>Climate simulation</a:t>
            </a:r>
          </a:p>
          <a:p>
            <a:r>
              <a:rPr lang="en-US" dirty="0" smtClean="0"/>
              <a:t>Flow solvers </a:t>
            </a:r>
            <a:r>
              <a:rPr lang="en-US" sz="2000" dirty="0" smtClean="0"/>
              <a:t>(</a:t>
            </a:r>
            <a:r>
              <a:rPr lang="en-US" sz="2000" dirty="0" err="1" smtClean="0"/>
              <a:t>QuadFlow</a:t>
            </a:r>
            <a:r>
              <a:rPr lang="en-US" sz="2000" dirty="0" smtClean="0"/>
              <a:t>)</a:t>
            </a:r>
            <a:endParaRPr lang="en-US" dirty="0" smtClean="0"/>
          </a:p>
          <a:p>
            <a:r>
              <a:rPr lang="en-US" dirty="0" smtClean="0"/>
              <a:t>Hydrodynamics </a:t>
            </a:r>
            <a:r>
              <a:rPr lang="en-US" sz="2000" dirty="0" smtClean="0"/>
              <a:t>(</a:t>
            </a:r>
            <a:r>
              <a:rPr lang="en-US" sz="2000" dirty="0" err="1" smtClean="0"/>
              <a:t>Lulesh</a:t>
            </a:r>
            <a:r>
              <a:rPr lang="en-US" sz="2000" dirty="0" smtClean="0"/>
              <a:t>)</a:t>
            </a:r>
            <a:endParaRPr lang="en-US" dirty="0" smtClean="0"/>
          </a:p>
          <a:p>
            <a:r>
              <a:rPr lang="en-US" dirty="0" smtClean="0"/>
              <a:t>Molecular Dynamics </a:t>
            </a:r>
            <a:r>
              <a:rPr lang="en-US" sz="2000" dirty="0" smtClean="0"/>
              <a:t>(NAMD)</a:t>
            </a:r>
            <a:endParaRPr lang="en-US" dirty="0" smtClean="0"/>
          </a:p>
          <a:p>
            <a:r>
              <a:rPr lang="en-US" dirty="0" smtClean="0"/>
              <a:t>Water reservoir storage/flow</a:t>
            </a:r>
          </a:p>
          <a:p>
            <a:r>
              <a:rPr lang="en-US" dirty="0" smtClean="0"/>
              <a:t>Wave propagation </a:t>
            </a:r>
            <a:r>
              <a:rPr lang="en-US" sz="2000" dirty="0" smtClean="0"/>
              <a:t>(Wave2D)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5400" y="1535113"/>
            <a:ext cx="3581400" cy="639762"/>
          </a:xfrm>
        </p:spPr>
        <p:txBody>
          <a:bodyPr/>
          <a:lstStyle/>
          <a:p>
            <a:r>
              <a:rPr lang="en-US" dirty="0" smtClean="0"/>
              <a:t>RTEs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5400" y="2174875"/>
            <a:ext cx="3581400" cy="3951288"/>
          </a:xfrm>
        </p:spPr>
        <p:txBody>
          <a:bodyPr/>
          <a:lstStyle/>
          <a:p>
            <a:r>
              <a:rPr lang="en-US" dirty="0" smtClean="0"/>
              <a:t>Charm++</a:t>
            </a:r>
          </a:p>
          <a:p>
            <a:r>
              <a:rPr lang="en-US" dirty="0" err="1" smtClean="0"/>
              <a:t>OmpSs</a:t>
            </a:r>
            <a:endParaRPr lang="en-US" dirty="0" smtClean="0"/>
          </a:p>
          <a:p>
            <a:r>
              <a:rPr lang="en-US" dirty="0" smtClean="0"/>
              <a:t>Uintah</a:t>
            </a:r>
          </a:p>
          <a:p>
            <a:r>
              <a:rPr lang="en-US" dirty="0" smtClean="0"/>
              <a:t>Radical-Pilot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Architectures</a:t>
            </a:r>
          </a:p>
          <a:p>
            <a:r>
              <a:rPr lang="en-US" dirty="0" smtClean="0"/>
              <a:t>EU DEEP/DEEP-ER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 bwMode="auto">
          <a:xfrm>
            <a:off x="5017806" y="2532356"/>
            <a:ext cx="2286000" cy="1280160"/>
          </a:xfrm>
          <a:prstGeom prst="rect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2700000" scaled="0"/>
            <a:tileRect/>
          </a:gra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Application</a:t>
            </a: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Scheduler/Malleable Job Dialog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Expand resource allocation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Contract resource allocation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 bwMode="auto">
          <a:xfrm>
            <a:off x="5013960" y="2529840"/>
            <a:ext cx="2011680" cy="1097280"/>
          </a:xfrm>
          <a:prstGeom prst="rect">
            <a:avLst/>
          </a:prstGeom>
          <a:solidFill>
            <a:srgbClr val="92D05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Application</a:t>
            </a: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990600" y="2529840"/>
            <a:ext cx="2011680" cy="1097280"/>
          </a:xfrm>
          <a:prstGeom prst="rect">
            <a:avLst/>
          </a:prstGeom>
          <a:solidFill>
            <a:srgbClr val="FF99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Scheduler</a:t>
            </a: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5013960" y="4678680"/>
            <a:ext cx="2011680" cy="1097280"/>
          </a:xfrm>
          <a:prstGeom prst="rect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2700000" scaled="1"/>
            <a:tileRect/>
          </a:gra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Application</a:t>
            </a: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990600" y="4678680"/>
            <a:ext cx="2011680" cy="1097280"/>
          </a:xfrm>
          <a:prstGeom prst="rect">
            <a:avLst/>
          </a:prstGeom>
          <a:solidFill>
            <a:srgbClr val="FF99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Scheduler</a:t>
            </a: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017806" y="4682526"/>
            <a:ext cx="1855434" cy="895314"/>
          </a:xfrm>
          <a:prstGeom prst="rect">
            <a:avLst/>
          </a:prstGeom>
          <a:solidFill>
            <a:srgbClr val="92D050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Application</a:t>
            </a: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6" name="Right Arrow 15"/>
          <p:cNvSpPr/>
          <p:nvPr/>
        </p:nvSpPr>
        <p:spPr bwMode="auto">
          <a:xfrm>
            <a:off x="3093720" y="2438400"/>
            <a:ext cx="1828800" cy="640080"/>
          </a:xfrm>
          <a:prstGeom prst="rightArrow">
            <a:avLst>
              <a:gd name="adj1" fmla="val 46206"/>
              <a:gd name="adj2" fmla="val 4417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Expand</a:t>
            </a:r>
            <a:r>
              <a:rPr lang="en-US" sz="1400" b="1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(more)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" name="Right Arrow 16"/>
          <p:cNvSpPr/>
          <p:nvPr/>
        </p:nvSpPr>
        <p:spPr bwMode="auto">
          <a:xfrm flipH="1">
            <a:off x="3093720" y="3078480"/>
            <a:ext cx="1828800" cy="640080"/>
          </a:xfrm>
          <a:prstGeom prst="rightArrow">
            <a:avLst>
              <a:gd name="adj1" fmla="val 46206"/>
              <a:gd name="adj2" fmla="val 4417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Response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" name="Right Arrow 17"/>
          <p:cNvSpPr/>
          <p:nvPr/>
        </p:nvSpPr>
        <p:spPr bwMode="auto">
          <a:xfrm>
            <a:off x="3093720" y="4587240"/>
            <a:ext cx="1828800" cy="640080"/>
          </a:xfrm>
          <a:prstGeom prst="rightArrow">
            <a:avLst>
              <a:gd name="adj1" fmla="val 46206"/>
              <a:gd name="adj2" fmla="val 4417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Contract</a:t>
            </a:r>
            <a:r>
              <a:rPr lang="en-US" sz="1400" b="1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(less)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" name="Right Arrow 18"/>
          <p:cNvSpPr/>
          <p:nvPr/>
        </p:nvSpPr>
        <p:spPr bwMode="auto">
          <a:xfrm flipH="1">
            <a:off x="3093720" y="5227320"/>
            <a:ext cx="1828800" cy="640080"/>
          </a:xfrm>
          <a:prstGeom prst="rightArrow">
            <a:avLst>
              <a:gd name="adj1" fmla="val 46206"/>
              <a:gd name="adj2" fmla="val 4417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Response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Scheduler/Evolving Job Dialog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Grow resource allocation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Shrink resource allocation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5017806" y="2532356"/>
            <a:ext cx="2286000" cy="1280160"/>
          </a:xfrm>
          <a:prstGeom prst="rect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2700000" scaled="0"/>
            <a:tileRect/>
          </a:gra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Application</a:t>
            </a: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5013960" y="2529840"/>
            <a:ext cx="2011680" cy="1097280"/>
          </a:xfrm>
          <a:prstGeom prst="rect">
            <a:avLst/>
          </a:prstGeom>
          <a:solidFill>
            <a:srgbClr val="92D05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Application</a:t>
            </a: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90600" y="2529840"/>
            <a:ext cx="2011680" cy="1097280"/>
          </a:xfrm>
          <a:prstGeom prst="rect">
            <a:avLst/>
          </a:prstGeom>
          <a:solidFill>
            <a:srgbClr val="FF99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Scheduler</a:t>
            </a: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5013960" y="4678680"/>
            <a:ext cx="2011680" cy="1097280"/>
          </a:xfrm>
          <a:prstGeom prst="rect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2700000" scaled="1"/>
            <a:tileRect/>
          </a:gra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Application</a:t>
            </a: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990600" y="4678680"/>
            <a:ext cx="2011680" cy="1097280"/>
          </a:xfrm>
          <a:prstGeom prst="rect">
            <a:avLst/>
          </a:prstGeom>
          <a:solidFill>
            <a:srgbClr val="FF99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Scheduler</a:t>
            </a: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5017806" y="4682526"/>
            <a:ext cx="1855434" cy="895314"/>
          </a:xfrm>
          <a:prstGeom prst="rect">
            <a:avLst/>
          </a:prstGeom>
          <a:solidFill>
            <a:srgbClr val="92D050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Application</a:t>
            </a: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2" name="Right Arrow 21"/>
          <p:cNvSpPr/>
          <p:nvPr/>
        </p:nvSpPr>
        <p:spPr bwMode="auto">
          <a:xfrm flipH="1">
            <a:off x="3093720" y="2438400"/>
            <a:ext cx="1828800" cy="640080"/>
          </a:xfrm>
          <a:prstGeom prst="rightArrow">
            <a:avLst>
              <a:gd name="adj1" fmla="val 46206"/>
              <a:gd name="adj2" fmla="val 4417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Grow</a:t>
            </a:r>
            <a:r>
              <a:rPr lang="en-US" sz="1400" b="1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(more)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3" name="Right Arrow 22"/>
          <p:cNvSpPr/>
          <p:nvPr/>
        </p:nvSpPr>
        <p:spPr bwMode="auto">
          <a:xfrm>
            <a:off x="3093720" y="3078480"/>
            <a:ext cx="1828800" cy="640080"/>
          </a:xfrm>
          <a:prstGeom prst="rightArrow">
            <a:avLst>
              <a:gd name="adj1" fmla="val 46206"/>
              <a:gd name="adj2" fmla="val 4417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Response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4" name="Right Arrow 23"/>
          <p:cNvSpPr/>
          <p:nvPr/>
        </p:nvSpPr>
        <p:spPr bwMode="auto">
          <a:xfrm flipH="1">
            <a:off x="3093720" y="4587240"/>
            <a:ext cx="1828800" cy="640080"/>
          </a:xfrm>
          <a:prstGeom prst="rightArrow">
            <a:avLst>
              <a:gd name="adj1" fmla="val 46206"/>
              <a:gd name="adj2" fmla="val 4417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Shrink</a:t>
            </a:r>
            <a:r>
              <a:rPr lang="en-US" sz="1400" b="1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(less)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5" name="Right Arrow 24"/>
          <p:cNvSpPr/>
          <p:nvPr/>
        </p:nvSpPr>
        <p:spPr bwMode="auto">
          <a:xfrm>
            <a:off x="3093720" y="5227320"/>
            <a:ext cx="1828800" cy="640080"/>
          </a:xfrm>
          <a:prstGeom prst="rightArrow">
            <a:avLst>
              <a:gd name="adj1" fmla="val 46206"/>
              <a:gd name="adj2" fmla="val 4417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Response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Adaptive Job Race Condition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Reason for naming convention</a:t>
            </a:r>
          </a:p>
          <a:p>
            <a:pPr lvl="1"/>
            <a:r>
              <a:rPr lang="en-US" dirty="0" smtClean="0"/>
              <a:t>Prevent ambiguity and confusion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5017806" y="3405783"/>
            <a:ext cx="2286000" cy="1280160"/>
          </a:xfrm>
          <a:prstGeom prst="rect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2700000" scaled="0"/>
            <a:tileRect/>
          </a:gra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Application</a:t>
            </a: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5013960" y="3403267"/>
            <a:ext cx="2011680" cy="1097280"/>
          </a:xfrm>
          <a:prstGeom prst="rect">
            <a:avLst/>
          </a:prstGeom>
          <a:solidFill>
            <a:srgbClr val="92D05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Application</a:t>
            </a: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90600" y="3403267"/>
            <a:ext cx="2011680" cy="1097280"/>
          </a:xfrm>
          <a:prstGeom prst="rect">
            <a:avLst/>
          </a:prstGeom>
          <a:solidFill>
            <a:srgbClr val="FF99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Scheduler</a:t>
            </a:r>
            <a:endParaRPr kumimoji="0" lang="en-US" sz="2400" b="1" i="0" u="none" strike="noStrike" cap="none" normalizeH="0" baseline="0" dirty="0">
              <a:ln>
                <a:noFill/>
              </a:ln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2" name="Right Arrow 21"/>
          <p:cNvSpPr/>
          <p:nvPr/>
        </p:nvSpPr>
        <p:spPr bwMode="auto">
          <a:xfrm flipH="1">
            <a:off x="3093720" y="3311827"/>
            <a:ext cx="1828800" cy="640080"/>
          </a:xfrm>
          <a:prstGeom prst="rightArrow">
            <a:avLst>
              <a:gd name="adj1" fmla="val 46206"/>
              <a:gd name="adj2" fmla="val 4417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Grow</a:t>
            </a:r>
            <a:r>
              <a:rPr lang="en-US" sz="1400" b="1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(more)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" name="Right Arrow 13"/>
          <p:cNvSpPr/>
          <p:nvPr/>
        </p:nvSpPr>
        <p:spPr bwMode="auto">
          <a:xfrm>
            <a:off x="3089874" y="3951907"/>
            <a:ext cx="1828800" cy="640080"/>
          </a:xfrm>
          <a:prstGeom prst="rightArrow">
            <a:avLst>
              <a:gd name="adj1" fmla="val 46206"/>
              <a:gd name="adj2" fmla="val 4417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Grow</a:t>
            </a:r>
            <a:r>
              <a:rPr lang="en-US" sz="1400" b="1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(more)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6" name="Right Arrow 25"/>
          <p:cNvSpPr/>
          <p:nvPr/>
        </p:nvSpPr>
        <p:spPr bwMode="auto">
          <a:xfrm>
            <a:off x="3092390" y="3953237"/>
            <a:ext cx="1828800" cy="640080"/>
          </a:xfrm>
          <a:prstGeom prst="rightArrow">
            <a:avLst>
              <a:gd name="adj1" fmla="val 46206"/>
              <a:gd name="adj2" fmla="val 4417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Expand</a:t>
            </a:r>
            <a:r>
              <a:rPr lang="en-US" sz="1400" b="1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(more)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57600" y="2704743"/>
            <a:ext cx="6096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 smtClean="0"/>
              <a:t>?</a:t>
            </a:r>
            <a:endParaRPr lang="en-US" sz="15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4" grpId="0" animBg="1"/>
      <p:bldP spid="26" grpId="0" animBg="1"/>
      <p:bldP spid="27" grpId="0"/>
      <p:bldP spid="27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Need for Standard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686800" cy="4876800"/>
          </a:xfrm>
        </p:spPr>
        <p:txBody>
          <a:bodyPr/>
          <a:lstStyle/>
          <a:p>
            <a:r>
              <a:rPr lang="en-US" dirty="0" smtClean="0"/>
              <a:t>MPI: standard API for parallel communication</a:t>
            </a:r>
          </a:p>
          <a:p>
            <a:r>
              <a:rPr lang="en-US" dirty="0" smtClean="0"/>
              <a:t>Need standard API for application / scheduler resource management dialogs</a:t>
            </a:r>
          </a:p>
          <a:p>
            <a:pPr lvl="1"/>
            <a:r>
              <a:rPr lang="en-US" dirty="0" smtClean="0"/>
              <a:t>Same API for applications</a:t>
            </a:r>
          </a:p>
          <a:p>
            <a:pPr lvl="1"/>
            <a:r>
              <a:rPr lang="en-US" dirty="0" smtClean="0"/>
              <a:t>Scheduler-specific API implementations</a:t>
            </a:r>
          </a:p>
          <a:p>
            <a:r>
              <a:rPr lang="en-US" dirty="0" smtClean="0"/>
              <a:t>Scheduler and Malleable/Evolvable Application Dialog (SMEAD) API</a:t>
            </a:r>
          </a:p>
          <a:p>
            <a:pPr lvl="1"/>
            <a:r>
              <a:rPr lang="en-US" dirty="0" smtClean="0"/>
              <a:t>Make part of </a:t>
            </a:r>
            <a:r>
              <a:rPr lang="en-US" dirty="0" err="1" smtClean="0"/>
              <a:t>PMIx</a:t>
            </a:r>
            <a:endParaRPr lang="en-US" dirty="0" smtClean="0"/>
          </a:p>
          <a:p>
            <a:pPr lvl="1"/>
            <a:r>
              <a:rPr lang="en-US" dirty="0" smtClean="0"/>
              <a:t>Need application use cases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Interested Parties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305800" cy="50292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5000"/>
              </a:lnSpc>
            </a:pPr>
            <a:r>
              <a:rPr lang="en-US" dirty="0" smtClean="0"/>
              <a:t>Adaptive Computing (Moab scheduler, TORQUE RM, Nitro)</a:t>
            </a:r>
          </a:p>
          <a:p>
            <a:pPr>
              <a:lnSpc>
                <a:spcPct val="105000"/>
              </a:lnSpc>
            </a:pPr>
            <a:r>
              <a:rPr lang="en-US" dirty="0" smtClean="0"/>
              <a:t>Altair (PBS Pro scheduler/RM)</a:t>
            </a:r>
          </a:p>
          <a:p>
            <a:pPr>
              <a:lnSpc>
                <a:spcPct val="105000"/>
              </a:lnSpc>
            </a:pPr>
            <a:r>
              <a:rPr lang="en-US" dirty="0" smtClean="0"/>
              <a:t>Argonne National Laboratory (Cobalt scheduler)</a:t>
            </a:r>
          </a:p>
          <a:p>
            <a:pPr>
              <a:lnSpc>
                <a:spcPct val="105000"/>
              </a:lnSpc>
            </a:pPr>
            <a:r>
              <a:rPr lang="en-US" dirty="0" smtClean="0"/>
              <a:t>HLRS at University of Stuttgart</a:t>
            </a:r>
          </a:p>
          <a:p>
            <a:pPr>
              <a:lnSpc>
                <a:spcPct val="105000"/>
              </a:lnSpc>
            </a:pPr>
            <a:r>
              <a:rPr lang="en-US" dirty="0" err="1" smtClean="0"/>
              <a:t>Jülich</a:t>
            </a:r>
            <a:r>
              <a:rPr lang="en-US" dirty="0" smtClean="0"/>
              <a:t> Supercomputing Centre (DEEP-ER)</a:t>
            </a:r>
          </a:p>
          <a:p>
            <a:pPr>
              <a:lnSpc>
                <a:spcPct val="105000"/>
              </a:lnSpc>
            </a:pPr>
            <a:r>
              <a:rPr lang="en-US" dirty="0" smtClean="0"/>
              <a:t>Lawrence Livermore National Laboratory (Flux scheduler)</a:t>
            </a:r>
          </a:p>
          <a:p>
            <a:pPr>
              <a:lnSpc>
                <a:spcPct val="105000"/>
              </a:lnSpc>
            </a:pPr>
            <a:r>
              <a:rPr lang="en-US" dirty="0" err="1" smtClean="0"/>
              <a:t>Partec</a:t>
            </a:r>
            <a:r>
              <a:rPr lang="en-US" dirty="0" smtClean="0"/>
              <a:t> (</a:t>
            </a:r>
            <a:r>
              <a:rPr lang="en-US" dirty="0" err="1" smtClean="0"/>
              <a:t>ParaStation</a:t>
            </a:r>
            <a:r>
              <a:rPr lang="en-US" dirty="0" smtClean="0"/>
              <a:t>)</a:t>
            </a:r>
          </a:p>
          <a:p>
            <a:pPr>
              <a:lnSpc>
                <a:spcPct val="105000"/>
              </a:lnSpc>
            </a:pPr>
            <a:r>
              <a:rPr lang="en-US" dirty="0" err="1" smtClean="0"/>
              <a:t>SchedMD</a:t>
            </a:r>
            <a:r>
              <a:rPr lang="en-US" dirty="0" smtClean="0"/>
              <a:t> (Slurm scheduler/RM)</a:t>
            </a:r>
          </a:p>
          <a:p>
            <a:pPr>
              <a:lnSpc>
                <a:spcPct val="105000"/>
              </a:lnSpc>
            </a:pPr>
            <a:r>
              <a:rPr lang="en-US" dirty="0" smtClean="0"/>
              <a:t>TU Darmstadt Laboratory for Parallel Programming</a:t>
            </a:r>
          </a:p>
          <a:p>
            <a:pPr>
              <a:lnSpc>
                <a:spcPct val="105000"/>
              </a:lnSpc>
            </a:pPr>
            <a:r>
              <a:rPr lang="en-US" dirty="0" smtClean="0"/>
              <a:t>UK Atomic Weapons Establishment (AWE)</a:t>
            </a:r>
          </a:p>
          <a:p>
            <a:pPr>
              <a:lnSpc>
                <a:spcPct val="105000"/>
              </a:lnSpc>
            </a:pPr>
            <a:r>
              <a:rPr lang="en-US" dirty="0" smtClean="0"/>
              <a:t>University of Cambridge COSMOS</a:t>
            </a:r>
          </a:p>
          <a:p>
            <a:pPr>
              <a:lnSpc>
                <a:spcPct val="105000"/>
              </a:lnSpc>
            </a:pPr>
            <a:r>
              <a:rPr lang="en-US" dirty="0" smtClean="0"/>
              <a:t>University of Illinois at Urbana-Champaign Parallel Programming Laboratory (Charm++ RTE)</a:t>
            </a:r>
          </a:p>
          <a:p>
            <a:pPr>
              <a:lnSpc>
                <a:spcPct val="105000"/>
              </a:lnSpc>
            </a:pPr>
            <a:r>
              <a:rPr lang="en-US" dirty="0" smtClean="0"/>
              <a:t>University of Utah SCI Institute (Uintah RTE)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URLs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686800" cy="48768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Need your help to design a standard API</a:t>
            </a:r>
            <a:r>
              <a:rPr lang="en-US" b="1" dirty="0" smtClean="0">
                <a:solidFill>
                  <a:srgbClr val="FF0000"/>
                </a:solidFill>
              </a:rPr>
              <a:t>!</a:t>
            </a:r>
            <a:endParaRPr lang="en-US" b="1" dirty="0" smtClean="0"/>
          </a:p>
          <a:p>
            <a:pPr lvl="1"/>
            <a:r>
              <a:rPr lang="en-US" dirty="0" smtClean="0"/>
              <a:t>Malleable/Evolving Application Use Case Survey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>
                <a:hlinkClick r:id="rId2"/>
              </a:rPr>
              <a:t>http://goo.gl/forms/lq85y3SkV3</a:t>
            </a:r>
            <a:r>
              <a:rPr lang="en-US" dirty="0" smtClean="0"/>
              <a:t> (Google Form)  </a:t>
            </a:r>
          </a:p>
          <a:p>
            <a:pPr>
              <a:spcBef>
                <a:spcPts val="3000"/>
              </a:spcBef>
            </a:pPr>
            <a:r>
              <a:rPr lang="en-US" dirty="0" smtClean="0"/>
              <a:t>Info on adaptive job types and scheduling</a:t>
            </a:r>
          </a:p>
          <a:p>
            <a:pPr lvl="1"/>
            <a:r>
              <a:rPr lang="en-US" dirty="0" smtClean="0"/>
              <a:t>4-part blog about malleable / evolving / adaptive jobs and schedulers</a:t>
            </a:r>
          </a:p>
          <a:p>
            <a:pPr lvl="1"/>
            <a:r>
              <a:rPr lang="en-US" sz="2600" dirty="0" smtClean="0">
                <a:hlinkClick r:id="rId3"/>
              </a:rPr>
              <a:t>http://www.adaptivecomputing.com/series/</a:t>
            </a:r>
            <a:br>
              <a:rPr lang="en-US" sz="2600" dirty="0" smtClean="0">
                <a:hlinkClick r:id="rId3"/>
              </a:rPr>
            </a:br>
            <a:r>
              <a:rPr lang="en-US" sz="2600" dirty="0" smtClean="0">
                <a:hlinkClick r:id="rId3"/>
              </a:rPr>
              <a:t>malleable-and-evolving-jobs/</a:t>
            </a:r>
            <a:r>
              <a:rPr lang="en-US" sz="2600" dirty="0" smtClean="0"/>
              <a:t> 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</a:p>
          <a:p>
            <a:pPr lvl="1"/>
            <a:r>
              <a:rPr lang="en-US" dirty="0" smtClean="0"/>
              <a:t>Introductions</a:t>
            </a:r>
          </a:p>
          <a:p>
            <a:pPr lvl="1"/>
            <a:r>
              <a:rPr lang="en-US" dirty="0" smtClean="0"/>
              <a:t>Vision/objectives</a:t>
            </a:r>
          </a:p>
          <a:p>
            <a:r>
              <a:rPr lang="en-US" dirty="0" smtClean="0"/>
              <a:t>Performance status</a:t>
            </a:r>
          </a:p>
          <a:p>
            <a:r>
              <a:rPr lang="en-US" dirty="0" smtClean="0"/>
              <a:t>Integration/development status</a:t>
            </a:r>
          </a:p>
          <a:p>
            <a:r>
              <a:rPr lang="en-US" dirty="0" smtClean="0"/>
              <a:t>Roadmap</a:t>
            </a:r>
          </a:p>
          <a:p>
            <a:r>
              <a:rPr lang="en-US" dirty="0" smtClean="0"/>
              <a:t>Malleable/Evolving application support</a:t>
            </a:r>
          </a:p>
          <a:p>
            <a:r>
              <a:rPr lang="en-US" dirty="0">
                <a:solidFill>
                  <a:srgbClr val="FF0000"/>
                </a:solidFill>
              </a:rPr>
              <a:t>Wrap-Up/Open </a:t>
            </a:r>
            <a:r>
              <a:rPr lang="en-US" dirty="0" smtClean="0">
                <a:solidFill>
                  <a:srgbClr val="FF0000"/>
                </a:solidFill>
              </a:rPr>
              <a:t>Forum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67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Bottom Line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19100" y="2057400"/>
            <a:ext cx="8305800" cy="13716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We now have an interface library the RMs will support for </a:t>
            </a:r>
            <a:r>
              <a:rPr lang="en-US" smtClean="0"/>
              <a:t>application-directed requests</a:t>
            </a:r>
            <a:endParaRPr lang="en-US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790700" y="3810000"/>
            <a:ext cx="5562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>
                <a:solidFill>
                  <a:srgbClr val="FF0000"/>
                </a:solidFill>
              </a:rPr>
              <a:t>Need to collaboratively define what we want to do with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0700" y="5268218"/>
            <a:ext cx="5562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u="sng" dirty="0" smtClean="0">
                <a:solidFill>
                  <a:srgbClr val="00B050"/>
                </a:solidFill>
              </a:rPr>
              <a:t>For any programming model</a:t>
            </a:r>
          </a:p>
          <a:p>
            <a:pPr algn="ctr"/>
            <a:r>
              <a:rPr lang="en-US" i="1" dirty="0" smtClean="0">
                <a:solidFill>
                  <a:srgbClr val="00B050"/>
                </a:solidFill>
              </a:rPr>
              <a:t>MPI, OSHMEM, PGAS,…</a:t>
            </a:r>
            <a:endParaRPr lang="en-US" sz="3200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47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Contribute or Follow Along!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00400"/>
            <a:ext cx="8305800" cy="2362200"/>
          </a:xfrm>
        </p:spPr>
        <p:txBody>
          <a:bodyPr/>
          <a:lstStyle/>
          <a:p>
            <a:pPr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2500" b="1" dirty="0" smtClean="0"/>
              <a:t>Project: </a:t>
            </a:r>
            <a:r>
              <a:rPr lang="en-US" sz="2500" b="1" dirty="0" smtClean="0">
                <a:hlinkClick r:id="rId2"/>
              </a:rPr>
              <a:t>https://pmix.github.io/master</a:t>
            </a:r>
            <a:endParaRPr lang="en-US" sz="2500" b="1" dirty="0" smtClean="0"/>
          </a:p>
          <a:p>
            <a:pPr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2500" b="1" dirty="0" smtClean="0"/>
              <a:t>Code: </a:t>
            </a:r>
            <a:r>
              <a:rPr lang="en-US" sz="2500" b="1" dirty="0" smtClean="0">
                <a:solidFill>
                  <a:srgbClr val="00B050"/>
                </a:solidFill>
                <a:hlinkClick r:id="rId3"/>
              </a:rPr>
              <a:t>https://github.com/pmix</a:t>
            </a:r>
            <a:endParaRPr lang="en-US" sz="2500" b="1" dirty="0" smtClean="0">
              <a:solidFill>
                <a:srgbClr val="00B050"/>
              </a:solidFill>
            </a:endParaRPr>
          </a:p>
          <a:p>
            <a:pPr>
              <a:spcBef>
                <a:spcPts val="300"/>
              </a:spcBef>
              <a:buNone/>
            </a:pPr>
            <a:endParaRPr lang="en-US" sz="2500" b="1" dirty="0" smtClean="0">
              <a:solidFill>
                <a:srgbClr val="C00000"/>
              </a:solidFill>
            </a:endParaRPr>
          </a:p>
          <a:p>
            <a:pPr algn="ctr">
              <a:spcBef>
                <a:spcPts val="300"/>
              </a:spcBef>
              <a:buNone/>
            </a:pPr>
            <a:r>
              <a:rPr lang="en-US" sz="2500" b="1" dirty="0" smtClean="0">
                <a:solidFill>
                  <a:srgbClr val="C00000"/>
                </a:solidFill>
              </a:rPr>
              <a:t>Contributors/collaborators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2500" b="1" dirty="0" smtClean="0">
                <a:solidFill>
                  <a:srgbClr val="C00000"/>
                </a:solidFill>
              </a:rPr>
              <a:t>are welcomed!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29505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mpi-workshop-template">
  <a:themeElements>
    <a:clrScheme name="ompi-workshop-template 3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5B87F2"/>
      </a:accent1>
      <a:accent2>
        <a:srgbClr val="555555"/>
      </a:accent2>
      <a:accent3>
        <a:srgbClr val="FFFFFF"/>
      </a:accent3>
      <a:accent4>
        <a:srgbClr val="000000"/>
      </a:accent4>
      <a:accent5>
        <a:srgbClr val="B5C3F7"/>
      </a:accent5>
      <a:accent6>
        <a:srgbClr val="4C4C4C"/>
      </a:accent6>
      <a:hlink>
        <a:srgbClr val="5DA31E"/>
      </a:hlink>
      <a:folHlink>
        <a:srgbClr val="BAD41A"/>
      </a:folHlink>
    </a:clrScheme>
    <a:fontScheme name="ompi-workshop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lnDef>
  </a:objectDefaults>
  <a:extraClrSchemeLst>
    <a:extraClrScheme>
      <a:clrScheme name="ompi-workshop-template 1">
        <a:dk1>
          <a:srgbClr val="000000"/>
        </a:dk1>
        <a:lt1>
          <a:srgbClr val="FFFFFF"/>
        </a:lt1>
        <a:dk2>
          <a:srgbClr val="003366"/>
        </a:dk2>
        <a:lt2>
          <a:srgbClr val="AAAAAA"/>
        </a:lt2>
        <a:accent1>
          <a:srgbClr val="EEEEEE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F5F5F5"/>
        </a:accent5>
        <a:accent6>
          <a:srgbClr val="002D5C"/>
        </a:accent6>
        <a:hlink>
          <a:srgbClr val="5B87F2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2">
        <a:dk1>
          <a:srgbClr val="000000"/>
        </a:dk1>
        <a:lt1>
          <a:srgbClr val="FFFFFF"/>
        </a:lt1>
        <a:dk2>
          <a:srgbClr val="FFFFFF"/>
        </a:dk2>
        <a:lt2>
          <a:srgbClr val="888888"/>
        </a:lt2>
        <a:accent1>
          <a:srgbClr val="BAD41A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D9E6AB"/>
        </a:accent5>
        <a:accent6>
          <a:srgbClr val="744BBD"/>
        </a:accent6>
        <a:hlink>
          <a:srgbClr val="5DA31E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3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5B87F2"/>
        </a:accent1>
        <a:accent2>
          <a:srgbClr val="555555"/>
        </a:accent2>
        <a:accent3>
          <a:srgbClr val="FFFFFF"/>
        </a:accent3>
        <a:accent4>
          <a:srgbClr val="000000"/>
        </a:accent4>
        <a:accent5>
          <a:srgbClr val="B5C3F7"/>
        </a:accent5>
        <a:accent6>
          <a:srgbClr val="4C4C4C"/>
        </a:accent6>
        <a:hlink>
          <a:srgbClr val="5DA31E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4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FA8A8"/>
        </a:accent1>
        <a:accent2>
          <a:srgbClr val="FFCC18"/>
        </a:accent2>
        <a:accent3>
          <a:srgbClr val="FFFFFF"/>
        </a:accent3>
        <a:accent4>
          <a:srgbClr val="000000"/>
        </a:accent4>
        <a:accent5>
          <a:srgbClr val="FFD1D1"/>
        </a:accent5>
        <a:accent6>
          <a:srgbClr val="E7B915"/>
        </a:accent6>
        <a:hlink>
          <a:srgbClr val="6876E7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5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6E658"/>
        </a:accent1>
        <a:accent2>
          <a:srgbClr val="8CBC1C"/>
        </a:accent2>
        <a:accent3>
          <a:srgbClr val="FFFFFF"/>
        </a:accent3>
        <a:accent4>
          <a:srgbClr val="000000"/>
        </a:accent4>
        <a:accent5>
          <a:srgbClr val="F0F0B4"/>
        </a:accent5>
        <a:accent6>
          <a:srgbClr val="7EAA18"/>
        </a:accent6>
        <a:hlink>
          <a:srgbClr val="6876E7"/>
        </a:hlink>
        <a:folHlink>
          <a:srgbClr val="5FBD7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6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5918BB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B5ABDA"/>
        </a:accent5>
        <a:accent6>
          <a:srgbClr val="744BBD"/>
        </a:accent6>
        <a:hlink>
          <a:srgbClr val="DC54AD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7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FF7518"/>
        </a:accent1>
        <a:accent2>
          <a:srgbClr val="888888"/>
        </a:accent2>
        <a:accent3>
          <a:srgbClr val="FFFFFF"/>
        </a:accent3>
        <a:accent4>
          <a:srgbClr val="000000"/>
        </a:accent4>
        <a:accent5>
          <a:srgbClr val="FFBDAB"/>
        </a:accent5>
        <a:accent6>
          <a:srgbClr val="7B7B7B"/>
        </a:accent6>
        <a:hlink>
          <a:srgbClr val="8CBC1C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mpi-bof-template" id="{2CC4CF84-ED86-4C43-90A3-CA953FF9559E}" vid="{37556C59-F0C7-6645-B5AB-2707A1FED1F8}"/>
    </a:ext>
  </a:extLst>
</a:theme>
</file>

<file path=ppt/theme/theme2.xml><?xml version="1.0" encoding="utf-8"?>
<a:theme xmlns:a="http://schemas.openxmlformats.org/drawingml/2006/main" name="PPT_Temp_Corp_4x3_BLK_2007 - Copy">
  <a:themeElements>
    <a:clrScheme name="PPT_Template_Corp_4x3_rev1 1">
      <a:dk1>
        <a:srgbClr val="808080"/>
      </a:dk1>
      <a:lt1>
        <a:srgbClr val="FFFFFF"/>
      </a:lt1>
      <a:dk2>
        <a:srgbClr val="000000"/>
      </a:dk2>
      <a:lt2>
        <a:srgbClr val="B9E700"/>
      </a:lt2>
      <a:accent1>
        <a:srgbClr val="33CCCC"/>
      </a:accent1>
      <a:accent2>
        <a:srgbClr val="FF9933"/>
      </a:accent2>
      <a:accent3>
        <a:srgbClr val="AAAAAA"/>
      </a:accent3>
      <a:accent4>
        <a:srgbClr val="DADADA"/>
      </a:accent4>
      <a:accent5>
        <a:srgbClr val="ADE2E2"/>
      </a:accent5>
      <a:accent6>
        <a:srgbClr val="E78A2D"/>
      </a:accent6>
      <a:hlink>
        <a:srgbClr val="99CCFF"/>
      </a:hlink>
      <a:folHlink>
        <a:srgbClr val="0000FF"/>
      </a:folHlink>
    </a:clrScheme>
    <a:fontScheme name="PPT_Template_Corp_4x3_re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_Template_Corp_4x3_rev1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mpi-bof-template" id="{2CC4CF84-ED86-4C43-90A3-CA953FF9559E}" vid="{3098944D-4998-DA4A-B120-6A0C919751F7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pmix-bof-template</Template>
  <TotalTime>4476</TotalTime>
  <Words>2262</Words>
  <Application>Microsoft Macintosh PowerPoint</Application>
  <PresentationFormat>On-screen Show (4:3)</PresentationFormat>
  <Paragraphs>633</Paragraphs>
  <Slides>57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9" baseType="lpstr">
      <vt:lpstr>Arial</vt:lpstr>
      <vt:lpstr>Calibri</vt:lpstr>
      <vt:lpstr>Cambria Math</vt:lpstr>
      <vt:lpstr>Cordia New</vt:lpstr>
      <vt:lpstr>ＭＳ Ｐゴシック</vt:lpstr>
      <vt:lpstr>Symbol</vt:lpstr>
      <vt:lpstr>Times</vt:lpstr>
      <vt:lpstr>Verdana</vt:lpstr>
      <vt:lpstr>Wingdings</vt:lpstr>
      <vt:lpstr>ompi-workshop-template</vt:lpstr>
      <vt:lpstr>PPT_Temp_Corp_4x3_BLK_2007 - Copy</vt:lpstr>
      <vt:lpstr>Worksheet</vt:lpstr>
      <vt:lpstr>Process Management Interface – Exascale</vt:lpstr>
      <vt:lpstr>Agenda</vt:lpstr>
      <vt:lpstr>PMIx – PMI exascale</vt:lpstr>
      <vt:lpstr>Contributors</vt:lpstr>
      <vt:lpstr>Motivation</vt:lpstr>
      <vt:lpstr>PowerPoint Presentation</vt:lpstr>
      <vt:lpstr>What Is Being Shared?</vt:lpstr>
      <vt:lpstr>PowerPoint Presentation</vt:lpstr>
      <vt:lpstr>PowerPoint Presentation</vt:lpstr>
      <vt:lpstr>PowerPoint Presentation</vt:lpstr>
      <vt:lpstr>Changing Needs</vt:lpstr>
      <vt:lpstr>Objectives</vt:lpstr>
      <vt:lpstr>Today’s Goal</vt:lpstr>
      <vt:lpstr>Agenda</vt:lpstr>
      <vt:lpstr>PMIx End Users</vt:lpstr>
      <vt:lpstr>What’s been done</vt:lpstr>
      <vt:lpstr>srun --mpi=xxx  hello_world</vt:lpstr>
      <vt:lpstr>srun --mpi=pmix ./hello_world</vt:lpstr>
      <vt:lpstr>mpirun/oshrun  ./hello_world</vt:lpstr>
      <vt:lpstr>Conclusions </vt:lpstr>
      <vt:lpstr>Next Steps</vt:lpstr>
      <vt:lpstr>Agenda</vt:lpstr>
      <vt:lpstr>Client Implementation Status</vt:lpstr>
      <vt:lpstr>Server Implementation Status</vt:lpstr>
      <vt:lpstr>Server Implementation Status</vt:lpstr>
      <vt:lpstr>Server Implementation Status</vt:lpstr>
      <vt:lpstr>Agenda</vt:lpstr>
      <vt:lpstr>Scalability</vt:lpstr>
      <vt:lpstr>Flexible Allocation Support</vt:lpstr>
      <vt:lpstr>I/O Support</vt:lpstr>
      <vt:lpstr>Spawn Support</vt:lpstr>
      <vt:lpstr>Network Integration</vt:lpstr>
      <vt:lpstr>Power Control/Management</vt:lpstr>
      <vt:lpstr>PMIx: Fault Tolerance</vt:lpstr>
      <vt:lpstr>Agenda</vt:lpstr>
      <vt:lpstr>Job Types</vt:lpstr>
      <vt:lpstr>Job Type Characteristics</vt:lpstr>
      <vt:lpstr>Rigid Job</vt:lpstr>
      <vt:lpstr>Moldable Job</vt:lpstr>
      <vt:lpstr>Malleable Job</vt:lpstr>
      <vt:lpstr>Evolving Job</vt:lpstr>
      <vt:lpstr>Adaptive Job</vt:lpstr>
      <vt:lpstr>Motivations</vt:lpstr>
      <vt:lpstr>Adaptive Mesh Refinement</vt:lpstr>
      <vt:lpstr>Master/Slaves</vt:lpstr>
      <vt:lpstr>Secondary Simulations</vt:lpstr>
      <vt:lpstr>Unconventional Architectures</vt:lpstr>
      <vt:lpstr>Apps, RTEs and Archs</vt:lpstr>
      <vt:lpstr>Scheduler/Malleable Job Dialog</vt:lpstr>
      <vt:lpstr>Scheduler/Evolving Job Dialog</vt:lpstr>
      <vt:lpstr>Adaptive Job Race Condition</vt:lpstr>
      <vt:lpstr>Need for Standard API</vt:lpstr>
      <vt:lpstr>Interested Parties</vt:lpstr>
      <vt:lpstr>URLs</vt:lpstr>
      <vt:lpstr>Agenda</vt:lpstr>
      <vt:lpstr>Bottom Line</vt:lpstr>
      <vt:lpstr>Contribute or Follow Along!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PMIx</dc:title>
  <dc:creator>Ralph Castain</dc:creator>
  <cp:lastModifiedBy>Ralph Castain</cp:lastModifiedBy>
  <cp:revision>234</cp:revision>
  <cp:lastPrinted>2016-05-11T19:00:02Z</cp:lastPrinted>
  <dcterms:created xsi:type="dcterms:W3CDTF">2015-11-04T14:50:44Z</dcterms:created>
  <dcterms:modified xsi:type="dcterms:W3CDTF">2016-05-11T19:00:28Z</dcterms:modified>
</cp:coreProperties>
</file>