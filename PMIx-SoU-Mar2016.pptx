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793" r:id="rId2"/>
  </p:sldMasterIdLst>
  <p:notesMasterIdLst>
    <p:notesMasterId r:id="rId37"/>
  </p:notesMasterIdLst>
  <p:sldIdLst>
    <p:sldId id="256" r:id="rId3"/>
    <p:sldId id="323" r:id="rId4"/>
    <p:sldId id="356" r:id="rId5"/>
    <p:sldId id="337" r:id="rId6"/>
    <p:sldId id="379" r:id="rId7"/>
    <p:sldId id="376" r:id="rId8"/>
    <p:sldId id="388" r:id="rId9"/>
    <p:sldId id="325" r:id="rId10"/>
    <p:sldId id="389" r:id="rId11"/>
    <p:sldId id="328" r:id="rId12"/>
    <p:sldId id="353" r:id="rId13"/>
    <p:sldId id="354" r:id="rId14"/>
    <p:sldId id="355" r:id="rId15"/>
    <p:sldId id="378" r:id="rId16"/>
    <p:sldId id="380" r:id="rId17"/>
    <p:sldId id="381" r:id="rId18"/>
    <p:sldId id="382" r:id="rId19"/>
    <p:sldId id="377" r:id="rId20"/>
    <p:sldId id="336" r:id="rId21"/>
    <p:sldId id="339" r:id="rId22"/>
    <p:sldId id="340" r:id="rId23"/>
    <p:sldId id="341" r:id="rId24"/>
    <p:sldId id="342" r:id="rId25"/>
    <p:sldId id="343" r:id="rId26"/>
    <p:sldId id="344" r:id="rId27"/>
    <p:sldId id="387" r:id="rId28"/>
    <p:sldId id="383" r:id="rId29"/>
    <p:sldId id="384" r:id="rId30"/>
    <p:sldId id="385" r:id="rId31"/>
    <p:sldId id="386" r:id="rId32"/>
    <p:sldId id="347" r:id="rId33"/>
    <p:sldId id="390" r:id="rId34"/>
    <p:sldId id="391" r:id="rId35"/>
    <p:sldId id="346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FFF"/>
    <a:srgbClr val="E8FFFF"/>
    <a:srgbClr val="FFEBCD"/>
    <a:srgbClr val="EAFFCD"/>
    <a:srgbClr val="FFFFCC"/>
    <a:srgbClr val="0000FF"/>
    <a:srgbClr val="33CC33"/>
    <a:srgbClr val="FFFF66"/>
    <a:srgbClr val="FF66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7996"/>
    <p:restoredTop sz="96018" autoAdjust="0"/>
  </p:normalViewPr>
  <p:slideViewPr>
    <p:cSldViewPr showGuides="1">
      <p:cViewPr varScale="1">
        <p:scale>
          <a:sx n="173" d="100"/>
          <a:sy n="173" d="100"/>
        </p:scale>
        <p:origin x="184" y="520"/>
      </p:cViewPr>
      <p:guideLst>
        <p:guide orient="horz" pos="25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9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4952FFB-B93B-3541-AEF4-FEC6167C5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51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11356A-E6C0-5244-B2D1-39192D968FD5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80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F3F042-EBB4-9144-9D49-6F74CE697EC5}" type="slidenum">
              <a:rPr lang="en-US"/>
              <a:pPr/>
              <a:t>27</a:t>
            </a:fld>
            <a:endParaRPr lang="en-US"/>
          </a:p>
        </p:txBody>
      </p:sp>
      <p:sp>
        <p:nvSpPr>
          <p:cNvPr id="137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7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2400" y="2362200"/>
            <a:ext cx="8839200" cy="1295400"/>
            <a:chOff x="288" y="1632"/>
            <a:chExt cx="5232" cy="81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438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133600" y="6248400"/>
            <a:ext cx="4876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3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0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30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95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18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8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0764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769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8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0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8839200" y="152400"/>
            <a:ext cx="180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fld id="{F95A78A6-AC48-1C4C-9FB1-42EA8340B8EA}" type="slidenum">
              <a:rPr lang="fr-FR" sz="1100">
                <a:solidFill>
                  <a:srgbClr val="003980"/>
                </a:solidFill>
                <a:latin typeface="Arial" charset="0"/>
              </a:rPr>
              <a:pPr/>
              <a:t>‹#›</a:t>
            </a:fld>
            <a:endParaRPr lang="fr-FR" sz="1100">
              <a:solidFill>
                <a:schemeClr val="bg1"/>
              </a:solidFill>
              <a:latin typeface="Times" charset="0"/>
            </a:endParaRPr>
          </a:p>
        </p:txBody>
      </p:sp>
      <p:pic>
        <p:nvPicPr>
          <p:cNvPr id="4" name="Picture 24" descr="fond-masque-titre-bordeaux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16300"/>
            <a:ext cx="91440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5325" y="252413"/>
            <a:ext cx="7202488" cy="296227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1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VLogo_3D_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5943600"/>
            <a:ext cx="22272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81000" y="3957935"/>
            <a:ext cx="4954587" cy="1118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2587" y="5253335"/>
            <a:ext cx="4954587" cy="461665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9876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94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56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9616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097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6796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2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96828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35554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62083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50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1028" name="Group 2"/>
          <p:cNvGrpSpPr>
            <a:grpSpLocks/>
          </p:cNvGrpSpPr>
          <p:nvPr/>
        </p:nvGrpSpPr>
        <p:grpSpPr bwMode="auto">
          <a:xfrm>
            <a:off x="152400" y="304800"/>
            <a:ext cx="8839200" cy="1295400"/>
            <a:chOff x="288" y="1632"/>
            <a:chExt cx="5232" cy="816"/>
          </a:xfrm>
        </p:grpSpPr>
        <p:sp>
          <p:nvSpPr>
            <p:cNvPr id="307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031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2" r:id="rId13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20000"/>
        <a:buFont typeface="Arial" charset="0"/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429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000" b="1">
          <a:solidFill>
            <a:schemeClr val="tx1"/>
          </a:solidFill>
          <a:latin typeface="+mn-lt"/>
        </a:defRPr>
      </a:lvl2pPr>
      <a:lvl3pPr marL="1371600" indent="-282575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tiff"/><Relationship Id="rId3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Process Management</a:t>
            </a:r>
            <a:b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Interface – </a:t>
            </a:r>
            <a:r>
              <a:rPr lang="en-US" sz="4000" dirty="0" err="1" smtClean="0">
                <a:latin typeface="Arial" charset="0"/>
                <a:ea typeface="ＭＳ Ｐゴシック" charset="0"/>
                <a:cs typeface="ＭＳ Ｐゴシック" charset="0"/>
              </a:rPr>
              <a:t>Exascale</a:t>
            </a:r>
            <a:endParaRPr lang="en-US" sz="4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424065"/>
            <a:ext cx="5477998" cy="2058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auto">
          <a:xfrm>
            <a:off x="1371600" y="1752600"/>
            <a:ext cx="6553200" cy="51054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err="1" smtClean="0"/>
              <a:t>PMI</a:t>
            </a:r>
            <a:r>
              <a:rPr lang="en-US" sz="3300" b="1" dirty="0" err="1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– PMI </a:t>
            </a:r>
            <a:r>
              <a:rPr lang="en-US" sz="3300" dirty="0" err="1" smtClean="0"/>
              <a:t>e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err="1" smtClean="0"/>
              <a:t>ascale</a:t>
            </a:r>
            <a:endParaRPr lang="en-US" sz="33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1770727"/>
            <a:ext cx="821537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dirty="0"/>
              <a:t>Collaborative open source effort led by Intel, </a:t>
            </a:r>
            <a:r>
              <a:rPr lang="en-US" dirty="0" err="1"/>
              <a:t>Mellanox</a:t>
            </a:r>
            <a:r>
              <a:rPr lang="en-US" dirty="0"/>
              <a:t> Technologies, IBM, Adaptive Computing, and </a:t>
            </a:r>
            <a:r>
              <a:rPr lang="en-US" dirty="0" err="1"/>
              <a:t>SchedMD</a:t>
            </a:r>
            <a:r>
              <a:rPr lang="en-US" dirty="0"/>
              <a:t>.</a:t>
            </a:r>
          </a:p>
          <a:p>
            <a:pPr algn="ctr">
              <a:spcBef>
                <a:spcPts val="600"/>
              </a:spcBef>
            </a:pPr>
            <a:r>
              <a:rPr lang="en-US" b="1" dirty="0" smtClean="0">
                <a:solidFill>
                  <a:srgbClr val="C00000"/>
                </a:solidFill>
              </a:rPr>
              <a:t>New collaborators are most welcome!</a:t>
            </a:r>
            <a:endParaRPr lang="ru-RU" b="1" dirty="0">
              <a:solidFill>
                <a:srgbClr val="C00000"/>
              </a:solidFill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609600" y="3229485"/>
            <a:ext cx="7924800" cy="1647315"/>
            <a:chOff x="685800" y="3048000"/>
            <a:chExt cx="7924800" cy="1647315"/>
          </a:xfrm>
        </p:grpSpPr>
        <p:pic>
          <p:nvPicPr>
            <p:cNvPr id="8" name="Picture 4" descr="X:\WORK\Mellanox\Presentations\PMIx_SLURM\images\mellanox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81400" y="3048000"/>
              <a:ext cx="2160000" cy="1647315"/>
            </a:xfrm>
            <a:prstGeom prst="rect">
              <a:avLst/>
            </a:prstGeom>
            <a:noFill/>
          </p:spPr>
        </p:pic>
        <p:pic>
          <p:nvPicPr>
            <p:cNvPr id="6" name="Picture 2" descr="X:\WORK\Mellanox\Presentations\PMIx_SLURM\images\intel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5800" y="3124200"/>
              <a:ext cx="2340000" cy="1542273"/>
            </a:xfrm>
            <a:prstGeom prst="rect">
              <a:avLst/>
            </a:prstGeom>
            <a:noFill/>
          </p:spPr>
        </p:pic>
        <p:pic>
          <p:nvPicPr>
            <p:cNvPr id="7" name="Picture 3" descr="X:\WORK\Mellanox\Presentations\PMIx_SLURM\images\ibm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70600" y="3403657"/>
              <a:ext cx="2340000" cy="936000"/>
            </a:xfrm>
            <a:prstGeom prst="rect">
              <a:avLst/>
            </a:prstGeom>
            <a:noFill/>
          </p:spPr>
        </p:pic>
      </p:grpSp>
      <p:grpSp>
        <p:nvGrpSpPr>
          <p:cNvPr id="15" name="Группа 14"/>
          <p:cNvGrpSpPr/>
          <p:nvPr/>
        </p:nvGrpSpPr>
        <p:grpSpPr>
          <a:xfrm>
            <a:off x="1219201" y="4953000"/>
            <a:ext cx="6378599" cy="1482015"/>
            <a:chOff x="1066801" y="5029200"/>
            <a:chExt cx="6378599" cy="1482015"/>
          </a:xfrm>
        </p:grpSpPr>
        <p:pic>
          <p:nvPicPr>
            <p:cNvPr id="11" name="Picture 10" descr="Adaptive Computing 2013 (288x192).png"/>
            <p:cNvPicPr>
              <a:picLocks noChangeAspect="1"/>
            </p:cNvPicPr>
            <p:nvPr/>
          </p:nvPicPr>
          <p:blipFill>
            <a:blip r:embed="rId5">
              <a:alphaModFix/>
            </a:blip>
            <a:srcRect b="4999"/>
            <a:stretch>
              <a:fillRect/>
            </a:stretch>
          </p:blipFill>
          <p:spPr>
            <a:xfrm>
              <a:off x="5105400" y="5029200"/>
              <a:ext cx="2340000" cy="1482015"/>
            </a:xfrm>
            <a:prstGeom prst="rect">
              <a:avLst/>
            </a:prstGeom>
          </p:spPr>
        </p:pic>
        <p:pic>
          <p:nvPicPr>
            <p:cNvPr id="1026" name="Picture 2" descr="X:\WORK\Mellanox\Presentations\PMIx_SLUG_2015\images\schedmd.pn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066801" y="5562600"/>
              <a:ext cx="3200399" cy="733424"/>
            </a:xfrm>
            <a:prstGeom prst="rect">
              <a:avLst/>
            </a:prstGeom>
            <a:noFill/>
          </p:spPr>
        </p:pic>
      </p:grpSp>
      <p:sp>
        <p:nvSpPr>
          <p:cNvPr id="3" name="Rectangle 2"/>
          <p:cNvSpPr/>
          <p:nvPr/>
        </p:nvSpPr>
        <p:spPr bwMode="auto">
          <a:xfrm>
            <a:off x="7772400" y="6096000"/>
            <a:ext cx="1295400" cy="609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43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Exascale</a:t>
            </a:r>
            <a:r>
              <a:rPr lang="en-US" dirty="0"/>
              <a:t> launch times are a hot topic</a:t>
            </a:r>
          </a:p>
          <a:p>
            <a:pPr lvl="1"/>
            <a:r>
              <a:rPr lang="en-US" dirty="0"/>
              <a:t>Desire: reduce from many minutes to few seconds</a:t>
            </a:r>
          </a:p>
          <a:p>
            <a:pPr lvl="1"/>
            <a:r>
              <a:rPr lang="en-US" dirty="0"/>
              <a:t>Target: O(10</a:t>
            </a:r>
            <a:r>
              <a:rPr lang="en-US" baseline="30000" dirty="0"/>
              <a:t>6</a:t>
            </a:r>
            <a:r>
              <a:rPr lang="en-US" dirty="0"/>
              <a:t>) MPI processes on O(10</a:t>
            </a:r>
            <a:r>
              <a:rPr lang="en-US" baseline="30000" dirty="0"/>
              <a:t>5</a:t>
            </a:r>
            <a:r>
              <a:rPr lang="en-US" dirty="0"/>
              <a:t>) nodes thru </a:t>
            </a:r>
            <a:r>
              <a:rPr lang="en-US" dirty="0" err="1"/>
              <a:t>MPI_Init</a:t>
            </a:r>
            <a:r>
              <a:rPr lang="en-US" dirty="0"/>
              <a:t> in &lt; 30 seconds</a:t>
            </a:r>
          </a:p>
          <a:p>
            <a:r>
              <a:rPr lang="en-US" dirty="0" smtClean="0"/>
              <a:t>New programming models are exploding</a:t>
            </a:r>
          </a:p>
          <a:p>
            <a:pPr lvl="1"/>
            <a:r>
              <a:rPr lang="en-US" dirty="0" smtClean="0"/>
              <a:t>Driven by need to efficiently exploit scale vs. resource constraints</a:t>
            </a:r>
          </a:p>
          <a:p>
            <a:pPr lvl="1"/>
            <a:r>
              <a:rPr lang="en-US" dirty="0" smtClean="0"/>
              <a:t>Characterized by increased app-RM integration</a:t>
            </a:r>
          </a:p>
        </p:txBody>
      </p:sp>
    </p:spTree>
    <p:extLst>
      <p:ext uri="{BB962C8B-B14F-4D97-AF65-F5344CB8AC3E}">
        <p14:creationId xmlns:p14="http://schemas.microsoft.com/office/powerpoint/2010/main" val="175012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Establish an independent, open community</a:t>
            </a:r>
          </a:p>
          <a:p>
            <a:pPr lvl="1"/>
            <a:r>
              <a:rPr lang="en-US" sz="2400" dirty="0" smtClean="0"/>
              <a:t>Industry, academia, lab</a:t>
            </a:r>
          </a:p>
          <a:p>
            <a:r>
              <a:rPr lang="en-US" sz="2800" dirty="0" smtClean="0"/>
              <a:t>Standalone client/server libraries</a:t>
            </a:r>
          </a:p>
          <a:p>
            <a:pPr lvl="1"/>
            <a:r>
              <a:rPr lang="en-US" sz="2400" dirty="0" smtClean="0"/>
              <a:t>Ease adoption, enable broad/consistent support</a:t>
            </a:r>
          </a:p>
          <a:p>
            <a:pPr lvl="1"/>
            <a:r>
              <a:rPr lang="en-US" sz="2400" dirty="0" smtClean="0"/>
              <a:t>Open source, non-copy-left</a:t>
            </a:r>
          </a:p>
          <a:p>
            <a:pPr lvl="1"/>
            <a:r>
              <a:rPr lang="en-US" sz="2400" dirty="0" smtClean="0"/>
              <a:t>Transparent backward compatibility</a:t>
            </a:r>
          </a:p>
          <a:p>
            <a:r>
              <a:rPr lang="en-US" sz="2800" dirty="0" smtClean="0"/>
              <a:t>Support evolving programming requirements</a:t>
            </a:r>
          </a:p>
          <a:p>
            <a:r>
              <a:rPr lang="en-US" sz="2800" dirty="0" smtClean="0"/>
              <a:t>Enable “Instant On” support</a:t>
            </a:r>
          </a:p>
          <a:p>
            <a:pPr lvl="1"/>
            <a:r>
              <a:rPr lang="en-US" sz="2400" dirty="0" smtClean="0"/>
              <a:t>Eliminate time-devouring steps</a:t>
            </a:r>
          </a:p>
          <a:p>
            <a:pPr lvl="1"/>
            <a:r>
              <a:rPr lang="en-US" sz="2400" dirty="0" smtClean="0"/>
              <a:t>Provide faster, more scalable operations</a:t>
            </a:r>
          </a:p>
        </p:txBody>
      </p:sp>
    </p:spTree>
    <p:extLst>
      <p:ext uri="{BB962C8B-B14F-4D97-AF65-F5344CB8AC3E}">
        <p14:creationId xmlns:p14="http://schemas.microsoft.com/office/powerpoint/2010/main" val="26299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Active Thrust Areas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Launch scaling</a:t>
            </a:r>
          </a:p>
          <a:p>
            <a:r>
              <a:rPr lang="en-US" dirty="0" smtClean="0"/>
              <a:t>Flexible allocation support</a:t>
            </a:r>
          </a:p>
          <a:p>
            <a:r>
              <a:rPr lang="en-US" dirty="0" smtClean="0"/>
              <a:t>I/O support</a:t>
            </a:r>
          </a:p>
          <a:p>
            <a:r>
              <a:rPr lang="en-US" dirty="0" smtClean="0"/>
              <a:t>Advanced spawn support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Network support</a:t>
            </a:r>
          </a:p>
          <a:p>
            <a:r>
              <a:rPr lang="en-US" dirty="0" smtClean="0"/>
              <a:t>Power management support</a:t>
            </a:r>
          </a:p>
          <a:p>
            <a:r>
              <a:rPr lang="en-US" dirty="0" smtClean="0"/>
              <a:t>Fault tolerance and prediction</a:t>
            </a:r>
          </a:p>
          <a:p>
            <a:r>
              <a:rPr lang="en-US" dirty="0" smtClean="0"/>
              <a:t>Workflow orchestration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2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Exascale</a:t>
            </a:r>
            <a:r>
              <a:rPr lang="en-US" dirty="0">
                <a:solidFill>
                  <a:srgbClr val="FF0000"/>
                </a:solidFill>
              </a:rPr>
              <a:t> launch times are a hot topic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Desire: reduce from many minutes to few seconds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Target: O(10</a:t>
            </a:r>
            <a:r>
              <a:rPr lang="en-US" baseline="30000" dirty="0">
                <a:solidFill>
                  <a:srgbClr val="FF0000"/>
                </a:solidFill>
              </a:rPr>
              <a:t>6</a:t>
            </a:r>
            <a:r>
              <a:rPr lang="en-US" dirty="0">
                <a:solidFill>
                  <a:srgbClr val="FF0000"/>
                </a:solidFill>
              </a:rPr>
              <a:t>) MPI processes on O(10</a:t>
            </a:r>
            <a:r>
              <a:rPr lang="en-US" baseline="30000" dirty="0">
                <a:solidFill>
                  <a:srgbClr val="FF0000"/>
                </a:solidFill>
              </a:rPr>
              <a:t>5</a:t>
            </a:r>
            <a:r>
              <a:rPr lang="en-US" dirty="0">
                <a:solidFill>
                  <a:srgbClr val="FF0000"/>
                </a:solidFill>
              </a:rPr>
              <a:t>) nodes thru </a:t>
            </a:r>
            <a:r>
              <a:rPr lang="en-US" dirty="0" err="1">
                <a:solidFill>
                  <a:srgbClr val="FF0000"/>
                </a:solidFill>
              </a:rPr>
              <a:t>MPI_Init</a:t>
            </a:r>
            <a:r>
              <a:rPr lang="en-US" dirty="0">
                <a:solidFill>
                  <a:srgbClr val="FF0000"/>
                </a:solidFill>
              </a:rPr>
              <a:t> in &lt; 30 seconds</a:t>
            </a:r>
          </a:p>
          <a:p>
            <a:r>
              <a:rPr lang="en-US" dirty="0" smtClean="0"/>
              <a:t>New programming models are exploding</a:t>
            </a:r>
          </a:p>
          <a:p>
            <a:pPr lvl="1"/>
            <a:r>
              <a:rPr lang="en-US" dirty="0" smtClean="0"/>
              <a:t>Driven by need to efficiently exploit scale vs. resource constraints</a:t>
            </a:r>
          </a:p>
          <a:p>
            <a:pPr lvl="1"/>
            <a:r>
              <a:rPr lang="en-US" dirty="0" smtClean="0"/>
              <a:t>Characterized by increased app-RM integration</a:t>
            </a:r>
          </a:p>
        </p:txBody>
      </p:sp>
    </p:spTree>
    <p:extLst>
      <p:ext uri="{BB962C8B-B14F-4D97-AF65-F5344CB8AC3E}">
        <p14:creationId xmlns:p14="http://schemas.microsoft.com/office/powerpoint/2010/main" val="374128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Process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Allocation definition sent to affected root-level daemons</a:t>
            </a:r>
          </a:p>
          <a:p>
            <a:pPr lvl="1"/>
            <a:r>
              <a:rPr lang="en-US" sz="2000" dirty="0" smtClean="0"/>
              <a:t>Session user-level daemons are started and </a:t>
            </a:r>
            <a:r>
              <a:rPr lang="en-US" sz="2000" dirty="0" err="1" smtClean="0"/>
              <a:t>wireup</a:t>
            </a:r>
            <a:endParaRPr lang="en-US" sz="2000" dirty="0" smtClean="0"/>
          </a:p>
          <a:p>
            <a:r>
              <a:rPr lang="en-US" sz="2400" dirty="0" smtClean="0"/>
              <a:t>Application launch command sent to session daemons</a:t>
            </a:r>
          </a:p>
          <a:p>
            <a:pPr lvl="1"/>
            <a:r>
              <a:rPr lang="en-US" sz="2000" dirty="0" smtClean="0"/>
              <a:t>Daemons spawn local </a:t>
            </a:r>
            <a:r>
              <a:rPr lang="en-US" sz="2000" dirty="0" err="1" smtClean="0"/>
              <a:t>procs</a:t>
            </a:r>
            <a:endParaRPr lang="en-US" sz="2000" dirty="0" smtClean="0"/>
          </a:p>
          <a:p>
            <a:r>
              <a:rPr lang="en-US" sz="2400" dirty="0" err="1" smtClean="0"/>
              <a:t>Procs</a:t>
            </a:r>
            <a:r>
              <a:rPr lang="en-US" sz="2400" dirty="0" smtClean="0"/>
              <a:t> initialize libraries</a:t>
            </a:r>
          </a:p>
          <a:p>
            <a:pPr lvl="1"/>
            <a:r>
              <a:rPr lang="en-US" sz="2000" dirty="0" smtClean="0"/>
              <a:t>Setup required bookkeeping, identify their endpoints</a:t>
            </a:r>
          </a:p>
          <a:p>
            <a:pPr lvl="1"/>
            <a:r>
              <a:rPr lang="en-US" sz="2000" dirty="0" smtClean="0"/>
              <a:t>Publish all information to session key-value store, and barrier</a:t>
            </a:r>
          </a:p>
          <a:p>
            <a:r>
              <a:rPr lang="en-US" sz="2400" dirty="0" smtClean="0"/>
              <a:t>Session daemons circulate published values</a:t>
            </a:r>
          </a:p>
          <a:p>
            <a:pPr lvl="1"/>
            <a:r>
              <a:rPr lang="en-US" sz="2000" dirty="0" smtClean="0"/>
              <a:t>Variety of collective algorithms employed</a:t>
            </a:r>
          </a:p>
          <a:p>
            <a:pPr lvl="1"/>
            <a:r>
              <a:rPr lang="en-US" sz="2000" dirty="0" smtClean="0"/>
              <a:t>Release </a:t>
            </a:r>
            <a:r>
              <a:rPr lang="en-US" sz="2000" dirty="0" err="1" smtClean="0"/>
              <a:t>procs</a:t>
            </a:r>
            <a:r>
              <a:rPr lang="en-US" sz="2000" dirty="0" smtClean="0"/>
              <a:t> from barrier</a:t>
            </a:r>
          </a:p>
          <a:p>
            <a:r>
              <a:rPr lang="en-US" sz="2400" dirty="0" err="1" smtClean="0"/>
              <a:t>Procs</a:t>
            </a:r>
            <a:r>
              <a:rPr lang="en-US" sz="2400" dirty="0" smtClean="0"/>
              <a:t> complete initialization</a:t>
            </a:r>
          </a:p>
          <a:p>
            <a:pPr lvl="1"/>
            <a:r>
              <a:rPr lang="en-US" sz="2000" dirty="0" smtClean="0"/>
              <a:t>Retrieve endpoint info for peers</a:t>
            </a:r>
          </a:p>
        </p:txBody>
      </p:sp>
    </p:spTree>
    <p:extLst>
      <p:ext uri="{BB962C8B-B14F-4D97-AF65-F5344CB8AC3E}">
        <p14:creationId xmlns:p14="http://schemas.microsoft.com/office/powerpoint/2010/main" val="77603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8600" y="533400"/>
          <a:ext cx="8610600" cy="58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" name="Worksheet" r:id="rId3" imgW="5613400" imgH="3822700" progId="Excel.Sheet.8">
                  <p:embed/>
                </p:oleObj>
              </mc:Choice>
              <mc:Fallback>
                <p:oleObj name="Worksheet" r:id="rId3" imgW="5613400" imgH="38227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10600" cy="58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 rot="-5400000">
            <a:off x="1585435" y="4621016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dirty="0" smtClean="0"/>
              <a:t>Launch</a:t>
            </a:r>
            <a:endParaRPr lang="en-US" altLang="en-US" sz="1800" dirty="0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-5400000">
            <a:off x="2300010" y="4396596"/>
            <a:ext cx="139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Initialization</a:t>
            </a:r>
            <a:endParaRPr lang="en-US" altLang="en-US" sz="1800" dirty="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-5400000">
            <a:off x="2413794" y="3450432"/>
            <a:ext cx="293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Exchange MPI contact info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-5400000">
            <a:off x="3712369" y="3921393"/>
            <a:ext cx="233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Setup MPI structures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-5400000">
            <a:off x="54443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-5400000">
            <a:off x="5737225" y="4022199"/>
            <a:ext cx="2141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 completion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-5400000">
            <a:off x="73620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7373938" y="712788"/>
            <a:ext cx="0" cy="5564187"/>
          </a:xfrm>
          <a:prstGeom prst="line">
            <a:avLst/>
          </a:prstGeom>
          <a:noFill/>
          <a:ln w="76200" cmpd="tri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3689350" y="6429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400925" y="687388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MPI_Finalize</a:t>
            </a:r>
          </a:p>
        </p:txBody>
      </p:sp>
      <p:sp>
        <p:nvSpPr>
          <p:cNvPr id="16397" name="Rectangle 16"/>
          <p:cNvSpPr>
            <a:spLocks noChangeArrowheads="1"/>
          </p:cNvSpPr>
          <p:nvPr/>
        </p:nvSpPr>
        <p:spPr bwMode="auto">
          <a:xfrm>
            <a:off x="3057525" y="6080125"/>
            <a:ext cx="3201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RRZ, 16-nodes, 8ppn, rank=0</a:t>
            </a: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 rot="-5400000">
            <a:off x="-355600" y="2917825"/>
            <a:ext cx="1395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Time (</a:t>
            </a:r>
            <a:r>
              <a:rPr lang="en-US" altLang="en-US" sz="1800">
                <a:sym typeface="Symbol" charset="2"/>
              </a:rPr>
              <a:t></a:t>
            </a:r>
            <a:r>
              <a:rPr lang="en-US" altLang="ja-JP" sz="1800"/>
              <a:t>sec)</a:t>
            </a:r>
            <a:endParaRPr lang="en-US" altLang="en-US" sz="18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Process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Allocation definition sent to affected root-level daemons</a:t>
            </a:r>
          </a:p>
          <a:p>
            <a:pPr lvl="1"/>
            <a:r>
              <a:rPr lang="en-US" sz="2000" dirty="0" smtClean="0"/>
              <a:t>Session user-level daemons are started and </a:t>
            </a:r>
            <a:r>
              <a:rPr lang="en-US" sz="2000" dirty="0" err="1" smtClean="0"/>
              <a:t>wireup</a:t>
            </a:r>
            <a:endParaRPr lang="en-US" sz="2000" dirty="0" smtClean="0"/>
          </a:p>
          <a:p>
            <a:r>
              <a:rPr lang="en-US" sz="2400" dirty="0" smtClean="0"/>
              <a:t>Application launch command sent to session daemons</a:t>
            </a:r>
          </a:p>
          <a:p>
            <a:pPr lvl="1"/>
            <a:r>
              <a:rPr lang="en-US" sz="2000" dirty="0" smtClean="0"/>
              <a:t>Daemons spawn local </a:t>
            </a:r>
            <a:r>
              <a:rPr lang="en-US" sz="2000" dirty="0" err="1" smtClean="0"/>
              <a:t>procs</a:t>
            </a:r>
            <a:endParaRPr lang="en-US" sz="2000" dirty="0" smtClean="0"/>
          </a:p>
          <a:p>
            <a:r>
              <a:rPr lang="en-US" sz="2400" dirty="0" err="1" smtClean="0"/>
              <a:t>Procs</a:t>
            </a:r>
            <a:r>
              <a:rPr lang="en-US" sz="2400" dirty="0" smtClean="0"/>
              <a:t> initialize libraries</a:t>
            </a:r>
          </a:p>
          <a:p>
            <a:pPr lvl="1"/>
            <a:r>
              <a:rPr lang="en-US" sz="2000" dirty="0" smtClean="0"/>
              <a:t>Setup required bookkeeping, identify their endpoints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Publish all information to session key-value store, and barrier</a:t>
            </a:r>
          </a:p>
          <a:p>
            <a:r>
              <a:rPr lang="en-US" sz="2400" dirty="0" smtClean="0"/>
              <a:t>Session daemons circulate published values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Variety of collective algorithms employed</a:t>
            </a:r>
          </a:p>
          <a:p>
            <a:pPr lvl="1"/>
            <a:r>
              <a:rPr lang="en-US" sz="2000" dirty="0" smtClean="0"/>
              <a:t>Release </a:t>
            </a:r>
            <a:r>
              <a:rPr lang="en-US" sz="2000" dirty="0" err="1" smtClean="0"/>
              <a:t>procs</a:t>
            </a:r>
            <a:r>
              <a:rPr lang="en-US" sz="2000" dirty="0" smtClean="0"/>
              <a:t> from barrier</a:t>
            </a:r>
          </a:p>
          <a:p>
            <a:r>
              <a:rPr lang="en-US" sz="2400" dirty="0" err="1" smtClean="0"/>
              <a:t>Procs</a:t>
            </a:r>
            <a:r>
              <a:rPr lang="en-US" sz="2400" dirty="0" smtClean="0"/>
              <a:t> complete initialization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Retrieve endpoint info for peers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6722" y="5181600"/>
            <a:ext cx="20795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Obstacles </a:t>
            </a:r>
            <a:r>
              <a:rPr lang="en-US" b="1" i="1" smtClean="0">
                <a:solidFill>
                  <a:srgbClr val="FF0000"/>
                </a:solidFill>
              </a:rPr>
              <a:t>to scalability</a:t>
            </a:r>
            <a:endParaRPr lang="en-US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8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Being Shared?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Job Info (~90%)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Names of participating nodes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Location and ID of </a:t>
            </a:r>
            <a:r>
              <a:rPr lang="en-US" dirty="0" err="1" smtClean="0">
                <a:solidFill>
                  <a:schemeClr val="accent1"/>
                </a:solidFill>
              </a:rPr>
              <a:t>procs</a:t>
            </a:r>
            <a:endParaRPr lang="en-US" dirty="0" smtClean="0">
              <a:solidFill>
                <a:schemeClr val="accent1"/>
              </a:solidFill>
            </a:endParaRP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Relative ranks of </a:t>
            </a:r>
            <a:r>
              <a:rPr lang="en-US" dirty="0" err="1" smtClean="0">
                <a:solidFill>
                  <a:schemeClr val="accent1"/>
                </a:solidFill>
              </a:rPr>
              <a:t>procs</a:t>
            </a:r>
            <a:r>
              <a:rPr lang="en-US" dirty="0" smtClean="0">
                <a:solidFill>
                  <a:schemeClr val="accent1"/>
                </a:solidFill>
              </a:rPr>
              <a:t> (node, job)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Sizes (#</a:t>
            </a:r>
            <a:r>
              <a:rPr lang="en-US" dirty="0" err="1" smtClean="0">
                <a:solidFill>
                  <a:schemeClr val="accent1"/>
                </a:solidFill>
              </a:rPr>
              <a:t>procs</a:t>
            </a:r>
            <a:r>
              <a:rPr lang="en-US" dirty="0" smtClean="0">
                <a:solidFill>
                  <a:schemeClr val="accent1"/>
                </a:solidFill>
              </a:rPr>
              <a:t> in job, #</a:t>
            </a:r>
            <a:r>
              <a:rPr lang="en-US" dirty="0" err="1" smtClean="0">
                <a:solidFill>
                  <a:schemeClr val="accent1"/>
                </a:solidFill>
              </a:rPr>
              <a:t>procs</a:t>
            </a:r>
            <a:r>
              <a:rPr lang="en-US" dirty="0" smtClean="0">
                <a:solidFill>
                  <a:schemeClr val="accent1"/>
                </a:solidFill>
              </a:rPr>
              <a:t> on each node)</a:t>
            </a:r>
          </a:p>
          <a:p>
            <a:r>
              <a:rPr lang="en-US" dirty="0" smtClean="0">
                <a:solidFill>
                  <a:srgbClr val="FF8000"/>
                </a:solidFill>
              </a:rPr>
              <a:t>Endpoint info (~10%)</a:t>
            </a:r>
          </a:p>
          <a:p>
            <a:pPr lvl="1"/>
            <a:r>
              <a:rPr lang="en-US" dirty="0" smtClean="0">
                <a:solidFill>
                  <a:srgbClr val="FF8000"/>
                </a:solidFill>
              </a:rPr>
              <a:t>Contact info for each supported fabric</a:t>
            </a:r>
            <a:endParaRPr lang="en-US" dirty="0">
              <a:solidFill>
                <a:srgbClr val="FF8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0" y="21336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smtClean="0">
                <a:solidFill>
                  <a:srgbClr val="FF0000"/>
                </a:solidFill>
              </a:rPr>
              <a:t>Known to local RM daemon</a:t>
            </a:r>
            <a:endParaRPr lang="en-US" i="1">
              <a:solidFill>
                <a:srgbClr val="FF0000"/>
              </a:solidFill>
            </a:endParaRPr>
          </a:p>
        </p:txBody>
      </p:sp>
      <p:sp>
        <p:nvSpPr>
          <p:cNvPr id="5" name="Right Brace 4"/>
          <p:cNvSpPr/>
          <p:nvPr/>
        </p:nvSpPr>
        <p:spPr bwMode="auto">
          <a:xfrm rot="19500164">
            <a:off x="7241046" y="1886129"/>
            <a:ext cx="609600" cy="2590800"/>
          </a:xfrm>
          <a:prstGeom prst="rightBrac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00600" y="54102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>
                <a:solidFill>
                  <a:srgbClr val="00B050"/>
                </a:solidFill>
              </a:rPr>
              <a:t>Can be computed for </a:t>
            </a:r>
            <a:r>
              <a:rPr lang="en-US" i="1" smtClean="0">
                <a:solidFill>
                  <a:srgbClr val="00B050"/>
                </a:solidFill>
              </a:rPr>
              <a:t>many fabrics</a:t>
            </a:r>
            <a:endParaRPr lang="en-US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45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8600" y="533400"/>
          <a:ext cx="8610600" cy="58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4" name="Worksheet" r:id="rId3" imgW="5613400" imgH="3822700" progId="Excel.Sheet.8">
                  <p:embed/>
                </p:oleObj>
              </mc:Choice>
              <mc:Fallback>
                <p:oleObj name="Worksheet" r:id="rId3" imgW="5613400" imgH="38227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10600" cy="58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 rot="-5400000">
            <a:off x="1585435" y="4621016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Launch</a:t>
            </a:r>
            <a:endParaRPr lang="en-US" altLang="en-US" sz="1800" dirty="0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-5400000">
            <a:off x="2300010" y="4396596"/>
            <a:ext cx="139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Initialization</a:t>
            </a:r>
            <a:endParaRPr lang="en-US" altLang="en-US" sz="1800" dirty="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-5400000">
            <a:off x="2413794" y="3450432"/>
            <a:ext cx="293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Exchange MPI contact info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-5400000">
            <a:off x="3712369" y="3921393"/>
            <a:ext cx="233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Setup MPI structures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-5400000">
            <a:off x="54443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-5400000">
            <a:off x="5737225" y="4022199"/>
            <a:ext cx="2141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 completion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-5400000">
            <a:off x="73620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7373938" y="712788"/>
            <a:ext cx="0" cy="5564187"/>
          </a:xfrm>
          <a:prstGeom prst="line">
            <a:avLst/>
          </a:prstGeom>
          <a:noFill/>
          <a:ln w="76200" cmpd="tri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3689350" y="6429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400925" y="687388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MPI_Finalize</a:t>
            </a:r>
          </a:p>
        </p:txBody>
      </p:sp>
      <p:sp>
        <p:nvSpPr>
          <p:cNvPr id="16397" name="Rectangle 16"/>
          <p:cNvSpPr>
            <a:spLocks noChangeArrowheads="1"/>
          </p:cNvSpPr>
          <p:nvPr/>
        </p:nvSpPr>
        <p:spPr bwMode="auto">
          <a:xfrm>
            <a:off x="3057525" y="6080125"/>
            <a:ext cx="3201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RRZ, 16-nodes, 8ppn, rank=0</a:t>
            </a: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 rot="-5400000">
            <a:off x="-355600" y="2917825"/>
            <a:ext cx="1395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Time (</a:t>
            </a:r>
            <a:r>
              <a:rPr lang="en-US" altLang="en-US" sz="1800">
                <a:sym typeface="Symbol" charset="2"/>
              </a:rPr>
              <a:t></a:t>
            </a:r>
            <a:r>
              <a:rPr lang="en-US" altLang="ja-JP" sz="1800"/>
              <a:t>sec)</a:t>
            </a:r>
            <a:endParaRPr lang="en-US" altLang="en-US" sz="1800"/>
          </a:p>
        </p:txBody>
      </p:sp>
      <p:sp>
        <p:nvSpPr>
          <p:cNvPr id="18" name="TextBox 17"/>
          <p:cNvSpPr txBox="1"/>
          <p:nvPr/>
        </p:nvSpPr>
        <p:spPr>
          <a:xfrm>
            <a:off x="3489433" y="122648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Stage I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3489433" y="1371600"/>
            <a:ext cx="930167" cy="4419600"/>
          </a:xfrm>
          <a:prstGeom prst="rect">
            <a:avLst/>
          </a:prstGeom>
          <a:solidFill>
            <a:schemeClr val="bg1"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72485" y="1110080"/>
            <a:ext cx="2391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FF0000"/>
                </a:solidFill>
              </a:rPr>
              <a:t>Provide method for RM to share job info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61754" y="1099756"/>
            <a:ext cx="23915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FF0000"/>
                </a:solidFill>
              </a:rPr>
              <a:t>Work with fabric and library implementers to compute </a:t>
            </a:r>
            <a:r>
              <a:rPr lang="en-US" sz="2000" i="1" dirty="0" err="1" smtClean="0">
                <a:solidFill>
                  <a:srgbClr val="FF0000"/>
                </a:solidFill>
              </a:rPr>
              <a:t>endpt</a:t>
            </a:r>
            <a:r>
              <a:rPr lang="en-US" sz="2000" i="1" dirty="0" smtClean="0">
                <a:solidFill>
                  <a:srgbClr val="FF0000"/>
                </a:solidFill>
              </a:rPr>
              <a:t> from RM info</a:t>
            </a:r>
            <a:endParaRPr lang="en-US" sz="2000" i="1" dirty="0">
              <a:solidFill>
                <a:srgbClr val="FF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8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8600" y="533400"/>
          <a:ext cx="8610600" cy="58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8" name="Worksheet" r:id="rId3" imgW="5613400" imgH="3822700" progId="Excel.Sheet.8">
                  <p:embed/>
                </p:oleObj>
              </mc:Choice>
              <mc:Fallback>
                <p:oleObj name="Worksheet" r:id="rId3" imgW="5613400" imgH="38227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10600" cy="58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 rot="-5400000">
            <a:off x="1585435" y="4621016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Launch</a:t>
            </a:r>
            <a:endParaRPr lang="en-US" altLang="en-US" sz="1800" dirty="0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-5400000">
            <a:off x="2300010" y="4396596"/>
            <a:ext cx="139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Initialization</a:t>
            </a:r>
            <a:endParaRPr lang="en-US" altLang="en-US" sz="1800" dirty="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-5400000">
            <a:off x="2413794" y="3450432"/>
            <a:ext cx="293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Exchange MPI contact info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-5400000">
            <a:off x="3712369" y="3921393"/>
            <a:ext cx="233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Setup MPI structures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-5400000">
            <a:off x="54443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-5400000">
            <a:off x="5737225" y="4022199"/>
            <a:ext cx="2141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 completion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-5400000">
            <a:off x="73620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7373938" y="712788"/>
            <a:ext cx="0" cy="5564187"/>
          </a:xfrm>
          <a:prstGeom prst="line">
            <a:avLst/>
          </a:prstGeom>
          <a:noFill/>
          <a:ln w="76200" cmpd="tri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3689350" y="6429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400925" y="687388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MPI_Finalize</a:t>
            </a:r>
          </a:p>
        </p:txBody>
      </p:sp>
      <p:sp>
        <p:nvSpPr>
          <p:cNvPr id="16397" name="Rectangle 16"/>
          <p:cNvSpPr>
            <a:spLocks noChangeArrowheads="1"/>
          </p:cNvSpPr>
          <p:nvPr/>
        </p:nvSpPr>
        <p:spPr bwMode="auto">
          <a:xfrm>
            <a:off x="3057525" y="6080125"/>
            <a:ext cx="3201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RRZ, 16-nodes, 8ppn, rank=0</a:t>
            </a: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 rot="-5400000">
            <a:off x="-355600" y="2917825"/>
            <a:ext cx="1395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Time (</a:t>
            </a:r>
            <a:r>
              <a:rPr lang="en-US" altLang="en-US" sz="1800">
                <a:sym typeface="Symbol" charset="2"/>
              </a:rPr>
              <a:t></a:t>
            </a:r>
            <a:r>
              <a:rPr lang="en-US" altLang="ja-JP" sz="1800"/>
              <a:t>sec)</a:t>
            </a:r>
            <a:endParaRPr lang="en-US" altLang="en-US" sz="1800"/>
          </a:p>
        </p:txBody>
      </p:sp>
      <p:sp>
        <p:nvSpPr>
          <p:cNvPr id="18" name="TextBox 17"/>
          <p:cNvSpPr txBox="1"/>
          <p:nvPr/>
        </p:nvSpPr>
        <p:spPr>
          <a:xfrm>
            <a:off x="3489433" y="122648"/>
            <a:ext cx="1422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Stage II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3489433" y="1371600"/>
            <a:ext cx="930167" cy="4419600"/>
          </a:xfrm>
          <a:prstGeom prst="rect">
            <a:avLst/>
          </a:prstGeom>
          <a:solidFill>
            <a:schemeClr val="bg1"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547381" y="2936349"/>
            <a:ext cx="758537" cy="2779993"/>
          </a:xfrm>
          <a:prstGeom prst="rect">
            <a:avLst/>
          </a:prstGeom>
          <a:solidFill>
            <a:schemeClr val="bg1">
              <a:alpha val="68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76410" y="1743670"/>
            <a:ext cx="1882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 smtClean="0">
                <a:solidFill>
                  <a:srgbClr val="FF0000"/>
                </a:solidFill>
              </a:rPr>
              <a:t>Add on 1</a:t>
            </a:r>
            <a:r>
              <a:rPr lang="en-US" sz="1800" i="1" baseline="30000" dirty="0" smtClean="0">
                <a:solidFill>
                  <a:srgbClr val="FF0000"/>
                </a:solidFill>
              </a:rPr>
              <a:t>st</a:t>
            </a:r>
            <a:r>
              <a:rPr lang="en-US" sz="1800" i="1" dirty="0" smtClean="0">
                <a:solidFill>
                  <a:srgbClr val="FF0000"/>
                </a:solidFill>
              </a:rPr>
              <a:t> communication</a:t>
            </a:r>
          </a:p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(non-</a:t>
            </a:r>
            <a:r>
              <a:rPr lang="en-US" sz="1600" i="1" dirty="0" err="1" smtClean="0">
                <a:solidFill>
                  <a:srgbClr val="FF0000"/>
                </a:solidFill>
              </a:rPr>
              <a:t>PMIx</a:t>
            </a:r>
            <a:r>
              <a:rPr lang="en-US" sz="1600" i="1" dirty="0" smtClean="0">
                <a:solidFill>
                  <a:srgbClr val="FF0000"/>
                </a:solidFill>
              </a:rPr>
              <a:t>)</a:t>
            </a:r>
            <a:endParaRPr lang="en-US" sz="1800" i="1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>
            <a:stCxn id="3" idx="2"/>
          </p:cNvCxnSpPr>
          <p:nvPr/>
        </p:nvCxnSpPr>
        <p:spPr bwMode="auto">
          <a:xfrm flipH="1">
            <a:off x="5067300" y="2667000"/>
            <a:ext cx="850490" cy="7834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3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8600" y="533400"/>
          <a:ext cx="8610600" cy="58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3" name="Worksheet" r:id="rId3" imgW="5613400" imgH="3822700" progId="Excel.Sheet.8">
                  <p:embed/>
                </p:oleObj>
              </mc:Choice>
              <mc:Fallback>
                <p:oleObj name="Worksheet" r:id="rId3" imgW="5613400" imgH="38227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10600" cy="58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 rot="-5400000">
            <a:off x="1585435" y="4621016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Launch</a:t>
            </a:r>
            <a:endParaRPr lang="en-US" altLang="en-US" sz="1800" dirty="0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-5400000">
            <a:off x="2300010" y="4396596"/>
            <a:ext cx="139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Initialization</a:t>
            </a:r>
            <a:endParaRPr lang="en-US" altLang="en-US" sz="1800" dirty="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-5400000">
            <a:off x="2413794" y="3450432"/>
            <a:ext cx="293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Exchange MPI contact info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-5400000">
            <a:off x="3712369" y="3921393"/>
            <a:ext cx="233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Setup MPI structures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-5400000">
            <a:off x="54443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-5400000">
            <a:off x="5737225" y="4022199"/>
            <a:ext cx="2141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 completion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-5400000">
            <a:off x="73620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7373938" y="712788"/>
            <a:ext cx="0" cy="5564187"/>
          </a:xfrm>
          <a:prstGeom prst="line">
            <a:avLst/>
          </a:prstGeom>
          <a:noFill/>
          <a:ln w="76200" cmpd="tri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3689350" y="6429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400925" y="687388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MPI_Finalize</a:t>
            </a:r>
          </a:p>
        </p:txBody>
      </p:sp>
      <p:sp>
        <p:nvSpPr>
          <p:cNvPr id="16397" name="Rectangle 16"/>
          <p:cNvSpPr>
            <a:spLocks noChangeArrowheads="1"/>
          </p:cNvSpPr>
          <p:nvPr/>
        </p:nvSpPr>
        <p:spPr bwMode="auto">
          <a:xfrm>
            <a:off x="3057525" y="6080125"/>
            <a:ext cx="3201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RRZ, 16-nodes, 8ppn, rank=0</a:t>
            </a: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 rot="-5400000">
            <a:off x="-355600" y="2917825"/>
            <a:ext cx="1395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Time (</a:t>
            </a:r>
            <a:r>
              <a:rPr lang="en-US" altLang="en-US" sz="1800">
                <a:sym typeface="Symbol" charset="2"/>
              </a:rPr>
              <a:t></a:t>
            </a:r>
            <a:r>
              <a:rPr lang="en-US" altLang="ja-JP" sz="1800"/>
              <a:t>sec)</a:t>
            </a:r>
            <a:endParaRPr lang="en-US" altLang="en-US" sz="1800"/>
          </a:p>
        </p:txBody>
      </p:sp>
      <p:sp>
        <p:nvSpPr>
          <p:cNvPr id="18" name="TextBox 17"/>
          <p:cNvSpPr txBox="1"/>
          <p:nvPr/>
        </p:nvSpPr>
        <p:spPr>
          <a:xfrm>
            <a:off x="3439740" y="119718"/>
            <a:ext cx="152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Stage III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3489433" y="1371600"/>
            <a:ext cx="930167" cy="4419600"/>
          </a:xfrm>
          <a:prstGeom prst="rect">
            <a:avLst/>
          </a:prstGeom>
          <a:solidFill>
            <a:schemeClr val="bg1"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547381" y="2936349"/>
            <a:ext cx="758537" cy="2779993"/>
          </a:xfrm>
          <a:prstGeom prst="rect">
            <a:avLst/>
          </a:prstGeom>
          <a:solidFill>
            <a:schemeClr val="bg1">
              <a:alpha val="8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44183" y="4335040"/>
            <a:ext cx="531209" cy="953211"/>
          </a:xfrm>
          <a:prstGeom prst="rect">
            <a:avLst/>
          </a:prstGeom>
          <a:solidFill>
            <a:schemeClr val="bg1">
              <a:alpha val="6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5640991" y="4343400"/>
            <a:ext cx="531209" cy="953211"/>
          </a:xfrm>
          <a:prstGeom prst="rect">
            <a:avLst/>
          </a:prstGeom>
          <a:solidFill>
            <a:schemeClr val="bg1">
              <a:alpha val="6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00600" y="1752600"/>
            <a:ext cx="2253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Use </a:t>
            </a:r>
            <a:r>
              <a:rPr lang="en-US" i="1" dirty="0" err="1" smtClean="0">
                <a:solidFill>
                  <a:srgbClr val="FF0000"/>
                </a:solidFill>
              </a:rPr>
              <a:t>HSN+Coll</a:t>
            </a:r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>
            <a:endCxn id="20" idx="0"/>
          </p:cNvCxnSpPr>
          <p:nvPr/>
        </p:nvCxnSpPr>
        <p:spPr bwMode="auto">
          <a:xfrm flipH="1">
            <a:off x="2109788" y="2303616"/>
            <a:ext cx="3681412" cy="20314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5759843" y="2291051"/>
            <a:ext cx="106764" cy="201388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 bwMode="auto">
          <a:xfrm>
            <a:off x="2819400" y="3962400"/>
            <a:ext cx="531209" cy="1295400"/>
          </a:xfrm>
          <a:prstGeom prst="rect">
            <a:avLst/>
          </a:prstGeom>
          <a:solidFill>
            <a:schemeClr val="bg1">
              <a:alpha val="6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25" name="Straight Arrow Connector 24"/>
          <p:cNvCxnSpPr/>
          <p:nvPr/>
        </p:nvCxnSpPr>
        <p:spPr bwMode="auto">
          <a:xfrm flipH="1">
            <a:off x="3276600" y="2286000"/>
            <a:ext cx="2514601" cy="190500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825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Status</a:t>
            </a:r>
            <a:endParaRPr lang="en-US" dirty="0"/>
          </a:p>
        </p:txBody>
      </p:sp>
      <p:pic>
        <p:nvPicPr>
          <p:cNvPr id="4" name="Picture 3" descr="orcm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23" y="1367522"/>
            <a:ext cx="8551335" cy="50312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9000" y="4473223"/>
            <a:ext cx="1433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Stage I-II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>
          <a:xfrm>
            <a:off x="635002" y="5827889"/>
            <a:ext cx="7507111" cy="197555"/>
          </a:xfrm>
          <a:custGeom>
            <a:avLst/>
            <a:gdLst>
              <a:gd name="connsiteX0" fmla="*/ 0 w 7478889"/>
              <a:gd name="connsiteY0" fmla="*/ 310445 h 310445"/>
              <a:gd name="connsiteX1" fmla="*/ 3626556 w 7478889"/>
              <a:gd name="connsiteY1" fmla="*/ 98778 h 310445"/>
              <a:gd name="connsiteX2" fmla="*/ 5870222 w 7478889"/>
              <a:gd name="connsiteY2" fmla="*/ 28223 h 310445"/>
              <a:gd name="connsiteX3" fmla="*/ 7478889 w 7478889"/>
              <a:gd name="connsiteY3" fmla="*/ 0 h 31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8889" h="310445">
                <a:moveTo>
                  <a:pt x="0" y="310445"/>
                </a:moveTo>
                <a:lnTo>
                  <a:pt x="3626556" y="98778"/>
                </a:lnTo>
                <a:cubicBezTo>
                  <a:pt x="4604926" y="51741"/>
                  <a:pt x="5870222" y="28223"/>
                  <a:pt x="5870222" y="28223"/>
                </a:cubicBezTo>
                <a:lnTo>
                  <a:pt x="7478889" y="0"/>
                </a:lnTo>
              </a:path>
            </a:pathLst>
          </a:custGeom>
          <a:ln w="38100" cmpd="sng">
            <a:solidFill>
              <a:srgbClr val="008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40780" y="5404555"/>
            <a:ext cx="2887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Stage III (projected)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72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Can We Go Faster?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Remaining startup time primarily consumed by</a:t>
            </a:r>
          </a:p>
          <a:p>
            <a:pPr lvl="1"/>
            <a:r>
              <a:rPr lang="en-US" sz="2400" smtClean="0"/>
              <a:t>Positioning of application binary</a:t>
            </a:r>
          </a:p>
          <a:p>
            <a:pPr lvl="1"/>
            <a:r>
              <a:rPr lang="en-US" sz="2400" smtClean="0"/>
              <a:t>Loading dynamic libraries</a:t>
            </a:r>
          </a:p>
          <a:p>
            <a:pPr lvl="1"/>
            <a:r>
              <a:rPr lang="en-US" sz="2400" smtClean="0"/>
              <a:t>Bottlenecks: global file system, IO nodes</a:t>
            </a:r>
          </a:p>
          <a:p>
            <a:r>
              <a:rPr lang="en-US" sz="2800" smtClean="0"/>
              <a:t>Stage IV: Pre-Positioning</a:t>
            </a:r>
          </a:p>
          <a:p>
            <a:pPr lvl="1"/>
            <a:r>
              <a:rPr lang="en-US" sz="2400" smtClean="0"/>
              <a:t>WLM extended to consider retrieval, positioning times</a:t>
            </a:r>
          </a:p>
          <a:p>
            <a:pPr lvl="1"/>
            <a:r>
              <a:rPr lang="en-US" sz="2400" smtClean="0"/>
              <a:t>Add NVRAM to rack-level controllers and/or compute nodes for staging</a:t>
            </a:r>
          </a:p>
          <a:p>
            <a:pPr lvl="1"/>
            <a:r>
              <a:rPr lang="en-US" sz="2400" smtClean="0"/>
              <a:t>Pre-cache in background (during epilog, at finalize, …)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3464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Gets Positioned?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/>
              <a:t>Historically used static binaries</a:t>
            </a:r>
          </a:p>
          <a:p>
            <a:pPr lvl="1"/>
            <a:r>
              <a:rPr lang="en-US" sz="2000" smtClean="0"/>
              <a:t>Lose support for scripting languages, dynamic programs</a:t>
            </a:r>
          </a:p>
          <a:p>
            <a:r>
              <a:rPr lang="en-US" sz="2400" smtClean="0"/>
              <a:t>Proposal: containers</a:t>
            </a:r>
          </a:p>
          <a:p>
            <a:pPr lvl="1"/>
            <a:r>
              <a:rPr lang="en-US" sz="2000" smtClean="0"/>
              <a:t>Working with Shifter &amp; Singularity groups</a:t>
            </a:r>
          </a:p>
          <a:p>
            <a:pPr lvl="1"/>
            <a:r>
              <a:rPr lang="en-US" sz="2000" smtClean="0"/>
              <a:t>Execution unit: application =&gt; container (single/multi-process)</a:t>
            </a:r>
          </a:p>
          <a:p>
            <a:pPr lvl="1"/>
            <a:r>
              <a:rPr lang="en-US" sz="2000" smtClean="0"/>
              <a:t>Detect containerized application at job submission </a:t>
            </a:r>
          </a:p>
          <a:p>
            <a:pPr lvl="1"/>
            <a:r>
              <a:rPr lang="en-US" sz="2000" smtClean="0"/>
              <a:t>Auto-containerize if not (past history of library usage)? Layered containers?</a:t>
            </a:r>
          </a:p>
          <a:p>
            <a:r>
              <a:rPr lang="en-US" sz="2400" smtClean="0"/>
              <a:t>Provisioning</a:t>
            </a:r>
          </a:p>
          <a:p>
            <a:pPr lvl="1"/>
            <a:r>
              <a:rPr lang="en-US" sz="2000" smtClean="0"/>
              <a:t>Provision when base OS is incompatible with container (Warewulf)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8677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Low Can We Go?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770" y="2508620"/>
            <a:ext cx="4132721" cy="28929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5899" y="3736971"/>
            <a:ext cx="2086429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i="1" dirty="0">
                <a:solidFill>
                  <a:srgbClr val="0000FF"/>
                </a:solidFill>
              </a:rPr>
              <a:t>Launch/</a:t>
            </a:r>
            <a:r>
              <a:rPr lang="en-US" i="1" dirty="0" err="1">
                <a:solidFill>
                  <a:srgbClr val="0000FF"/>
                </a:solidFill>
              </a:rPr>
              <a:t>wireup</a:t>
            </a:r>
            <a:r>
              <a:rPr lang="en-US" i="1" dirty="0">
                <a:solidFill>
                  <a:srgbClr val="0000FF"/>
                </a:solidFill>
              </a:rPr>
              <a:t> as fast as </a:t>
            </a:r>
            <a:r>
              <a:rPr lang="en-US" i="1" dirty="0" err="1">
                <a:solidFill>
                  <a:srgbClr val="0000FF"/>
                </a:solidFill>
              </a:rPr>
              <a:t>executables</a:t>
            </a:r>
            <a:r>
              <a:rPr lang="en-US" i="1" dirty="0">
                <a:solidFill>
                  <a:srgbClr val="0000FF"/>
                </a:solidFill>
              </a:rPr>
              <a:t> can be started</a:t>
            </a:r>
          </a:p>
          <a:p>
            <a:pPr algn="ctr"/>
            <a:endParaRPr lang="en-US" i="1" dirty="0" err="1">
              <a:solidFill>
                <a:srgbClr val="00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 rot="19829596">
            <a:off x="273415" y="2770906"/>
            <a:ext cx="193155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dirty="0">
                <a:solidFill>
                  <a:srgbClr val="003C71"/>
                </a:solidFill>
              </a:rPr>
              <a:t>MPI</a:t>
            </a:r>
            <a:r>
              <a:rPr lang="en-US" sz="1400" baseline="30000" dirty="0">
                <a:solidFill>
                  <a:srgbClr val="003C71"/>
                </a:solidFill>
              </a:rPr>
              <a:t>+</a:t>
            </a:r>
            <a:r>
              <a:rPr lang="en-US" sz="1400" dirty="0">
                <a:solidFill>
                  <a:srgbClr val="003C71"/>
                </a:solidFill>
              </a:rPr>
              <a:t>: Rolling starts, dynamic communicators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94375" y="3414675"/>
            <a:ext cx="97006" cy="651211"/>
            <a:chOff x="1194375" y="2433958"/>
            <a:chExt cx="97006" cy="651211"/>
          </a:xfrm>
        </p:grpSpPr>
        <p:sp>
          <p:nvSpPr>
            <p:cNvPr id="4" name="Oval 3"/>
            <p:cNvSpPr/>
            <p:nvPr/>
          </p:nvSpPr>
          <p:spPr>
            <a:xfrm>
              <a:off x="1194375" y="2433958"/>
              <a:ext cx="97006" cy="970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94375" y="2630452"/>
              <a:ext cx="97006" cy="970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194375" y="2800489"/>
              <a:ext cx="97006" cy="970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194375" y="2988163"/>
              <a:ext cx="97006" cy="970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764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Exascale</a:t>
            </a:r>
            <a:r>
              <a:rPr lang="en-US" dirty="0"/>
              <a:t> launch times are a hot topic</a:t>
            </a:r>
          </a:p>
          <a:p>
            <a:pPr lvl="1"/>
            <a:r>
              <a:rPr lang="en-US" dirty="0"/>
              <a:t>Desire: reduce from many minutes to few seconds</a:t>
            </a:r>
          </a:p>
          <a:p>
            <a:pPr lvl="1"/>
            <a:r>
              <a:rPr lang="en-US" dirty="0"/>
              <a:t>Target: O(10</a:t>
            </a:r>
            <a:r>
              <a:rPr lang="en-US" baseline="30000" dirty="0"/>
              <a:t>6</a:t>
            </a:r>
            <a:r>
              <a:rPr lang="en-US" dirty="0"/>
              <a:t>) MPI processes on O(10</a:t>
            </a:r>
            <a:r>
              <a:rPr lang="en-US" baseline="30000" dirty="0"/>
              <a:t>5</a:t>
            </a:r>
            <a:r>
              <a:rPr lang="en-US" dirty="0"/>
              <a:t>) nodes thru </a:t>
            </a:r>
            <a:r>
              <a:rPr lang="en-US" dirty="0" err="1"/>
              <a:t>MPI_Init</a:t>
            </a:r>
            <a:r>
              <a:rPr lang="en-US" dirty="0"/>
              <a:t> in &lt; 30 seconds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New programming models are exploding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Driven by need to efficiently exploit scale vs. resource constraints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Characterized by increased app-RM integration</a:t>
            </a:r>
          </a:p>
        </p:txBody>
      </p:sp>
    </p:spTree>
    <p:extLst>
      <p:ext uri="{BB962C8B-B14F-4D97-AF65-F5344CB8AC3E}">
        <p14:creationId xmlns:p14="http://schemas.microsoft.com/office/powerpoint/2010/main" val="209866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Changing Needs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Notifications/response</a:t>
            </a:r>
          </a:p>
          <a:p>
            <a:pPr lvl="1"/>
            <a:r>
              <a:rPr lang="en-US" dirty="0"/>
              <a:t>E</a:t>
            </a:r>
            <a:r>
              <a:rPr lang="en-US" dirty="0" smtClean="0"/>
              <a:t>rrors, resource changes</a:t>
            </a:r>
          </a:p>
          <a:p>
            <a:pPr lvl="1"/>
            <a:r>
              <a:rPr lang="en-US" dirty="0" smtClean="0"/>
              <a:t>Negotiated response</a:t>
            </a:r>
          </a:p>
          <a:p>
            <a:r>
              <a:rPr lang="en-US" dirty="0" smtClean="0"/>
              <a:t>Request allocation changes</a:t>
            </a:r>
          </a:p>
          <a:p>
            <a:pPr lvl="1"/>
            <a:r>
              <a:rPr lang="en-US" dirty="0" smtClean="0"/>
              <a:t>shrink/expand</a:t>
            </a:r>
          </a:p>
          <a:p>
            <a:r>
              <a:rPr lang="en-US" dirty="0" smtClean="0"/>
              <a:t>Workflow management</a:t>
            </a:r>
          </a:p>
          <a:p>
            <a:pPr lvl="1"/>
            <a:r>
              <a:rPr lang="en-US" dirty="0" smtClean="0"/>
              <a:t>Steered/conditional execution</a:t>
            </a:r>
          </a:p>
          <a:p>
            <a:r>
              <a:rPr lang="en-US" dirty="0" err="1" smtClean="0"/>
              <a:t>QoS</a:t>
            </a:r>
            <a:r>
              <a:rPr lang="en-US" dirty="0" smtClean="0"/>
              <a:t> requests</a:t>
            </a:r>
          </a:p>
          <a:p>
            <a:pPr lvl="1"/>
            <a:r>
              <a:rPr lang="en-US" dirty="0" smtClean="0"/>
              <a:t>Power, file system, fabric</a:t>
            </a:r>
          </a:p>
        </p:txBody>
      </p:sp>
      <p:sp>
        <p:nvSpPr>
          <p:cNvPr id="9" name="Right Brace 8"/>
          <p:cNvSpPr/>
          <p:nvPr/>
        </p:nvSpPr>
        <p:spPr bwMode="auto">
          <a:xfrm>
            <a:off x="5867400" y="1981200"/>
            <a:ext cx="838200" cy="4572000"/>
          </a:xfrm>
          <a:prstGeom prst="righ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32078" y="2133600"/>
            <a:ext cx="150297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Multiple, use-specific libs?</a:t>
            </a:r>
          </a:p>
          <a:p>
            <a:pPr algn="ctr"/>
            <a:r>
              <a:rPr lang="en-US" sz="1400" dirty="0" smtClean="0"/>
              <a:t>(difficult for RM community to support)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32078" y="4648200"/>
            <a:ext cx="1502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FF0000"/>
                </a:solidFill>
              </a:rPr>
              <a:t>Single, multi-purpose lib?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7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Scalability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Memory footprint</a:t>
            </a:r>
          </a:p>
          <a:p>
            <a:pPr lvl="1"/>
            <a:r>
              <a:rPr lang="en-US" sz="2400" dirty="0" smtClean="0"/>
              <a:t>Distributed database for storing Key-Values</a:t>
            </a:r>
          </a:p>
          <a:p>
            <a:pPr lvl="2"/>
            <a:r>
              <a:rPr lang="en-US" sz="2000" dirty="0" smtClean="0"/>
              <a:t>Memory cache, DHT, other models?</a:t>
            </a:r>
          </a:p>
          <a:p>
            <a:pPr lvl="1"/>
            <a:r>
              <a:rPr lang="en-US" sz="2400" dirty="0" smtClean="0"/>
              <a:t>One instance of database per node</a:t>
            </a:r>
          </a:p>
          <a:p>
            <a:pPr lvl="2"/>
            <a:r>
              <a:rPr lang="en-US" sz="2000" dirty="0" smtClean="0"/>
              <a:t>"zero-message" data access using shared-memory</a:t>
            </a:r>
          </a:p>
          <a:p>
            <a:r>
              <a:rPr lang="en-US" sz="2800" dirty="0" smtClean="0"/>
              <a:t>Launch scaling</a:t>
            </a:r>
          </a:p>
          <a:p>
            <a:pPr lvl="1"/>
            <a:r>
              <a:rPr lang="en-US" sz="2400" dirty="0" smtClean="0"/>
              <a:t>Enhanced support for collective operations</a:t>
            </a:r>
          </a:p>
          <a:p>
            <a:pPr lvl="2"/>
            <a:r>
              <a:rPr lang="en-US" sz="2000" dirty="0" smtClean="0"/>
              <a:t>Provide pattern to host, host-provided send/</a:t>
            </a:r>
            <a:r>
              <a:rPr lang="en-US" sz="2000" dirty="0" err="1" smtClean="0"/>
              <a:t>recv</a:t>
            </a:r>
            <a:r>
              <a:rPr lang="en-US" sz="2000" dirty="0" smtClean="0"/>
              <a:t> functions, </a:t>
            </a:r>
            <a:r>
              <a:rPr lang="en-US" sz="2000" strike="sngStrike" dirty="0" smtClean="0"/>
              <a:t>embedded inter-node </a:t>
            </a:r>
            <a:r>
              <a:rPr lang="en-US" sz="2000" strike="sngStrike" dirty="0" err="1" smtClean="0"/>
              <a:t>comm</a:t>
            </a:r>
            <a:r>
              <a:rPr lang="en-US" sz="2000" dirty="0" smtClean="0"/>
              <a:t>?</a:t>
            </a:r>
          </a:p>
          <a:p>
            <a:pPr lvl="1"/>
            <a:r>
              <a:rPr lang="en-US" sz="2400" dirty="0" smtClean="0"/>
              <a:t>Rely on HSN for launch, </a:t>
            </a:r>
            <a:r>
              <a:rPr lang="en-US" sz="2400" dirty="0" err="1" smtClean="0"/>
              <a:t>wireup</a:t>
            </a:r>
            <a:r>
              <a:rPr lang="en-US" sz="2400" dirty="0" smtClean="0"/>
              <a:t> support</a:t>
            </a:r>
          </a:p>
          <a:p>
            <a:pPr lvl="2"/>
            <a:r>
              <a:rPr lang="en-US" sz="2000" dirty="0" smtClean="0"/>
              <a:t>While app is quiescent, then return to </a:t>
            </a:r>
            <a:r>
              <a:rPr lang="en-US" sz="2000" dirty="0" err="1" smtClean="0"/>
              <a:t>mgmtEth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0418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Flexible Allocation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Request additional resources</a:t>
            </a:r>
          </a:p>
          <a:p>
            <a:pPr lvl="1"/>
            <a:r>
              <a:rPr lang="en-US" sz="2400" dirty="0" smtClean="0"/>
              <a:t>Compute, memory, network, NVM, burst buffer</a:t>
            </a:r>
          </a:p>
          <a:p>
            <a:pPr lvl="1"/>
            <a:r>
              <a:rPr lang="en-US" sz="2400" dirty="0" smtClean="0"/>
              <a:t>Immediate, forecast</a:t>
            </a:r>
          </a:p>
          <a:p>
            <a:pPr lvl="1"/>
            <a:r>
              <a:rPr lang="en-US" sz="2400" dirty="0" smtClean="0"/>
              <a:t>Expand existing allocation, separate allocation</a:t>
            </a:r>
          </a:p>
          <a:p>
            <a:r>
              <a:rPr lang="en-US" sz="2800" dirty="0" smtClean="0"/>
              <a:t>Return extra resources</a:t>
            </a:r>
          </a:p>
          <a:p>
            <a:pPr lvl="1"/>
            <a:r>
              <a:rPr lang="en-US" sz="2400" dirty="0" smtClean="0"/>
              <a:t>No longer required</a:t>
            </a:r>
          </a:p>
          <a:p>
            <a:pPr lvl="1"/>
            <a:r>
              <a:rPr lang="en-US" sz="2400" dirty="0" smtClean="0"/>
              <a:t>Will not be used for some specified time, reclaim (handshake) when ready to use</a:t>
            </a:r>
          </a:p>
          <a:p>
            <a:r>
              <a:rPr lang="en-US" sz="2800" dirty="0" smtClean="0"/>
              <a:t>Notification of preemption</a:t>
            </a:r>
          </a:p>
          <a:p>
            <a:pPr lvl="1"/>
            <a:r>
              <a:rPr lang="en-US" sz="2400" dirty="0" smtClean="0"/>
              <a:t>Provide opportunity to cleanly pause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52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Asynchronous operations</a:t>
            </a:r>
          </a:p>
          <a:p>
            <a:pPr lvl="1"/>
            <a:r>
              <a:rPr lang="en-US" sz="2400" dirty="0" smtClean="0"/>
              <a:t>Anticipatory data fetch, staging</a:t>
            </a:r>
          </a:p>
          <a:p>
            <a:pPr lvl="1"/>
            <a:r>
              <a:rPr lang="en-US" sz="2400" dirty="0" smtClean="0"/>
              <a:t>Advise time to complete</a:t>
            </a:r>
          </a:p>
          <a:p>
            <a:pPr lvl="1"/>
            <a:r>
              <a:rPr lang="en-US" sz="2400" dirty="0" smtClean="0"/>
              <a:t>Notify upon available</a:t>
            </a:r>
          </a:p>
          <a:p>
            <a:r>
              <a:rPr lang="en-US" sz="2800" dirty="0" smtClean="0"/>
              <a:t>Storage policy requests</a:t>
            </a:r>
          </a:p>
          <a:p>
            <a:pPr lvl="1"/>
            <a:r>
              <a:rPr lang="en-US" sz="2400" dirty="0" smtClean="0"/>
              <a:t>Hot/warm/cold data movement</a:t>
            </a:r>
          </a:p>
          <a:p>
            <a:pPr lvl="1"/>
            <a:r>
              <a:rPr lang="en-US" sz="2400" dirty="0" smtClean="0"/>
              <a:t>Desired locations and striping/replication patterns</a:t>
            </a:r>
          </a:p>
          <a:p>
            <a:pPr lvl="1"/>
            <a:r>
              <a:rPr lang="en-US" sz="2400" dirty="0" smtClean="0"/>
              <a:t>Persistence of files, shared memory regions across jobs, sessions</a:t>
            </a:r>
          </a:p>
          <a:p>
            <a:pPr lvl="1"/>
            <a:r>
              <a:rPr lang="en-US" sz="2400" dirty="0" smtClean="0"/>
              <a:t>ACL to generated data across jobs, sessions</a:t>
            </a:r>
          </a:p>
        </p:txBody>
      </p:sp>
    </p:spTree>
    <p:extLst>
      <p:ext uri="{BB962C8B-B14F-4D97-AF65-F5344CB8AC3E}">
        <p14:creationId xmlns:p14="http://schemas.microsoft.com/office/powerpoint/2010/main" val="169735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7010400" y="6096000"/>
            <a:ext cx="1752600" cy="762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Spawn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Staging support</a:t>
            </a:r>
          </a:p>
          <a:p>
            <a:pPr lvl="1"/>
            <a:r>
              <a:rPr lang="en-US" dirty="0" smtClean="0"/>
              <a:t>Files</a:t>
            </a:r>
            <a:r>
              <a:rPr lang="en-US" dirty="0"/>
              <a:t>, libraries required by new apps</a:t>
            </a:r>
          </a:p>
          <a:p>
            <a:pPr lvl="1"/>
            <a:r>
              <a:rPr lang="en-US" dirty="0"/>
              <a:t>Allow </a:t>
            </a:r>
            <a:r>
              <a:rPr lang="en-US" dirty="0" smtClean="0"/>
              <a:t>RM to consider in scheduler</a:t>
            </a:r>
          </a:p>
          <a:p>
            <a:pPr lvl="2"/>
            <a:r>
              <a:rPr lang="en-US" dirty="0" smtClean="0"/>
              <a:t>Current location of data</a:t>
            </a:r>
          </a:p>
          <a:p>
            <a:pPr lvl="2"/>
            <a:r>
              <a:rPr lang="en-US" dirty="0" smtClean="0"/>
              <a:t>Time to retrieve and position</a:t>
            </a:r>
          </a:p>
          <a:p>
            <a:pPr lvl="2"/>
            <a:r>
              <a:rPr lang="en-US" dirty="0" smtClean="0"/>
              <a:t>Schedule scalable preload</a:t>
            </a:r>
          </a:p>
          <a:p>
            <a:r>
              <a:rPr lang="en-US" dirty="0" smtClean="0"/>
              <a:t>Provisioning requests</a:t>
            </a:r>
          </a:p>
          <a:p>
            <a:pPr lvl="1"/>
            <a:r>
              <a:rPr lang="en-US" dirty="0" smtClean="0"/>
              <a:t>Allow RM to consider in selecting resources, minimize startup time due to provisioning</a:t>
            </a:r>
          </a:p>
          <a:p>
            <a:pPr lvl="1"/>
            <a:r>
              <a:rPr lang="en-US" dirty="0" smtClean="0"/>
              <a:t>Desired image, packages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Quality of service requests</a:t>
            </a:r>
          </a:p>
          <a:p>
            <a:pPr lvl="1"/>
            <a:r>
              <a:rPr lang="en-US" dirty="0" smtClean="0"/>
              <a:t>Bandwidth, traffic priority, power constraints</a:t>
            </a:r>
          </a:p>
          <a:p>
            <a:pPr lvl="1"/>
            <a:r>
              <a:rPr lang="en-US" dirty="0" smtClean="0"/>
              <a:t>Multi-fabric failover, striping prioritization</a:t>
            </a:r>
          </a:p>
          <a:p>
            <a:pPr lvl="1"/>
            <a:r>
              <a:rPr lang="en-US" dirty="0" smtClean="0"/>
              <a:t>Security requirements</a:t>
            </a:r>
          </a:p>
          <a:p>
            <a:pPr lvl="2"/>
            <a:r>
              <a:rPr lang="en-US" dirty="0" smtClean="0"/>
              <a:t>Network domain definitions, ACLs</a:t>
            </a:r>
          </a:p>
          <a:p>
            <a:r>
              <a:rPr lang="en-US" dirty="0" smtClean="0"/>
              <a:t>Notification requests</a:t>
            </a:r>
          </a:p>
          <a:p>
            <a:pPr lvl="1"/>
            <a:r>
              <a:rPr lang="en-US" dirty="0" smtClean="0"/>
              <a:t>State-of-health</a:t>
            </a:r>
          </a:p>
          <a:p>
            <a:pPr lvl="1"/>
            <a:r>
              <a:rPr lang="en-US" dirty="0" smtClean="0"/>
              <a:t>Update process endpoint upon fault recovery</a:t>
            </a:r>
          </a:p>
          <a:p>
            <a:r>
              <a:rPr lang="en-US" dirty="0" smtClean="0"/>
              <a:t>Topology information</a:t>
            </a:r>
          </a:p>
          <a:p>
            <a:pPr lvl="1"/>
            <a:r>
              <a:rPr lang="en-US" dirty="0" smtClean="0"/>
              <a:t>Torus, dragonfly, </a:t>
            </a:r>
            <a:r>
              <a:rPr lang="is-I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7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Control/Management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Application requests</a:t>
            </a:r>
          </a:p>
          <a:p>
            <a:pPr lvl="1"/>
            <a:r>
              <a:rPr lang="en-US" dirty="0" smtClean="0"/>
              <a:t>Advise of changing workload requirements</a:t>
            </a:r>
          </a:p>
          <a:p>
            <a:pPr lvl="1"/>
            <a:r>
              <a:rPr lang="en-US" dirty="0" smtClean="0"/>
              <a:t>Request changes in policy</a:t>
            </a:r>
          </a:p>
          <a:p>
            <a:pPr lvl="1"/>
            <a:r>
              <a:rPr lang="en-US" dirty="0" smtClean="0"/>
              <a:t>Specify desired policy for spawned applications</a:t>
            </a:r>
          </a:p>
          <a:p>
            <a:pPr lvl="1"/>
            <a:r>
              <a:rPr lang="en-US" dirty="0" smtClean="0"/>
              <a:t>Transfer allocated power to </a:t>
            </a:r>
            <a:r>
              <a:rPr lang="en-US" dirty="0" err="1" smtClean="0"/>
              <a:t>specifed</a:t>
            </a:r>
            <a:r>
              <a:rPr lang="en-US" dirty="0" smtClean="0"/>
              <a:t> job</a:t>
            </a:r>
          </a:p>
          <a:p>
            <a:r>
              <a:rPr lang="en-US" dirty="0" smtClean="0"/>
              <a:t>RM notifications</a:t>
            </a:r>
          </a:p>
          <a:p>
            <a:pPr lvl="1"/>
            <a:r>
              <a:rPr lang="en-US" dirty="0" smtClean="0"/>
              <a:t>Need to change power policy</a:t>
            </a:r>
          </a:p>
          <a:p>
            <a:pPr lvl="2"/>
            <a:r>
              <a:rPr lang="en-US" dirty="0" smtClean="0"/>
              <a:t>Allow application to accept</a:t>
            </a:r>
            <a:r>
              <a:rPr lang="en-US" smtClean="0"/>
              <a:t>, request pause</a:t>
            </a:r>
            <a:endParaRPr lang="en-US" dirty="0" smtClean="0"/>
          </a:p>
          <a:p>
            <a:pPr lvl="1"/>
            <a:r>
              <a:rPr lang="en-US" dirty="0" smtClean="0"/>
              <a:t>Preemption notification</a:t>
            </a:r>
          </a:p>
          <a:p>
            <a:r>
              <a:rPr lang="en-US" dirty="0" smtClean="0"/>
              <a:t>Provide backward compatibility with </a:t>
            </a:r>
            <a:r>
              <a:rPr lang="en-US" dirty="0" err="1" smtClean="0"/>
              <a:t>PowerAPI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732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Fault Tolerance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Notification</a:t>
            </a:r>
          </a:p>
          <a:p>
            <a:pPr lvl="1"/>
            <a:r>
              <a:rPr lang="en-US" dirty="0" smtClean="0"/>
              <a:t>App can register for event notifications, incipient faults</a:t>
            </a:r>
          </a:p>
          <a:p>
            <a:pPr lvl="2"/>
            <a:r>
              <a:rPr lang="en-US" dirty="0" smtClean="0"/>
              <a:t>RM-app negotiate to determine response</a:t>
            </a:r>
          </a:p>
          <a:p>
            <a:pPr lvl="1"/>
            <a:r>
              <a:rPr lang="en-US" dirty="0" smtClean="0"/>
              <a:t>App can notify RM of errors</a:t>
            </a:r>
          </a:p>
          <a:p>
            <a:pPr lvl="2"/>
            <a:r>
              <a:rPr lang="en-US" dirty="0" smtClean="0"/>
              <a:t>RM will notify specified, registered </a:t>
            </a:r>
            <a:r>
              <a:rPr lang="en-US" dirty="0" err="1" smtClean="0"/>
              <a:t>procs</a:t>
            </a:r>
            <a:endParaRPr lang="en-US" dirty="0" smtClean="0"/>
          </a:p>
          <a:p>
            <a:r>
              <a:rPr lang="en-US" dirty="0" smtClean="0"/>
              <a:t>Rapid application-driven checkpoint</a:t>
            </a:r>
          </a:p>
          <a:p>
            <a:pPr lvl="1"/>
            <a:r>
              <a:rPr lang="en-US" sz="2600" dirty="0" smtClean="0"/>
              <a:t>Local on-node NVRAM, auto-stripe checkpoints</a:t>
            </a:r>
          </a:p>
          <a:p>
            <a:pPr lvl="1"/>
            <a:r>
              <a:rPr lang="en-US" sz="2600" dirty="0" smtClean="0"/>
              <a:t>Policy-driven “bleed” to remote burst buffers and/or global file system</a:t>
            </a:r>
          </a:p>
          <a:p>
            <a:r>
              <a:rPr lang="en-US" dirty="0" smtClean="0"/>
              <a:t>Restart support</a:t>
            </a:r>
          </a:p>
          <a:p>
            <a:pPr lvl="1"/>
            <a:r>
              <a:rPr lang="en-US" sz="2600" dirty="0" smtClean="0"/>
              <a:t>Specify source (remote NVM checkpoint, global </a:t>
            </a:r>
            <a:r>
              <a:rPr lang="en-US" sz="2600" smtClean="0"/>
              <a:t>filesystem)</a:t>
            </a:r>
            <a:endParaRPr lang="en-US" sz="2600" dirty="0" smtClean="0"/>
          </a:p>
          <a:p>
            <a:pPr lvl="1"/>
            <a:r>
              <a:rPr lang="en-US" sz="2600" dirty="0" smtClean="0"/>
              <a:t>Location hints/requests</a:t>
            </a:r>
          </a:p>
          <a:p>
            <a:pPr lvl="1"/>
            <a:r>
              <a:rPr lang="en-US" sz="2600" dirty="0" smtClean="0"/>
              <a:t>Entire job, specific processes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9331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Prediction: Methodology</a:t>
            </a:r>
            <a:endParaRPr lang="en-US" dirty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Exploit access to internals</a:t>
            </a:r>
          </a:p>
          <a:p>
            <a:pPr lvl="1"/>
            <a:r>
              <a:rPr lang="en-US" dirty="0" smtClean="0"/>
              <a:t>Investigate optimal location, number of sensors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Embed intelligence, communications capability</a:t>
            </a:r>
          </a:p>
          <a:p>
            <a:r>
              <a:rPr lang="en-US" dirty="0" smtClean="0"/>
              <a:t>Integrate data from all available sources</a:t>
            </a:r>
          </a:p>
          <a:p>
            <a:pPr lvl="1"/>
            <a:r>
              <a:rPr lang="en-US" dirty="0" smtClean="0"/>
              <a:t>Engineering design tests</a:t>
            </a:r>
          </a:p>
          <a:p>
            <a:pPr lvl="1"/>
            <a:r>
              <a:rPr lang="en-US" dirty="0" smtClean="0"/>
              <a:t>Reliability life tests</a:t>
            </a:r>
          </a:p>
          <a:p>
            <a:pPr lvl="1"/>
            <a:r>
              <a:rPr lang="en-US" dirty="0" smtClean="0"/>
              <a:t>Production qualification tests</a:t>
            </a:r>
          </a:p>
          <a:p>
            <a:r>
              <a:rPr lang="en-US" dirty="0" smtClean="0"/>
              <a:t>Utilize learning algorithms to improve performance</a:t>
            </a:r>
          </a:p>
          <a:p>
            <a:pPr lvl="1"/>
            <a:r>
              <a:rPr lang="en-US" dirty="0" smtClean="0"/>
              <a:t>Both embedded, post process</a:t>
            </a:r>
          </a:p>
          <a:p>
            <a:pPr lvl="1"/>
            <a:r>
              <a:rPr lang="en-US" dirty="0" smtClean="0"/>
              <a:t>Seed with expert knowledge</a:t>
            </a:r>
          </a:p>
        </p:txBody>
      </p:sp>
    </p:spTree>
    <p:extLst>
      <p:ext uri="{BB962C8B-B14F-4D97-AF65-F5344CB8AC3E}">
        <p14:creationId xmlns:p14="http://schemas.microsoft.com/office/powerpoint/2010/main" val="9731907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Prediction: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Continuous update of mean-time-to-preventative-maintenance</a:t>
            </a:r>
          </a:p>
          <a:p>
            <a:pPr lvl="1"/>
            <a:r>
              <a:rPr lang="en-US" dirty="0" smtClean="0"/>
              <a:t>Feed into projected downtime planning</a:t>
            </a:r>
          </a:p>
          <a:p>
            <a:pPr lvl="1"/>
            <a:r>
              <a:rPr lang="en-US" dirty="0" smtClean="0"/>
              <a:t>Incorporate into scheduling algorithm</a:t>
            </a:r>
          </a:p>
          <a:p>
            <a:r>
              <a:rPr lang="en-US" dirty="0" smtClean="0"/>
              <a:t>Alarm reports for imminent failures</a:t>
            </a:r>
          </a:p>
          <a:p>
            <a:pPr lvl="1"/>
            <a:r>
              <a:rPr lang="en-US" dirty="0" smtClean="0"/>
              <a:t>Notify impacted sessions/applications</a:t>
            </a:r>
          </a:p>
          <a:p>
            <a:pPr lvl="1"/>
            <a:r>
              <a:rPr lang="en-US" dirty="0" smtClean="0"/>
              <a:t>Plan/execute preemptive actions</a:t>
            </a:r>
          </a:p>
          <a:p>
            <a:r>
              <a:rPr lang="en-US" dirty="0" smtClean="0"/>
              <a:t>Store predictions</a:t>
            </a:r>
          </a:p>
          <a:p>
            <a:pPr lvl="1"/>
            <a:r>
              <a:rPr lang="en-US" dirty="0" smtClean="0"/>
              <a:t>Algorithm improvement</a:t>
            </a:r>
          </a:p>
        </p:txBody>
      </p:sp>
    </p:spTree>
    <p:extLst>
      <p:ext uri="{BB962C8B-B14F-4D97-AF65-F5344CB8AC3E}">
        <p14:creationId xmlns:p14="http://schemas.microsoft.com/office/powerpoint/2010/main" val="194475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Orchestration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Growing range of workflow patterns</a:t>
            </a:r>
          </a:p>
          <a:p>
            <a:pPr lvl="1"/>
            <a:r>
              <a:rPr lang="en-US" dirty="0" smtClean="0"/>
              <a:t>Traditional HPC: bulk synchronous, single application</a:t>
            </a:r>
          </a:p>
          <a:p>
            <a:pPr lvl="1"/>
            <a:r>
              <a:rPr lang="en-US" dirty="0" smtClean="0"/>
              <a:t>Analytics: asynchronous, staged</a:t>
            </a:r>
          </a:p>
          <a:p>
            <a:pPr lvl="1"/>
            <a:r>
              <a:rPr lang="en-US" dirty="0" smtClean="0"/>
              <a:t>Parametric: large number of simultaneous independent jobs</a:t>
            </a:r>
          </a:p>
          <a:p>
            <a:r>
              <a:rPr lang="en-US" dirty="0" smtClean="0"/>
              <a:t>Ability to dynamically spawn a job</a:t>
            </a:r>
          </a:p>
          <a:p>
            <a:pPr lvl="1"/>
            <a:r>
              <a:rPr lang="en-US" dirty="0" smtClean="0"/>
              <a:t>Need flexibility – min/max size, rolling allocation, …</a:t>
            </a:r>
          </a:p>
          <a:p>
            <a:pPr lvl="1"/>
            <a:r>
              <a:rPr lang="en-US" dirty="0" smtClean="0"/>
              <a:t>Events between jobs and cross-linking of I/O</a:t>
            </a:r>
          </a:p>
          <a:p>
            <a:pPr lvl="1"/>
            <a:r>
              <a:rPr lang="en-US" dirty="0" smtClean="0"/>
              <a:t>Queuing of spawn requests</a:t>
            </a:r>
          </a:p>
          <a:p>
            <a:r>
              <a:rPr lang="en-US" dirty="0" smtClean="0"/>
              <a:t>Tool interfaces that work in these environments</a:t>
            </a:r>
          </a:p>
        </p:txBody>
      </p:sp>
    </p:spTree>
    <p:extLst>
      <p:ext uri="{BB962C8B-B14F-4D97-AF65-F5344CB8AC3E}">
        <p14:creationId xmlns:p14="http://schemas.microsoft.com/office/powerpoint/2010/main" val="83826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7239000" y="5943600"/>
            <a:ext cx="1905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Workload Manager: Job Description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Complexity of describing job is growing</a:t>
            </a:r>
          </a:p>
          <a:p>
            <a:pPr lvl="1"/>
            <a:r>
              <a:rPr lang="en-US" dirty="0" smtClean="0"/>
              <a:t>Power, file/lib positioning</a:t>
            </a:r>
            <a:endParaRPr lang="en-US" dirty="0"/>
          </a:p>
          <a:p>
            <a:pPr lvl="1"/>
            <a:r>
              <a:rPr lang="en-US" dirty="0" smtClean="0"/>
              <a:t>Performance </a:t>
            </a:r>
            <a:r>
              <a:rPr lang="en-US" dirty="0" err="1" smtClean="0"/>
              <a:t>vs</a:t>
            </a:r>
            <a:r>
              <a:rPr lang="en-US" dirty="0" smtClean="0"/>
              <a:t> capacity, programming model</a:t>
            </a:r>
          </a:p>
          <a:p>
            <a:pPr lvl="1"/>
            <a:r>
              <a:rPr lang="en-US" dirty="0" smtClean="0"/>
              <a:t>System, project, application-level defaults</a:t>
            </a:r>
          </a:p>
          <a:p>
            <a:r>
              <a:rPr lang="en-US" dirty="0" smtClean="0"/>
              <a:t>Provide templates?</a:t>
            </a:r>
          </a:p>
          <a:p>
            <a:pPr lvl="1"/>
            <a:r>
              <a:rPr lang="en-US" dirty="0" smtClean="0"/>
              <a:t>System defaults, with modifiers</a:t>
            </a:r>
          </a:p>
          <a:p>
            <a:pPr lvl="2"/>
            <a:r>
              <a:rPr lang="en-US" dirty="0" smtClean="0"/>
              <a:t>--</a:t>
            </a:r>
            <a:r>
              <a:rPr lang="en-US" dirty="0" err="1" smtClean="0"/>
              <a:t>hadoop:mapper</a:t>
            </a:r>
            <a:r>
              <a:rPr lang="en-US" dirty="0" smtClean="0"/>
              <a:t>=</a:t>
            </a:r>
            <a:r>
              <a:rPr lang="en-US" dirty="0" err="1" smtClean="0"/>
              <a:t>foo,reducer</a:t>
            </a:r>
            <a:r>
              <a:rPr lang="en-US" dirty="0" smtClean="0"/>
              <a:t>=bar</a:t>
            </a:r>
          </a:p>
          <a:p>
            <a:pPr lvl="1"/>
            <a:r>
              <a:rPr lang="en-US" dirty="0" smtClean="0"/>
              <a:t>User-defined</a:t>
            </a:r>
          </a:p>
          <a:p>
            <a:pPr lvl="2"/>
            <a:r>
              <a:rPr lang="en-US" dirty="0" smtClean="0"/>
              <a:t>Application templates</a:t>
            </a:r>
          </a:p>
          <a:p>
            <a:pPr lvl="2"/>
            <a:r>
              <a:rPr lang="en-US" dirty="0" smtClean="0"/>
              <a:t>Shared, group templates</a:t>
            </a:r>
          </a:p>
          <a:p>
            <a:pPr lvl="1"/>
            <a:r>
              <a:rPr lang="en-US" dirty="0" smtClean="0"/>
              <a:t>Markup language definition of behaviors, priorities</a:t>
            </a:r>
          </a:p>
          <a:p>
            <a:pPr lvl="2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829050"/>
            <a:ext cx="1447800" cy="1085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7481" y="3648616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30 </a:t>
            </a:r>
            <a:r>
              <a:rPr lang="en-US" i="1" dirty="0" err="1">
                <a:solidFill>
                  <a:srgbClr val="0000FF"/>
                </a:solidFill>
              </a:rPr>
              <a:t>yrs</a:t>
            </a:r>
            <a:endParaRPr lang="en-US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23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Roadmap</a:t>
            </a:r>
            <a:endParaRPr lang="en-US" dirty="0"/>
          </a:p>
        </p:txBody>
      </p:sp>
      <p:sp>
        <p:nvSpPr>
          <p:cNvPr id="5" name="Striped Right Arrow 4"/>
          <p:cNvSpPr/>
          <p:nvPr/>
        </p:nvSpPr>
        <p:spPr bwMode="auto">
          <a:xfrm>
            <a:off x="609600" y="2971800"/>
            <a:ext cx="60960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16" y="26670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2014</a:t>
            </a:r>
            <a:endParaRPr lang="en-US" sz="1800"/>
          </a:p>
        </p:txBody>
      </p:sp>
      <p:sp>
        <p:nvSpPr>
          <p:cNvPr id="7" name="TextBox 6"/>
          <p:cNvSpPr txBox="1"/>
          <p:nvPr/>
        </p:nvSpPr>
        <p:spPr>
          <a:xfrm>
            <a:off x="786413" y="237203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1/2016</a:t>
            </a:r>
            <a:endParaRPr lang="en-US" sz="1800"/>
          </a:p>
        </p:txBody>
      </p:sp>
      <p:cxnSp>
        <p:nvCxnSpPr>
          <p:cNvPr id="9" name="Straight Connector 8"/>
          <p:cNvCxnSpPr>
            <a:stCxn id="7" idx="2"/>
          </p:cNvCxnSpPr>
          <p:nvPr/>
        </p:nvCxnSpPr>
        <p:spPr bwMode="auto">
          <a:xfrm flipH="1">
            <a:off x="1224412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881322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1.1.3</a:t>
            </a:r>
            <a:endParaRPr lang="en-US" sz="1800"/>
          </a:p>
        </p:txBody>
      </p:sp>
      <p:sp>
        <p:nvSpPr>
          <p:cNvPr id="11" name="TextBox 10"/>
          <p:cNvSpPr txBox="1"/>
          <p:nvPr/>
        </p:nvSpPr>
        <p:spPr>
          <a:xfrm>
            <a:off x="304800" y="3967316"/>
            <a:ext cx="4557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Full </a:t>
            </a:r>
            <a:r>
              <a:rPr lang="en-US" sz="1800" dirty="0" err="1" smtClean="0"/>
              <a:t>PMIx</a:t>
            </a:r>
            <a:r>
              <a:rPr lang="en-US" sz="1800" dirty="0" smtClean="0"/>
              <a:t> reference server in </a:t>
            </a:r>
            <a:r>
              <a:rPr lang="en-US" sz="1800" dirty="0" err="1" smtClean="0"/>
              <a:t>OpenMPI</a:t>
            </a:r>
            <a:endParaRPr lang="en-US" sz="1800" dirty="0" smtClean="0"/>
          </a:p>
          <a:p>
            <a:r>
              <a:rPr lang="en-US" sz="1800" dirty="0" smtClean="0"/>
              <a:t>Client library includes all APIs used by MPI</a:t>
            </a:r>
          </a:p>
          <a:p>
            <a:r>
              <a:rPr lang="en-US" sz="1800" dirty="0" smtClean="0"/>
              <a:t>SLURM server integration complete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852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Roadmap</a:t>
            </a:r>
            <a:endParaRPr lang="en-US" dirty="0"/>
          </a:p>
        </p:txBody>
      </p:sp>
      <p:sp>
        <p:nvSpPr>
          <p:cNvPr id="5" name="Striped Right Arrow 4"/>
          <p:cNvSpPr/>
          <p:nvPr/>
        </p:nvSpPr>
        <p:spPr bwMode="auto">
          <a:xfrm>
            <a:off x="609600" y="2971800"/>
            <a:ext cx="60960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16" y="26670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2014</a:t>
            </a:r>
            <a:endParaRPr lang="en-US" sz="1800"/>
          </a:p>
        </p:txBody>
      </p:sp>
      <p:sp>
        <p:nvSpPr>
          <p:cNvPr id="7" name="TextBox 6"/>
          <p:cNvSpPr txBox="1"/>
          <p:nvPr/>
        </p:nvSpPr>
        <p:spPr>
          <a:xfrm>
            <a:off x="786413" y="237203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1/2016</a:t>
            </a:r>
            <a:endParaRPr lang="en-US" sz="1800" dirty="0"/>
          </a:p>
        </p:txBody>
      </p:sp>
      <p:cxnSp>
        <p:nvCxnSpPr>
          <p:cNvPr id="9" name="Straight Connector 8"/>
          <p:cNvCxnSpPr>
            <a:stCxn id="7" idx="2"/>
          </p:cNvCxnSpPr>
          <p:nvPr/>
        </p:nvCxnSpPr>
        <p:spPr bwMode="auto">
          <a:xfrm flipH="1">
            <a:off x="1224412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881322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1.1.3</a:t>
            </a:r>
            <a:endParaRPr lang="en-US" sz="1800"/>
          </a:p>
        </p:txBody>
      </p:sp>
      <p:sp>
        <p:nvSpPr>
          <p:cNvPr id="3" name="TextBox 2"/>
          <p:cNvSpPr txBox="1"/>
          <p:nvPr/>
        </p:nvSpPr>
        <p:spPr>
          <a:xfrm>
            <a:off x="2362200" y="237203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2Q2016</a:t>
            </a:r>
            <a:endParaRPr lang="en-US" sz="1800" dirty="0"/>
          </a:p>
        </p:txBody>
      </p:sp>
      <p:sp>
        <p:nvSpPr>
          <p:cNvPr id="12" name="Striped Right Arrow 11"/>
          <p:cNvSpPr/>
          <p:nvPr/>
        </p:nvSpPr>
        <p:spPr bwMode="auto">
          <a:xfrm>
            <a:off x="1257490" y="2969964"/>
            <a:ext cx="156191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12405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2463591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2.0.0</a:t>
            </a:r>
            <a:endParaRPr 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04354" y="4026932"/>
            <a:ext cx="33137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Support for new APIs:</a:t>
            </a:r>
          </a:p>
          <a:p>
            <a:pPr marL="457200" indent="-165100">
              <a:buFont typeface="Arial" charset="0"/>
              <a:buChar char="•"/>
            </a:pPr>
            <a:r>
              <a:rPr lang="en-US" sz="1800" dirty="0" smtClean="0"/>
              <a:t>Event notification</a:t>
            </a:r>
          </a:p>
          <a:p>
            <a:pPr marL="457200" indent="-165100">
              <a:buFont typeface="Arial" charset="0"/>
              <a:buChar char="•"/>
            </a:pPr>
            <a:r>
              <a:rPr lang="en-US" sz="1800" dirty="0" smtClean="0"/>
              <a:t>Flexible allocation</a:t>
            </a:r>
          </a:p>
          <a:p>
            <a:pPr marL="457200" indent="-165100">
              <a:buFont typeface="Arial" charset="0"/>
              <a:buChar char="•"/>
            </a:pPr>
            <a:r>
              <a:rPr lang="en-US" sz="1800" dirty="0" smtClean="0"/>
              <a:t>System query</a:t>
            </a:r>
          </a:p>
          <a:p>
            <a:pPr marL="6350"/>
            <a:r>
              <a:rPr lang="en-US" sz="2000" dirty="0" smtClean="0"/>
              <a:t>Scaling support:</a:t>
            </a:r>
          </a:p>
          <a:p>
            <a:pPr marL="457200" indent="-165100">
              <a:buFont typeface="Arial" charset="0"/>
              <a:buChar char="•"/>
            </a:pPr>
            <a:r>
              <a:rPr lang="en-US" sz="1800" dirty="0" smtClean="0"/>
              <a:t>Shared memory </a:t>
            </a:r>
            <a:r>
              <a:rPr lang="en-US" sz="1800" dirty="0" err="1" smtClean="0"/>
              <a:t>datastore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67373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Roadmap</a:t>
            </a:r>
            <a:endParaRPr lang="en-US" dirty="0"/>
          </a:p>
        </p:txBody>
      </p:sp>
      <p:sp>
        <p:nvSpPr>
          <p:cNvPr id="5" name="Striped Right Arrow 4"/>
          <p:cNvSpPr/>
          <p:nvPr/>
        </p:nvSpPr>
        <p:spPr bwMode="auto">
          <a:xfrm>
            <a:off x="609600" y="2971800"/>
            <a:ext cx="60960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16" y="26670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2014</a:t>
            </a:r>
            <a:endParaRPr lang="en-US" sz="1800"/>
          </a:p>
        </p:txBody>
      </p:sp>
      <p:sp>
        <p:nvSpPr>
          <p:cNvPr id="7" name="TextBox 6"/>
          <p:cNvSpPr txBox="1"/>
          <p:nvPr/>
        </p:nvSpPr>
        <p:spPr>
          <a:xfrm>
            <a:off x="786413" y="237203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1/2016</a:t>
            </a:r>
            <a:endParaRPr lang="en-US" sz="1800" dirty="0"/>
          </a:p>
        </p:txBody>
      </p:sp>
      <p:cxnSp>
        <p:nvCxnSpPr>
          <p:cNvPr id="9" name="Straight Connector 8"/>
          <p:cNvCxnSpPr>
            <a:stCxn id="7" idx="2"/>
          </p:cNvCxnSpPr>
          <p:nvPr/>
        </p:nvCxnSpPr>
        <p:spPr bwMode="auto">
          <a:xfrm flipH="1">
            <a:off x="1224412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881322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1.1.3</a:t>
            </a:r>
            <a:endParaRPr lang="en-US" sz="1800"/>
          </a:p>
        </p:txBody>
      </p:sp>
      <p:sp>
        <p:nvSpPr>
          <p:cNvPr id="3" name="TextBox 2"/>
          <p:cNvSpPr txBox="1"/>
          <p:nvPr/>
        </p:nvSpPr>
        <p:spPr>
          <a:xfrm>
            <a:off x="2362200" y="237203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2Q2016</a:t>
            </a:r>
            <a:endParaRPr lang="en-US" sz="1800" dirty="0"/>
          </a:p>
        </p:txBody>
      </p:sp>
      <p:sp>
        <p:nvSpPr>
          <p:cNvPr id="12" name="Striped Right Arrow 11"/>
          <p:cNvSpPr/>
          <p:nvPr/>
        </p:nvSpPr>
        <p:spPr bwMode="auto">
          <a:xfrm>
            <a:off x="1257490" y="2969964"/>
            <a:ext cx="156191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12405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2463591" y="3657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2.0.0</a:t>
            </a:r>
            <a:endParaRPr lang="en-US" sz="1800"/>
          </a:p>
        </p:txBody>
      </p:sp>
      <p:sp>
        <p:nvSpPr>
          <p:cNvPr id="14" name="TextBox 13"/>
          <p:cNvSpPr txBox="1"/>
          <p:nvPr/>
        </p:nvSpPr>
        <p:spPr>
          <a:xfrm>
            <a:off x="3886200" y="237770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3</a:t>
            </a:r>
            <a:r>
              <a:rPr lang="en-US" sz="1800" dirty="0" smtClean="0"/>
              <a:t>Q2016</a:t>
            </a:r>
            <a:endParaRPr lang="en-US" sz="1800" dirty="0"/>
          </a:p>
        </p:txBody>
      </p:sp>
      <p:sp>
        <p:nvSpPr>
          <p:cNvPr id="15" name="Striped Right Arrow 14"/>
          <p:cNvSpPr/>
          <p:nvPr/>
        </p:nvSpPr>
        <p:spPr bwMode="auto">
          <a:xfrm>
            <a:off x="2827519" y="2969964"/>
            <a:ext cx="156191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16" name="Straight Connector 15"/>
          <p:cNvCxnSpPr/>
          <p:nvPr/>
        </p:nvCxnSpPr>
        <p:spPr bwMode="auto">
          <a:xfrm flipH="1">
            <a:off x="4381906" y="2741364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923841" y="1796067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RM Production Release*</a:t>
            </a:r>
            <a:endParaRPr lang="en-US" sz="1800" dirty="0"/>
          </a:p>
        </p:txBody>
      </p:sp>
      <p:sp>
        <p:nvSpPr>
          <p:cNvPr id="17" name="Left-Right Arrow 16"/>
          <p:cNvSpPr/>
          <p:nvPr/>
        </p:nvSpPr>
        <p:spPr bwMode="auto">
          <a:xfrm>
            <a:off x="2362200" y="2165399"/>
            <a:ext cx="6096000" cy="177709"/>
          </a:xfrm>
          <a:prstGeom prst="left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61376" y="368012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2.1</a:t>
            </a:r>
            <a:endParaRPr lang="en-US" sz="1800"/>
          </a:p>
        </p:txBody>
      </p:sp>
      <p:sp>
        <p:nvSpPr>
          <p:cNvPr id="19" name="TextBox 18"/>
          <p:cNvSpPr txBox="1"/>
          <p:nvPr/>
        </p:nvSpPr>
        <p:spPr>
          <a:xfrm>
            <a:off x="3842747" y="4040011"/>
            <a:ext cx="337464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Fabric manager integration</a:t>
            </a:r>
          </a:p>
          <a:p>
            <a:pPr marL="517525" indent="-173038">
              <a:buFont typeface="Arial" charset="0"/>
              <a:buChar char="•"/>
            </a:pPr>
            <a:r>
              <a:rPr lang="en-US" sz="1800" dirty="0" smtClean="0"/>
              <a:t>Topology info</a:t>
            </a:r>
          </a:p>
          <a:p>
            <a:pPr marL="517525" indent="-173038">
              <a:buFont typeface="Arial" charset="0"/>
              <a:buChar char="•"/>
            </a:pPr>
            <a:r>
              <a:rPr lang="en-US" sz="1800" dirty="0" smtClean="0"/>
              <a:t>Event reports</a:t>
            </a:r>
          </a:p>
          <a:p>
            <a:pPr marL="517525" indent="-173038">
              <a:buFont typeface="Arial" charset="0"/>
              <a:buChar char="•"/>
            </a:pPr>
            <a:r>
              <a:rPr lang="en-US" sz="1800" dirty="0" smtClean="0"/>
              <a:t>Process endpoint updates</a:t>
            </a:r>
          </a:p>
          <a:p>
            <a:r>
              <a:rPr lang="en-US" sz="2000" dirty="0" smtClean="0"/>
              <a:t>File system integration</a:t>
            </a:r>
          </a:p>
          <a:p>
            <a:pPr marL="517525" indent="-173038">
              <a:buFont typeface="Arial" charset="0"/>
              <a:buChar char="•"/>
            </a:pPr>
            <a:r>
              <a:rPr lang="en-US" sz="1800" dirty="0" smtClean="0"/>
              <a:t>Pre-position requests</a:t>
            </a:r>
            <a:endParaRPr lang="en-US" sz="1800" dirty="0"/>
          </a:p>
        </p:txBody>
      </p:sp>
      <p:sp>
        <p:nvSpPr>
          <p:cNvPr id="20" name="TextBox 19"/>
          <p:cNvSpPr txBox="1"/>
          <p:nvPr/>
        </p:nvSpPr>
        <p:spPr>
          <a:xfrm>
            <a:off x="5455701" y="2378715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4Q2016</a:t>
            </a:r>
            <a:endParaRPr lang="en-US" sz="1800" dirty="0"/>
          </a:p>
        </p:txBody>
      </p:sp>
      <p:sp>
        <p:nvSpPr>
          <p:cNvPr id="21" name="Striped Right Arrow 20"/>
          <p:cNvSpPr/>
          <p:nvPr/>
        </p:nvSpPr>
        <p:spPr bwMode="auto">
          <a:xfrm>
            <a:off x="4399969" y="2970389"/>
            <a:ext cx="156191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22" name="Straight Connector 21"/>
          <p:cNvCxnSpPr/>
          <p:nvPr/>
        </p:nvCxnSpPr>
        <p:spPr bwMode="auto">
          <a:xfrm flipH="1">
            <a:off x="5954356" y="2741789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flipH="1">
            <a:off x="5130987" y="2748047"/>
            <a:ext cx="6995" cy="91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Striped Right Arrow 23"/>
          <p:cNvSpPr/>
          <p:nvPr/>
        </p:nvSpPr>
        <p:spPr bwMode="auto">
          <a:xfrm>
            <a:off x="5996770" y="2969964"/>
            <a:ext cx="2537630" cy="3048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402" y="6172200"/>
            <a:ext cx="357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*SLURM, IBM, Moab, </a:t>
            </a:r>
            <a:r>
              <a:rPr lang="en-US" sz="1800" dirty="0" err="1" smtClean="0"/>
              <a:t>PBSPro</a:t>
            </a:r>
            <a:r>
              <a:rPr lang="en-US" sz="1800" dirty="0" smtClean="0"/>
              <a:t>,</a:t>
            </a:r>
            <a:r>
              <a:rPr lang="is-IS" sz="1800" dirty="0" smtClean="0"/>
              <a:t>…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9000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 Line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9100" y="2057400"/>
            <a:ext cx="8305800" cy="1371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We now have an interface library to support application-directed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0700" y="3810000"/>
            <a:ext cx="5562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 smtClean="0">
                <a:solidFill>
                  <a:srgbClr val="FF0000"/>
                </a:solidFill>
              </a:rPr>
              <a:t>Community is working to define what they want </a:t>
            </a:r>
            <a:r>
              <a:rPr lang="en-US" sz="3200" i="1" dirty="0">
                <a:solidFill>
                  <a:srgbClr val="FF0000"/>
                </a:solidFill>
              </a:rPr>
              <a:t>to do with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0700" y="5268218"/>
            <a:ext cx="556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u="sng" dirty="0" smtClean="0">
                <a:solidFill>
                  <a:srgbClr val="00B050"/>
                </a:solidFill>
              </a:rPr>
              <a:t>For any programming model</a:t>
            </a:r>
          </a:p>
          <a:p>
            <a:pPr algn="ctr"/>
            <a:r>
              <a:rPr lang="en-US" i="1" dirty="0" smtClean="0">
                <a:solidFill>
                  <a:srgbClr val="00B050"/>
                </a:solidFill>
              </a:rPr>
              <a:t>MPI, OSHMEM, PGAS,…</a:t>
            </a:r>
            <a:endParaRPr lang="en-US" sz="32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47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mpi-workshop-template">
  <a:themeElements>
    <a:clrScheme name="ompi-workshop-template 3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B87F2"/>
      </a:accent1>
      <a:accent2>
        <a:srgbClr val="555555"/>
      </a:accent2>
      <a:accent3>
        <a:srgbClr val="FFFFFF"/>
      </a:accent3>
      <a:accent4>
        <a:srgbClr val="000000"/>
      </a:accent4>
      <a:accent5>
        <a:srgbClr val="B5C3F7"/>
      </a:accent5>
      <a:accent6>
        <a:srgbClr val="4C4C4C"/>
      </a:accent6>
      <a:hlink>
        <a:srgbClr val="5DA31E"/>
      </a:hlink>
      <a:folHlink>
        <a:srgbClr val="BAD41A"/>
      </a:folHlink>
    </a:clrScheme>
    <a:fontScheme name="ompi-workshop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ompi-workshop-template 1">
        <a:dk1>
          <a:srgbClr val="000000"/>
        </a:dk1>
        <a:lt1>
          <a:srgbClr val="FFFFFF"/>
        </a:lt1>
        <a:dk2>
          <a:srgbClr val="003366"/>
        </a:dk2>
        <a:lt2>
          <a:srgbClr val="AAAAAA"/>
        </a:lt2>
        <a:accent1>
          <a:srgbClr val="EEEEEE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F5F5F5"/>
        </a:accent5>
        <a:accent6>
          <a:srgbClr val="002D5C"/>
        </a:accent6>
        <a:hlink>
          <a:srgbClr val="5B87F2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2">
        <a:dk1>
          <a:srgbClr val="000000"/>
        </a:dk1>
        <a:lt1>
          <a:srgbClr val="FFFFFF"/>
        </a:lt1>
        <a:dk2>
          <a:srgbClr val="FFFFFF"/>
        </a:dk2>
        <a:lt2>
          <a:srgbClr val="888888"/>
        </a:lt2>
        <a:accent1>
          <a:srgbClr val="BAD41A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D9E6AB"/>
        </a:accent5>
        <a:accent6>
          <a:srgbClr val="744BBD"/>
        </a:accent6>
        <a:hlink>
          <a:srgbClr val="5DA31E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B87F2"/>
        </a:accent1>
        <a:accent2>
          <a:srgbClr val="555555"/>
        </a:accent2>
        <a:accent3>
          <a:srgbClr val="FFFFFF"/>
        </a:accent3>
        <a:accent4>
          <a:srgbClr val="000000"/>
        </a:accent4>
        <a:accent5>
          <a:srgbClr val="B5C3F7"/>
        </a:accent5>
        <a:accent6>
          <a:srgbClr val="4C4C4C"/>
        </a:accent6>
        <a:hlink>
          <a:srgbClr val="5DA31E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A8A8"/>
        </a:accent1>
        <a:accent2>
          <a:srgbClr val="FFCC18"/>
        </a:accent2>
        <a:accent3>
          <a:srgbClr val="FFFFFF"/>
        </a:accent3>
        <a:accent4>
          <a:srgbClr val="000000"/>
        </a:accent4>
        <a:accent5>
          <a:srgbClr val="FFD1D1"/>
        </a:accent5>
        <a:accent6>
          <a:srgbClr val="E7B915"/>
        </a:accent6>
        <a:hlink>
          <a:srgbClr val="6876E7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6E658"/>
        </a:accent1>
        <a:accent2>
          <a:srgbClr val="8CBC1C"/>
        </a:accent2>
        <a:accent3>
          <a:srgbClr val="FFFFFF"/>
        </a:accent3>
        <a:accent4>
          <a:srgbClr val="000000"/>
        </a:accent4>
        <a:accent5>
          <a:srgbClr val="F0F0B4"/>
        </a:accent5>
        <a:accent6>
          <a:srgbClr val="7EAA18"/>
        </a:accent6>
        <a:hlink>
          <a:srgbClr val="6876E7"/>
        </a:hlink>
        <a:folHlink>
          <a:srgbClr val="5FBD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6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5918BB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B5ABDA"/>
        </a:accent5>
        <a:accent6>
          <a:srgbClr val="744BBD"/>
        </a:accent6>
        <a:hlink>
          <a:srgbClr val="DC54AD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7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FF7518"/>
        </a:accent1>
        <a:accent2>
          <a:srgbClr val="888888"/>
        </a:accent2>
        <a:accent3>
          <a:srgbClr val="FFFFFF"/>
        </a:accent3>
        <a:accent4>
          <a:srgbClr val="000000"/>
        </a:accent4>
        <a:accent5>
          <a:srgbClr val="FFBDAB"/>
        </a:accent5>
        <a:accent6>
          <a:srgbClr val="7B7B7B"/>
        </a:accent6>
        <a:hlink>
          <a:srgbClr val="8CBC1C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7556C59-F0C7-6645-B5AB-2707A1FED1F8}"/>
    </a:ext>
  </a:extLst>
</a:theme>
</file>

<file path=ppt/theme/theme2.xml><?xml version="1.0" encoding="utf-8"?>
<a:theme xmlns:a="http://schemas.openxmlformats.org/drawingml/2006/main" name="PPT_Temp_Corp_4x3_BLK_2007 - Copy">
  <a:themeElements>
    <a:clrScheme name="PPT_Template_Corp_4x3_rev1 1">
      <a:dk1>
        <a:srgbClr val="808080"/>
      </a:dk1>
      <a:lt1>
        <a:srgbClr val="FFFFFF"/>
      </a:lt1>
      <a:dk2>
        <a:srgbClr val="000000"/>
      </a:dk2>
      <a:lt2>
        <a:srgbClr val="B9E700"/>
      </a:lt2>
      <a:accent1>
        <a:srgbClr val="33CCCC"/>
      </a:accent1>
      <a:accent2>
        <a:srgbClr val="FF9933"/>
      </a:accent2>
      <a:accent3>
        <a:srgbClr val="AAAAAA"/>
      </a:accent3>
      <a:accent4>
        <a:srgbClr val="DADADA"/>
      </a:accent4>
      <a:accent5>
        <a:srgbClr val="ADE2E2"/>
      </a:accent5>
      <a:accent6>
        <a:srgbClr val="E78A2D"/>
      </a:accent6>
      <a:hlink>
        <a:srgbClr val="99CCFF"/>
      </a:hlink>
      <a:folHlink>
        <a:srgbClr val="0000FF"/>
      </a:folHlink>
    </a:clrScheme>
    <a:fontScheme name="PPT_Template_Corp_4x3_re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Corp_4x3_rev1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098944D-4998-DA4A-B120-6A0C919751F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pmix-bof-template</Template>
  <TotalTime>8180</TotalTime>
  <Words>1501</Words>
  <Application>Microsoft Macintosh PowerPoint</Application>
  <PresentationFormat>On-screen Show (4:3)</PresentationFormat>
  <Paragraphs>334</Paragraphs>
  <Slides>34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ＭＳ Ｐゴシック</vt:lpstr>
      <vt:lpstr>Symbol</vt:lpstr>
      <vt:lpstr>Times</vt:lpstr>
      <vt:lpstr>Wingdings</vt:lpstr>
      <vt:lpstr>ompi-workshop-template</vt:lpstr>
      <vt:lpstr>PPT_Temp_Corp_4x3_BLK_2007 - Copy</vt:lpstr>
      <vt:lpstr>Worksheet</vt:lpstr>
      <vt:lpstr>Process Management Interface – Exascale</vt:lpstr>
      <vt:lpstr>PMIx – PMI exascale</vt:lpstr>
      <vt:lpstr>Motivation</vt:lpstr>
      <vt:lpstr>Objectives</vt:lpstr>
      <vt:lpstr>Active Thrust Areas</vt:lpstr>
      <vt:lpstr>Motivation</vt:lpstr>
      <vt:lpstr>Launch Process</vt:lpstr>
      <vt:lpstr>PowerPoint Presentation</vt:lpstr>
      <vt:lpstr>Launch Process</vt:lpstr>
      <vt:lpstr>What Is Being Shared?</vt:lpstr>
      <vt:lpstr>PowerPoint Presentation</vt:lpstr>
      <vt:lpstr>PowerPoint Presentation</vt:lpstr>
      <vt:lpstr>PowerPoint Presentation</vt:lpstr>
      <vt:lpstr>Current Status</vt:lpstr>
      <vt:lpstr>Can We Go Faster?</vt:lpstr>
      <vt:lpstr>What Gets Positioned?</vt:lpstr>
      <vt:lpstr>How Low Can We Go?</vt:lpstr>
      <vt:lpstr>Motivation</vt:lpstr>
      <vt:lpstr>Changing Needs</vt:lpstr>
      <vt:lpstr>Scalability</vt:lpstr>
      <vt:lpstr>Flexible Allocation Support</vt:lpstr>
      <vt:lpstr>I/O Support</vt:lpstr>
      <vt:lpstr>Spawn Support</vt:lpstr>
      <vt:lpstr>Network Integration</vt:lpstr>
      <vt:lpstr>Power Control/Management</vt:lpstr>
      <vt:lpstr>Fault Tolerance</vt:lpstr>
      <vt:lpstr>Fault Prediction: Methodology</vt:lpstr>
      <vt:lpstr>Fault Prediction: Outcomes</vt:lpstr>
      <vt:lpstr>Workflow Orchestration</vt:lpstr>
      <vt:lpstr>Workload Manager: Job Description Language</vt:lpstr>
      <vt:lpstr>PMIx Roadmap</vt:lpstr>
      <vt:lpstr>PMIx Roadmap</vt:lpstr>
      <vt:lpstr>PMIx Roadmap</vt:lpstr>
      <vt:lpstr>Bottom Line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PMIx</dc:title>
  <dc:creator>Ralph Castain</dc:creator>
  <cp:lastModifiedBy>Ralph Castain</cp:lastModifiedBy>
  <cp:revision>262</cp:revision>
  <cp:lastPrinted>2016-05-11T19:10:42Z</cp:lastPrinted>
  <dcterms:created xsi:type="dcterms:W3CDTF">2015-11-04T14:50:44Z</dcterms:created>
  <dcterms:modified xsi:type="dcterms:W3CDTF">2016-05-11T19:11:16Z</dcterms:modified>
</cp:coreProperties>
</file>