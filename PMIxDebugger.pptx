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793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FFF"/>
    <a:srgbClr val="E8FFFF"/>
    <a:srgbClr val="FFEBCD"/>
    <a:srgbClr val="EAFFCD"/>
    <a:srgbClr val="FFFFCC"/>
    <a:srgbClr val="0000FF"/>
    <a:srgbClr val="33CC33"/>
    <a:srgbClr val="FFFF66"/>
    <a:srgbClr val="FF66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72"/>
    <p:restoredTop sz="96018" autoAdjust="0"/>
  </p:normalViewPr>
  <p:slideViewPr>
    <p:cSldViewPr showGuides="1">
      <p:cViewPr varScale="1">
        <p:scale>
          <a:sx n="173" d="100"/>
          <a:sy n="173" d="100"/>
        </p:scale>
        <p:origin x="200" y="424"/>
      </p:cViewPr>
      <p:guideLst>
        <p:guide orient="horz" pos="25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9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4952FFB-B93B-3541-AEF4-FEC6167C5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51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11356A-E6C0-5244-B2D1-39192D968FD5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803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52400" y="2362200"/>
            <a:ext cx="8839200" cy="1295400"/>
            <a:chOff x="288" y="1632"/>
            <a:chExt cx="5232" cy="816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438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133600" y="6248400"/>
            <a:ext cx="4876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3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0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30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30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95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018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38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4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81000"/>
            <a:ext cx="20764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769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48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0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8839200" y="152400"/>
            <a:ext cx="180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fld id="{F95A78A6-AC48-1C4C-9FB1-42EA8340B8EA}" type="slidenum">
              <a:rPr lang="fr-FR" sz="1100">
                <a:solidFill>
                  <a:srgbClr val="003980"/>
                </a:solidFill>
                <a:latin typeface="Arial" charset="0"/>
              </a:rPr>
              <a:pPr/>
              <a:t>‹#›</a:t>
            </a:fld>
            <a:endParaRPr lang="fr-FR" sz="1100">
              <a:solidFill>
                <a:schemeClr val="bg1"/>
              </a:solidFill>
              <a:latin typeface="Times" charset="0"/>
            </a:endParaRPr>
          </a:p>
        </p:txBody>
      </p:sp>
      <p:pic>
        <p:nvPicPr>
          <p:cNvPr id="4" name="Picture 24" descr="fond-masque-titre-bordeaux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16300"/>
            <a:ext cx="914400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5325" y="252413"/>
            <a:ext cx="7202488" cy="296227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814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NVLogo_3D_H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8" y="5943600"/>
            <a:ext cx="222726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81000" y="3957935"/>
            <a:ext cx="4954587" cy="11181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82587" y="5253335"/>
            <a:ext cx="4954587" cy="461665"/>
          </a:xfrm>
        </p:spPr>
        <p:txBody>
          <a:bodyPr>
            <a:sp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19876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941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566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9616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097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6796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24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96828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35554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62083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499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499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650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305800" cy="487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grpSp>
        <p:nvGrpSpPr>
          <p:cNvPr id="1028" name="Group 2"/>
          <p:cNvGrpSpPr>
            <a:grpSpLocks/>
          </p:cNvGrpSpPr>
          <p:nvPr/>
        </p:nvGrpSpPr>
        <p:grpSpPr bwMode="auto">
          <a:xfrm>
            <a:off x="152400" y="304800"/>
            <a:ext cx="8839200" cy="1295400"/>
            <a:chOff x="288" y="1632"/>
            <a:chExt cx="5232" cy="816"/>
          </a:xfrm>
        </p:grpSpPr>
        <p:sp>
          <p:nvSpPr>
            <p:cNvPr id="307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031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2" r:id="rId13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20000"/>
        <a:buFont typeface="Arial" charset="0"/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739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42900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000" b="1">
          <a:solidFill>
            <a:schemeClr val="tx1"/>
          </a:solidFill>
          <a:latin typeface="+mn-lt"/>
        </a:defRPr>
      </a:lvl2pPr>
      <a:lvl3pPr marL="1371600" indent="-282575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</a:defRPr>
      </a:lvl3pPr>
      <a:lvl4pPr marL="177482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Process Management</a:t>
            </a:r>
            <a:b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Interface – </a:t>
            </a:r>
            <a:r>
              <a:rPr lang="en-US" sz="4000" dirty="0" err="1" smtClean="0">
                <a:latin typeface="Arial" charset="0"/>
                <a:ea typeface="ＭＳ Ｐゴシック" charset="0"/>
                <a:cs typeface="ＭＳ Ｐゴシック" charset="0"/>
              </a:rPr>
              <a:t>Exascale</a:t>
            </a:r>
            <a:endParaRPr lang="en-US" sz="4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424065"/>
            <a:ext cx="5477998" cy="2058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Debugger/Tool Interactions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Query support</a:t>
            </a:r>
          </a:p>
          <a:p>
            <a:pPr lvl="1"/>
            <a:r>
              <a:rPr lang="en-US" dirty="0" smtClean="0"/>
              <a:t>User-level query of system-level info</a:t>
            </a:r>
          </a:p>
          <a:p>
            <a:r>
              <a:rPr lang="en-US" dirty="0" smtClean="0"/>
              <a:t>Attach to running job</a:t>
            </a:r>
          </a:p>
          <a:p>
            <a:pPr lvl="1"/>
            <a:r>
              <a:rPr lang="en-US" dirty="0" smtClean="0"/>
              <a:t>Launch debugger</a:t>
            </a:r>
          </a:p>
          <a:p>
            <a:pPr lvl="1"/>
            <a:r>
              <a:rPr lang="en-US" dirty="0" smtClean="0"/>
              <a:t>Query status, “published” info</a:t>
            </a:r>
          </a:p>
          <a:p>
            <a:pPr lvl="1"/>
            <a:r>
              <a:rPr lang="en-US" dirty="0" smtClean="0"/>
              <a:t>Register for event notifications</a:t>
            </a:r>
          </a:p>
          <a:p>
            <a:r>
              <a:rPr lang="en-US" dirty="0" smtClean="0"/>
              <a:t>Application startup</a:t>
            </a:r>
          </a:p>
          <a:p>
            <a:pPr lvl="1"/>
            <a:r>
              <a:rPr lang="en-US" dirty="0" smtClean="0"/>
              <a:t>With/without debugger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2691" y="6243935"/>
            <a:ext cx="2614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smtClean="0">
                <a:solidFill>
                  <a:srgbClr val="FF0000"/>
                </a:solidFill>
              </a:rPr>
              <a:t>Portable Interface</a:t>
            </a:r>
            <a:endParaRPr lang="en-US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678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Rendezvous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PMIx</a:t>
            </a:r>
            <a:r>
              <a:rPr lang="en-US" sz="2400" dirty="0" smtClean="0"/>
              <a:t> server provides tool rendezvous point</a:t>
            </a:r>
          </a:p>
          <a:p>
            <a:pPr lvl="1"/>
            <a:r>
              <a:rPr lang="en-US" sz="2000" dirty="0" smtClean="0"/>
              <a:t>Only if directed to do so with </a:t>
            </a:r>
            <a:r>
              <a:rPr lang="en-US" sz="2000" dirty="0" err="1" smtClean="0"/>
              <a:t>PMIx_server_init</a:t>
            </a:r>
            <a:r>
              <a:rPr lang="en-US" sz="2000" dirty="0" smtClean="0"/>
              <a:t> key</a:t>
            </a:r>
          </a:p>
          <a:p>
            <a:pPr lvl="1"/>
            <a:r>
              <a:rPr lang="en-US" sz="2000" dirty="0" smtClean="0"/>
              <a:t>Standard name/location</a:t>
            </a:r>
          </a:p>
          <a:p>
            <a:pPr lvl="2"/>
            <a:r>
              <a:rPr lang="en-US" sz="1800" dirty="0" smtClean="0"/>
              <a:t>User-level daemons: $TMPDIR/</a:t>
            </a:r>
            <a:r>
              <a:rPr lang="en-US" sz="1800" dirty="0" err="1" smtClean="0"/>
              <a:t>pmix.tool</a:t>
            </a:r>
            <a:r>
              <a:rPr lang="en-US" sz="1800" dirty="0" smtClean="0"/>
              <a:t>.&lt;</a:t>
            </a:r>
            <a:r>
              <a:rPr lang="en-US" sz="1800" dirty="0" err="1" smtClean="0"/>
              <a:t>pid</a:t>
            </a:r>
            <a:r>
              <a:rPr lang="en-US" sz="1800" dirty="0" smtClean="0"/>
              <a:t>&gt;</a:t>
            </a:r>
          </a:p>
          <a:p>
            <a:pPr lvl="2"/>
            <a:r>
              <a:rPr lang="en-US" sz="1800" dirty="0" smtClean="0"/>
              <a:t>System-level daemons: $TMPDIR/</a:t>
            </a:r>
            <a:r>
              <a:rPr lang="en-US" sz="1800" dirty="0" err="1" smtClean="0"/>
              <a:t>pmix.system</a:t>
            </a:r>
            <a:r>
              <a:rPr lang="en-US" sz="1800" dirty="0" smtClean="0"/>
              <a:t>.&lt;</a:t>
            </a:r>
            <a:r>
              <a:rPr lang="en-US" sz="1800" dirty="0" err="1" smtClean="0"/>
              <a:t>pid</a:t>
            </a:r>
            <a:r>
              <a:rPr lang="en-US" sz="1800" dirty="0" smtClean="0"/>
              <a:t>&gt;</a:t>
            </a:r>
          </a:p>
          <a:p>
            <a:pPr lvl="3"/>
            <a:r>
              <a:rPr lang="en-US" sz="1400" dirty="0" smtClean="0"/>
              <a:t>Only one/node!</a:t>
            </a:r>
          </a:p>
          <a:p>
            <a:pPr lvl="2"/>
            <a:r>
              <a:rPr lang="en-US" sz="1800" dirty="0" smtClean="0"/>
              <a:t>Unix domain socket </a:t>
            </a:r>
            <a:r>
              <a:rPr lang="en-US" sz="1800" dirty="0" err="1" smtClean="0"/>
              <a:t>comm</a:t>
            </a:r>
            <a:r>
              <a:rPr lang="en-US" sz="1800" dirty="0" smtClean="0"/>
              <a:t> =&gt; pipe</a:t>
            </a:r>
          </a:p>
          <a:p>
            <a:pPr lvl="2"/>
            <a:r>
              <a:rPr lang="en-US" sz="1800" dirty="0" smtClean="0"/>
              <a:t>Non-</a:t>
            </a:r>
            <a:r>
              <a:rPr lang="en-US" sz="1800" dirty="0" err="1" smtClean="0"/>
              <a:t>usock</a:t>
            </a:r>
            <a:r>
              <a:rPr lang="en-US" sz="1800" dirty="0" smtClean="0"/>
              <a:t> =&gt; file containing URI</a:t>
            </a:r>
          </a:p>
          <a:p>
            <a:r>
              <a:rPr lang="en-US" sz="2400" dirty="0" err="1" smtClean="0"/>
              <a:t>PMIx_tool_init</a:t>
            </a:r>
            <a:endParaRPr lang="en-US" sz="2400" dirty="0" smtClean="0"/>
          </a:p>
          <a:p>
            <a:pPr lvl="1"/>
            <a:r>
              <a:rPr lang="en-US" sz="2000" dirty="0" smtClean="0"/>
              <a:t>Scan $TMPDIR for standard names</a:t>
            </a:r>
          </a:p>
          <a:p>
            <a:pPr lvl="2"/>
            <a:r>
              <a:rPr lang="en-US" sz="1800" dirty="0" smtClean="0"/>
              <a:t>Returns error if multiple found</a:t>
            </a:r>
          </a:p>
          <a:p>
            <a:pPr lvl="1"/>
            <a:r>
              <a:rPr lang="en-US" sz="2000" dirty="0" smtClean="0"/>
              <a:t>Accepts directives</a:t>
            </a:r>
          </a:p>
          <a:p>
            <a:pPr lvl="2"/>
            <a:r>
              <a:rPr lang="en-US" sz="1800" dirty="0" err="1" smtClean="0"/>
              <a:t>pid</a:t>
            </a:r>
            <a:r>
              <a:rPr lang="en-US" sz="1800" dirty="0" smtClean="0"/>
              <a:t>: Finds specific rendezvous or returns error</a:t>
            </a:r>
          </a:p>
          <a:p>
            <a:pPr lvl="2"/>
            <a:r>
              <a:rPr lang="en-US" sz="1800" dirty="0" smtClean="0"/>
              <a:t>System vs user-level daemon preference/constraint</a:t>
            </a:r>
          </a:p>
        </p:txBody>
      </p:sp>
    </p:spTree>
    <p:extLst>
      <p:ext uri="{BB962C8B-B14F-4D97-AF65-F5344CB8AC3E}">
        <p14:creationId xmlns:p14="http://schemas.microsoft.com/office/powerpoint/2010/main" val="613623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Connection Requests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Possibly still subject to </a:t>
            </a:r>
            <a:r>
              <a:rPr lang="en-US" sz="2800" dirty="0" err="1" smtClean="0"/>
              <a:t>PMIx</a:t>
            </a:r>
            <a:r>
              <a:rPr lang="en-US" sz="2800" dirty="0" smtClean="0"/>
              <a:t> authentication</a:t>
            </a:r>
          </a:p>
          <a:p>
            <a:pPr lvl="1"/>
            <a:r>
              <a:rPr lang="en-US" sz="2400" dirty="0" smtClean="0"/>
              <a:t>Depends on configured security mode</a:t>
            </a:r>
          </a:p>
          <a:p>
            <a:r>
              <a:rPr lang="en-US" sz="2800" dirty="0" smtClean="0"/>
              <a:t>Forwarded to RM</a:t>
            </a:r>
          </a:p>
          <a:p>
            <a:pPr lvl="1"/>
            <a:r>
              <a:rPr lang="en-US" sz="2400" dirty="0" err="1" smtClean="0"/>
              <a:t>Uid</a:t>
            </a:r>
            <a:r>
              <a:rPr lang="en-US" sz="2400" dirty="0" smtClean="0"/>
              <a:t>/</a:t>
            </a:r>
            <a:r>
              <a:rPr lang="en-US" sz="2400" dirty="0" err="1" smtClean="0"/>
              <a:t>gid</a:t>
            </a:r>
            <a:r>
              <a:rPr lang="en-US" sz="2400" dirty="0" smtClean="0"/>
              <a:t> of requestor</a:t>
            </a:r>
          </a:p>
          <a:p>
            <a:pPr lvl="1"/>
            <a:r>
              <a:rPr lang="en-US" sz="2400" dirty="0" smtClean="0"/>
              <a:t>Any provided directives</a:t>
            </a:r>
          </a:p>
          <a:p>
            <a:pPr lvl="2"/>
            <a:r>
              <a:rPr lang="en-US" sz="2000" dirty="0" smtClean="0"/>
              <a:t>Forward </a:t>
            </a:r>
            <a:r>
              <a:rPr lang="en-US" sz="2000" dirty="0" err="1" smtClean="0"/>
              <a:t>stdin</a:t>
            </a:r>
            <a:r>
              <a:rPr lang="en-US" sz="2000" dirty="0" smtClean="0"/>
              <a:t>/</a:t>
            </a:r>
            <a:r>
              <a:rPr lang="en-US" sz="2000" dirty="0" err="1" smtClean="0"/>
              <a:t>stdout</a:t>
            </a:r>
            <a:r>
              <a:rPr lang="en-US" sz="2000" dirty="0" smtClean="0"/>
              <a:t>/</a:t>
            </a:r>
            <a:r>
              <a:rPr lang="en-US" sz="2000" dirty="0" err="1" smtClean="0"/>
              <a:t>stderr</a:t>
            </a:r>
            <a:endParaRPr lang="en-US" sz="2000" dirty="0" smtClean="0"/>
          </a:p>
          <a:p>
            <a:r>
              <a:rPr lang="en-US" sz="2800" dirty="0" smtClean="0"/>
              <a:t>RM must authorize connection</a:t>
            </a:r>
          </a:p>
          <a:p>
            <a:pPr lvl="1"/>
            <a:r>
              <a:rPr lang="en-US" sz="2400" dirty="0" smtClean="0"/>
              <a:t>Return success if accepted</a:t>
            </a:r>
          </a:p>
          <a:p>
            <a:pPr lvl="1"/>
            <a:r>
              <a:rPr lang="en-US" sz="2400" dirty="0" smtClean="0"/>
              <a:t>Return identifier (</a:t>
            </a:r>
            <a:r>
              <a:rPr lang="en-US" sz="2400" dirty="0" err="1" smtClean="0"/>
              <a:t>nspace,rank</a:t>
            </a:r>
            <a:r>
              <a:rPr lang="en-US" sz="2400" dirty="0" smtClean="0"/>
              <a:t>) assigned to connector</a:t>
            </a:r>
          </a:p>
          <a:p>
            <a:pPr lvl="1"/>
            <a:r>
              <a:rPr lang="en-US" sz="2400" dirty="0" smtClean="0"/>
              <a:t>RM retains responsibility for authorizing each subsequent request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959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7239000" cy="4876800"/>
          </a:xfrm>
        </p:spPr>
        <p:txBody>
          <a:bodyPr/>
          <a:lstStyle/>
          <a:p>
            <a:r>
              <a:rPr lang="en-US" sz="2000" dirty="0" smtClean="0"/>
              <a:t>PMIX_QUERY_AUTHORIZATIONS</a:t>
            </a:r>
          </a:p>
          <a:p>
            <a:pPr lvl="1"/>
            <a:r>
              <a:rPr lang="en-US" sz="1800" dirty="0" smtClean="0"/>
              <a:t>What operations tool is authorized to perform</a:t>
            </a:r>
          </a:p>
          <a:p>
            <a:r>
              <a:rPr lang="en-US" sz="2000" dirty="0" smtClean="0"/>
              <a:t>PMIX_QUERY_NAMESPACES</a:t>
            </a:r>
          </a:p>
          <a:p>
            <a:pPr lvl="1"/>
            <a:r>
              <a:rPr lang="en-US" sz="1800" dirty="0" smtClean="0"/>
              <a:t>List of active jobs</a:t>
            </a:r>
          </a:p>
          <a:p>
            <a:r>
              <a:rPr lang="en-US" sz="2000" dirty="0" smtClean="0"/>
              <a:t>PMIX_QUERY_JOB_STATUS</a:t>
            </a:r>
          </a:p>
          <a:p>
            <a:pPr lvl="1"/>
            <a:r>
              <a:rPr lang="en-US" sz="1800" dirty="0" smtClean="0"/>
              <a:t>Given </a:t>
            </a:r>
            <a:r>
              <a:rPr lang="en-US" sz="1800" dirty="0" err="1" smtClean="0"/>
              <a:t>nspace</a:t>
            </a:r>
            <a:r>
              <a:rPr lang="en-US" sz="1800" dirty="0" smtClean="0"/>
              <a:t>, report current job status</a:t>
            </a:r>
          </a:p>
          <a:p>
            <a:pPr lvl="2"/>
            <a:r>
              <a:rPr lang="en-US" sz="1600" dirty="0" smtClean="0"/>
              <a:t>Running, paused, queued</a:t>
            </a:r>
          </a:p>
          <a:p>
            <a:r>
              <a:rPr lang="en-US" sz="2000" dirty="0" smtClean="0"/>
              <a:t>PMIX_QUERY_QUEUE_LIST</a:t>
            </a:r>
          </a:p>
          <a:p>
            <a:pPr lvl="1"/>
            <a:r>
              <a:rPr lang="en-US" sz="1800" dirty="0" smtClean="0"/>
              <a:t>List of scheduler queues</a:t>
            </a:r>
          </a:p>
          <a:p>
            <a:r>
              <a:rPr lang="en-US" sz="2000" dirty="0" smtClean="0"/>
              <a:t>PMIX_QUERY_QUEUE_STATUS</a:t>
            </a:r>
          </a:p>
          <a:p>
            <a:pPr lvl="1"/>
            <a:r>
              <a:rPr lang="en-US" sz="1800" dirty="0" smtClean="0"/>
              <a:t>List of jobs pending on specified queue</a:t>
            </a:r>
          </a:p>
          <a:p>
            <a:r>
              <a:rPr lang="en-US" sz="2000" dirty="0" smtClean="0"/>
              <a:t>PMIX_QUERY_PROC_TABLE</a:t>
            </a:r>
          </a:p>
          <a:p>
            <a:pPr lvl="1"/>
            <a:r>
              <a:rPr lang="en-US" sz="1800" dirty="0" smtClean="0"/>
              <a:t>Array of </a:t>
            </a:r>
            <a:r>
              <a:rPr lang="en-US" sz="1800" dirty="0" err="1" smtClean="0"/>
              <a:t>structs</a:t>
            </a:r>
            <a:r>
              <a:rPr lang="en-US" sz="1800" dirty="0" smtClean="0"/>
              <a:t> containing proc-id, hostname, </a:t>
            </a:r>
            <a:r>
              <a:rPr lang="en-US" sz="1800" dirty="0" err="1" smtClean="0"/>
              <a:t>executable_name</a:t>
            </a:r>
            <a:r>
              <a:rPr lang="en-US" sz="1800" dirty="0" smtClean="0"/>
              <a:t>, </a:t>
            </a:r>
            <a:r>
              <a:rPr lang="en-US" sz="1800" dirty="0" err="1" smtClean="0"/>
              <a:t>pid</a:t>
            </a:r>
            <a:r>
              <a:rPr lang="en-US" sz="1800" dirty="0" smtClean="0"/>
              <a:t>, exit-code, and process state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 rot="19625054">
            <a:off x="6458106" y="3396734"/>
            <a:ext cx="17267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smtClean="0">
                <a:solidFill>
                  <a:srgbClr val="FF0000"/>
                </a:solidFill>
              </a:rPr>
              <a:t>More being</a:t>
            </a:r>
          </a:p>
          <a:p>
            <a:pPr algn="ctr"/>
            <a:r>
              <a:rPr lang="en-US" i="1" dirty="0" smtClean="0">
                <a:solidFill>
                  <a:srgbClr val="FF0000"/>
                </a:solidFill>
              </a:rPr>
              <a:t>defined!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312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Attach to Running Job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Depends on environment and launch method</a:t>
            </a:r>
          </a:p>
          <a:p>
            <a:pPr lvl="1"/>
            <a:r>
              <a:rPr lang="en-US" sz="2000" dirty="0" err="1" smtClean="0"/>
              <a:t>Mpirun</a:t>
            </a:r>
            <a:r>
              <a:rPr lang="en-US" sz="2000" dirty="0" smtClean="0"/>
              <a:t>: pass </a:t>
            </a:r>
            <a:r>
              <a:rPr lang="en-US" sz="2000" dirty="0" err="1" smtClean="0"/>
              <a:t>pid</a:t>
            </a:r>
            <a:r>
              <a:rPr lang="en-US" sz="2000" dirty="0" smtClean="0"/>
              <a:t> to </a:t>
            </a:r>
            <a:r>
              <a:rPr lang="en-US" sz="2000" dirty="0" err="1" smtClean="0"/>
              <a:t>PMIx_tool_init</a:t>
            </a:r>
            <a:endParaRPr lang="en-US" sz="2000" dirty="0" smtClean="0"/>
          </a:p>
          <a:p>
            <a:pPr lvl="1"/>
            <a:r>
              <a:rPr lang="en-US" sz="2000" dirty="0" smtClean="0"/>
              <a:t>Auto-connect </a:t>
            </a:r>
            <a:r>
              <a:rPr lang="en-US" sz="2000" dirty="0"/>
              <a:t>to system </a:t>
            </a:r>
            <a:r>
              <a:rPr lang="en-US" sz="2000" dirty="0" err="1"/>
              <a:t>PMIx</a:t>
            </a:r>
            <a:r>
              <a:rPr lang="en-US" sz="2000" dirty="0"/>
              <a:t> </a:t>
            </a:r>
            <a:r>
              <a:rPr lang="en-US" sz="2000" dirty="0" smtClean="0"/>
              <a:t>server</a:t>
            </a:r>
            <a:endParaRPr lang="en-US" sz="2000" dirty="0"/>
          </a:p>
          <a:p>
            <a:pPr lvl="2"/>
            <a:r>
              <a:rPr lang="en-US" sz="1800" dirty="0" err="1"/>
              <a:t>PMIx</a:t>
            </a:r>
            <a:r>
              <a:rPr lang="en-US" sz="1800" dirty="0"/>
              <a:t>-based </a:t>
            </a:r>
            <a:r>
              <a:rPr lang="en-US" sz="1800" dirty="0" smtClean="0"/>
              <a:t>launch</a:t>
            </a:r>
          </a:p>
          <a:p>
            <a:pPr lvl="3"/>
            <a:r>
              <a:rPr lang="en-US" sz="1600" dirty="0" smtClean="0"/>
              <a:t>Tool connects to system server via </a:t>
            </a:r>
            <a:r>
              <a:rPr lang="en-US" sz="1600" dirty="0" err="1" smtClean="0"/>
              <a:t>PMIx</a:t>
            </a:r>
            <a:r>
              <a:rPr lang="en-US" sz="1600" dirty="0" smtClean="0"/>
              <a:t> to request application launch</a:t>
            </a:r>
          </a:p>
          <a:p>
            <a:pPr lvl="2"/>
            <a:r>
              <a:rPr lang="en-US" sz="1800" dirty="0" smtClean="0"/>
              <a:t>Custom launch tool (e.g., </a:t>
            </a:r>
            <a:r>
              <a:rPr lang="en-US" sz="1800" dirty="0" err="1" smtClean="0"/>
              <a:t>srun</a:t>
            </a:r>
            <a:r>
              <a:rPr lang="en-US" sz="1800" dirty="0" smtClean="0"/>
              <a:t>)</a:t>
            </a:r>
          </a:p>
          <a:p>
            <a:r>
              <a:rPr lang="en-US" sz="2400" dirty="0" smtClean="0"/>
              <a:t>RM responsible for authorization of each operation</a:t>
            </a:r>
          </a:p>
          <a:p>
            <a:r>
              <a:rPr lang="en-US" sz="2400" dirty="0" smtClean="0"/>
              <a:t>Current use-cases</a:t>
            </a:r>
          </a:p>
          <a:p>
            <a:pPr lvl="1"/>
            <a:r>
              <a:rPr lang="en-US" sz="2000" dirty="0" smtClean="0"/>
              <a:t>Launch debugger daemons</a:t>
            </a:r>
          </a:p>
          <a:p>
            <a:pPr lvl="2"/>
            <a:r>
              <a:rPr lang="en-US" sz="1600" dirty="0" smtClean="0"/>
              <a:t>Provide debugger daemon support (e.g., </a:t>
            </a:r>
            <a:r>
              <a:rPr lang="en-US" sz="1600" dirty="0" err="1" smtClean="0"/>
              <a:t>wireup</a:t>
            </a:r>
            <a:r>
              <a:rPr lang="en-US" sz="1600" dirty="0" smtClean="0"/>
              <a:t>, overlay network)</a:t>
            </a:r>
          </a:p>
          <a:p>
            <a:pPr lvl="2"/>
            <a:r>
              <a:rPr lang="en-US" sz="1600" dirty="0" smtClean="0"/>
              <a:t>Provide daemons with global/local proc info for specified </a:t>
            </a:r>
            <a:r>
              <a:rPr lang="en-US" sz="1600" dirty="0" err="1" smtClean="0"/>
              <a:t>nspace</a:t>
            </a:r>
            <a:r>
              <a:rPr lang="en-US" sz="1600" dirty="0" smtClean="0"/>
              <a:t> on launch</a:t>
            </a:r>
          </a:p>
          <a:p>
            <a:pPr lvl="2"/>
            <a:r>
              <a:rPr lang="en-US" sz="1600" dirty="0" smtClean="0"/>
              <a:t>Specified pattern (1/node, 1/application proc, </a:t>
            </a:r>
            <a:r>
              <a:rPr lang="is-IS" sz="1600" dirty="0" smtClean="0"/>
              <a:t>…), target nspace</a:t>
            </a:r>
          </a:p>
          <a:p>
            <a:pPr lvl="1"/>
            <a:r>
              <a:rPr lang="en-US" sz="2000" dirty="0" smtClean="0"/>
              <a:t>Q</a:t>
            </a:r>
            <a:r>
              <a:rPr lang="is-IS" sz="2000" dirty="0" smtClean="0"/>
              <a:t>uery information, status</a:t>
            </a:r>
          </a:p>
          <a:p>
            <a:pPr lvl="1"/>
            <a:r>
              <a:rPr lang="en-US" sz="2000" dirty="0" smtClean="0"/>
              <a:t>R</a:t>
            </a:r>
            <a:r>
              <a:rPr lang="is-IS" sz="2000" dirty="0" smtClean="0"/>
              <a:t>egister for events</a:t>
            </a:r>
            <a:endParaRPr lang="en-US" sz="2000" dirty="0" smtClean="0"/>
          </a:p>
          <a:p>
            <a:pPr lvl="2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343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Registration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Request to receive callbacks</a:t>
            </a:r>
          </a:p>
          <a:p>
            <a:r>
              <a:rPr lang="en-US" dirty="0"/>
              <a:t>J</a:t>
            </a:r>
            <a:r>
              <a:rPr lang="en-US" dirty="0" smtClean="0"/>
              <a:t>ob-related events</a:t>
            </a:r>
          </a:p>
          <a:p>
            <a:pPr lvl="1"/>
            <a:r>
              <a:rPr lang="en-US" dirty="0" smtClean="0"/>
              <a:t>Job changes state</a:t>
            </a:r>
          </a:p>
          <a:p>
            <a:pPr lvl="1"/>
            <a:r>
              <a:rPr lang="en-US" dirty="0" smtClean="0"/>
              <a:t>Process failures</a:t>
            </a:r>
          </a:p>
          <a:p>
            <a:pPr lvl="1"/>
            <a:r>
              <a:rPr lang="en-US" dirty="0" smtClean="0"/>
              <a:t>Allocation received</a:t>
            </a:r>
          </a:p>
          <a:p>
            <a:r>
              <a:rPr lang="en-US" dirty="0" smtClean="0"/>
              <a:t>Negotiate response</a:t>
            </a:r>
          </a:p>
          <a:p>
            <a:pPr lvl="1"/>
            <a:r>
              <a:rPr lang="en-US" dirty="0" smtClean="0"/>
              <a:t>Query available actions</a:t>
            </a:r>
          </a:p>
          <a:p>
            <a:pPr lvl="1"/>
            <a:r>
              <a:rPr lang="en-US" dirty="0" smtClean="0"/>
              <a:t>Direct response</a:t>
            </a:r>
          </a:p>
        </p:txBody>
      </p:sp>
    </p:spTree>
    <p:extLst>
      <p:ext uri="{BB962C8B-B14F-4D97-AF65-F5344CB8AC3E}">
        <p14:creationId xmlns:p14="http://schemas.microsoft.com/office/powerpoint/2010/main" val="177956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Debugger/App Startup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Requires system </a:t>
            </a:r>
            <a:r>
              <a:rPr lang="en-US" sz="2800" dirty="0" err="1" smtClean="0"/>
              <a:t>PMIx</a:t>
            </a:r>
            <a:r>
              <a:rPr lang="en-US" sz="2800" dirty="0" smtClean="0"/>
              <a:t> launch support</a:t>
            </a:r>
          </a:p>
          <a:p>
            <a:r>
              <a:rPr lang="en-US" sz="2800" dirty="0" smtClean="0"/>
              <a:t>Tool connects to local system </a:t>
            </a:r>
            <a:r>
              <a:rPr lang="en-US" sz="2800" dirty="0" err="1" smtClean="0"/>
              <a:t>PMIx</a:t>
            </a:r>
            <a:r>
              <a:rPr lang="en-US" sz="2800" dirty="0" smtClean="0"/>
              <a:t> server</a:t>
            </a:r>
          </a:p>
          <a:p>
            <a:pPr lvl="1"/>
            <a:r>
              <a:rPr lang="en-US" sz="2400" dirty="0" smtClean="0"/>
              <a:t>Packages application and debugger executables into single </a:t>
            </a:r>
            <a:r>
              <a:rPr lang="en-US" sz="2400" dirty="0" err="1" smtClean="0"/>
              <a:t>PMIx_Spawn</a:t>
            </a:r>
            <a:r>
              <a:rPr lang="en-US" sz="2400" dirty="0" smtClean="0"/>
              <a:t> request</a:t>
            </a:r>
          </a:p>
          <a:p>
            <a:pPr lvl="2"/>
            <a:r>
              <a:rPr lang="en-US" sz="2000" dirty="0" smtClean="0"/>
              <a:t>Each as separate ”app” entry in array</a:t>
            </a:r>
          </a:p>
          <a:p>
            <a:pPr lvl="2"/>
            <a:r>
              <a:rPr lang="en-US" sz="2000" dirty="0" smtClean="0"/>
              <a:t>Debugger marked as PMIX_DEBUGGER_DAEMONS</a:t>
            </a:r>
          </a:p>
          <a:p>
            <a:pPr lvl="3"/>
            <a:r>
              <a:rPr lang="en-US" sz="1800" dirty="0" smtClean="0"/>
              <a:t>Can include debugger directives in application’s info</a:t>
            </a:r>
          </a:p>
          <a:p>
            <a:pPr lvl="3"/>
            <a:r>
              <a:rPr lang="en-US" sz="1800" dirty="0" smtClean="0"/>
              <a:t>Debugger daemons not included in MPI_COMM_WORLD</a:t>
            </a:r>
          </a:p>
          <a:p>
            <a:pPr lvl="1"/>
            <a:r>
              <a:rPr lang="en-US" sz="2400" dirty="0" smtClean="0"/>
              <a:t>Submit to server for spawn</a:t>
            </a:r>
          </a:p>
          <a:p>
            <a:r>
              <a:rPr lang="en-US" sz="2800" dirty="0" smtClean="0"/>
              <a:t>Server returns status of result</a:t>
            </a:r>
          </a:p>
          <a:p>
            <a:pPr lvl="1"/>
            <a:r>
              <a:rPr lang="en-US" sz="2400" dirty="0" smtClean="0"/>
              <a:t>Includes </a:t>
            </a:r>
            <a:r>
              <a:rPr lang="en-US" sz="2400" dirty="0" err="1" smtClean="0"/>
              <a:t>nspace</a:t>
            </a:r>
            <a:r>
              <a:rPr lang="en-US" sz="2400" dirty="0" smtClean="0"/>
              <a:t> of application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570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Still under design</a:t>
            </a:r>
          </a:p>
          <a:p>
            <a:pPr lvl="1"/>
            <a:r>
              <a:rPr lang="en-US" sz="2400" dirty="0" smtClean="0"/>
              <a:t>Feedback desired!</a:t>
            </a:r>
          </a:p>
          <a:p>
            <a:r>
              <a:rPr lang="en-US" sz="2800" dirty="0" smtClean="0"/>
              <a:t>Prototype in OMPI branch</a:t>
            </a:r>
          </a:p>
          <a:p>
            <a:pPr lvl="1"/>
            <a:r>
              <a:rPr lang="en-US" sz="2400" dirty="0" smtClean="0"/>
              <a:t>Tool connection support already committed</a:t>
            </a:r>
          </a:p>
          <a:p>
            <a:pPr lvl="1"/>
            <a:r>
              <a:rPr lang="en-US" sz="2400" smtClean="0"/>
              <a:t>Estimate debugger complete </a:t>
            </a:r>
            <a:r>
              <a:rPr lang="en-US" sz="2400" dirty="0" smtClean="0"/>
              <a:t>in </a:t>
            </a:r>
            <a:r>
              <a:rPr lang="en-US" sz="2400" dirty="0" smtClean="0"/>
              <a:t>Aug-Sept</a:t>
            </a:r>
            <a:endParaRPr lang="en-US" sz="2400" dirty="0" smtClean="0"/>
          </a:p>
          <a:p>
            <a:r>
              <a:rPr lang="en-US" sz="2800" dirty="0" smtClean="0"/>
              <a:t>RFC for </a:t>
            </a:r>
            <a:r>
              <a:rPr lang="en-US" sz="2800" dirty="0" err="1" smtClean="0"/>
              <a:t>PMIx</a:t>
            </a:r>
            <a:endParaRPr lang="en-US" sz="2800" dirty="0" smtClean="0"/>
          </a:p>
          <a:p>
            <a:pPr lvl="1"/>
            <a:r>
              <a:rPr lang="en-US" sz="2400" dirty="0" smtClean="0"/>
              <a:t>Could be ready for end-Aug</a:t>
            </a:r>
          </a:p>
          <a:p>
            <a:pPr lvl="2"/>
            <a:r>
              <a:rPr lang="en-US" sz="2000" dirty="0" smtClean="0"/>
              <a:t>Pending adoption by debugger community!</a:t>
            </a:r>
          </a:p>
          <a:p>
            <a:pPr lvl="1"/>
            <a:r>
              <a:rPr lang="en-US" sz="2400" dirty="0" smtClean="0"/>
              <a:t>Coordinate release with debugger, RM, MPI communities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2930642"/>
      </p:ext>
    </p:extLst>
  </p:cSld>
  <p:clrMapOvr>
    <a:masterClrMapping/>
  </p:clrMapOvr>
</p:sld>
</file>

<file path=ppt/theme/theme1.xml><?xml version="1.0" encoding="utf-8"?>
<a:theme xmlns:a="http://schemas.openxmlformats.org/drawingml/2006/main" name="ompi-workshop-template">
  <a:themeElements>
    <a:clrScheme name="ompi-workshop-template 3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5B87F2"/>
      </a:accent1>
      <a:accent2>
        <a:srgbClr val="555555"/>
      </a:accent2>
      <a:accent3>
        <a:srgbClr val="FFFFFF"/>
      </a:accent3>
      <a:accent4>
        <a:srgbClr val="000000"/>
      </a:accent4>
      <a:accent5>
        <a:srgbClr val="B5C3F7"/>
      </a:accent5>
      <a:accent6>
        <a:srgbClr val="4C4C4C"/>
      </a:accent6>
      <a:hlink>
        <a:srgbClr val="5DA31E"/>
      </a:hlink>
      <a:folHlink>
        <a:srgbClr val="BAD41A"/>
      </a:folHlink>
    </a:clrScheme>
    <a:fontScheme name="ompi-workshop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ompi-workshop-template 1">
        <a:dk1>
          <a:srgbClr val="000000"/>
        </a:dk1>
        <a:lt1>
          <a:srgbClr val="FFFFFF"/>
        </a:lt1>
        <a:dk2>
          <a:srgbClr val="003366"/>
        </a:dk2>
        <a:lt2>
          <a:srgbClr val="AAAAAA"/>
        </a:lt2>
        <a:accent1>
          <a:srgbClr val="EEEEEE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F5F5F5"/>
        </a:accent5>
        <a:accent6>
          <a:srgbClr val="002D5C"/>
        </a:accent6>
        <a:hlink>
          <a:srgbClr val="5B87F2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2">
        <a:dk1>
          <a:srgbClr val="000000"/>
        </a:dk1>
        <a:lt1>
          <a:srgbClr val="FFFFFF"/>
        </a:lt1>
        <a:dk2>
          <a:srgbClr val="FFFFFF"/>
        </a:dk2>
        <a:lt2>
          <a:srgbClr val="888888"/>
        </a:lt2>
        <a:accent1>
          <a:srgbClr val="BAD41A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D9E6AB"/>
        </a:accent5>
        <a:accent6>
          <a:srgbClr val="744BBD"/>
        </a:accent6>
        <a:hlink>
          <a:srgbClr val="5DA31E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3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5B87F2"/>
        </a:accent1>
        <a:accent2>
          <a:srgbClr val="555555"/>
        </a:accent2>
        <a:accent3>
          <a:srgbClr val="FFFFFF"/>
        </a:accent3>
        <a:accent4>
          <a:srgbClr val="000000"/>
        </a:accent4>
        <a:accent5>
          <a:srgbClr val="B5C3F7"/>
        </a:accent5>
        <a:accent6>
          <a:srgbClr val="4C4C4C"/>
        </a:accent6>
        <a:hlink>
          <a:srgbClr val="5DA31E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A8A8"/>
        </a:accent1>
        <a:accent2>
          <a:srgbClr val="FFCC18"/>
        </a:accent2>
        <a:accent3>
          <a:srgbClr val="FFFFFF"/>
        </a:accent3>
        <a:accent4>
          <a:srgbClr val="000000"/>
        </a:accent4>
        <a:accent5>
          <a:srgbClr val="FFD1D1"/>
        </a:accent5>
        <a:accent6>
          <a:srgbClr val="E7B915"/>
        </a:accent6>
        <a:hlink>
          <a:srgbClr val="6876E7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5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6E658"/>
        </a:accent1>
        <a:accent2>
          <a:srgbClr val="8CBC1C"/>
        </a:accent2>
        <a:accent3>
          <a:srgbClr val="FFFFFF"/>
        </a:accent3>
        <a:accent4>
          <a:srgbClr val="000000"/>
        </a:accent4>
        <a:accent5>
          <a:srgbClr val="F0F0B4"/>
        </a:accent5>
        <a:accent6>
          <a:srgbClr val="7EAA18"/>
        </a:accent6>
        <a:hlink>
          <a:srgbClr val="6876E7"/>
        </a:hlink>
        <a:folHlink>
          <a:srgbClr val="5FBD7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6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5918BB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B5ABDA"/>
        </a:accent5>
        <a:accent6>
          <a:srgbClr val="744BBD"/>
        </a:accent6>
        <a:hlink>
          <a:srgbClr val="DC54AD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7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FF7518"/>
        </a:accent1>
        <a:accent2>
          <a:srgbClr val="888888"/>
        </a:accent2>
        <a:accent3>
          <a:srgbClr val="FFFFFF"/>
        </a:accent3>
        <a:accent4>
          <a:srgbClr val="000000"/>
        </a:accent4>
        <a:accent5>
          <a:srgbClr val="FFBDAB"/>
        </a:accent5>
        <a:accent6>
          <a:srgbClr val="7B7B7B"/>
        </a:accent6>
        <a:hlink>
          <a:srgbClr val="8CBC1C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7556C59-F0C7-6645-B5AB-2707A1FED1F8}"/>
    </a:ext>
  </a:extLst>
</a:theme>
</file>

<file path=ppt/theme/theme2.xml><?xml version="1.0" encoding="utf-8"?>
<a:theme xmlns:a="http://schemas.openxmlformats.org/drawingml/2006/main" name="PPT_Temp_Corp_4x3_BLK_2007 - Copy">
  <a:themeElements>
    <a:clrScheme name="PPT_Template_Corp_4x3_rev1 1">
      <a:dk1>
        <a:srgbClr val="808080"/>
      </a:dk1>
      <a:lt1>
        <a:srgbClr val="FFFFFF"/>
      </a:lt1>
      <a:dk2>
        <a:srgbClr val="000000"/>
      </a:dk2>
      <a:lt2>
        <a:srgbClr val="B9E700"/>
      </a:lt2>
      <a:accent1>
        <a:srgbClr val="33CCCC"/>
      </a:accent1>
      <a:accent2>
        <a:srgbClr val="FF9933"/>
      </a:accent2>
      <a:accent3>
        <a:srgbClr val="AAAAAA"/>
      </a:accent3>
      <a:accent4>
        <a:srgbClr val="DADADA"/>
      </a:accent4>
      <a:accent5>
        <a:srgbClr val="ADE2E2"/>
      </a:accent5>
      <a:accent6>
        <a:srgbClr val="E78A2D"/>
      </a:accent6>
      <a:hlink>
        <a:srgbClr val="99CCFF"/>
      </a:hlink>
      <a:folHlink>
        <a:srgbClr val="0000FF"/>
      </a:folHlink>
    </a:clrScheme>
    <a:fontScheme name="PPT_Template_Corp_4x3_re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Corp_4x3_rev1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098944D-4998-DA4A-B120-6A0C919751F7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pmix-bof-template</Template>
  <TotalTime>8616</TotalTime>
  <Words>447</Words>
  <Application>Microsoft Macintosh PowerPoint</Application>
  <PresentationFormat>On-screen Show (4:3)</PresentationFormat>
  <Paragraphs>99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ＭＳ Ｐゴシック</vt:lpstr>
      <vt:lpstr>Times</vt:lpstr>
      <vt:lpstr>Wingdings</vt:lpstr>
      <vt:lpstr>Arial</vt:lpstr>
      <vt:lpstr>ompi-workshop-template</vt:lpstr>
      <vt:lpstr>PPT_Temp_Corp_4x3_BLK_2007 - Copy</vt:lpstr>
      <vt:lpstr>Process Management Interface – Exascale</vt:lpstr>
      <vt:lpstr>Debugger/Tool Interactions</vt:lpstr>
      <vt:lpstr>Rendezvous</vt:lpstr>
      <vt:lpstr>Connection Requests</vt:lpstr>
      <vt:lpstr>Query Support</vt:lpstr>
      <vt:lpstr>Attach to Running Job</vt:lpstr>
      <vt:lpstr>Event Registration</vt:lpstr>
      <vt:lpstr>Debugger/App Startup</vt:lpstr>
      <vt:lpstr>Status</vt:lpstr>
    </vt:vector>
  </TitlesOfParts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PMIx</dc:title>
  <dc:creator>Ralph Castain</dc:creator>
  <cp:lastModifiedBy>Ralph Castain</cp:lastModifiedBy>
  <cp:revision>302</cp:revision>
  <cp:lastPrinted>2015-11-19T21:30:51Z</cp:lastPrinted>
  <dcterms:created xsi:type="dcterms:W3CDTF">2015-11-04T14:50:44Z</dcterms:created>
  <dcterms:modified xsi:type="dcterms:W3CDTF">2016-07-28T14:43:04Z</dcterms:modified>
</cp:coreProperties>
</file>