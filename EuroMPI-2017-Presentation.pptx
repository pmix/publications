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793" r:id="rId2"/>
  </p:sldMasterIdLst>
  <p:notesMasterIdLst>
    <p:notesMasterId r:id="rId20"/>
  </p:notesMasterIdLst>
  <p:sldIdLst>
    <p:sldId id="400" r:id="rId3"/>
    <p:sldId id="403" r:id="rId4"/>
    <p:sldId id="405" r:id="rId5"/>
    <p:sldId id="390" r:id="rId6"/>
    <p:sldId id="395" r:id="rId7"/>
    <p:sldId id="396" r:id="rId8"/>
    <p:sldId id="398" r:id="rId9"/>
    <p:sldId id="399" r:id="rId10"/>
    <p:sldId id="393" r:id="rId11"/>
    <p:sldId id="336" r:id="rId12"/>
    <p:sldId id="380" r:id="rId13"/>
    <p:sldId id="381" r:id="rId14"/>
    <p:sldId id="379" r:id="rId15"/>
    <p:sldId id="382" r:id="rId16"/>
    <p:sldId id="401" r:id="rId17"/>
    <p:sldId id="402" r:id="rId18"/>
    <p:sldId id="397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0FFFF"/>
    <a:srgbClr val="E8FFFF"/>
    <a:srgbClr val="FFEBCD"/>
    <a:srgbClr val="EAFFCD"/>
    <a:srgbClr val="FFFFCC"/>
    <a:srgbClr val="0000FF"/>
    <a:srgbClr val="33CC33"/>
    <a:srgbClr val="FFFF66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47"/>
    <p:restoredTop sz="95958" autoAdjust="0"/>
  </p:normalViewPr>
  <p:slideViewPr>
    <p:cSldViewPr snapToGrid="0" showGuides="1">
      <p:cViewPr varScale="1">
        <p:scale>
          <a:sx n="106" d="100"/>
          <a:sy n="106" d="100"/>
        </p:scale>
        <p:origin x="696" y="184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 dirty="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56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 dirty="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2" r:id="rId1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emf"/><Relationship Id="rId3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tif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3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mix/pmix" TargetMode="External"/><Relationship Id="rId4" Type="http://schemas.openxmlformats.org/officeDocument/2006/relationships/hyperlink" Target="https://github.com/pmix/pmix-reference-server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mix.github.io/pm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PMIx: Process Management for Exascale Environments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565734"/>
            <a:ext cx="5477998" cy="205894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1510" y="3802677"/>
            <a:ext cx="75766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u="sng" dirty="0" smtClean="0"/>
              <a:t>Ralph H. Castain</a:t>
            </a:r>
            <a:r>
              <a:rPr lang="en-US" sz="2000" dirty="0" smtClean="0"/>
              <a:t>, David Solt, Joshua Hursey, Aurelien Bouteiller</a:t>
            </a:r>
          </a:p>
          <a:p>
            <a:pPr algn="ctr"/>
            <a:r>
              <a:rPr lang="en-US" sz="2000" dirty="0" smtClean="0"/>
              <a:t>EuroMPI/USA </a:t>
            </a:r>
            <a:r>
              <a:rPr lang="en-US" sz="2000" dirty="0" smtClean="0"/>
              <a:t>2017, Chicago, IL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515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Arrow 6"/>
          <p:cNvSpPr/>
          <p:nvPr/>
        </p:nvSpPr>
        <p:spPr bwMode="auto">
          <a:xfrm>
            <a:off x="1943220" y="3559553"/>
            <a:ext cx="1427021" cy="10975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0" name="Rounded Rectangle 59"/>
          <p:cNvSpPr/>
          <p:nvPr/>
        </p:nvSpPr>
        <p:spPr bwMode="auto">
          <a:xfrm>
            <a:off x="7781549" y="4293111"/>
            <a:ext cx="1196690" cy="1720466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68188" y="4273154"/>
            <a:ext cx="12234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OMPI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Spectrum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OSHMEM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SOS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PGAS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others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/>
          <p:cNvCxnSpPr>
            <a:endCxn id="22" idx="0"/>
          </p:cNvCxnSpPr>
          <p:nvPr/>
        </p:nvCxnSpPr>
        <p:spPr bwMode="auto">
          <a:xfrm>
            <a:off x="1446927" y="4044554"/>
            <a:ext cx="496294" cy="125836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Rounded Rectangle 14"/>
          <p:cNvSpPr/>
          <p:nvPr/>
        </p:nvSpPr>
        <p:spPr bwMode="auto">
          <a:xfrm>
            <a:off x="1446931" y="1987154"/>
            <a:ext cx="992579" cy="917308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228600" y="3358754"/>
            <a:ext cx="1752600" cy="685800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PMIx?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43495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PMI-1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180981" y="343495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PMI-2</a:t>
            </a:r>
            <a:endParaRPr lang="en-US" sz="1800" dirty="0"/>
          </a:p>
        </p:txBody>
      </p:sp>
      <p:sp>
        <p:nvSpPr>
          <p:cNvPr id="6" name="Right Arrow 5"/>
          <p:cNvSpPr/>
          <p:nvPr/>
        </p:nvSpPr>
        <p:spPr bwMode="auto">
          <a:xfrm>
            <a:off x="971610" y="3559553"/>
            <a:ext cx="228600" cy="12013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43" y="4125792"/>
            <a:ext cx="2174533" cy="830997"/>
          </a:xfrm>
          <a:prstGeom prst="rect">
            <a:avLst/>
          </a:prstGeom>
          <a:solidFill>
            <a:schemeClr val="bg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wireup support</a:t>
            </a:r>
          </a:p>
          <a:p>
            <a:pPr algn="ctr"/>
            <a:r>
              <a:rPr lang="en-US" sz="1600" dirty="0" smtClean="0"/>
              <a:t>dynamic spawn</a:t>
            </a:r>
          </a:p>
          <a:p>
            <a:pPr algn="ctr"/>
            <a:r>
              <a:rPr lang="en-US" sz="1600" dirty="0" smtClean="0"/>
              <a:t>keyval publish/lookup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23224" y="3779978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MPICH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8632" y="3650397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/>
              <a:t>y</a:t>
            </a:r>
            <a:r>
              <a:rPr lang="en-US" sz="1400" i="1" dirty="0" smtClean="0"/>
              <a:t>ears go by</a:t>
            </a:r>
            <a:r>
              <a:rPr lang="mr-IN" sz="1400" i="1" dirty="0" smtClean="0"/>
              <a:t>…</a:t>
            </a:r>
            <a:endParaRPr lang="en-US" sz="1400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1446931" y="223760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SLURM</a:t>
            </a:r>
            <a:endParaRPr 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1555934" y="253513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ALPS</a:t>
            </a:r>
            <a:endParaRPr lang="en-US" sz="1800" dirty="0"/>
          </a:p>
        </p:txBody>
      </p:sp>
      <p:sp>
        <p:nvSpPr>
          <p:cNvPr id="16" name="TextBox 15"/>
          <p:cNvSpPr txBox="1"/>
          <p:nvPr/>
        </p:nvSpPr>
        <p:spPr>
          <a:xfrm>
            <a:off x="1691387" y="1967924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RM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>
            <a:endCxn id="13" idx="1"/>
          </p:cNvCxnSpPr>
          <p:nvPr/>
        </p:nvCxnSpPr>
        <p:spPr bwMode="auto">
          <a:xfrm flipV="1">
            <a:off x="628709" y="2422266"/>
            <a:ext cx="818222" cy="9364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>
            <a:endCxn id="14" idx="2"/>
          </p:cNvCxnSpPr>
          <p:nvPr/>
        </p:nvCxnSpPr>
        <p:spPr bwMode="auto">
          <a:xfrm flipV="1">
            <a:off x="1581090" y="2904462"/>
            <a:ext cx="362130" cy="4542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ounded Rectangle 21"/>
          <p:cNvSpPr/>
          <p:nvPr/>
        </p:nvSpPr>
        <p:spPr bwMode="auto">
          <a:xfrm>
            <a:off x="1446931" y="5302923"/>
            <a:ext cx="992579" cy="917308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30285" y="5409809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bg1"/>
                </a:solidFill>
              </a:rPr>
              <a:t>PGAS</a:t>
            </a:r>
          </a:p>
          <a:p>
            <a:r>
              <a:rPr lang="en-US" sz="1800" dirty="0" smtClean="0">
                <a:solidFill>
                  <a:schemeClr val="bg1"/>
                </a:solidFill>
              </a:rPr>
              <a:t>others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85240" y="1676400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2015</a:t>
            </a:r>
            <a:endParaRPr lang="en-US" sz="1600" dirty="0"/>
          </a:p>
        </p:txBody>
      </p:sp>
      <p:cxnSp>
        <p:nvCxnSpPr>
          <p:cNvPr id="30" name="Straight Connector 29"/>
          <p:cNvCxnSpPr>
            <a:endCxn id="31" idx="0"/>
          </p:cNvCxnSpPr>
          <p:nvPr/>
        </p:nvCxnSpPr>
        <p:spPr bwMode="auto">
          <a:xfrm flipH="1">
            <a:off x="3505199" y="2108845"/>
            <a:ext cx="2" cy="218804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2580907" y="4296886"/>
            <a:ext cx="18485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Exascale systems</a:t>
            </a:r>
          </a:p>
          <a:p>
            <a:pPr algn="ctr"/>
            <a:r>
              <a:rPr lang="en-US" sz="1600" dirty="0" smtClean="0"/>
              <a:t>on horizon</a:t>
            </a:r>
          </a:p>
          <a:p>
            <a:pPr algn="ctr"/>
            <a:r>
              <a:rPr lang="en-US" sz="1600" dirty="0" smtClean="0"/>
              <a:t>Launch times long</a:t>
            </a:r>
          </a:p>
          <a:p>
            <a:pPr algn="ctr"/>
            <a:r>
              <a:rPr lang="en-US" sz="1600" dirty="0" smtClean="0"/>
              <a:t>New paradigms</a:t>
            </a:r>
            <a:endParaRPr lang="en-US" sz="16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084" y="3394213"/>
            <a:ext cx="1578957" cy="5123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12085" y="1677414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2016</a:t>
            </a:r>
            <a:endParaRPr lang="en-US" sz="1600" dirty="0"/>
          </a:p>
        </p:txBody>
      </p:sp>
      <p:cxnSp>
        <p:nvCxnSpPr>
          <p:cNvPr id="34" name="Straight Connector 33"/>
          <p:cNvCxnSpPr/>
          <p:nvPr/>
        </p:nvCxnSpPr>
        <p:spPr bwMode="auto">
          <a:xfrm>
            <a:off x="5129999" y="2124199"/>
            <a:ext cx="0" cy="3100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6172200" y="5364779"/>
            <a:ext cx="16754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Exascale launch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in &lt; 10s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Orchestration</a:t>
            </a:r>
          </a:p>
        </p:txBody>
      </p:sp>
      <p:sp>
        <p:nvSpPr>
          <p:cNvPr id="38" name="Right Arrow 37"/>
          <p:cNvSpPr/>
          <p:nvPr/>
        </p:nvSpPr>
        <p:spPr bwMode="auto">
          <a:xfrm>
            <a:off x="5029199" y="3567873"/>
            <a:ext cx="532564" cy="16504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5561763" y="2108845"/>
            <a:ext cx="992579" cy="917308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0" name="Rounded Rectangle 39"/>
          <p:cNvSpPr/>
          <p:nvPr/>
        </p:nvSpPr>
        <p:spPr bwMode="auto">
          <a:xfrm>
            <a:off x="5567305" y="3278154"/>
            <a:ext cx="987037" cy="79369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21462" y="3465731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PMIx v1.2</a:t>
            </a:r>
            <a:endParaRPr lang="en-US" sz="1600" dirty="0"/>
          </a:p>
        </p:txBody>
      </p:sp>
      <p:sp>
        <p:nvSpPr>
          <p:cNvPr id="43" name="TextBox 42"/>
          <p:cNvSpPr txBox="1"/>
          <p:nvPr/>
        </p:nvSpPr>
        <p:spPr>
          <a:xfrm>
            <a:off x="5554484" y="2377924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SLURM</a:t>
            </a:r>
          </a:p>
          <a:p>
            <a:pPr algn="ctr"/>
            <a:r>
              <a:rPr lang="en-US" sz="1800" dirty="0" smtClean="0"/>
              <a:t>JSM</a:t>
            </a:r>
            <a:endParaRPr lang="en-US" sz="1800" dirty="0"/>
          </a:p>
        </p:txBody>
      </p:sp>
      <p:sp>
        <p:nvSpPr>
          <p:cNvPr id="44" name="TextBox 43"/>
          <p:cNvSpPr txBox="1"/>
          <p:nvPr/>
        </p:nvSpPr>
        <p:spPr>
          <a:xfrm>
            <a:off x="5795207" y="2108845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RM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6" name="Rounded Rectangle 45"/>
          <p:cNvSpPr/>
          <p:nvPr/>
        </p:nvSpPr>
        <p:spPr bwMode="auto">
          <a:xfrm>
            <a:off x="5470051" y="4281723"/>
            <a:ext cx="1198034" cy="1128085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56690" y="4410257"/>
            <a:ext cx="1223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OMPI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Spectrum</a:t>
            </a:r>
          </a:p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OSHMEM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81800" y="1676400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2017</a:t>
            </a:r>
            <a:endParaRPr lang="en-US" sz="1600" dirty="0"/>
          </a:p>
        </p:txBody>
      </p:sp>
      <p:cxnSp>
        <p:nvCxnSpPr>
          <p:cNvPr id="49" name="Straight Connector 48"/>
          <p:cNvCxnSpPr/>
          <p:nvPr/>
        </p:nvCxnSpPr>
        <p:spPr bwMode="auto">
          <a:xfrm>
            <a:off x="7086600" y="2123185"/>
            <a:ext cx="1" cy="310160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4292269" y="5364779"/>
            <a:ext cx="1675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Exascale launch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in &lt; 30s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53" name="Rounded Rectangle 52"/>
          <p:cNvSpPr/>
          <p:nvPr/>
        </p:nvSpPr>
        <p:spPr bwMode="auto">
          <a:xfrm>
            <a:off x="7867505" y="3278154"/>
            <a:ext cx="987037" cy="793692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811834" y="3465731"/>
            <a:ext cx="108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PMIx v2.x</a:t>
            </a:r>
            <a:endParaRPr lang="en-US" sz="1600" dirty="0"/>
          </a:p>
        </p:txBody>
      </p:sp>
      <p:sp>
        <p:nvSpPr>
          <p:cNvPr id="55" name="Rounded Rectangle 54"/>
          <p:cNvSpPr/>
          <p:nvPr/>
        </p:nvSpPr>
        <p:spPr bwMode="auto">
          <a:xfrm>
            <a:off x="7858517" y="1907299"/>
            <a:ext cx="992579" cy="1268788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851238" y="2176379"/>
            <a:ext cx="992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SLURM</a:t>
            </a:r>
          </a:p>
          <a:p>
            <a:pPr algn="ctr"/>
            <a:r>
              <a:rPr lang="en-US" sz="1800" dirty="0" smtClean="0"/>
              <a:t>JSM</a:t>
            </a:r>
          </a:p>
          <a:p>
            <a:pPr algn="ctr"/>
            <a:r>
              <a:rPr lang="en-US" sz="1800" dirty="0" smtClean="0"/>
              <a:t>others</a:t>
            </a:r>
            <a:endParaRPr lang="en-US" sz="1800" dirty="0"/>
          </a:p>
        </p:txBody>
      </p:sp>
      <p:sp>
        <p:nvSpPr>
          <p:cNvPr id="57" name="TextBox 56"/>
          <p:cNvSpPr txBox="1"/>
          <p:nvPr/>
        </p:nvSpPr>
        <p:spPr>
          <a:xfrm>
            <a:off x="8091961" y="1907300"/>
            <a:ext cx="503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RM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95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Distinct Entities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PMIx Standard</a:t>
            </a:r>
          </a:p>
          <a:p>
            <a:pPr lvl="1"/>
            <a:r>
              <a:rPr lang="en-US" dirty="0" smtClean="0"/>
              <a:t>Defined set of APIs, attribute strings</a:t>
            </a:r>
          </a:p>
          <a:p>
            <a:pPr lvl="1"/>
            <a:r>
              <a:rPr lang="en-US" dirty="0" smtClean="0"/>
              <a:t>Nothing about implementation</a:t>
            </a:r>
          </a:p>
          <a:p>
            <a:r>
              <a:rPr lang="en-US" dirty="0" smtClean="0"/>
              <a:t>PMIx Reference Library</a:t>
            </a:r>
          </a:p>
          <a:p>
            <a:pPr lvl="1"/>
            <a:r>
              <a:rPr lang="en-US" dirty="0" smtClean="0"/>
              <a:t>A full-featured implementation of the Standard</a:t>
            </a:r>
          </a:p>
          <a:p>
            <a:pPr lvl="1"/>
            <a:r>
              <a:rPr lang="en-US" dirty="0" smtClean="0"/>
              <a:t>Intended to ease adoption</a:t>
            </a:r>
          </a:p>
          <a:p>
            <a:r>
              <a:rPr lang="en-US" dirty="0" smtClean="0"/>
              <a:t>PMIx Reference Server</a:t>
            </a:r>
          </a:p>
          <a:p>
            <a:pPr lvl="1"/>
            <a:r>
              <a:rPr lang="en-US" dirty="0" smtClean="0"/>
              <a:t>Full-featured “shim” to a non-PMIx 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smtClean="0"/>
              <a:t>The Community</a:t>
            </a:r>
            <a:endParaRPr lang="en-US" sz="3300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609600" y="1861932"/>
            <a:ext cx="7924800" cy="1647315"/>
            <a:chOff x="685800" y="3048000"/>
            <a:chExt cx="7924800" cy="1647315"/>
          </a:xfrm>
        </p:grpSpPr>
        <p:pic>
          <p:nvPicPr>
            <p:cNvPr id="8" name="Picture 4" descr="X:\WORK\Mellanox\Presentations\PMIx_SLURM\images\mellanox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81400" y="3048000"/>
              <a:ext cx="2160000" cy="1647315"/>
            </a:xfrm>
            <a:prstGeom prst="rect">
              <a:avLst/>
            </a:prstGeom>
            <a:noFill/>
          </p:spPr>
        </p:pic>
        <p:pic>
          <p:nvPicPr>
            <p:cNvPr id="6" name="Picture 2" descr="X:\WORK\Mellanox\Presentations\PMIx_SLURM\images\intel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3124200"/>
              <a:ext cx="2340000" cy="1542273"/>
            </a:xfrm>
            <a:prstGeom prst="rect">
              <a:avLst/>
            </a:prstGeom>
            <a:noFill/>
          </p:spPr>
        </p:pic>
        <p:pic>
          <p:nvPicPr>
            <p:cNvPr id="7" name="Picture 3" descr="X:\WORK\Mellanox\Presentations\PMIx_SLURM\images\ibm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70600" y="3403657"/>
              <a:ext cx="2340000" cy="936000"/>
            </a:xfrm>
            <a:prstGeom prst="rect">
              <a:avLst/>
            </a:prstGeom>
            <a:noFill/>
          </p:spPr>
        </p:pic>
      </p:grpSp>
      <p:pic>
        <p:nvPicPr>
          <p:cNvPr id="1026" name="Picture 2" descr="X:\WORK\Mellanox\Presentations\PMIx_SLUG_2015\images\schedmd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29697" y="3969406"/>
            <a:ext cx="2303746" cy="527941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00" y="4079719"/>
            <a:ext cx="14224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40925"/>
            <a:ext cx="952500" cy="1117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1000" y="5237855"/>
            <a:ext cx="1168400" cy="609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8077" y="5061819"/>
            <a:ext cx="1803400" cy="901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89695" y="5990024"/>
            <a:ext cx="37433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/>
                </a:solidFill>
              </a:rPr>
              <a:t>https://pmix.github.io/pmix</a:t>
            </a:r>
          </a:p>
          <a:p>
            <a:pPr algn="ctr"/>
            <a:r>
              <a:rPr lang="en-US" dirty="0" smtClean="0"/>
              <a:t>https://github.com/pmix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8972" y="3805244"/>
            <a:ext cx="892456" cy="11103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3892879"/>
            <a:ext cx="887461" cy="8423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1361" y="5413834"/>
            <a:ext cx="1416050" cy="37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9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400" y="3446187"/>
            <a:ext cx="590968" cy="618919"/>
            <a:chOff x="7262204" y="5578453"/>
            <a:chExt cx="787957" cy="8252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7262204" y="5578453"/>
              <a:ext cx="787957" cy="825225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7326884" y="5761709"/>
              <a:ext cx="705749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Job</a:t>
              </a:r>
            </a:p>
            <a:p>
              <a:pPr algn="ctr"/>
              <a:r>
                <a:rPr lang="en-US" sz="1050" dirty="0"/>
                <a:t>Script</a:t>
              </a:r>
            </a:p>
          </p:txBody>
        </p:sp>
      </p:grpSp>
      <p:sp>
        <p:nvSpPr>
          <p:cNvPr id="6" name="Hexagon 5"/>
          <p:cNvSpPr/>
          <p:nvPr/>
        </p:nvSpPr>
        <p:spPr>
          <a:xfrm>
            <a:off x="924211" y="3352422"/>
            <a:ext cx="920750" cy="806450"/>
          </a:xfrm>
          <a:prstGeom prst="hexagon">
            <a:avLst/>
          </a:prstGeom>
          <a:pattFill prst="zigZ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1036697" y="361228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WLM</a:t>
            </a:r>
          </a:p>
        </p:txBody>
      </p:sp>
      <p:sp>
        <p:nvSpPr>
          <p:cNvPr id="9" name="Hexagon 8"/>
          <p:cNvSpPr/>
          <p:nvPr/>
        </p:nvSpPr>
        <p:spPr>
          <a:xfrm>
            <a:off x="2236840" y="3352422"/>
            <a:ext cx="920750" cy="806450"/>
          </a:xfrm>
          <a:prstGeom prst="hexagon">
            <a:avLst/>
          </a:prstGeom>
          <a:pattFill prst="zigZ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2349326" y="361228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WLM</a:t>
            </a:r>
          </a:p>
        </p:txBody>
      </p:sp>
      <p:grpSp>
        <p:nvGrpSpPr>
          <p:cNvPr id="15" name="Group 14"/>
          <p:cNvGrpSpPr/>
          <p:nvPr/>
        </p:nvGrpSpPr>
        <p:grpSpPr>
          <a:xfrm rot="5400000">
            <a:off x="2007169" y="3597048"/>
            <a:ext cx="75629" cy="307463"/>
            <a:chOff x="8993443" y="4176010"/>
            <a:chExt cx="100838" cy="409951"/>
          </a:xfrm>
        </p:grpSpPr>
        <p:sp>
          <p:nvSpPr>
            <p:cNvPr id="12" name="Oval 11"/>
            <p:cNvSpPr/>
            <p:nvPr/>
          </p:nvSpPr>
          <p:spPr bwMode="auto">
            <a:xfrm>
              <a:off x="8993443" y="4176010"/>
              <a:ext cx="100838" cy="10083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8993443" y="4328410"/>
              <a:ext cx="100838" cy="10083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8993443" y="4485123"/>
              <a:ext cx="100838" cy="10083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sp>
        <p:nvSpPr>
          <p:cNvPr id="29" name="Oval 28"/>
          <p:cNvSpPr/>
          <p:nvPr/>
        </p:nvSpPr>
        <p:spPr bwMode="auto">
          <a:xfrm>
            <a:off x="3803385" y="3441322"/>
            <a:ext cx="628649" cy="6286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61415" y="357083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RM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211896" y="3655950"/>
            <a:ext cx="548915" cy="199392"/>
          </a:xfrm>
          <a:prstGeom prst="rightArrow">
            <a:avLst/>
          </a:prstGeom>
          <a:pattFill prst="pct50">
            <a:fgClr>
              <a:srgbClr val="51515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1" name="TextBox 40"/>
          <p:cNvSpPr txBox="1"/>
          <p:nvPr/>
        </p:nvSpPr>
        <p:spPr>
          <a:xfrm>
            <a:off x="3094097" y="3832680"/>
            <a:ext cx="856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Launch</a:t>
            </a:r>
          </a:p>
          <a:p>
            <a:pPr algn="ctr"/>
            <a:r>
              <a:rPr lang="en-US" sz="1600" dirty="0"/>
              <a:t>Cmd</a:t>
            </a:r>
          </a:p>
        </p:txBody>
      </p:sp>
      <p:cxnSp>
        <p:nvCxnSpPr>
          <p:cNvPr id="47" name="Straight Arrow Connector 46"/>
          <p:cNvCxnSpPr>
            <a:stCxn id="3" idx="3"/>
            <a:endCxn id="6" idx="3"/>
          </p:cNvCxnSpPr>
          <p:nvPr/>
        </p:nvCxnSpPr>
        <p:spPr>
          <a:xfrm>
            <a:off x="743368" y="3755647"/>
            <a:ext cx="18084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>
            <a:off x="4568949" y="3257625"/>
            <a:ext cx="906236" cy="996043"/>
          </a:xfrm>
          <a:prstGeom prst="diamond">
            <a:avLst/>
          </a:prstGeom>
          <a:pattFill prst="pct90">
            <a:fgClr>
              <a:srgbClr val="FFC00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0" name="TextBox 49"/>
          <p:cNvSpPr txBox="1"/>
          <p:nvPr/>
        </p:nvSpPr>
        <p:spPr>
          <a:xfrm>
            <a:off x="4663373" y="3517572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/>
                </a:solidFill>
              </a:rPr>
              <a:t>Spawn</a:t>
            </a:r>
          </a:p>
          <a:p>
            <a:pPr algn="ctr"/>
            <a:r>
              <a:rPr lang="en-US" sz="1400" dirty="0">
                <a:solidFill>
                  <a:schemeClr val="bg2"/>
                </a:solidFill>
              </a:rPr>
              <a:t>Procs</a:t>
            </a:r>
          </a:p>
        </p:txBody>
      </p:sp>
      <p:cxnSp>
        <p:nvCxnSpPr>
          <p:cNvPr id="52" name="Straight Arrow Connector 51"/>
          <p:cNvCxnSpPr>
            <a:stCxn id="29" idx="6"/>
            <a:endCxn id="49" idx="1"/>
          </p:cNvCxnSpPr>
          <p:nvPr/>
        </p:nvCxnSpPr>
        <p:spPr>
          <a:xfrm>
            <a:off x="4432034" y="3755647"/>
            <a:ext cx="1369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596106" y="1984240"/>
            <a:ext cx="465582" cy="4655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12156" y="2928781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Global</a:t>
            </a:r>
          </a:p>
          <a:p>
            <a:pPr algn="ctr"/>
            <a:r>
              <a:rPr lang="en-US" sz="1800" dirty="0"/>
              <a:t>Xchg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3024" y="3529235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 bwMode="auto">
          <a:xfrm>
            <a:off x="5553515" y="4268124"/>
            <a:ext cx="640711" cy="248603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49288" y="4743039"/>
            <a:ext cx="449162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NIC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5873869" y="4473687"/>
            <a:ext cx="0" cy="2693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873869" y="3969143"/>
            <a:ext cx="0" cy="29898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49" idx="3"/>
            <a:endCxn id="19" idx="1"/>
          </p:cNvCxnSpPr>
          <p:nvPr/>
        </p:nvCxnSpPr>
        <p:spPr>
          <a:xfrm>
            <a:off x="5475185" y="3755647"/>
            <a:ext cx="157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912505" y="3538396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28770" y="4752201"/>
            <a:ext cx="449162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NIC</a:t>
            </a: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7153351" y="4482848"/>
            <a:ext cx="0" cy="2693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153351" y="3978305"/>
            <a:ext cx="0" cy="29898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964817" y="3538396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66668" y="29287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Barrier</a:t>
            </a:r>
          </a:p>
        </p:txBody>
      </p:sp>
      <p:sp>
        <p:nvSpPr>
          <p:cNvPr id="83" name="Freeform 82"/>
          <p:cNvSpPr/>
          <p:nvPr/>
        </p:nvSpPr>
        <p:spPr>
          <a:xfrm>
            <a:off x="1966881" y="2662363"/>
            <a:ext cx="2908913" cy="788639"/>
          </a:xfrm>
          <a:custGeom>
            <a:avLst/>
            <a:gdLst>
              <a:gd name="connsiteX0" fmla="*/ 0 w 1850571"/>
              <a:gd name="connsiteY0" fmla="*/ 0 h 1023258"/>
              <a:gd name="connsiteX1" fmla="*/ 1197428 w 1850571"/>
              <a:gd name="connsiteY1" fmla="*/ 250372 h 1023258"/>
              <a:gd name="connsiteX2" fmla="*/ 1850571 w 1850571"/>
              <a:gd name="connsiteY2" fmla="*/ 1023258 h 1023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0571" h="1023258">
                <a:moveTo>
                  <a:pt x="0" y="0"/>
                </a:moveTo>
                <a:cubicBezTo>
                  <a:pt x="444500" y="39914"/>
                  <a:pt x="889000" y="79829"/>
                  <a:pt x="1197428" y="250372"/>
                </a:cubicBezTo>
                <a:cubicBezTo>
                  <a:pt x="1505856" y="420915"/>
                  <a:pt x="1850571" y="1023258"/>
                  <a:pt x="1850571" y="1023258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4" name="Can 83"/>
          <p:cNvSpPr/>
          <p:nvPr/>
        </p:nvSpPr>
        <p:spPr bwMode="auto">
          <a:xfrm>
            <a:off x="1484062" y="2457247"/>
            <a:ext cx="482819" cy="38231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Launch Sequence</a:t>
            </a:r>
            <a:endParaRPr lang="en-US" dirty="0"/>
          </a:p>
        </p:txBody>
      </p:sp>
      <p:cxnSp>
        <p:nvCxnSpPr>
          <p:cNvPr id="56" name="Straight Arrow Connector 55"/>
          <p:cNvCxnSpPr>
            <a:endCxn id="57" idx="1"/>
          </p:cNvCxnSpPr>
          <p:nvPr/>
        </p:nvCxnSpPr>
        <p:spPr>
          <a:xfrm flipV="1">
            <a:off x="6150728" y="3764808"/>
            <a:ext cx="761777" cy="7552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endCxn id="69" idx="1"/>
          </p:cNvCxnSpPr>
          <p:nvPr/>
        </p:nvCxnSpPr>
        <p:spPr>
          <a:xfrm flipV="1">
            <a:off x="7421785" y="3764808"/>
            <a:ext cx="543032" cy="92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95323" y="2292974"/>
            <a:ext cx="130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Wait for files</a:t>
            </a:r>
          </a:p>
          <a:p>
            <a:pPr algn="ctr"/>
            <a:r>
              <a:rPr lang="en-US" sz="1600" dirty="0" smtClean="0"/>
              <a:t>&amp; libs</a:t>
            </a:r>
            <a:endParaRPr lang="en-US" sz="1600" dirty="0"/>
          </a:p>
        </p:txBody>
      </p:sp>
      <p:sp>
        <p:nvSpPr>
          <p:cNvPr id="20" name="Octagon 19"/>
          <p:cNvSpPr/>
          <p:nvPr/>
        </p:nvSpPr>
        <p:spPr bwMode="auto">
          <a:xfrm>
            <a:off x="4758101" y="5268567"/>
            <a:ext cx="944478" cy="431475"/>
          </a:xfrm>
          <a:prstGeom prst="octagon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Topo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4" name="Octagon 63"/>
          <p:cNvSpPr/>
          <p:nvPr/>
        </p:nvSpPr>
        <p:spPr bwMode="auto">
          <a:xfrm>
            <a:off x="6112241" y="5280161"/>
            <a:ext cx="944478" cy="431475"/>
          </a:xfrm>
          <a:prstGeom prst="octagon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Topo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26" name="Elbow Connector 25"/>
          <p:cNvCxnSpPr>
            <a:stCxn id="57" idx="2"/>
          </p:cNvCxnSpPr>
          <p:nvPr/>
        </p:nvCxnSpPr>
        <p:spPr bwMode="auto">
          <a:xfrm rot="5400000">
            <a:off x="6224447" y="4351255"/>
            <a:ext cx="1288940" cy="568871"/>
          </a:xfrm>
          <a:prstGeom prst="bentConnector3">
            <a:avLst>
              <a:gd name="adj1" fmla="val 11728"/>
            </a:avLst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68" name="Octagon 67"/>
          <p:cNvSpPr/>
          <p:nvPr/>
        </p:nvSpPr>
        <p:spPr bwMode="auto">
          <a:xfrm>
            <a:off x="7331219" y="5269187"/>
            <a:ext cx="944478" cy="431475"/>
          </a:xfrm>
          <a:prstGeom prst="octagon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Topo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70" name="Elbow Connector 69"/>
          <p:cNvCxnSpPr>
            <a:stCxn id="69" idx="2"/>
          </p:cNvCxnSpPr>
          <p:nvPr/>
        </p:nvCxnSpPr>
        <p:spPr bwMode="auto">
          <a:xfrm rot="5400000">
            <a:off x="7357249" y="4413579"/>
            <a:ext cx="1270774" cy="426056"/>
          </a:xfrm>
          <a:prstGeom prst="bentConnector3">
            <a:avLst>
              <a:gd name="adj1" fmla="val 11182"/>
            </a:avLst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73" name="Rounded Rectangle 72"/>
          <p:cNvSpPr/>
          <p:nvPr/>
        </p:nvSpPr>
        <p:spPr bwMode="auto">
          <a:xfrm>
            <a:off x="7885307" y="4277285"/>
            <a:ext cx="640711" cy="248603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81081" y="4752201"/>
            <a:ext cx="449162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NIC</a:t>
            </a:r>
          </a:p>
        </p:txBody>
      </p:sp>
      <p:cxnSp>
        <p:nvCxnSpPr>
          <p:cNvPr id="79" name="Straight Connector 78"/>
          <p:cNvCxnSpPr/>
          <p:nvPr/>
        </p:nvCxnSpPr>
        <p:spPr>
          <a:xfrm flipV="1">
            <a:off x="8205662" y="4482848"/>
            <a:ext cx="0" cy="2693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8205662" y="3978305"/>
            <a:ext cx="0" cy="29898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ent Arrow 36"/>
          <p:cNvSpPr/>
          <p:nvPr/>
        </p:nvSpPr>
        <p:spPr bwMode="auto">
          <a:xfrm rot="5400000" flipH="1">
            <a:off x="8061009" y="2965309"/>
            <a:ext cx="1355597" cy="333784"/>
          </a:xfrm>
          <a:prstGeom prst="bentArrow">
            <a:avLst>
              <a:gd name="adj1" fmla="val 25000"/>
              <a:gd name="adj2" fmla="val 261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85" name="Elbow Connector 84"/>
          <p:cNvCxnSpPr/>
          <p:nvPr/>
        </p:nvCxnSpPr>
        <p:spPr bwMode="auto">
          <a:xfrm rot="5400000">
            <a:off x="4915600" y="4312258"/>
            <a:ext cx="1288324" cy="624299"/>
          </a:xfrm>
          <a:prstGeom prst="bentConnector3">
            <a:avLst>
              <a:gd name="adj1" fmla="val 10623"/>
            </a:avLst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58" name="Rounded Rectangle 57"/>
          <p:cNvSpPr/>
          <p:nvPr/>
        </p:nvSpPr>
        <p:spPr bwMode="auto">
          <a:xfrm>
            <a:off x="6832996" y="4277285"/>
            <a:ext cx="640711" cy="248603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</a:p>
        </p:txBody>
      </p:sp>
    </p:spTree>
    <p:extLst>
      <p:ext uri="{BB962C8B-B14F-4D97-AF65-F5344CB8AC3E}">
        <p14:creationId xmlns:p14="http://schemas.microsoft.com/office/powerpoint/2010/main" val="52670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/>
          <p:cNvSpPr/>
          <p:nvPr/>
        </p:nvSpPr>
        <p:spPr>
          <a:xfrm>
            <a:off x="8045742" y="3505200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995178" y="3505200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724291" y="3509576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2400" y="3446187"/>
            <a:ext cx="590968" cy="618919"/>
            <a:chOff x="7262204" y="5578453"/>
            <a:chExt cx="787957" cy="8252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7262204" y="5578453"/>
              <a:ext cx="787957" cy="825225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7326884" y="5761709"/>
              <a:ext cx="705749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Job</a:t>
              </a:r>
            </a:p>
            <a:p>
              <a:pPr algn="ctr"/>
              <a:r>
                <a:rPr lang="en-US" sz="1050" dirty="0"/>
                <a:t>Script</a:t>
              </a:r>
            </a:p>
          </p:txBody>
        </p:sp>
      </p:grpSp>
      <p:sp>
        <p:nvSpPr>
          <p:cNvPr id="6" name="Hexagon 5"/>
          <p:cNvSpPr/>
          <p:nvPr/>
        </p:nvSpPr>
        <p:spPr>
          <a:xfrm>
            <a:off x="924211" y="3352422"/>
            <a:ext cx="920750" cy="806450"/>
          </a:xfrm>
          <a:prstGeom prst="hexagon">
            <a:avLst/>
          </a:prstGeom>
          <a:pattFill prst="zigZ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1036697" y="361228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WLM</a:t>
            </a:r>
          </a:p>
        </p:txBody>
      </p:sp>
      <p:sp>
        <p:nvSpPr>
          <p:cNvPr id="9" name="Hexagon 8"/>
          <p:cNvSpPr/>
          <p:nvPr/>
        </p:nvSpPr>
        <p:spPr>
          <a:xfrm>
            <a:off x="2236840" y="3352422"/>
            <a:ext cx="920750" cy="806450"/>
          </a:xfrm>
          <a:prstGeom prst="hexagon">
            <a:avLst/>
          </a:prstGeom>
          <a:pattFill prst="zigZag">
            <a:fgClr>
              <a:srgbClr val="FFC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2349326" y="361228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WLM</a:t>
            </a:r>
          </a:p>
        </p:txBody>
      </p:sp>
      <p:grpSp>
        <p:nvGrpSpPr>
          <p:cNvPr id="15" name="Group 14"/>
          <p:cNvGrpSpPr/>
          <p:nvPr/>
        </p:nvGrpSpPr>
        <p:grpSpPr>
          <a:xfrm rot="5400000">
            <a:off x="2007169" y="3597048"/>
            <a:ext cx="75629" cy="307463"/>
            <a:chOff x="8993443" y="4176010"/>
            <a:chExt cx="100838" cy="409951"/>
          </a:xfrm>
        </p:grpSpPr>
        <p:sp>
          <p:nvSpPr>
            <p:cNvPr id="12" name="Oval 11"/>
            <p:cNvSpPr/>
            <p:nvPr/>
          </p:nvSpPr>
          <p:spPr bwMode="auto">
            <a:xfrm>
              <a:off x="8993443" y="4176010"/>
              <a:ext cx="100838" cy="10083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8993443" y="4328410"/>
              <a:ext cx="100838" cy="10083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8993443" y="4485123"/>
              <a:ext cx="100838" cy="100838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sp>
        <p:nvSpPr>
          <p:cNvPr id="29" name="Oval 28"/>
          <p:cNvSpPr/>
          <p:nvPr/>
        </p:nvSpPr>
        <p:spPr bwMode="auto">
          <a:xfrm>
            <a:off x="3803385" y="3441322"/>
            <a:ext cx="628649" cy="6286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61415" y="3570837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RM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211896" y="3655950"/>
            <a:ext cx="548915" cy="199392"/>
          </a:xfrm>
          <a:prstGeom prst="rightArrow">
            <a:avLst/>
          </a:prstGeom>
          <a:pattFill prst="pct50">
            <a:fgClr>
              <a:srgbClr val="51515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1" name="TextBox 40"/>
          <p:cNvSpPr txBox="1"/>
          <p:nvPr/>
        </p:nvSpPr>
        <p:spPr>
          <a:xfrm>
            <a:off x="3094097" y="3832680"/>
            <a:ext cx="856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Launch</a:t>
            </a:r>
          </a:p>
          <a:p>
            <a:pPr algn="ctr"/>
            <a:r>
              <a:rPr lang="en-US" sz="1600" dirty="0"/>
              <a:t>Cmd</a:t>
            </a:r>
          </a:p>
        </p:txBody>
      </p:sp>
      <p:cxnSp>
        <p:nvCxnSpPr>
          <p:cNvPr id="47" name="Straight Arrow Connector 46"/>
          <p:cNvCxnSpPr>
            <a:stCxn id="3" idx="3"/>
            <a:endCxn id="6" idx="3"/>
          </p:cNvCxnSpPr>
          <p:nvPr/>
        </p:nvCxnSpPr>
        <p:spPr>
          <a:xfrm>
            <a:off x="743368" y="3755647"/>
            <a:ext cx="18084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>
            <a:off x="4568949" y="3257625"/>
            <a:ext cx="906236" cy="996043"/>
          </a:xfrm>
          <a:prstGeom prst="diamond">
            <a:avLst/>
          </a:prstGeom>
          <a:pattFill prst="pct90">
            <a:fgClr>
              <a:srgbClr val="FFC00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0" name="TextBox 49"/>
          <p:cNvSpPr txBox="1"/>
          <p:nvPr/>
        </p:nvSpPr>
        <p:spPr>
          <a:xfrm>
            <a:off x="4663373" y="3517572"/>
            <a:ext cx="73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2"/>
                </a:solidFill>
              </a:rPr>
              <a:t>Spawn</a:t>
            </a:r>
          </a:p>
          <a:p>
            <a:pPr algn="ctr"/>
            <a:r>
              <a:rPr lang="en-US" sz="1400" dirty="0">
                <a:solidFill>
                  <a:schemeClr val="bg2"/>
                </a:solidFill>
              </a:rPr>
              <a:t>Procs</a:t>
            </a:r>
          </a:p>
        </p:txBody>
      </p:sp>
      <p:cxnSp>
        <p:nvCxnSpPr>
          <p:cNvPr id="52" name="Straight Arrow Connector 51"/>
          <p:cNvCxnSpPr>
            <a:stCxn id="29" idx="6"/>
            <a:endCxn id="49" idx="1"/>
          </p:cNvCxnSpPr>
          <p:nvPr/>
        </p:nvCxnSpPr>
        <p:spPr>
          <a:xfrm>
            <a:off x="4432034" y="3755647"/>
            <a:ext cx="13691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596106" y="1984240"/>
            <a:ext cx="465582" cy="4655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12156" y="2928781"/>
            <a:ext cx="851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Global</a:t>
            </a:r>
          </a:p>
          <a:p>
            <a:pPr algn="ctr"/>
            <a:r>
              <a:rPr lang="en-US" sz="1800" dirty="0"/>
              <a:t>Xchg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3024" y="3529235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 bwMode="auto">
          <a:xfrm>
            <a:off x="5553515" y="4268124"/>
            <a:ext cx="640711" cy="248603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49288" y="4743039"/>
            <a:ext cx="449162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NIC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5873869" y="4473687"/>
            <a:ext cx="0" cy="2693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873869" y="3969143"/>
            <a:ext cx="0" cy="29898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49" idx="3"/>
            <a:endCxn id="19" idx="1"/>
          </p:cNvCxnSpPr>
          <p:nvPr/>
        </p:nvCxnSpPr>
        <p:spPr>
          <a:xfrm>
            <a:off x="5475186" y="3755647"/>
            <a:ext cx="1578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 bwMode="auto">
          <a:xfrm>
            <a:off x="5483426" y="2666944"/>
            <a:ext cx="780886" cy="35439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Proxy</a:t>
            </a:r>
          </a:p>
        </p:txBody>
      </p:sp>
      <p:cxnSp>
        <p:nvCxnSpPr>
          <p:cNvPr id="45" name="Straight Arrow Connector 44"/>
          <p:cNvCxnSpPr>
            <a:stCxn id="19" idx="0"/>
            <a:endCxn id="55" idx="4"/>
          </p:cNvCxnSpPr>
          <p:nvPr/>
        </p:nvCxnSpPr>
        <p:spPr>
          <a:xfrm flipH="1" flipV="1">
            <a:off x="5873869" y="3021339"/>
            <a:ext cx="2" cy="507896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912505" y="3538396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58" name="Rounded Rectangle 57"/>
          <p:cNvSpPr/>
          <p:nvPr/>
        </p:nvSpPr>
        <p:spPr bwMode="auto">
          <a:xfrm>
            <a:off x="6832996" y="4277285"/>
            <a:ext cx="640711" cy="248603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28770" y="4752201"/>
            <a:ext cx="449162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NIC</a:t>
            </a: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7153351" y="4482848"/>
            <a:ext cx="0" cy="2693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153351" y="3978305"/>
            <a:ext cx="0" cy="29898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 bwMode="auto">
          <a:xfrm>
            <a:off x="6762908" y="2666944"/>
            <a:ext cx="780886" cy="35439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Proxy</a:t>
            </a:r>
          </a:p>
        </p:txBody>
      </p:sp>
      <p:cxnSp>
        <p:nvCxnSpPr>
          <p:cNvPr id="65" name="Straight Arrow Connector 64"/>
          <p:cNvCxnSpPr>
            <a:stCxn id="63" idx="4"/>
            <a:endCxn id="57" idx="0"/>
          </p:cNvCxnSpPr>
          <p:nvPr/>
        </p:nvCxnSpPr>
        <p:spPr>
          <a:xfrm>
            <a:off x="7153351" y="3021339"/>
            <a:ext cx="1" cy="517057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964817" y="3538396"/>
            <a:ext cx="481693" cy="452824"/>
          </a:xfrm>
          <a:prstGeom prst="round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Proc</a:t>
            </a:r>
          </a:p>
        </p:txBody>
      </p:sp>
      <p:sp>
        <p:nvSpPr>
          <p:cNvPr id="74" name="Oval 73"/>
          <p:cNvSpPr/>
          <p:nvPr/>
        </p:nvSpPr>
        <p:spPr bwMode="auto">
          <a:xfrm>
            <a:off x="7815220" y="2666944"/>
            <a:ext cx="780886" cy="35439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Proxy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8205663" y="3025919"/>
            <a:ext cx="1" cy="512477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366668" y="29287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Barrier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264312" y="2844141"/>
            <a:ext cx="498596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7543794" y="2844141"/>
            <a:ext cx="271426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1966881" y="2662363"/>
            <a:ext cx="2908913" cy="788639"/>
          </a:xfrm>
          <a:custGeom>
            <a:avLst/>
            <a:gdLst>
              <a:gd name="connsiteX0" fmla="*/ 0 w 1850571"/>
              <a:gd name="connsiteY0" fmla="*/ 0 h 1023258"/>
              <a:gd name="connsiteX1" fmla="*/ 1197428 w 1850571"/>
              <a:gd name="connsiteY1" fmla="*/ 250372 h 1023258"/>
              <a:gd name="connsiteX2" fmla="*/ 1850571 w 1850571"/>
              <a:gd name="connsiteY2" fmla="*/ 1023258 h 1023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0571" h="1023258">
                <a:moveTo>
                  <a:pt x="0" y="0"/>
                </a:moveTo>
                <a:cubicBezTo>
                  <a:pt x="444500" y="39914"/>
                  <a:pt x="889000" y="79829"/>
                  <a:pt x="1197428" y="250372"/>
                </a:cubicBezTo>
                <a:cubicBezTo>
                  <a:pt x="1505856" y="420915"/>
                  <a:pt x="1850571" y="1023258"/>
                  <a:pt x="1850571" y="1023258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4" name="Can 83"/>
          <p:cNvSpPr/>
          <p:nvPr/>
        </p:nvSpPr>
        <p:spPr bwMode="auto">
          <a:xfrm>
            <a:off x="1484062" y="2457247"/>
            <a:ext cx="482819" cy="382314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Newer Launch Sequence</a:t>
            </a:r>
            <a:endParaRPr lang="en-US" dirty="0"/>
          </a:p>
        </p:txBody>
      </p:sp>
      <p:cxnSp>
        <p:nvCxnSpPr>
          <p:cNvPr id="56" name="Straight Arrow Connector 55"/>
          <p:cNvCxnSpPr>
            <a:endCxn id="57" idx="1"/>
          </p:cNvCxnSpPr>
          <p:nvPr/>
        </p:nvCxnSpPr>
        <p:spPr>
          <a:xfrm flipV="1">
            <a:off x="6150728" y="3764808"/>
            <a:ext cx="761777" cy="755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endCxn id="69" idx="1"/>
          </p:cNvCxnSpPr>
          <p:nvPr/>
        </p:nvCxnSpPr>
        <p:spPr>
          <a:xfrm flipV="1">
            <a:off x="7421785" y="3764808"/>
            <a:ext cx="543032" cy="9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95323" y="2292974"/>
            <a:ext cx="130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Wait for files</a:t>
            </a:r>
          </a:p>
          <a:p>
            <a:pPr algn="ctr"/>
            <a:r>
              <a:rPr lang="en-US" sz="1600" dirty="0" smtClean="0"/>
              <a:t>&amp; libs</a:t>
            </a:r>
            <a:endParaRPr lang="en-US" sz="1600" dirty="0"/>
          </a:p>
        </p:txBody>
      </p:sp>
      <p:sp>
        <p:nvSpPr>
          <p:cNvPr id="64" name="Octagon 63"/>
          <p:cNvSpPr/>
          <p:nvPr/>
        </p:nvSpPr>
        <p:spPr bwMode="auto">
          <a:xfrm>
            <a:off x="6112241" y="5280161"/>
            <a:ext cx="944478" cy="431475"/>
          </a:xfrm>
          <a:prstGeom prst="octagon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Topo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26" name="Elbow Connector 25"/>
          <p:cNvCxnSpPr>
            <a:stCxn id="57" idx="2"/>
          </p:cNvCxnSpPr>
          <p:nvPr/>
        </p:nvCxnSpPr>
        <p:spPr bwMode="auto">
          <a:xfrm rot="5400000">
            <a:off x="6224446" y="4351254"/>
            <a:ext cx="1288941" cy="568872"/>
          </a:xfrm>
          <a:prstGeom prst="bentConnector3">
            <a:avLst>
              <a:gd name="adj1" fmla="val 10132"/>
            </a:avLst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68" name="Octagon 67"/>
          <p:cNvSpPr/>
          <p:nvPr/>
        </p:nvSpPr>
        <p:spPr bwMode="auto">
          <a:xfrm>
            <a:off x="7331219" y="5269187"/>
            <a:ext cx="944478" cy="431475"/>
          </a:xfrm>
          <a:prstGeom prst="octagon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Topo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70" name="Elbow Connector 69"/>
          <p:cNvCxnSpPr>
            <a:stCxn id="69" idx="2"/>
          </p:cNvCxnSpPr>
          <p:nvPr/>
        </p:nvCxnSpPr>
        <p:spPr bwMode="auto">
          <a:xfrm rot="5400000">
            <a:off x="7357249" y="4413579"/>
            <a:ext cx="1270774" cy="426056"/>
          </a:xfrm>
          <a:prstGeom prst="bentConnector3">
            <a:avLst>
              <a:gd name="adj1" fmla="val 13130"/>
            </a:avLst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73" name="Rounded Rectangle 72"/>
          <p:cNvSpPr/>
          <p:nvPr/>
        </p:nvSpPr>
        <p:spPr bwMode="auto">
          <a:xfrm>
            <a:off x="7885307" y="4277285"/>
            <a:ext cx="640711" cy="248603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81081" y="4752201"/>
            <a:ext cx="449162" cy="276999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NIC</a:t>
            </a:r>
          </a:p>
        </p:txBody>
      </p:sp>
      <p:cxnSp>
        <p:nvCxnSpPr>
          <p:cNvPr id="79" name="Straight Connector 78"/>
          <p:cNvCxnSpPr/>
          <p:nvPr/>
        </p:nvCxnSpPr>
        <p:spPr>
          <a:xfrm flipV="1">
            <a:off x="8205662" y="4482848"/>
            <a:ext cx="0" cy="2693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8205662" y="3978305"/>
            <a:ext cx="0" cy="29898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ent Arrow 36"/>
          <p:cNvSpPr/>
          <p:nvPr/>
        </p:nvSpPr>
        <p:spPr bwMode="auto">
          <a:xfrm rot="5400000" flipH="1">
            <a:off x="8061009" y="2965309"/>
            <a:ext cx="1355597" cy="333784"/>
          </a:xfrm>
          <a:prstGeom prst="bentArrow">
            <a:avLst>
              <a:gd name="adj1" fmla="val 25000"/>
              <a:gd name="adj2" fmla="val 26100"/>
              <a:gd name="adj3" fmla="val 25000"/>
              <a:gd name="adj4" fmla="val 437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2" name="Octagon 71"/>
          <p:cNvSpPr/>
          <p:nvPr/>
        </p:nvSpPr>
        <p:spPr bwMode="auto">
          <a:xfrm>
            <a:off x="4758101" y="5268567"/>
            <a:ext cx="944478" cy="431475"/>
          </a:xfrm>
          <a:prstGeom prst="octagon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Topo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78" name="Elbow Connector 77"/>
          <p:cNvCxnSpPr/>
          <p:nvPr/>
        </p:nvCxnSpPr>
        <p:spPr bwMode="auto">
          <a:xfrm rot="5400000">
            <a:off x="4915600" y="4312258"/>
            <a:ext cx="1288324" cy="624299"/>
          </a:xfrm>
          <a:prstGeom prst="bentConnector3">
            <a:avLst>
              <a:gd name="adj1" fmla="val 10623"/>
            </a:avLst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0502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 bwMode="auto">
          <a:xfrm>
            <a:off x="4859541" y="1674929"/>
            <a:ext cx="4132059" cy="3811471"/>
          </a:xfrm>
          <a:prstGeom prst="round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304800" y="2162229"/>
            <a:ext cx="3124200" cy="3761430"/>
          </a:xfrm>
          <a:prstGeom prst="roundRect">
            <a:avLst/>
          </a:prstGeom>
          <a:solidFill>
            <a:srgbClr val="FFFF00">
              <a:alpha val="3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PMIx-SMS Interactions</a:t>
            </a:r>
          </a:p>
        </p:txBody>
      </p:sp>
      <p:sp>
        <p:nvSpPr>
          <p:cNvPr id="5" name="Cloud 4"/>
          <p:cNvSpPr/>
          <p:nvPr/>
        </p:nvSpPr>
        <p:spPr bwMode="auto">
          <a:xfrm>
            <a:off x="420414" y="2286000"/>
            <a:ext cx="2822028" cy="13716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Cloud 5"/>
          <p:cNvSpPr/>
          <p:nvPr/>
        </p:nvSpPr>
        <p:spPr bwMode="auto">
          <a:xfrm>
            <a:off x="420414" y="4495800"/>
            <a:ext cx="2822028" cy="1371600"/>
          </a:xfrm>
          <a:prstGeom prst="clou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962000" y="3141729"/>
            <a:ext cx="1676400" cy="1676400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8218" y="3180801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RM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 bwMode="auto">
          <a:xfrm>
            <a:off x="2434598" y="3687422"/>
            <a:ext cx="990600" cy="675685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Client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349681" y="3675129"/>
            <a:ext cx="288719" cy="618797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Can 17"/>
          <p:cNvSpPr/>
          <p:nvPr/>
        </p:nvSpPr>
        <p:spPr bwMode="auto">
          <a:xfrm>
            <a:off x="7197983" y="2624095"/>
            <a:ext cx="643759" cy="50975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7092722" y="3588025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7469443" y="4176009"/>
            <a:ext cx="100838" cy="409951"/>
            <a:chOff x="8364918" y="3861562"/>
            <a:chExt cx="100838" cy="409951"/>
          </a:xfrm>
        </p:grpSpPr>
        <p:sp>
          <p:nvSpPr>
            <p:cNvPr id="20" name="Oval 19"/>
            <p:cNvSpPr/>
            <p:nvPr/>
          </p:nvSpPr>
          <p:spPr bwMode="auto">
            <a:xfrm>
              <a:off x="8364918" y="38615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364918" y="40139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8364918" y="4170675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sp>
        <p:nvSpPr>
          <p:cNvPr id="27" name="Rounded Rectangle 26"/>
          <p:cNvSpPr/>
          <p:nvPr/>
        </p:nvSpPr>
        <p:spPr bwMode="auto">
          <a:xfrm>
            <a:off x="7092722" y="4844011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RAS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8" name="Left Brace 27"/>
          <p:cNvSpPr/>
          <p:nvPr/>
        </p:nvSpPr>
        <p:spPr bwMode="auto">
          <a:xfrm>
            <a:off x="6638400" y="2532129"/>
            <a:ext cx="454322" cy="2895600"/>
          </a:xfrm>
          <a:prstGeom prst="leftBrace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66790" y="37490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562542" y="3269550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Orchestration</a:t>
            </a:r>
          </a:p>
          <a:p>
            <a:pPr algn="ctr"/>
            <a:r>
              <a:rPr lang="en-US" sz="14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Requests</a:t>
            </a:r>
            <a:endParaRPr lang="en-US" sz="1400" dirty="0">
              <a:solidFill>
                <a:srgbClr val="FF0000"/>
              </a:solidFill>
              <a:latin typeface="+mn-lt"/>
              <a:ea typeface="Lucida Handwriting" charset="0"/>
              <a:cs typeface="Lucida Handwriting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5851" y="4321215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Responses</a:t>
            </a:r>
            <a:endParaRPr lang="en-US" sz="1400" dirty="0">
              <a:solidFill>
                <a:srgbClr val="FF0000"/>
              </a:solidFill>
              <a:latin typeface="+mn-lt"/>
              <a:ea typeface="Lucida Handwriting" charset="0"/>
              <a:cs typeface="Lucida Handwriting" charset="0"/>
            </a:endParaRPr>
          </a:p>
        </p:txBody>
      </p:sp>
      <p:sp>
        <p:nvSpPr>
          <p:cNvPr id="17" name="Left Arrow 16"/>
          <p:cNvSpPr/>
          <p:nvPr/>
        </p:nvSpPr>
        <p:spPr bwMode="auto">
          <a:xfrm flipH="1">
            <a:off x="3425197" y="3801985"/>
            <a:ext cx="1531667" cy="235019"/>
          </a:xfrm>
          <a:prstGeom prst="left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1" name="Left Arrow 30"/>
          <p:cNvSpPr/>
          <p:nvPr/>
        </p:nvSpPr>
        <p:spPr bwMode="auto">
          <a:xfrm>
            <a:off x="3425197" y="4022834"/>
            <a:ext cx="1676401" cy="254013"/>
          </a:xfrm>
          <a:prstGeom prst="left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52563" y="3919495"/>
            <a:ext cx="537327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NIC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13228" y="3078244"/>
            <a:ext cx="753731" cy="5847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Fabric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Mgr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36" name="Straight Connector 35"/>
          <p:cNvCxnSpPr>
            <a:endCxn id="35" idx="1"/>
          </p:cNvCxnSpPr>
          <p:nvPr/>
        </p:nvCxnSpPr>
        <p:spPr>
          <a:xfrm flipV="1">
            <a:off x="7965247" y="3370632"/>
            <a:ext cx="147981" cy="416522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34" idx="1"/>
          </p:cNvCxnSpPr>
          <p:nvPr/>
        </p:nvCxnSpPr>
        <p:spPr>
          <a:xfrm>
            <a:off x="7965247" y="3787153"/>
            <a:ext cx="287316" cy="301619"/>
          </a:xfrm>
          <a:prstGeom prst="line">
            <a:avLst/>
          </a:prstGeom>
          <a:ln w="285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947642" y="3640425"/>
            <a:ext cx="1133216" cy="695916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PMIx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Server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40" name="Straight Connector 39"/>
          <p:cNvCxnSpPr>
            <a:endCxn id="16" idx="2"/>
          </p:cNvCxnSpPr>
          <p:nvPr/>
        </p:nvCxnSpPr>
        <p:spPr bwMode="auto">
          <a:xfrm flipV="1">
            <a:off x="6080858" y="3984528"/>
            <a:ext cx="268823" cy="385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501254" y="4873520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MPI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67028" y="2663589"/>
            <a:ext cx="1399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OpenMP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4" name="Straight Connector 43"/>
          <p:cNvCxnSpPr>
            <a:endCxn id="10" idx="1"/>
          </p:cNvCxnSpPr>
          <p:nvPr/>
        </p:nvCxnSpPr>
        <p:spPr bwMode="auto">
          <a:xfrm>
            <a:off x="1948279" y="3651952"/>
            <a:ext cx="486319" cy="37331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>
            <a:endCxn id="10" idx="1"/>
          </p:cNvCxnSpPr>
          <p:nvPr/>
        </p:nvCxnSpPr>
        <p:spPr bwMode="auto">
          <a:xfrm flipV="1">
            <a:off x="2037513" y="4025265"/>
            <a:ext cx="397085" cy="49593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1" name="Picture 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86669" y="5298562"/>
            <a:ext cx="1655275" cy="1024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2" name="Oval 51"/>
          <p:cNvSpPr/>
          <p:nvPr/>
        </p:nvSpPr>
        <p:spPr bwMode="auto">
          <a:xfrm>
            <a:off x="4947642" y="5715000"/>
            <a:ext cx="205134" cy="304800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3" name="Freeform 52"/>
          <p:cNvSpPr/>
          <p:nvPr/>
        </p:nvSpPr>
        <p:spPr bwMode="auto">
          <a:xfrm>
            <a:off x="5131220" y="4287690"/>
            <a:ext cx="855321" cy="1470763"/>
          </a:xfrm>
          <a:custGeom>
            <a:avLst/>
            <a:gdLst>
              <a:gd name="connsiteX0" fmla="*/ 476092 w 855321"/>
              <a:gd name="connsiteY0" fmla="*/ 335 h 1428613"/>
              <a:gd name="connsiteX1" fmla="*/ 838830 w 855321"/>
              <a:gd name="connsiteY1" fmla="*/ 234603 h 1428613"/>
              <a:gd name="connsiteX2" fmla="*/ 0 w 855321"/>
              <a:gd name="connsiteY2" fmla="*/ 1428613 h 1428613"/>
              <a:gd name="connsiteX3" fmla="*/ 0 w 855321"/>
              <a:gd name="connsiteY3" fmla="*/ 1428613 h 14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5321" h="1428613">
                <a:moveTo>
                  <a:pt x="476092" y="335"/>
                </a:moveTo>
                <a:cubicBezTo>
                  <a:pt x="697135" y="-1554"/>
                  <a:pt x="918179" y="-3443"/>
                  <a:pt x="838830" y="234603"/>
                </a:cubicBezTo>
                <a:cubicBezTo>
                  <a:pt x="759481" y="472649"/>
                  <a:pt x="0" y="1428613"/>
                  <a:pt x="0" y="1428613"/>
                </a:cubicBezTo>
                <a:lnTo>
                  <a:pt x="0" y="1428613"/>
                </a:lnTo>
              </a:path>
            </a:pathLst>
          </a:cu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203" y="5578452"/>
            <a:ext cx="787957" cy="825225"/>
          </a:xfrm>
          <a:prstGeom prst="rect">
            <a:avLst/>
          </a:prstGeom>
        </p:spPr>
      </p:pic>
      <p:sp>
        <p:nvSpPr>
          <p:cNvPr id="55" name="Freeform 54"/>
          <p:cNvSpPr/>
          <p:nvPr/>
        </p:nvSpPr>
        <p:spPr bwMode="auto">
          <a:xfrm>
            <a:off x="5720668" y="4287690"/>
            <a:ext cx="624273" cy="1373238"/>
          </a:xfrm>
          <a:custGeom>
            <a:avLst/>
            <a:gdLst>
              <a:gd name="connsiteX0" fmla="*/ 0 w 624273"/>
              <a:gd name="connsiteY0" fmla="*/ 11457 h 1386835"/>
              <a:gd name="connsiteX1" fmla="*/ 612119 w 624273"/>
              <a:gd name="connsiteY1" fmla="*/ 200383 h 1386835"/>
              <a:gd name="connsiteX2" fmla="*/ 423193 w 624273"/>
              <a:gd name="connsiteY2" fmla="*/ 1386835 h 13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4273" h="1386835">
                <a:moveTo>
                  <a:pt x="0" y="11457"/>
                </a:moveTo>
                <a:cubicBezTo>
                  <a:pt x="270793" y="-8695"/>
                  <a:pt x="541587" y="-28847"/>
                  <a:pt x="612119" y="200383"/>
                </a:cubicBezTo>
                <a:cubicBezTo>
                  <a:pt x="682651" y="429613"/>
                  <a:pt x="423193" y="1386835"/>
                  <a:pt x="423193" y="1386835"/>
                </a:cubicBezTo>
              </a:path>
            </a:pathLst>
          </a:cu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834197" y="5761709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Job</a:t>
            </a:r>
          </a:p>
          <a:p>
            <a:pPr algn="ctr"/>
            <a:r>
              <a:rPr lang="en-US" sz="1400" dirty="0" smtClean="0"/>
              <a:t>Script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5869189" y="1674929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/>
              <a:t>System</a:t>
            </a:r>
          </a:p>
          <a:p>
            <a:pPr algn="ctr"/>
            <a:r>
              <a:rPr lang="en-US" sz="1800" dirty="0" smtClean="0"/>
              <a:t>Management Stack</a:t>
            </a:r>
            <a:endParaRPr lang="en-US" sz="1800" dirty="0"/>
          </a:p>
        </p:txBody>
      </p:sp>
      <p:sp>
        <p:nvSpPr>
          <p:cNvPr id="59" name="Oval 58"/>
          <p:cNvSpPr/>
          <p:nvPr/>
        </p:nvSpPr>
        <p:spPr bwMode="auto">
          <a:xfrm>
            <a:off x="6012285" y="5642574"/>
            <a:ext cx="286951" cy="162671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36596" y="6341840"/>
            <a:ext cx="1189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Tool Support</a:t>
            </a:r>
            <a:endParaRPr lang="en-US" sz="1400" dirty="0">
              <a:solidFill>
                <a:srgbClr val="FF0000"/>
              </a:solidFill>
              <a:latin typeface="+mn-lt"/>
              <a:ea typeface="Lucida Handwriting" charset="0"/>
              <a:cs typeface="Lucida Handwritin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2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PMIx Launch Sequence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6238"/>
            <a:ext cx="9144000" cy="3934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2971" y="6284686"/>
            <a:ext cx="377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*RM daemon, mpirun-daemon, etc.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456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57400"/>
            <a:ext cx="8216900" cy="36957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8329353" y="3839493"/>
            <a:ext cx="420947" cy="2154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PMIx/SLURM*</a:t>
            </a:r>
            <a:endParaRPr lang="en-US" dirty="0"/>
          </a:p>
        </p:txBody>
      </p:sp>
      <p:sp>
        <p:nvSpPr>
          <p:cNvPr id="5" name="AutoShape 2" descr="mage001.png"/>
          <p:cNvSpPr>
            <a:spLocks noChangeAspect="1" noChangeArrowheads="1"/>
          </p:cNvSpPr>
          <p:nvPr/>
        </p:nvSpPr>
        <p:spPr bwMode="auto">
          <a:xfrm>
            <a:off x="-1066800" y="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785525" y="5744356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#nodes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 rot="16200000">
            <a:off x="-353452" y="3735972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MPI_Init (sec)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269186" y="6286500"/>
            <a:ext cx="25196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*LANL/Buffy cluster, 1ppn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8226011" y="3839493"/>
            <a:ext cx="529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PRS**</a:t>
            </a:r>
            <a:endParaRPr lang="en-US" sz="800" dirty="0"/>
          </a:p>
        </p:txBody>
      </p:sp>
      <p:sp>
        <p:nvSpPr>
          <p:cNvPr id="13" name="TextBox 12"/>
          <p:cNvSpPr txBox="1"/>
          <p:nvPr/>
        </p:nvSpPr>
        <p:spPr>
          <a:xfrm>
            <a:off x="2788850" y="6286500"/>
            <a:ext cx="4649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**PMIx Reference Server v2.0, direct-fetch/async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 bwMode="auto">
          <a:xfrm>
            <a:off x="8323910" y="4148051"/>
            <a:ext cx="210473" cy="11637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0287" y="4071266"/>
            <a:ext cx="6543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</a:t>
            </a:r>
            <a:r>
              <a:rPr lang="en-US" sz="800" dirty="0" smtClean="0"/>
              <a:t>run/PMI2</a:t>
            </a:r>
            <a:endParaRPr lang="en-US" sz="800" dirty="0"/>
          </a:p>
        </p:txBody>
      </p:sp>
      <p:sp>
        <p:nvSpPr>
          <p:cNvPr id="2" name="TextBox 1"/>
          <p:cNvSpPr txBox="1"/>
          <p:nvPr/>
        </p:nvSpPr>
        <p:spPr>
          <a:xfrm>
            <a:off x="2023985" y="1724773"/>
            <a:ext cx="5235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Performance papers coming in 2018!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05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Similar Requirements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Notifications/response</a:t>
            </a:r>
          </a:p>
          <a:p>
            <a:pPr lvl="1"/>
            <a:r>
              <a:rPr lang="en-US" sz="2400" dirty="0"/>
              <a:t>E</a:t>
            </a:r>
            <a:r>
              <a:rPr lang="en-US" sz="2400" dirty="0" smtClean="0"/>
              <a:t>rrors, resource changes</a:t>
            </a:r>
          </a:p>
          <a:p>
            <a:pPr lvl="1"/>
            <a:r>
              <a:rPr lang="en-US" sz="2400" dirty="0" smtClean="0"/>
              <a:t>Negotiated response</a:t>
            </a:r>
          </a:p>
          <a:p>
            <a:r>
              <a:rPr lang="en-US" sz="2800" dirty="0" smtClean="0"/>
              <a:t>Request allocation changes</a:t>
            </a:r>
          </a:p>
          <a:p>
            <a:pPr lvl="1"/>
            <a:r>
              <a:rPr lang="en-US" sz="2400" dirty="0" smtClean="0"/>
              <a:t>shrink/expand</a:t>
            </a:r>
          </a:p>
          <a:p>
            <a:r>
              <a:rPr lang="en-US" sz="2800" dirty="0" smtClean="0"/>
              <a:t>Workflow management</a:t>
            </a:r>
          </a:p>
          <a:p>
            <a:pPr lvl="1"/>
            <a:r>
              <a:rPr lang="en-US" sz="2400" dirty="0" smtClean="0"/>
              <a:t>Steered/conditional execution</a:t>
            </a:r>
          </a:p>
          <a:p>
            <a:r>
              <a:rPr lang="en-US" sz="2800" dirty="0" smtClean="0"/>
              <a:t>QoS requests</a:t>
            </a:r>
          </a:p>
          <a:p>
            <a:pPr lvl="1"/>
            <a:r>
              <a:rPr lang="en-US" sz="2400" dirty="0" smtClean="0"/>
              <a:t>Power, file system, fabric</a:t>
            </a:r>
          </a:p>
        </p:txBody>
      </p:sp>
      <p:sp>
        <p:nvSpPr>
          <p:cNvPr id="9" name="Right Brace 8"/>
          <p:cNvSpPr/>
          <p:nvPr/>
        </p:nvSpPr>
        <p:spPr bwMode="auto">
          <a:xfrm>
            <a:off x="5867400" y="1981200"/>
            <a:ext cx="838200" cy="4070195"/>
          </a:xfrm>
          <a:prstGeom prst="righ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2078" y="2133600"/>
            <a:ext cx="150297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Multiple, use-specific libs?</a:t>
            </a:r>
          </a:p>
          <a:p>
            <a:pPr algn="ctr"/>
            <a:r>
              <a:rPr lang="en-US" sz="1400" dirty="0" smtClean="0"/>
              <a:t>(difficult for RM community to support)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32078" y="4648200"/>
            <a:ext cx="1502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Single, multi-purpose lib?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7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PMIx “Standards”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Modifications/additions</a:t>
            </a:r>
          </a:p>
          <a:p>
            <a:pPr lvl="1"/>
            <a:r>
              <a:rPr lang="en-US" sz="2400" dirty="0" smtClean="0"/>
              <a:t>Proposed as RFC</a:t>
            </a:r>
          </a:p>
          <a:p>
            <a:pPr lvl="1"/>
            <a:r>
              <a:rPr lang="en-US" sz="2400" dirty="0" smtClean="0"/>
              <a:t>Include prototype implementation</a:t>
            </a:r>
          </a:p>
          <a:p>
            <a:pPr lvl="2"/>
            <a:r>
              <a:rPr lang="en-US" sz="2000" dirty="0" smtClean="0"/>
              <a:t>Pull request to reference library</a:t>
            </a:r>
          </a:p>
          <a:p>
            <a:pPr lvl="1"/>
            <a:r>
              <a:rPr lang="en-US" sz="2400" dirty="0" smtClean="0"/>
              <a:t>Notification sent to mailing list</a:t>
            </a:r>
          </a:p>
          <a:p>
            <a:r>
              <a:rPr lang="en-US" sz="2800" dirty="0" smtClean="0"/>
              <a:t>Reviews conducted</a:t>
            </a:r>
          </a:p>
          <a:p>
            <a:pPr lvl="1"/>
            <a:r>
              <a:rPr lang="en-US" sz="2400" dirty="0" smtClean="0"/>
              <a:t>RFC and implementation</a:t>
            </a:r>
          </a:p>
          <a:p>
            <a:pPr lvl="1"/>
            <a:r>
              <a:rPr lang="en-US" sz="2400" dirty="0" smtClean="0"/>
              <a:t>Continues until consensus emerges</a:t>
            </a:r>
          </a:p>
          <a:p>
            <a:r>
              <a:rPr lang="en-US" sz="2800" dirty="0" smtClean="0"/>
              <a:t>Approval given</a:t>
            </a:r>
          </a:p>
          <a:p>
            <a:pPr lvl="1"/>
            <a:r>
              <a:rPr lang="en-US" sz="2400" dirty="0" smtClean="0"/>
              <a:t>Developer telecon (weekly)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2279" y="3203850"/>
            <a:ext cx="2712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solidFill>
                  <a:srgbClr val="FF0000"/>
                </a:solidFill>
              </a:rPr>
              <a:t>Standards Doc under development!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78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Philosophy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Generalized APIs</a:t>
            </a:r>
          </a:p>
          <a:p>
            <a:pPr lvl="1"/>
            <a:r>
              <a:rPr lang="en-US" sz="2400" dirty="0" smtClean="0"/>
              <a:t>Few hard parameters</a:t>
            </a:r>
          </a:p>
          <a:p>
            <a:pPr lvl="1"/>
            <a:r>
              <a:rPr lang="en-US" sz="2400" dirty="0" smtClean="0"/>
              <a:t>“Info” arrays to pass information, specify directives</a:t>
            </a:r>
          </a:p>
          <a:p>
            <a:r>
              <a:rPr lang="en-US" sz="2800" dirty="0" smtClean="0"/>
              <a:t>Easily extended</a:t>
            </a:r>
          </a:p>
          <a:p>
            <a:pPr lvl="1"/>
            <a:r>
              <a:rPr lang="en-US" sz="2400" dirty="0" smtClean="0"/>
              <a:t>Add “keys” instead of modifying API</a:t>
            </a:r>
          </a:p>
          <a:p>
            <a:r>
              <a:rPr lang="en-US" sz="2800" dirty="0" smtClean="0"/>
              <a:t>Async operations</a:t>
            </a:r>
          </a:p>
          <a:p>
            <a:r>
              <a:rPr lang="en-US" sz="2800" dirty="0" smtClean="0"/>
              <a:t>Thread safe</a:t>
            </a:r>
          </a:p>
          <a:p>
            <a:r>
              <a:rPr lang="en-US" sz="2800" dirty="0" smtClean="0"/>
              <a:t>SMS always has right to say “not supported”</a:t>
            </a:r>
          </a:p>
          <a:p>
            <a:pPr lvl="1"/>
            <a:r>
              <a:rPr lang="en-US" sz="2400" dirty="0" smtClean="0"/>
              <a:t>Allow each backend to evaluate what and when to support something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46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Generalized APIs</a:t>
            </a:r>
          </a:p>
          <a:p>
            <a:pPr lvl="1"/>
            <a:r>
              <a:rPr lang="en-US" sz="2400" dirty="0"/>
              <a:t>Few hard parameters</a:t>
            </a:r>
          </a:p>
          <a:p>
            <a:pPr lvl="1"/>
            <a:r>
              <a:rPr lang="en-US" sz="2400" dirty="0"/>
              <a:t>“Info” arrays to pass information, specify directives</a:t>
            </a:r>
          </a:p>
          <a:p>
            <a:r>
              <a:rPr lang="en-US" sz="2800" dirty="0"/>
              <a:t>Easily extended</a:t>
            </a:r>
          </a:p>
          <a:p>
            <a:pPr lvl="1"/>
            <a:r>
              <a:rPr lang="en-US" sz="2400" dirty="0"/>
              <a:t>Add “keys” instead of modifying API</a:t>
            </a:r>
          </a:p>
          <a:p>
            <a:r>
              <a:rPr lang="en-US" sz="2800" dirty="0"/>
              <a:t>Async operations</a:t>
            </a:r>
          </a:p>
          <a:p>
            <a:r>
              <a:rPr lang="en-US" sz="2800" dirty="0"/>
              <a:t>Thread safe</a:t>
            </a:r>
          </a:p>
          <a:p>
            <a:r>
              <a:rPr lang="en-US" sz="2800" dirty="0"/>
              <a:t>SMS always has right to say “not supported”</a:t>
            </a:r>
          </a:p>
          <a:p>
            <a:pPr lvl="1"/>
            <a:r>
              <a:rPr lang="en-US" sz="2400" dirty="0"/>
              <a:t>Allow each backend to evaluate what and when to support something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85800" y="1828799"/>
            <a:ext cx="8077200" cy="487679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Messenger not Doer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52700"/>
            <a:ext cx="4064000" cy="28575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 bwMode="auto">
          <a:xfrm>
            <a:off x="6202135" y="4800600"/>
            <a:ext cx="2514855" cy="1904999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6642100" y="2743200"/>
            <a:ext cx="1816100" cy="18161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04800" y="2743200"/>
            <a:ext cx="1816100" cy="18161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SMS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Left-Right Arrow 8"/>
          <p:cNvSpPr/>
          <p:nvPr/>
        </p:nvSpPr>
        <p:spPr bwMode="auto">
          <a:xfrm>
            <a:off x="5638800" y="3505200"/>
            <a:ext cx="965200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Left-Right Arrow 9"/>
          <p:cNvSpPr/>
          <p:nvPr/>
        </p:nvSpPr>
        <p:spPr bwMode="auto">
          <a:xfrm>
            <a:off x="2159000" y="3506514"/>
            <a:ext cx="965200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842" y="4930920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3" name="Left-Right Arrow 12"/>
          <p:cNvSpPr/>
          <p:nvPr/>
        </p:nvSpPr>
        <p:spPr bwMode="auto">
          <a:xfrm rot="1842669">
            <a:off x="4600918" y="4714088"/>
            <a:ext cx="2055155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84395" y="6166517"/>
            <a:ext cx="750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96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 smtClean="0"/>
              <a:t>Typical startup operations</a:t>
            </a:r>
          </a:p>
          <a:p>
            <a:pPr lvl="1"/>
            <a:r>
              <a:rPr lang="en-US" sz="2000" dirty="0" smtClean="0"/>
              <a:t>Put, get, commit, barrier, spawn, [dis]connect, publish/lookup</a:t>
            </a:r>
          </a:p>
          <a:p>
            <a:r>
              <a:rPr lang="en-US" sz="2400" dirty="0" smtClean="0"/>
              <a:t>Tool connections</a:t>
            </a:r>
          </a:p>
          <a:p>
            <a:pPr lvl="1"/>
            <a:r>
              <a:rPr lang="en-US" sz="2000" dirty="0" smtClean="0"/>
              <a:t>Debugger, job submission, query</a:t>
            </a:r>
          </a:p>
          <a:p>
            <a:r>
              <a:rPr lang="en-US" sz="2400" dirty="0"/>
              <a:t>Generalized query support</a:t>
            </a:r>
          </a:p>
          <a:p>
            <a:pPr lvl="1"/>
            <a:r>
              <a:rPr lang="en-US" sz="2000" dirty="0"/>
              <a:t>Job status, layout, system data, resource </a:t>
            </a:r>
            <a:r>
              <a:rPr lang="en-US" sz="2000" dirty="0" smtClean="0"/>
              <a:t>availability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Event notification</a:t>
            </a:r>
          </a:p>
          <a:p>
            <a:pPr lvl="1"/>
            <a:r>
              <a:rPr lang="en-US" sz="2000" dirty="0"/>
              <a:t>App, system generated</a:t>
            </a:r>
          </a:p>
          <a:p>
            <a:pPr lvl="1"/>
            <a:r>
              <a:rPr lang="en-US" sz="2000" dirty="0"/>
              <a:t>Subscribe, chained</a:t>
            </a:r>
          </a:p>
          <a:p>
            <a:pPr lvl="1"/>
            <a:r>
              <a:rPr lang="en-US" sz="2000" dirty="0"/>
              <a:t>Pre-emption, failures, timeout warning, </a:t>
            </a:r>
            <a:r>
              <a:rPr lang="mr-IN" sz="2000" dirty="0"/>
              <a:t>…</a:t>
            </a:r>
            <a:endParaRPr lang="en-US" sz="2000" dirty="0"/>
          </a:p>
          <a:p>
            <a:r>
              <a:rPr lang="en-US" sz="2400" dirty="0" smtClean="0"/>
              <a:t>Logging (job record)</a:t>
            </a:r>
            <a:endParaRPr lang="en-US" sz="2400" dirty="0"/>
          </a:p>
          <a:p>
            <a:pPr lvl="1"/>
            <a:r>
              <a:rPr lang="en-US" sz="2000" dirty="0"/>
              <a:t>Status reports, error output</a:t>
            </a:r>
          </a:p>
          <a:p>
            <a:r>
              <a:rPr lang="en-US" sz="2400" dirty="0"/>
              <a:t>Flexible allocations</a:t>
            </a:r>
          </a:p>
          <a:p>
            <a:pPr lvl="1"/>
            <a:r>
              <a:rPr lang="en-US" sz="2000" dirty="0"/>
              <a:t>Release resources, request </a:t>
            </a:r>
            <a:r>
              <a:rPr lang="en-US" sz="2000" dirty="0" smtClean="0"/>
              <a:t>resources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4248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Notification Use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721058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Fault detection and reporting w/ULFM MPI</a:t>
            </a:r>
          </a:p>
          <a:p>
            <a:pPr lvl="1"/>
            <a:r>
              <a:rPr lang="en-US" dirty="0" smtClean="0"/>
              <a:t>ULFM MPI is a fault tolerant flavor of Open MPI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Failures may be detected from the </a:t>
            </a:r>
            <a:r>
              <a:rPr lang="en-US" dirty="0" smtClean="0">
                <a:solidFill>
                  <a:srgbClr val="FFC000"/>
                </a:solidFill>
              </a:rPr>
              <a:t>SMS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F0"/>
                </a:solidFill>
              </a:rPr>
              <a:t>RAS</a:t>
            </a:r>
            <a:r>
              <a:rPr lang="en-US" dirty="0" smtClean="0"/>
              <a:t>, or directly by </a:t>
            </a:r>
            <a:r>
              <a:rPr lang="en-US" dirty="0" smtClean="0">
                <a:solidFill>
                  <a:srgbClr val="FF0000"/>
                </a:solidFill>
              </a:rPr>
              <a:t>MPI </a:t>
            </a:r>
            <a:r>
              <a:rPr lang="en-US" dirty="0" smtClean="0"/>
              <a:t>communications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Components produce a </a:t>
            </a:r>
            <a:r>
              <a:rPr lang="en-US" dirty="0" smtClean="0">
                <a:solidFill>
                  <a:srgbClr val="00B050"/>
                </a:solidFill>
              </a:rPr>
              <a:t>PMIx event </a:t>
            </a:r>
            <a:r>
              <a:rPr lang="en-US" dirty="0" smtClean="0"/>
              <a:t>when detecting an error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Fault Tolerant components register for the fault event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Components propagate fault events which are then delivered to registered clients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5524789" y="2374914"/>
            <a:ext cx="914400" cy="85000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709109" y="2374914"/>
            <a:ext cx="914400" cy="85000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893429" y="2374914"/>
            <a:ext cx="914400" cy="850006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Lightning Bolt 7"/>
          <p:cNvSpPr/>
          <p:nvPr/>
        </p:nvSpPr>
        <p:spPr bwMode="auto">
          <a:xfrm flipH="1">
            <a:off x="8350629" y="2281775"/>
            <a:ext cx="644480" cy="540913"/>
          </a:xfrm>
          <a:prstGeom prst="lightningBol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6585974" y="3481322"/>
            <a:ext cx="1239715" cy="118696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5605566" y="2756945"/>
            <a:ext cx="716986" cy="46314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MPI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6807815" y="2761775"/>
            <a:ext cx="716986" cy="463145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MPI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Up-Down Arrow 16"/>
          <p:cNvSpPr/>
          <p:nvPr/>
        </p:nvSpPr>
        <p:spPr bwMode="auto">
          <a:xfrm rot="5400000">
            <a:off x="6435345" y="2592739"/>
            <a:ext cx="351693" cy="801215"/>
          </a:xfrm>
          <a:prstGeom prst="upDownArrow">
            <a:avLst>
              <a:gd name="adj1" fmla="val 50000"/>
              <a:gd name="adj2" fmla="val 475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Up-Down Arrow 17"/>
          <p:cNvSpPr/>
          <p:nvPr/>
        </p:nvSpPr>
        <p:spPr bwMode="auto">
          <a:xfrm rot="5400000">
            <a:off x="7593870" y="2579117"/>
            <a:ext cx="351693" cy="801215"/>
          </a:xfrm>
          <a:prstGeom prst="upDownArrow">
            <a:avLst>
              <a:gd name="adj1" fmla="val 50000"/>
              <a:gd name="adj2" fmla="val 475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" name="Up-Down Arrow 15"/>
          <p:cNvSpPr/>
          <p:nvPr/>
        </p:nvSpPr>
        <p:spPr bwMode="auto">
          <a:xfrm>
            <a:off x="6998250" y="3143251"/>
            <a:ext cx="351693" cy="659423"/>
          </a:xfrm>
          <a:prstGeom prst="upDown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621681" y="3710288"/>
            <a:ext cx="1168303" cy="54519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PMIx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Server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5346259" y="3498038"/>
            <a:ext cx="1239715" cy="118696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" name="Up-Down Arrow 23"/>
          <p:cNvSpPr/>
          <p:nvPr/>
        </p:nvSpPr>
        <p:spPr bwMode="auto">
          <a:xfrm>
            <a:off x="5758535" y="3159967"/>
            <a:ext cx="351693" cy="659423"/>
          </a:xfrm>
          <a:prstGeom prst="upDownArrow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381966" y="3727004"/>
            <a:ext cx="1168303" cy="54519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PMIx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Server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6972408" y="4924685"/>
            <a:ext cx="1239715" cy="597944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RAS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28" name="Curved Connector 27"/>
          <p:cNvCxnSpPr>
            <a:stCxn id="20" idx="5"/>
            <a:endCxn id="22" idx="0"/>
          </p:cNvCxnSpPr>
          <p:nvPr/>
        </p:nvCxnSpPr>
        <p:spPr bwMode="auto">
          <a:xfrm rot="5400000">
            <a:off x="7036220" y="3326707"/>
            <a:ext cx="553194" cy="213968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Curved Connector 30"/>
          <p:cNvCxnSpPr>
            <a:endCxn id="22" idx="4"/>
          </p:cNvCxnSpPr>
          <p:nvPr/>
        </p:nvCxnSpPr>
        <p:spPr bwMode="auto">
          <a:xfrm rot="10800000" flipV="1">
            <a:off x="7205834" y="3221440"/>
            <a:ext cx="1186295" cy="1034037"/>
          </a:xfrm>
          <a:prstGeom prst="curvedConnector4">
            <a:avLst>
              <a:gd name="adj1" fmla="val -7232"/>
              <a:gd name="adj2" fmla="val 17142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Oval 34"/>
          <p:cNvSpPr/>
          <p:nvPr/>
        </p:nvSpPr>
        <p:spPr>
          <a:xfrm>
            <a:off x="6817186" y="4839668"/>
            <a:ext cx="936773" cy="265737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PMIx</a:t>
            </a:r>
          </a:p>
        </p:txBody>
      </p:sp>
      <p:cxnSp>
        <p:nvCxnSpPr>
          <p:cNvPr id="37" name="Curved Connector 36"/>
          <p:cNvCxnSpPr>
            <a:endCxn id="25" idx="4"/>
          </p:cNvCxnSpPr>
          <p:nvPr/>
        </p:nvCxnSpPr>
        <p:spPr bwMode="auto">
          <a:xfrm rot="10800000" flipV="1">
            <a:off x="5966119" y="4206252"/>
            <a:ext cx="902499" cy="65942"/>
          </a:xfrm>
          <a:prstGeom prst="curvedConnector4">
            <a:avLst>
              <a:gd name="adj1" fmla="val -9641"/>
              <a:gd name="adj2" fmla="val 44666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Curved Connector 40"/>
          <p:cNvCxnSpPr>
            <a:stCxn id="25" idx="1"/>
            <a:endCxn id="19" idx="4"/>
          </p:cNvCxnSpPr>
          <p:nvPr/>
        </p:nvCxnSpPr>
        <p:spPr bwMode="auto">
          <a:xfrm rot="5400000" flipH="1" flipV="1">
            <a:off x="5465182" y="3307969"/>
            <a:ext cx="586755" cy="410999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37969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 smtClean="0"/>
              <a:t>Network support</a:t>
            </a:r>
          </a:p>
          <a:p>
            <a:pPr lvl="1"/>
            <a:r>
              <a:rPr lang="en-US" sz="1800" dirty="0" smtClean="0"/>
              <a:t>Security keys, pre-spawn local driver setup, </a:t>
            </a:r>
            <a:r>
              <a:rPr lang="en-US" sz="1800" dirty="0" smtClean="0">
                <a:solidFill>
                  <a:schemeClr val="accent1"/>
                </a:solidFill>
              </a:rPr>
              <a:t>fabric topology and status, traffic reports, fabric manager interaction</a:t>
            </a:r>
          </a:p>
          <a:p>
            <a:r>
              <a:rPr lang="en-US" sz="2000" dirty="0" smtClean="0"/>
              <a:t>Obsolescence protection</a:t>
            </a:r>
          </a:p>
          <a:p>
            <a:pPr lvl="1"/>
            <a:r>
              <a:rPr lang="en-US" sz="1800" dirty="0" smtClean="0"/>
              <a:t>Automatic cross-version compatibility</a:t>
            </a:r>
          </a:p>
          <a:p>
            <a:pPr lvl="1"/>
            <a:r>
              <a:rPr lang="en-US" sz="1800" dirty="0" smtClean="0"/>
              <a:t>Container support</a:t>
            </a:r>
          </a:p>
          <a:p>
            <a:r>
              <a:rPr lang="en-US" sz="2000" dirty="0"/>
              <a:t>Job control</a:t>
            </a:r>
          </a:p>
          <a:p>
            <a:pPr lvl="1"/>
            <a:r>
              <a:rPr lang="en-US" sz="1800" dirty="0"/>
              <a:t>Pause, kill, signal, heartbeat, resilience </a:t>
            </a:r>
            <a:r>
              <a:rPr lang="en-US" sz="1800" dirty="0" smtClean="0"/>
              <a:t>support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Generalized data </a:t>
            </a:r>
            <a:r>
              <a:rPr lang="en-US" sz="2000" dirty="0" smtClean="0">
                <a:solidFill>
                  <a:schemeClr val="accent1"/>
                </a:solidFill>
              </a:rPr>
              <a:t>store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299" y="1828800"/>
            <a:ext cx="4377872" cy="4876800"/>
          </a:xfrm>
        </p:spPr>
        <p:txBody>
          <a:bodyPr/>
          <a:lstStyle/>
          <a:p>
            <a:r>
              <a:rPr lang="en-US" sz="2000" dirty="0" smtClean="0">
                <a:solidFill>
                  <a:schemeClr val="accent1"/>
                </a:solidFill>
              </a:rPr>
              <a:t>File </a:t>
            </a:r>
            <a:r>
              <a:rPr lang="en-US" sz="2000" dirty="0">
                <a:solidFill>
                  <a:schemeClr val="accent1"/>
                </a:solidFill>
              </a:rPr>
              <a:t>system support</a:t>
            </a:r>
          </a:p>
          <a:p>
            <a:pPr lvl="1"/>
            <a:r>
              <a:rPr lang="en-US" sz="1800" dirty="0">
                <a:solidFill>
                  <a:schemeClr val="accent1"/>
                </a:solidFill>
              </a:rPr>
              <a:t>Dependency detection</a:t>
            </a:r>
          </a:p>
          <a:p>
            <a:pPr lvl="1"/>
            <a:r>
              <a:rPr lang="en-US" sz="1800" dirty="0">
                <a:solidFill>
                  <a:schemeClr val="accent1"/>
                </a:solidFill>
              </a:rPr>
              <a:t>Tiered storage caching strategies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 smtClean="0">
                <a:solidFill>
                  <a:schemeClr val="accent1"/>
                </a:solidFill>
              </a:rPr>
              <a:t>Debugger/tool support</a:t>
            </a:r>
            <a:r>
              <a:rPr lang="en-US" sz="2000" baseline="30000" dirty="0" smtClean="0">
                <a:solidFill>
                  <a:schemeClr val="accent1"/>
                </a:solidFill>
              </a:rPr>
              <a:t>++</a:t>
            </a:r>
          </a:p>
          <a:p>
            <a:pPr lvl="1"/>
            <a:r>
              <a:rPr lang="en-US" sz="1800" dirty="0" smtClean="0">
                <a:solidFill>
                  <a:schemeClr val="accent1"/>
                </a:solidFill>
              </a:rPr>
              <a:t>Automatic rendezvous</a:t>
            </a:r>
          </a:p>
          <a:p>
            <a:pPr lvl="1"/>
            <a:r>
              <a:rPr lang="en-US" sz="1800" dirty="0" smtClean="0">
                <a:solidFill>
                  <a:schemeClr val="accent1"/>
                </a:solidFill>
              </a:rPr>
              <a:t>Single interface to all launchers</a:t>
            </a:r>
          </a:p>
          <a:p>
            <a:pPr lvl="1"/>
            <a:r>
              <a:rPr lang="en-US" sz="1800" dirty="0" smtClean="0">
                <a:solidFill>
                  <a:schemeClr val="accent1"/>
                </a:solidFill>
              </a:rPr>
              <a:t>Co-launch daemons</a:t>
            </a:r>
          </a:p>
          <a:p>
            <a:pPr lvl="1"/>
            <a:r>
              <a:rPr lang="en-US" sz="1800" dirty="0" smtClean="0">
                <a:solidFill>
                  <a:schemeClr val="accent1"/>
                </a:solidFill>
              </a:rPr>
              <a:t>Access fabric info, etc.</a:t>
            </a:r>
          </a:p>
          <a:p>
            <a:r>
              <a:rPr lang="en-US" sz="2200" dirty="0" smtClean="0">
                <a:solidFill>
                  <a:schemeClr val="accent1"/>
                </a:solidFill>
              </a:rPr>
              <a:t>Cross-library interoperation</a:t>
            </a:r>
          </a:p>
        </p:txBody>
      </p:sp>
    </p:spTree>
    <p:extLst>
      <p:ext uri="{BB962C8B-B14F-4D97-AF65-F5344CB8AC3E}">
        <p14:creationId xmlns:p14="http://schemas.microsoft.com/office/powerpoint/2010/main" val="199106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9100" y="2057400"/>
            <a:ext cx="83058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We now have an interface library RMs will support for application-directed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0700" y="3429000"/>
            <a:ext cx="556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rgbClr val="FF0000"/>
                </a:solidFill>
              </a:rPr>
              <a:t>Need to collaboratively define what we want to do with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567" y="4887218"/>
            <a:ext cx="816933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000" b="1" dirty="0"/>
              <a:t>Project: </a:t>
            </a:r>
            <a:r>
              <a:rPr lang="en-US" sz="2000" b="1" dirty="0" smtClean="0">
                <a:hlinkClick r:id="rId2"/>
              </a:rPr>
              <a:t>https://pmix.github.io/pmix</a:t>
            </a:r>
            <a:endParaRPr lang="en-US" sz="2000" b="1" dirty="0"/>
          </a:p>
          <a:p>
            <a:pPr>
              <a:spcBef>
                <a:spcPts val="300"/>
              </a:spcBef>
            </a:pPr>
            <a:r>
              <a:rPr lang="en-US" sz="2000" b="1" dirty="0" smtClean="0"/>
              <a:t>Reference Implementation: </a:t>
            </a:r>
            <a:r>
              <a:rPr lang="en-US" sz="2000" b="1" dirty="0">
                <a:solidFill>
                  <a:srgbClr val="00B050"/>
                </a:solidFill>
                <a:hlinkClick r:id="rId3"/>
              </a:rPr>
              <a:t>https://</a:t>
            </a:r>
            <a:r>
              <a:rPr lang="en-US" sz="2000" b="1" dirty="0" smtClean="0">
                <a:solidFill>
                  <a:srgbClr val="00B050"/>
                </a:solidFill>
                <a:hlinkClick r:id="rId3"/>
              </a:rPr>
              <a:t>github.com/pmix/pmix</a:t>
            </a:r>
            <a:endParaRPr lang="en-US" sz="2000" b="1" dirty="0" smtClean="0">
              <a:solidFill>
                <a:srgbClr val="00B050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2000" b="1" dirty="0" smtClean="0"/>
              <a:t>Reference Server: </a:t>
            </a:r>
            <a:r>
              <a:rPr lang="en-US" sz="2000" b="1" dirty="0" smtClean="0">
                <a:solidFill>
                  <a:srgbClr val="00B050"/>
                </a:solidFill>
                <a:hlinkClick r:id="rId4"/>
              </a:rPr>
              <a:t>https://github.com/pmix/pmix-reference-server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46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7556C59-F0C7-6645-B5AB-2707A1FED1F8}"/>
    </a:ext>
  </a:ext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098944D-4998-DA4A-B120-6A0C919751F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pmix-bof-template</Template>
  <TotalTime>10681</TotalTime>
  <Words>732</Words>
  <Application>Microsoft Macintosh PowerPoint</Application>
  <PresentationFormat>On-screen Show (4:3)</PresentationFormat>
  <Paragraphs>260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Lucida Handwriting</vt:lpstr>
      <vt:lpstr>ＭＳ Ｐゴシック</vt:lpstr>
      <vt:lpstr>Times</vt:lpstr>
      <vt:lpstr>Wingdings</vt:lpstr>
      <vt:lpstr>Arial</vt:lpstr>
      <vt:lpstr>ompi-workshop-template</vt:lpstr>
      <vt:lpstr>PPT_Temp_Corp_4x3_BLK_2007 - Copy</vt:lpstr>
      <vt:lpstr>PMIx: Process Management for Exascale Environments</vt:lpstr>
      <vt:lpstr>What is PMIx?</vt:lpstr>
      <vt:lpstr>Three Distinct Entities</vt:lpstr>
      <vt:lpstr>The Community</vt:lpstr>
      <vt:lpstr>Traditional Launch Sequence</vt:lpstr>
      <vt:lpstr>Newer Launch Sequence</vt:lpstr>
      <vt:lpstr>PMIx-SMS Interactions</vt:lpstr>
      <vt:lpstr>PMIx Launch Sequence</vt:lpstr>
      <vt:lpstr>PMIx/SLURM*</vt:lpstr>
      <vt:lpstr>Similar Requirements</vt:lpstr>
      <vt:lpstr>PMIx “Standards” Process</vt:lpstr>
      <vt:lpstr>Philosophy</vt:lpstr>
      <vt:lpstr>Messenger not Doer</vt:lpstr>
      <vt:lpstr>Current Support</vt:lpstr>
      <vt:lpstr>Event Notification Use Case</vt:lpstr>
      <vt:lpstr>In Pipeline</vt:lpstr>
      <vt:lpstr>Summary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PMIx</dc:title>
  <dc:creator>Ralph Castain</dc:creator>
  <cp:lastModifiedBy>Ralph Castain</cp:lastModifiedBy>
  <cp:revision>280</cp:revision>
  <cp:lastPrinted>2016-05-11T19:00:02Z</cp:lastPrinted>
  <dcterms:created xsi:type="dcterms:W3CDTF">2015-11-04T14:50:44Z</dcterms:created>
  <dcterms:modified xsi:type="dcterms:W3CDTF">2017-09-28T16:16:20Z</dcterms:modified>
</cp:coreProperties>
</file>