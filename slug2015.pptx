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  <p:sldMasterId id="2147483793" r:id="rId2"/>
  </p:sldMasterIdLst>
  <p:notesMasterIdLst>
    <p:notesMasterId r:id="rId14"/>
  </p:notesMasterIdLst>
  <p:sldIdLst>
    <p:sldId id="256" r:id="rId3"/>
    <p:sldId id="262" r:id="rId4"/>
    <p:sldId id="265" r:id="rId5"/>
    <p:sldId id="257" r:id="rId6"/>
    <p:sldId id="264" r:id="rId7"/>
    <p:sldId id="258" r:id="rId8"/>
    <p:sldId id="266" r:id="rId9"/>
    <p:sldId id="269" r:id="rId10"/>
    <p:sldId id="268" r:id="rId11"/>
    <p:sldId id="270" r:id="rId12"/>
    <p:sldId id="261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32"/>
    <a:srgbClr val="105567"/>
    <a:srgbClr val="FF8000"/>
    <a:srgbClr val="800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46" autoAdjust="0"/>
  </p:normalViewPr>
  <p:slideViewPr>
    <p:cSldViewPr showGuides="1">
      <p:cViewPr varScale="1">
        <p:scale>
          <a:sx n="71" d="100"/>
          <a:sy n="71" d="100"/>
        </p:scale>
        <p:origin x="1272" y="60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2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7" name="Picture 10" descr="openmpi_logo-on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763" y="204788"/>
            <a:ext cx="2020887" cy="200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ompi logo watermark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828800"/>
            <a:ext cx="4981575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805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2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hyperlink" Target="http://slurm.schedmd.com/mpi_guide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tpol84/slurm/tree/pmix-step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-mpi/pmix" TargetMode="External"/><Relationship Id="rId2" Type="http://schemas.openxmlformats.org/officeDocument/2006/relationships/hyperlink" Target="https://www.open-mpi.org/projects/pmix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err="1" smtClean="0"/>
              <a:t>Exascale</a:t>
            </a:r>
            <a:r>
              <a:rPr lang="en-US" sz="4000" dirty="0" smtClean="0"/>
              <a:t> Process</a:t>
            </a:r>
            <a:br>
              <a:rPr lang="en-US" sz="4000" dirty="0" smtClean="0"/>
            </a:br>
            <a:r>
              <a:rPr lang="en-US" sz="4000" dirty="0" smtClean="0"/>
              <a:t>Management Interface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171519"/>
            <a:ext cx="2880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smtClean="0"/>
              <a:t>Ralph </a:t>
            </a:r>
            <a:r>
              <a:rPr lang="en-US" sz="1700" dirty="0" err="1" smtClean="0"/>
              <a:t>Castain</a:t>
            </a:r>
            <a:endParaRPr lang="en-US" sz="1700" dirty="0" smtClean="0"/>
          </a:p>
          <a:p>
            <a:pPr algn="ctr"/>
            <a:r>
              <a:rPr lang="en-US" sz="1700" dirty="0" smtClean="0"/>
              <a:t>Intel Corporation</a:t>
            </a:r>
          </a:p>
          <a:p>
            <a:pPr algn="ctr"/>
            <a:r>
              <a:rPr lang="en-US" sz="1700" dirty="0" smtClean="0"/>
              <a:t>rhc@open-mpi.org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71519"/>
            <a:ext cx="9144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smtClean="0"/>
              <a:t>Joshua S. Ladd</a:t>
            </a:r>
          </a:p>
          <a:p>
            <a:pPr algn="ctr"/>
            <a:r>
              <a:rPr lang="en-US" sz="1700" dirty="0" err="1" smtClean="0"/>
              <a:t>Mellanox</a:t>
            </a:r>
            <a:r>
              <a:rPr lang="en-US" sz="1700" dirty="0" smtClean="0"/>
              <a:t> Technologies Inc.</a:t>
            </a:r>
          </a:p>
          <a:p>
            <a:pPr algn="ctr"/>
            <a:r>
              <a:rPr lang="en-US" sz="1700" dirty="0" smtClean="0"/>
              <a:t>joshual@mellanox.com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6600" y="5218837"/>
            <a:ext cx="58674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smtClean="0"/>
              <a:t>Gary Brown </a:t>
            </a:r>
          </a:p>
          <a:p>
            <a:pPr algn="ctr"/>
            <a:r>
              <a:rPr lang="en-US" sz="1700" dirty="0" smtClean="0"/>
              <a:t>Adaptive Computing</a:t>
            </a:r>
          </a:p>
          <a:p>
            <a:pPr algn="ctr"/>
            <a:r>
              <a:rPr lang="en-US" sz="1700" dirty="0" smtClean="0"/>
              <a:t>gbrown@adaptivecomputing.com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8837"/>
            <a:ext cx="5257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smtClean="0"/>
              <a:t>David </a:t>
            </a:r>
            <a:r>
              <a:rPr lang="en-US" sz="1700" dirty="0" err="1" smtClean="0"/>
              <a:t>Bigagli</a:t>
            </a:r>
            <a:endParaRPr lang="en-US" sz="1700" dirty="0" smtClean="0"/>
          </a:p>
          <a:p>
            <a:pPr algn="ctr"/>
            <a:r>
              <a:rPr lang="en-US" sz="1700" dirty="0" err="1" smtClean="0"/>
              <a:t>SchedMD</a:t>
            </a:r>
            <a:endParaRPr lang="en-US" sz="1700" dirty="0" smtClean="0"/>
          </a:p>
          <a:p>
            <a:pPr algn="ctr"/>
            <a:r>
              <a:rPr lang="en-US" sz="1700" dirty="0" smtClean="0"/>
              <a:t>david@schedmd.com</a:t>
            </a:r>
            <a:endParaRPr lang="ru-RU" sz="1700" dirty="0"/>
          </a:p>
        </p:txBody>
      </p:sp>
      <p:sp>
        <p:nvSpPr>
          <p:cNvPr id="11" name="TextBox 10"/>
          <p:cNvSpPr txBox="1"/>
          <p:nvPr/>
        </p:nvSpPr>
        <p:spPr>
          <a:xfrm>
            <a:off x="6250352" y="4171519"/>
            <a:ext cx="2880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 err="1" smtClean="0"/>
              <a:t>Artem</a:t>
            </a:r>
            <a:r>
              <a:rPr lang="en-US" sz="1700" dirty="0" smtClean="0"/>
              <a:t> Y. </a:t>
            </a:r>
            <a:r>
              <a:rPr lang="en-US" sz="1700" dirty="0" err="1" smtClean="0"/>
              <a:t>Polyakov</a:t>
            </a:r>
            <a:endParaRPr lang="en-US" sz="1700" dirty="0" smtClean="0"/>
          </a:p>
          <a:p>
            <a:pPr algn="ctr"/>
            <a:r>
              <a:rPr lang="en-US" sz="1700" dirty="0" err="1" smtClean="0"/>
              <a:t>Mellanox</a:t>
            </a:r>
            <a:r>
              <a:rPr lang="en-US" sz="1700" dirty="0" smtClean="0"/>
              <a:t> Technologies Inc.</a:t>
            </a:r>
          </a:p>
          <a:p>
            <a:pPr algn="ctr"/>
            <a:r>
              <a:rPr lang="en-US" sz="1700" dirty="0" smtClean="0"/>
              <a:t>artemp@mellanox.com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auto">
          <a:xfrm>
            <a:off x="1371600" y="1752600"/>
            <a:ext cx="6553200" cy="51054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PMIx</a:t>
            </a:r>
            <a:r>
              <a:rPr lang="en-US" sz="3300" dirty="0" smtClean="0"/>
              <a:t> – PMI </a:t>
            </a:r>
            <a:r>
              <a:rPr lang="en-US" sz="3300" dirty="0" err="1" smtClean="0"/>
              <a:t>e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err="1" smtClean="0"/>
              <a:t>ascale</a:t>
            </a:r>
            <a:endParaRPr lang="en-US" sz="33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770727"/>
            <a:ext cx="821537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dirty="0" smtClean="0"/>
              <a:t>Collaborative open source effort led by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Intel</a:t>
            </a:r>
            <a:r>
              <a:rPr lang="en-US" dirty="0" smtClean="0"/>
              <a:t>, Mellanox Technologies, </a:t>
            </a:r>
            <a:r>
              <a:rPr lang="en-US" dirty="0" smtClean="0"/>
              <a:t>and </a:t>
            </a:r>
            <a:r>
              <a:rPr lang="en-US" dirty="0" smtClean="0"/>
              <a:t>Adaptive Computing.</a:t>
            </a:r>
          </a:p>
          <a:p>
            <a:pPr algn="ctr">
              <a:spcBef>
                <a:spcPts val="6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New collaborators are most welcome!</a:t>
            </a:r>
            <a:endParaRPr lang="ru-RU" b="1" dirty="0">
              <a:solidFill>
                <a:srgbClr val="C00000"/>
              </a:solidFill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1622400" y="3229485"/>
            <a:ext cx="5769000" cy="1647315"/>
            <a:chOff x="1698600" y="3048000"/>
            <a:chExt cx="5769000" cy="1647315"/>
          </a:xfrm>
        </p:grpSpPr>
        <p:pic>
          <p:nvPicPr>
            <p:cNvPr id="8" name="Picture 4" descr="X:\WORK\Mellanox\Presentations\PMIx_SLURM\images\mellanox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07600" y="3048000"/>
              <a:ext cx="2160000" cy="1647315"/>
            </a:xfrm>
            <a:prstGeom prst="rect">
              <a:avLst/>
            </a:prstGeom>
            <a:noFill/>
          </p:spPr>
        </p:pic>
        <p:pic>
          <p:nvPicPr>
            <p:cNvPr id="6" name="Picture 2" descr="X:\WORK\Mellanox\Presentations\PMIx_SLURM\images\intel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98600" y="3124200"/>
              <a:ext cx="2340000" cy="1542273"/>
            </a:xfrm>
            <a:prstGeom prst="rect">
              <a:avLst/>
            </a:prstGeom>
            <a:noFill/>
          </p:spPr>
        </p:pic>
      </p:grp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15" name="Группа 14"/>
          <p:cNvGrpSpPr/>
          <p:nvPr/>
        </p:nvGrpSpPr>
        <p:grpSpPr>
          <a:xfrm>
            <a:off x="1219201" y="4953000"/>
            <a:ext cx="6378599" cy="1482015"/>
            <a:chOff x="1066801" y="5029200"/>
            <a:chExt cx="6378599" cy="1482015"/>
          </a:xfrm>
        </p:grpSpPr>
        <p:pic>
          <p:nvPicPr>
            <p:cNvPr id="11" name="Picture 10" descr="Adaptive Computing 2013 (288x192).png"/>
            <p:cNvPicPr>
              <a:picLocks noChangeAspect="1"/>
            </p:cNvPicPr>
            <p:nvPr/>
          </p:nvPicPr>
          <p:blipFill>
            <a:blip r:embed="rId4"/>
            <a:srcRect b="4999"/>
            <a:stretch>
              <a:fillRect/>
            </a:stretch>
          </p:blipFill>
          <p:spPr>
            <a:xfrm>
              <a:off x="5105400" y="5029200"/>
              <a:ext cx="2340000" cy="1482015"/>
            </a:xfrm>
            <a:prstGeom prst="rect">
              <a:avLst/>
            </a:prstGeom>
          </p:spPr>
        </p:pic>
        <p:pic>
          <p:nvPicPr>
            <p:cNvPr id="1026" name="Picture 2" descr="X:\WORK\Mellanox\Presentations\PMIx_SLUG_2015\images\schedmd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66801" y="5562600"/>
              <a:ext cx="3200399" cy="733424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78021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smtClean="0"/>
              <a:t>Process Management Interface – PMI</a:t>
            </a:r>
            <a:endParaRPr lang="ru-RU" sz="3300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4612481"/>
            <a:ext cx="85011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77800" algn="just">
              <a:buFont typeface="Wingdings" pitchFamily="2" charset="2"/>
              <a:buChar char="§"/>
            </a:pPr>
            <a:r>
              <a:rPr lang="en-US" sz="1800" dirty="0" smtClean="0"/>
              <a:t>PMI is most commonly utilized to bootstrap MPI processes.</a:t>
            </a:r>
          </a:p>
          <a:p>
            <a:pPr indent="177800" algn="just">
              <a:buFont typeface="Wingdings" pitchFamily="2" charset="2"/>
              <a:buChar char="§"/>
            </a:pPr>
            <a:r>
              <a:rPr lang="en-US" sz="1800" dirty="0" smtClean="0"/>
              <a:t>Typically, MPI processes “put” data into the KVS data base that is intended to be shared with all other MPI processes, a collective operation that is a logical </a:t>
            </a:r>
            <a:r>
              <a:rPr lang="en-US" sz="1800" b="1" dirty="0" err="1" smtClean="0"/>
              <a:t>allgather</a:t>
            </a:r>
            <a:r>
              <a:rPr lang="en-US" sz="1800" dirty="0" smtClean="0"/>
              <a:t> synchronizes the database.</a:t>
            </a:r>
          </a:p>
          <a:p>
            <a:pPr indent="177800" algn="just">
              <a:buFont typeface="Wingdings" pitchFamily="2" charset="2"/>
              <a:buChar char="§"/>
            </a:pPr>
            <a:r>
              <a:rPr lang="en-US" sz="1800" dirty="0" smtClean="0"/>
              <a:t>PMI enables Resource Managers (RMs) to use their infrastructure to implement advanced support for MPI application acting like  RTE daemons.</a:t>
            </a:r>
          </a:p>
          <a:p>
            <a:pPr indent="177800">
              <a:buFont typeface="Wingdings" pitchFamily="2" charset="2"/>
              <a:buChar char="§"/>
            </a:pPr>
            <a:r>
              <a:rPr lang="en-US" sz="1800" dirty="0" smtClean="0"/>
              <a:t>SLURM supports both PMI-1/PMI-2 (</a:t>
            </a:r>
            <a:r>
              <a:rPr lang="en-US" sz="1800" dirty="0" smtClean="0">
                <a:hlinkClick r:id="rId2"/>
              </a:rPr>
              <a:t>http://slurm.schedmd.com/mpi_guide.html</a:t>
            </a:r>
            <a:r>
              <a:rPr lang="en-US" sz="1800" dirty="0" smtClean="0"/>
              <a:t>)</a:t>
            </a:r>
            <a:endParaRPr lang="ru-RU" sz="180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676400"/>
            <a:ext cx="7334250" cy="2966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– PMI </a:t>
            </a:r>
            <a:r>
              <a:rPr lang="en-US" sz="3300" dirty="0" err="1" smtClean="0"/>
              <a:t>e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err="1" smtClean="0"/>
              <a:t>ascale</a:t>
            </a:r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2400" dirty="0" smtClean="0"/>
              <a:t>(What and Why)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05800" cy="3429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/>
              <a:t>What is it?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Extended Process Management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/>
              <a:t>Why?</a:t>
            </a:r>
          </a:p>
          <a:p>
            <a:pPr marL="450850" lvl="1" indent="-273050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MPI/OSHMEM job launch time is a </a:t>
            </a:r>
            <a:r>
              <a:rPr lang="en-US" sz="2000" b="1" dirty="0" smtClean="0">
                <a:solidFill>
                  <a:srgbClr val="C00000"/>
                </a:solidFill>
              </a:rPr>
              <a:t>hot topic</a:t>
            </a:r>
            <a:r>
              <a:rPr lang="en-US" sz="2000" dirty="0" smtClean="0"/>
              <a:t>!</a:t>
            </a:r>
          </a:p>
          <a:p>
            <a:pPr marL="450850" lvl="1" indent="-273050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Extreme-scale system requirements: 30 second job launch time for O(10</a:t>
            </a:r>
            <a:r>
              <a:rPr lang="en-US" sz="2000" baseline="30000" dirty="0"/>
              <a:t>6</a:t>
            </a:r>
            <a:r>
              <a:rPr lang="en-US" sz="2000" dirty="0" smtClean="0"/>
              <a:t>) MPI processes. </a:t>
            </a:r>
          </a:p>
          <a:p>
            <a:pPr marL="450850" lvl="1" indent="-273050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Scaling studies have illuminated many limitations of current PMI-1/PMI-2 interfaces at </a:t>
            </a:r>
            <a:r>
              <a:rPr lang="en-US" sz="2000" b="1" dirty="0" smtClean="0">
                <a:solidFill>
                  <a:srgbClr val="C00000"/>
                </a:solidFill>
              </a:rPr>
              <a:t>extreme scale</a:t>
            </a:r>
            <a:r>
              <a:rPr lang="en-US" sz="2000" dirty="0" smtClean="0"/>
              <a:t>.</a:t>
            </a:r>
          </a:p>
          <a:p>
            <a:pPr marL="450850" lvl="1" indent="-273050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Tight integration with Resource Managers can </a:t>
            </a:r>
            <a:r>
              <a:rPr lang="en-US" sz="2000" b="1" dirty="0" smtClean="0">
                <a:solidFill>
                  <a:srgbClr val="C00000"/>
                </a:solidFill>
              </a:rPr>
              <a:t>drastically reduce </a:t>
            </a:r>
            <a:r>
              <a:rPr lang="en-US" sz="2000" dirty="0" smtClean="0"/>
              <a:t>the amount of data that needs to be exchanged during </a:t>
            </a:r>
            <a:r>
              <a:rPr lang="en-US" sz="2000" dirty="0" err="1" smtClean="0"/>
              <a:t>MPI_Init</a:t>
            </a:r>
            <a:r>
              <a:rPr lang="en-US" sz="2000" dirty="0" smtClean="0"/>
              <a:t>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 rot="21437684">
            <a:off x="1234108" y="5445362"/>
            <a:ext cx="6866448" cy="793838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  <a:prstDash val="dash"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1" algn="ctr">
              <a:spcBef>
                <a:spcPts val="0"/>
              </a:spcBef>
              <a:buClr>
                <a:schemeClr val="accent2"/>
              </a:buClr>
            </a:pPr>
            <a:r>
              <a:rPr lang="en-US" sz="2200" kern="0" dirty="0" err="1" smtClean="0">
                <a:latin typeface="+mn-lt"/>
                <a:ea typeface="ＭＳ Ｐゴシック" pitchFamily="-65" charset="-128"/>
              </a:rPr>
              <a:t>PMI</a:t>
            </a:r>
            <a:r>
              <a:rPr lang="en-US" sz="2200" b="1" kern="0" dirty="0" err="1" smtClean="0">
                <a:solidFill>
                  <a:srgbClr val="C00000"/>
                </a:solidFill>
                <a:latin typeface="+mn-lt"/>
                <a:ea typeface="ＭＳ Ｐゴシック" pitchFamily="-65" charset="-128"/>
              </a:rPr>
              <a:t>x</a:t>
            </a:r>
            <a:r>
              <a:rPr lang="en-US" sz="2200" kern="0" dirty="0" smtClean="0">
                <a:latin typeface="+mn-lt"/>
                <a:ea typeface="ＭＳ Ｐゴシック" pitchFamily="-65" charset="-128"/>
              </a:rPr>
              <a:t> is a new process management interface</a:t>
            </a:r>
          </a:p>
          <a:p>
            <a:pPr marL="0" lvl="1" algn="ctr">
              <a:spcBef>
                <a:spcPts val="0"/>
              </a:spcBef>
              <a:buClr>
                <a:schemeClr val="accent2"/>
              </a:buClr>
            </a:pPr>
            <a:r>
              <a:rPr lang="en-US" sz="2200" kern="0" dirty="0" smtClean="0">
                <a:latin typeface="+mn-lt"/>
                <a:ea typeface="ＭＳ Ｐゴシック" pitchFamily="-65" charset="-128"/>
              </a:rPr>
              <a:t>that has been designed to address these limitations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1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– PMI </a:t>
            </a:r>
            <a:r>
              <a:rPr lang="en-US" sz="3300" dirty="0" err="1" smtClean="0"/>
              <a:t>e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err="1" smtClean="0"/>
              <a:t>ascale</a:t>
            </a:r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2400" dirty="0" smtClean="0"/>
              <a:t>(Technical Goals)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534400" cy="5181600"/>
          </a:xfrm>
        </p:spPr>
        <p:txBody>
          <a:bodyPr/>
          <a:lstStyle/>
          <a:p>
            <a:pPr lvl="1" algn="just"/>
            <a:r>
              <a:rPr lang="en-US" sz="2100" dirty="0" smtClean="0"/>
              <a:t>Reduce the </a:t>
            </a:r>
            <a:r>
              <a:rPr lang="en-US" sz="2100" b="1" dirty="0" smtClean="0">
                <a:solidFill>
                  <a:srgbClr val="C00000"/>
                </a:solidFill>
              </a:rPr>
              <a:t>memory footprint</a:t>
            </a:r>
            <a:r>
              <a:rPr lang="en-US" sz="2100" dirty="0" smtClean="0"/>
              <a:t> from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100" dirty="0" smtClean="0"/>
              <a:t> to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sz="2100" dirty="0" smtClean="0"/>
              <a:t> by leveraging </a:t>
            </a:r>
            <a:r>
              <a:rPr lang="en-US" sz="2100" i="1" dirty="0" smtClean="0"/>
              <a:t>shared memory</a:t>
            </a:r>
            <a:r>
              <a:rPr lang="en-US" sz="2100" dirty="0" smtClean="0"/>
              <a:t> and </a:t>
            </a:r>
            <a:r>
              <a:rPr lang="en-US" sz="2100" i="1" dirty="0" smtClean="0"/>
              <a:t>distributed databases</a:t>
            </a:r>
            <a:r>
              <a:rPr lang="en-US" sz="2100" dirty="0" smtClean="0"/>
              <a:t>. </a:t>
            </a:r>
          </a:p>
          <a:p>
            <a:pPr lvl="1" algn="just"/>
            <a:r>
              <a:rPr lang="en-US" sz="2100" dirty="0" smtClean="0"/>
              <a:t>Reduce the </a:t>
            </a:r>
            <a:r>
              <a:rPr lang="en-US" sz="2100" b="1" dirty="0" smtClean="0">
                <a:solidFill>
                  <a:srgbClr val="C00000"/>
                </a:solidFill>
              </a:rPr>
              <a:t>volume</a:t>
            </a:r>
            <a:r>
              <a:rPr lang="en-US" sz="2100" dirty="0" smtClean="0"/>
              <a:t> of data </a:t>
            </a:r>
            <a:r>
              <a:rPr lang="en-US" sz="2100" b="1" dirty="0" smtClean="0">
                <a:solidFill>
                  <a:srgbClr val="C00000"/>
                </a:solidFill>
              </a:rPr>
              <a:t>exchanged</a:t>
            </a:r>
            <a:r>
              <a:rPr lang="en-US" sz="2100" dirty="0" smtClean="0"/>
              <a:t> in collective operations with </a:t>
            </a:r>
            <a:r>
              <a:rPr lang="en-US" sz="2100" i="1" dirty="0" smtClean="0"/>
              <a:t>scoping hints</a:t>
            </a:r>
            <a:r>
              <a:rPr lang="en-US" sz="2100" dirty="0" smtClean="0"/>
              <a:t>.</a:t>
            </a:r>
          </a:p>
          <a:p>
            <a:pPr lvl="1" algn="just"/>
            <a:r>
              <a:rPr lang="en-US" sz="2100" dirty="0" smtClean="0"/>
              <a:t>Provide the ability to </a:t>
            </a:r>
            <a:r>
              <a:rPr lang="en-US" sz="2100" b="1" dirty="0" smtClean="0">
                <a:solidFill>
                  <a:srgbClr val="C00000"/>
                </a:solidFill>
              </a:rPr>
              <a:t>overlap </a:t>
            </a:r>
            <a:r>
              <a:rPr lang="en-US" sz="2100" dirty="0" smtClean="0"/>
              <a:t>communication with computation with </a:t>
            </a:r>
            <a:r>
              <a:rPr lang="en-US" sz="2100" i="1" dirty="0" smtClean="0"/>
              <a:t>non-blocking</a:t>
            </a:r>
            <a:r>
              <a:rPr lang="en-US" sz="2100" dirty="0" smtClean="0"/>
              <a:t> collectives and get operations.</a:t>
            </a:r>
          </a:p>
          <a:p>
            <a:pPr lvl="1" algn="just"/>
            <a:r>
              <a:rPr lang="en-US" sz="2100" dirty="0" smtClean="0"/>
              <a:t>Support both </a:t>
            </a:r>
            <a:r>
              <a:rPr lang="en-US" sz="2100" i="1" dirty="0" smtClean="0"/>
              <a:t>collective</a:t>
            </a:r>
            <a:r>
              <a:rPr lang="en-US" sz="2100" dirty="0" smtClean="0"/>
              <a:t> communication modes of </a:t>
            </a:r>
            <a:r>
              <a:rPr lang="en-US" sz="2100" b="1" dirty="0" smtClean="0">
                <a:solidFill>
                  <a:srgbClr val="C00000"/>
                </a:solidFill>
              </a:rPr>
              <a:t>data exchange</a:t>
            </a:r>
            <a:r>
              <a:rPr lang="en-US" sz="2100" dirty="0" smtClean="0"/>
              <a:t> and </a:t>
            </a:r>
            <a:r>
              <a:rPr lang="en-US" sz="2100" i="1" dirty="0" smtClean="0"/>
              <a:t>point-to-point</a:t>
            </a:r>
            <a:r>
              <a:rPr lang="en-US" sz="2100" dirty="0" smtClean="0"/>
              <a:t> "direct" data retrieval.</a:t>
            </a:r>
          </a:p>
          <a:p>
            <a:pPr lvl="1" algn="just"/>
            <a:r>
              <a:rPr lang="en-US" sz="2100" dirty="0" smtClean="0"/>
              <a:t>Reduce the amount of local messages exchanged between application processes and RTE daemons (</a:t>
            </a:r>
            <a:r>
              <a:rPr lang="en-US" sz="2100" b="1" dirty="0" smtClean="0">
                <a:solidFill>
                  <a:srgbClr val="C00000"/>
                </a:solidFill>
              </a:rPr>
              <a:t>many-core nodes</a:t>
            </a:r>
            <a:r>
              <a:rPr lang="en-US" sz="2100" dirty="0" smtClean="0"/>
              <a:t>).</a:t>
            </a:r>
          </a:p>
          <a:p>
            <a:pPr lvl="1" algn="just"/>
            <a:r>
              <a:rPr lang="en-US" sz="2100" dirty="0" smtClean="0"/>
              <a:t>Use high-speed </a:t>
            </a:r>
            <a:r>
              <a:rPr lang="en-US" sz="2100" b="1" dirty="0" smtClean="0">
                <a:solidFill>
                  <a:srgbClr val="C00000"/>
                </a:solidFill>
              </a:rPr>
              <a:t>HPC interconnects available on the system </a:t>
            </a:r>
            <a:r>
              <a:rPr lang="en-US" sz="2100" dirty="0" smtClean="0"/>
              <a:t>for the data exchange.</a:t>
            </a:r>
          </a:p>
          <a:p>
            <a:pPr lvl="1" algn="just"/>
            <a:r>
              <a:rPr lang="en-US" sz="2100" dirty="0" smtClean="0"/>
              <a:t>Extend "Application – Resource Manager" interface to support fault-tolerance and energy-efficiency requirements.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1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implementation architecture</a:t>
            </a:r>
            <a:endParaRPr lang="en-US" sz="3300" dirty="0"/>
          </a:p>
        </p:txBody>
      </p:sp>
      <p:sp>
        <p:nvSpPr>
          <p:cNvPr id="119" name="TextBox 118"/>
          <p:cNvSpPr txBox="1"/>
          <p:nvPr/>
        </p:nvSpPr>
        <p:spPr>
          <a:xfrm rot="21326883">
            <a:off x="304800" y="4282528"/>
            <a:ext cx="4267200" cy="101566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High-speed transport for  collective and point-to-point  communication (</a:t>
            </a:r>
            <a:r>
              <a:rPr lang="en-US" sz="2000" dirty="0" err="1" smtClean="0"/>
              <a:t>PMI</a:t>
            </a:r>
            <a:r>
              <a:rPr lang="en-US" sz="2000" b="1" dirty="0" err="1" smtClean="0">
                <a:solidFill>
                  <a:srgbClr val="C00000"/>
                </a:solidFill>
              </a:rPr>
              <a:t>x</a:t>
            </a:r>
            <a:r>
              <a:rPr lang="en-US" sz="2000" dirty="0" err="1" smtClean="0"/>
              <a:t>_Fence</a:t>
            </a:r>
            <a:r>
              <a:rPr lang="en-US" sz="2000" dirty="0" smtClean="0"/>
              <a:t>/</a:t>
            </a:r>
            <a:r>
              <a:rPr lang="en-US" sz="2000" dirty="0" err="1" smtClean="0"/>
              <a:t>PMI</a:t>
            </a:r>
            <a:r>
              <a:rPr lang="en-US" sz="2000" b="1" dirty="0" err="1" smtClean="0">
                <a:solidFill>
                  <a:srgbClr val="C00000"/>
                </a:solidFill>
              </a:rPr>
              <a:t>x</a:t>
            </a:r>
            <a:r>
              <a:rPr lang="en-US" sz="2000" dirty="0" err="1" smtClean="0"/>
              <a:t>_Get</a:t>
            </a:r>
            <a:r>
              <a:rPr lang="en-US" sz="2000" dirty="0" smtClean="0"/>
              <a:t> )</a:t>
            </a:r>
            <a:endParaRPr lang="en-US" sz="2000" dirty="0"/>
          </a:p>
        </p:txBody>
      </p:sp>
      <p:sp>
        <p:nvSpPr>
          <p:cNvPr id="125" name="Quad Arrow 124"/>
          <p:cNvSpPr/>
          <p:nvPr/>
        </p:nvSpPr>
        <p:spPr bwMode="auto">
          <a:xfrm rot="2655159">
            <a:off x="4546942" y="3863316"/>
            <a:ext cx="1726600" cy="1722171"/>
          </a:xfrm>
          <a:prstGeom prst="quadArrow">
            <a:avLst/>
          </a:prstGeom>
          <a:solidFill>
            <a:srgbClr val="FFFF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87" name="Группа 86"/>
          <p:cNvGrpSpPr/>
          <p:nvPr/>
        </p:nvGrpSpPr>
        <p:grpSpPr>
          <a:xfrm>
            <a:off x="228600" y="1752600"/>
            <a:ext cx="5181600" cy="2286000"/>
            <a:chOff x="228600" y="1752600"/>
            <a:chExt cx="5181600" cy="2286000"/>
          </a:xfrm>
        </p:grpSpPr>
        <p:sp>
          <p:nvSpPr>
            <p:cNvPr id="161" name="Rounded Rectangle 160"/>
            <p:cNvSpPr/>
            <p:nvPr/>
          </p:nvSpPr>
          <p:spPr bwMode="auto">
            <a:xfrm>
              <a:off x="228600" y="1752600"/>
              <a:ext cx="5181600" cy="2286000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</a:gradFill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81000" y="1905000"/>
              <a:ext cx="4876800" cy="2034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0" name="Группа 79"/>
          <p:cNvGrpSpPr/>
          <p:nvPr/>
        </p:nvGrpSpPr>
        <p:grpSpPr>
          <a:xfrm>
            <a:off x="2133600" y="5334000"/>
            <a:ext cx="2590800" cy="1295400"/>
            <a:chOff x="533400" y="4800600"/>
            <a:chExt cx="2590800" cy="1295400"/>
          </a:xfrm>
        </p:grpSpPr>
        <p:sp>
          <p:nvSpPr>
            <p:cNvPr id="78" name="Rounded Rectangle 160"/>
            <p:cNvSpPr/>
            <p:nvPr/>
          </p:nvSpPr>
          <p:spPr bwMode="auto">
            <a:xfrm>
              <a:off x="533400" y="4800600"/>
              <a:ext cx="2590800" cy="1295400"/>
            </a:xfrm>
            <a:prstGeom prst="roundRect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64192" y="4993944"/>
              <a:ext cx="2337668" cy="9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1" name="Группа 80"/>
          <p:cNvGrpSpPr/>
          <p:nvPr/>
        </p:nvGrpSpPr>
        <p:grpSpPr>
          <a:xfrm>
            <a:off x="6019800" y="2667000"/>
            <a:ext cx="2590800" cy="1295400"/>
            <a:chOff x="533400" y="4800600"/>
            <a:chExt cx="2590800" cy="1295400"/>
          </a:xfrm>
        </p:grpSpPr>
        <p:sp>
          <p:nvSpPr>
            <p:cNvPr id="82" name="Rounded Rectangle 160"/>
            <p:cNvSpPr/>
            <p:nvPr/>
          </p:nvSpPr>
          <p:spPr bwMode="auto">
            <a:xfrm>
              <a:off x="533400" y="4800600"/>
              <a:ext cx="2590800" cy="1295400"/>
            </a:xfrm>
            <a:prstGeom prst="roundRect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pic>
          <p:nvPicPr>
            <p:cNvPr id="8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64192" y="4993944"/>
              <a:ext cx="2337668" cy="9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4" name="Группа 83"/>
          <p:cNvGrpSpPr/>
          <p:nvPr/>
        </p:nvGrpSpPr>
        <p:grpSpPr>
          <a:xfrm>
            <a:off x="6096000" y="5334000"/>
            <a:ext cx="2590800" cy="1295400"/>
            <a:chOff x="533400" y="4800600"/>
            <a:chExt cx="2590800" cy="1295400"/>
          </a:xfrm>
        </p:grpSpPr>
        <p:sp>
          <p:nvSpPr>
            <p:cNvPr id="85" name="Rounded Rectangle 160"/>
            <p:cNvSpPr/>
            <p:nvPr/>
          </p:nvSpPr>
          <p:spPr bwMode="auto">
            <a:xfrm>
              <a:off x="533400" y="4800600"/>
              <a:ext cx="2590800" cy="1295400"/>
            </a:xfrm>
            <a:prstGeom prst="roundRect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pic>
          <p:nvPicPr>
            <p:cNvPr id="86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64192" y="4993944"/>
              <a:ext cx="2337668" cy="9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8" name="TextBox 87"/>
          <p:cNvSpPr txBox="1"/>
          <p:nvPr/>
        </p:nvSpPr>
        <p:spPr>
          <a:xfrm rot="21229433">
            <a:off x="5715000" y="1828800"/>
            <a:ext cx="3200400" cy="707886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Shared memory to reduce memory footprint </a:t>
            </a:r>
            <a:endParaRPr lang="en-US" sz="2000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7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v1.0 features</a:t>
            </a:r>
            <a:endParaRPr lang="ru-RU" sz="33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09800"/>
            <a:ext cx="8305800" cy="3886200"/>
          </a:xfrm>
        </p:spPr>
        <p:txBody>
          <a:bodyPr/>
          <a:lstStyle/>
          <a:p>
            <a:pPr indent="261938" algn="just">
              <a:buFont typeface="Wingdings" pitchFamily="2" charset="2"/>
              <a:buChar char="§"/>
            </a:pPr>
            <a:r>
              <a:rPr lang="en-US" sz="2200" dirty="0" smtClean="0"/>
              <a:t>Data scoping with 3 levels of locality: </a:t>
            </a:r>
            <a:r>
              <a:rPr lang="en-US" sz="2200" i="1" dirty="0" smtClean="0"/>
              <a:t>local</a:t>
            </a:r>
            <a:r>
              <a:rPr lang="en-US" sz="2200" dirty="0" smtClean="0"/>
              <a:t>, </a:t>
            </a:r>
            <a:r>
              <a:rPr lang="en-US" sz="2200" i="1" dirty="0" smtClean="0"/>
              <a:t>remote</a:t>
            </a:r>
            <a:r>
              <a:rPr lang="en-US" sz="2200" dirty="0" smtClean="0"/>
              <a:t>, </a:t>
            </a:r>
            <a:r>
              <a:rPr lang="en-US" sz="2200" i="1" dirty="0" smtClean="0"/>
              <a:t>global</a:t>
            </a:r>
            <a:r>
              <a:rPr lang="en-US" sz="2200" dirty="0"/>
              <a:t>.</a:t>
            </a:r>
            <a:endParaRPr lang="en-US" sz="2200" dirty="0" smtClean="0"/>
          </a:p>
          <a:p>
            <a:pPr indent="261938" algn="just">
              <a:buFont typeface="Wingdings" pitchFamily="2" charset="2"/>
              <a:buChar char="§"/>
            </a:pPr>
            <a:r>
              <a:rPr lang="en-US" sz="2200" dirty="0"/>
              <a:t>C</a:t>
            </a:r>
            <a:r>
              <a:rPr lang="en-US" sz="2200" dirty="0" smtClean="0"/>
              <a:t>ommunication scoping: </a:t>
            </a:r>
            <a:r>
              <a:rPr lang="en-US" sz="2200" dirty="0" err="1" smtClean="0"/>
              <a:t>PMI</a:t>
            </a:r>
            <a:r>
              <a:rPr lang="en-US" sz="2200" b="1" dirty="0" err="1" smtClean="0">
                <a:solidFill>
                  <a:srgbClr val="C00000"/>
                </a:solidFill>
              </a:rPr>
              <a:t>x</a:t>
            </a:r>
            <a:r>
              <a:rPr lang="en-US" sz="2200" dirty="0" err="1" smtClean="0"/>
              <a:t>_Fence</a:t>
            </a:r>
            <a:r>
              <a:rPr lang="en-US" sz="2200" dirty="0" smtClean="0"/>
              <a:t> under arbitrary subset  of processes.</a:t>
            </a:r>
          </a:p>
          <a:p>
            <a:pPr indent="261938" algn="just">
              <a:buFont typeface="Wingdings" pitchFamily="2" charset="2"/>
              <a:buChar char="§"/>
            </a:pPr>
            <a:r>
              <a:rPr lang="en-US" sz="2200" dirty="0"/>
              <a:t>F</a:t>
            </a:r>
            <a:r>
              <a:rPr lang="en-US" sz="2200" dirty="0" smtClean="0"/>
              <a:t>ull support for </a:t>
            </a:r>
            <a:r>
              <a:rPr lang="en-US" sz="2200" i="1" dirty="0" smtClean="0"/>
              <a:t>point-to-point</a:t>
            </a:r>
            <a:r>
              <a:rPr lang="en-US" sz="2200" dirty="0" smtClean="0"/>
              <a:t> "direct" data retrieval well suited for applications with sparse communication graphs.</a:t>
            </a:r>
          </a:p>
          <a:p>
            <a:pPr indent="261938" algn="just">
              <a:buFont typeface="Wingdings" pitchFamily="2" charset="2"/>
              <a:buChar char="§"/>
            </a:pPr>
            <a:r>
              <a:rPr lang="en-US" sz="2200" dirty="0"/>
              <a:t>F</a:t>
            </a:r>
            <a:r>
              <a:rPr lang="en-US" sz="2200" dirty="0" smtClean="0"/>
              <a:t>ull support for non-blocking operations.</a:t>
            </a:r>
          </a:p>
          <a:p>
            <a:pPr indent="261938" algn="just">
              <a:buFont typeface="Wingdings" pitchFamily="2" charset="2"/>
              <a:buChar char="§"/>
            </a:pPr>
            <a:r>
              <a:rPr lang="en-US" sz="2200" dirty="0"/>
              <a:t>S</a:t>
            </a:r>
            <a:r>
              <a:rPr lang="en-US" sz="2200" dirty="0" smtClean="0"/>
              <a:t>upport for “binary blobs”: </a:t>
            </a:r>
            <a:r>
              <a:rPr lang="en-US" sz="2200" dirty="0" err="1" smtClean="0"/>
              <a:t>PMIx</a:t>
            </a:r>
            <a:r>
              <a:rPr lang="en-US" sz="2200" dirty="0" smtClean="0"/>
              <a:t> client retrieves process data only once as one chunk reducing intra-node exchanges and encoding/decoding overhead.</a:t>
            </a:r>
          </a:p>
          <a:p>
            <a:pPr indent="261938" algn="just">
              <a:buFont typeface="Wingdings" pitchFamily="2" charset="2"/>
              <a:buChar char="§"/>
            </a:pPr>
            <a:r>
              <a:rPr lang="en-US" sz="2200" dirty="0"/>
              <a:t>B</a:t>
            </a:r>
            <a:r>
              <a:rPr lang="en-US" sz="2200" dirty="0" smtClean="0"/>
              <a:t>asic support for MPI dynamic process management;</a:t>
            </a:r>
          </a:p>
          <a:p>
            <a:pPr indent="261938" algn="just">
              <a:buFont typeface="Wingdings" pitchFamily="2" charset="2"/>
              <a:buChar char="§"/>
            </a:pPr>
            <a:endParaRPr lang="en-US" sz="2200" dirty="0" smtClean="0"/>
          </a:p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v2.0 features</a:t>
            </a:r>
            <a:endParaRPr lang="ru-RU" sz="33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61938" algn="just">
              <a:buNone/>
            </a:pPr>
            <a:r>
              <a:rPr lang="en-US" sz="2400" b="1" dirty="0" smtClean="0"/>
              <a:t>Performance enhancements: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O</a:t>
            </a:r>
            <a:r>
              <a:rPr lang="en-US" sz="2000" dirty="0" smtClean="0"/>
              <a:t>ne instance of database per node with "zero-message" data access using shared-memory.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D</a:t>
            </a:r>
            <a:r>
              <a:rPr lang="en-US" sz="2000" dirty="0" smtClean="0"/>
              <a:t>istributed database for storing Key-Values.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 smtClean="0"/>
              <a:t>Enhanced support for collective operations.</a:t>
            </a:r>
          </a:p>
          <a:p>
            <a:pPr indent="261938" algn="just">
              <a:buNone/>
            </a:pPr>
            <a:r>
              <a:rPr lang="en-US" sz="2400" b="1" dirty="0" smtClean="0"/>
              <a:t>Functional enhancements: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E</a:t>
            </a:r>
            <a:r>
              <a:rPr lang="en-US" sz="2000" dirty="0" smtClean="0"/>
              <a:t>xtended support for dynamic allocation and process management suitable for other HPC paradigms (not MPI-only.)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P</a:t>
            </a:r>
            <a:r>
              <a:rPr lang="en-US" sz="2000" dirty="0" smtClean="0"/>
              <a:t>ower management interface to </a:t>
            </a:r>
            <a:r>
              <a:rPr lang="en-US" sz="2000" dirty="0" err="1" smtClean="0"/>
              <a:t>RMs.</a:t>
            </a:r>
            <a:endParaRPr lang="en-US" sz="2000" dirty="0" smtClean="0"/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F</a:t>
            </a:r>
            <a:r>
              <a:rPr lang="en-US" sz="2000" dirty="0" smtClean="0"/>
              <a:t>ile positioning service.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E</a:t>
            </a:r>
            <a:r>
              <a:rPr lang="en-US" sz="2000" dirty="0" smtClean="0"/>
              <a:t>vent notification service enabling fault tolerant-aware applications.</a:t>
            </a:r>
          </a:p>
          <a:p>
            <a:pPr lvl="1" indent="261938" algn="just">
              <a:buFont typeface="Wingdings" pitchFamily="2" charset="2"/>
              <a:buChar char="§"/>
            </a:pPr>
            <a:r>
              <a:rPr lang="en-US" sz="2000" dirty="0"/>
              <a:t>F</a:t>
            </a:r>
            <a:r>
              <a:rPr lang="en-US" sz="2000" dirty="0" smtClean="0"/>
              <a:t>abric </a:t>
            </a:r>
            <a:r>
              <a:rPr lang="en-US" sz="2000" dirty="0" err="1" smtClean="0"/>
              <a:t>QoS</a:t>
            </a:r>
            <a:r>
              <a:rPr lang="en-US" sz="2000" dirty="0" smtClean="0"/>
              <a:t> and security controls.</a:t>
            </a:r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smtClean="0"/>
              <a:t>SLURM </a:t>
            </a:r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plugin</a:t>
            </a:r>
            <a:endParaRPr lang="ru-RU" sz="3300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1921907"/>
            <a:ext cx="8501122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2000" dirty="0" err="1" smtClean="0"/>
              <a:t>PMIx</a:t>
            </a:r>
            <a:r>
              <a:rPr lang="en-US" sz="2000" dirty="0" smtClean="0"/>
              <a:t> support in SLURM</a:t>
            </a:r>
          </a:p>
          <a:p>
            <a:pPr indent="261938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000" dirty="0" smtClean="0"/>
              <a:t>Implemented as a new </a:t>
            </a:r>
            <a:r>
              <a:rPr lang="en-US" sz="2000" dirty="0"/>
              <a:t>MPI plugin called "</a:t>
            </a:r>
            <a:r>
              <a:rPr lang="en-US" sz="2000" dirty="0" err="1"/>
              <a:t>pmix</a:t>
            </a:r>
            <a:r>
              <a:rPr lang="en-US" sz="2000" dirty="0" smtClean="0"/>
              <a:t>".</a:t>
            </a:r>
          </a:p>
          <a:p>
            <a:pPr indent="261938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000" dirty="0"/>
              <a:t>To use </a:t>
            </a:r>
            <a:r>
              <a:rPr lang="en-US" sz="2000" dirty="0" smtClean="0"/>
              <a:t>it:</a:t>
            </a:r>
          </a:p>
          <a:p>
            <a:pPr indent="261938">
              <a:spcBef>
                <a:spcPts val="400"/>
              </a:spcBef>
            </a:pPr>
            <a:r>
              <a:rPr lang="en-US" sz="2000" dirty="0" smtClean="0"/>
              <a:t>a) either set as a command line command line parameter:</a:t>
            </a:r>
          </a:p>
          <a:p>
            <a:pPr algn="ctr">
              <a:spcBef>
                <a:spcPts val="400"/>
              </a:spcBef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srun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–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mpi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pmix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./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a.out</a:t>
            </a:r>
            <a:endParaRPr lang="en-US" sz="2000" b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indent="261938">
              <a:spcBef>
                <a:spcPts val="400"/>
              </a:spcBef>
            </a:pPr>
            <a:r>
              <a:rPr lang="en-US" sz="2000" dirty="0" smtClean="0"/>
              <a:t>b</a:t>
            </a:r>
            <a:r>
              <a:rPr lang="en-US" sz="2000" smtClean="0"/>
              <a:t>) or </a:t>
            </a:r>
            <a:r>
              <a:rPr lang="en-US" sz="2000" dirty="0" smtClean="0"/>
              <a:t>set </a:t>
            </a:r>
            <a:r>
              <a:rPr lang="en-US" sz="2000" dirty="0" err="1" smtClean="0"/>
              <a:t>PMIx</a:t>
            </a:r>
            <a:r>
              <a:rPr lang="en-US" sz="2000" dirty="0" smtClean="0"/>
              <a:t> plugin as the default in </a:t>
            </a:r>
            <a:r>
              <a:rPr lang="en-US" sz="2000" dirty="0" err="1" smtClean="0"/>
              <a:t>slurm.conf</a:t>
            </a:r>
            <a:r>
              <a:rPr lang="en-US" sz="2000" dirty="0" smtClean="0"/>
              <a:t> file:</a:t>
            </a:r>
          </a:p>
          <a:p>
            <a:pPr algn="ctr">
              <a:spcBef>
                <a:spcPts val="400"/>
              </a:spcBef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MpiDefault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pmix</a:t>
            </a:r>
            <a:endParaRPr lang="en-US" sz="2000" b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indent="261938" algn="just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000" dirty="0" smtClean="0"/>
              <a:t>Development version of the plugin is available on </a:t>
            </a:r>
            <a:r>
              <a:rPr lang="en-US" sz="2000" dirty="0" err="1" smtClean="0"/>
              <a:t>github</a:t>
            </a:r>
            <a:r>
              <a:rPr lang="en-US" sz="2000" dirty="0" smtClean="0"/>
              <a:t>:</a:t>
            </a:r>
          </a:p>
          <a:p>
            <a:pPr algn="ctr">
              <a:spcBef>
                <a:spcPts val="400"/>
              </a:spcBef>
            </a:pPr>
            <a:r>
              <a:rPr lang="en-US" sz="2000" dirty="0" smtClean="0">
                <a:hlinkClick r:id="rId2"/>
              </a:rPr>
              <a:t>https://github.com/artpol84/slurm/tree/pmix-step2</a:t>
            </a:r>
            <a:endParaRPr lang="en-US" sz="2000" dirty="0" smtClean="0"/>
          </a:p>
          <a:p>
            <a:pPr algn="ctr">
              <a:spcBef>
                <a:spcPts val="400"/>
              </a:spcBef>
            </a:pPr>
            <a:endParaRPr lang="en-US" sz="2000" dirty="0" smtClean="0"/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 smtClean="0"/>
              <a:t>Beta version of </a:t>
            </a:r>
            <a:r>
              <a:rPr lang="en-US" sz="2000" dirty="0" err="1" smtClean="0"/>
              <a:t>PMIx</a:t>
            </a:r>
            <a:r>
              <a:rPr lang="en-US" sz="2000" dirty="0" smtClean="0"/>
              <a:t> plugin will be available in the next SLURM major release (15.11.x) at SC 2015.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development timeline</a:t>
            </a:r>
            <a:endParaRPr lang="ru-RU" sz="3300" dirty="0"/>
          </a:p>
        </p:txBody>
      </p:sp>
      <p:graphicFrame>
        <p:nvGraphicFramePr>
          <p:cNvPr id="4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76506"/>
              </p:ext>
            </p:extLst>
          </p:nvPr>
        </p:nvGraphicFramePr>
        <p:xfrm>
          <a:off x="228600" y="2113695"/>
          <a:ext cx="8686801" cy="2536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322"/>
                <a:gridCol w="742451"/>
                <a:gridCol w="714953"/>
                <a:gridCol w="714953"/>
                <a:gridCol w="714953"/>
                <a:gridCol w="714953"/>
                <a:gridCol w="714953"/>
                <a:gridCol w="728702"/>
                <a:gridCol w="728702"/>
                <a:gridCol w="728702"/>
                <a:gridCol w="714955"/>
                <a:gridCol w="701202"/>
              </a:tblGrid>
              <a:tr h="623669">
                <a:tc gridSpan="4">
                  <a:txBody>
                    <a:bodyPr/>
                    <a:lstStyle/>
                    <a:p>
                      <a:pPr algn="ctr"/>
                      <a:r>
                        <a:rPr lang="da-DK" sz="1400" dirty="0" smtClean="0">
                          <a:solidFill>
                            <a:schemeClr val="tx1"/>
                          </a:solidFill>
                        </a:rPr>
                        <a:t>2015</a:t>
                      </a: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a-DK" sz="1400" dirty="0" smtClean="0">
                          <a:solidFill>
                            <a:schemeClr val="tx1"/>
                          </a:solidFill>
                        </a:rPr>
                        <a:t>2016</a:t>
                      </a: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a-DK" sz="1400" dirty="0" smtClean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57600" marR="57600" marT="0" marB="43200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09593"/>
                        </a:gs>
                        <a:gs pos="100000">
                          <a:srgbClr val="00F3F0"/>
                        </a:gs>
                      </a:gsLst>
                      <a:lin ang="16200000" scaled="0"/>
                      <a:tileRect/>
                    </a:gradFill>
                  </a:tcPr>
                </a:tc>
              </a:tr>
              <a:tr h="508081"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Q1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Q2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Q3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Q4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Q1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Q2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Q3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Q4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Q1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Q2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Q3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smtClean="0">
                          <a:solidFill>
                            <a:srgbClr val="000000"/>
                          </a:solidFill>
                        </a:rPr>
                        <a:t>Q4</a:t>
                      </a:r>
                    </a:p>
                    <a:p>
                      <a:pPr algn="ctr"/>
                      <a:endParaRPr lang="da-DK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135019" marR="135019" marT="50633" marB="50633" anchor="ctr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B3"/>
                    </a:solidFill>
                  </a:tcPr>
                </a:tc>
              </a:tr>
              <a:tr h="1385303"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8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135019" marR="135019" marT="50633" marB="50633" anchor="b">
                    <a:lnL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Arrow Connector 5"/>
          <p:cNvCxnSpPr/>
          <p:nvPr/>
        </p:nvCxnSpPr>
        <p:spPr bwMode="auto">
          <a:xfrm flipV="1">
            <a:off x="228600" y="3429001"/>
            <a:ext cx="1981200" cy="60959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Прямоугольник 15"/>
          <p:cNvSpPr/>
          <p:nvPr/>
        </p:nvSpPr>
        <p:spPr bwMode="auto">
          <a:xfrm>
            <a:off x="228600" y="4038600"/>
            <a:ext cx="4114800" cy="1600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73050" marR="0" indent="-273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1.0:</a:t>
            </a:r>
          </a:p>
          <a:p>
            <a:pPr marL="450850" lvl="1" indent="-177800" algn="just">
              <a:buFont typeface="Arial" pitchFamily="34" charset="0"/>
              <a:buChar char="•"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basic feature set;</a:t>
            </a:r>
          </a:p>
          <a:p>
            <a:pPr marL="450850" lvl="1" indent="-177800" algn="just">
              <a:buFont typeface="Arial" pitchFamily="34" charset="0"/>
              <a:buChar char="•"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initial performance optimizations.</a:t>
            </a:r>
          </a:p>
          <a:p>
            <a:pPr marL="273050" marR="0" indent="-273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sz="16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Open MPI integration (already in master).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273050" marR="0" indent="-273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sz="16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SLURM </a:t>
            </a:r>
            <a:r>
              <a:rPr lang="en-US" sz="1600" dirty="0" err="1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lang="en-US" sz="16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</a:t>
            </a:r>
            <a:r>
              <a:rPr lang="en-US" sz="1600" dirty="0" err="1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plugin</a:t>
            </a:r>
            <a:r>
              <a:rPr lang="en-US" sz="16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(15.11.x release)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18" name="Straight Arrow Connector 5"/>
          <p:cNvCxnSpPr/>
          <p:nvPr/>
        </p:nvCxnSpPr>
        <p:spPr bwMode="auto">
          <a:xfrm rot="16200000" flipV="1">
            <a:off x="4457700" y="3467100"/>
            <a:ext cx="685800" cy="457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Прямоугольник 18"/>
          <p:cNvSpPr/>
          <p:nvPr/>
        </p:nvSpPr>
        <p:spPr bwMode="auto">
          <a:xfrm>
            <a:off x="4572000" y="4038600"/>
            <a:ext cx="4343400" cy="2590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73050" marR="0" indent="-273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2.0:</a:t>
            </a:r>
          </a:p>
          <a:p>
            <a:pPr marL="450850" lvl="1" indent="-177800" algn="just">
              <a:buFont typeface="Arial" pitchFamily="34" charset="0"/>
              <a:buChar char="•"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memory footprint improvements;</a:t>
            </a:r>
          </a:p>
          <a:p>
            <a:pPr marL="450850" lvl="1" indent="-177800" algn="just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distributed database storage;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450850" lvl="1" indent="-177800" algn="just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internal collectives implementation and integration with existing collectives libraries (</a:t>
            </a:r>
            <a:r>
              <a:rPr lang="en-US" sz="1600" dirty="0" err="1" smtClean="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Mellanox</a:t>
            </a:r>
            <a:r>
              <a:rPr lang="en-US" sz="1600" dirty="0" smtClean="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HCOLL);</a:t>
            </a:r>
          </a:p>
          <a:p>
            <a:pPr marL="450850" lvl="1" indent="-177800" algn="just">
              <a:buFont typeface="Arial" pitchFamily="34" charset="0"/>
              <a:buChar char="•"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enhanced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RM API.</a:t>
            </a:r>
          </a:p>
          <a:p>
            <a:pPr marL="273050" lvl="1" indent="-273050" algn="just">
              <a:buFont typeface="Wingdings" pitchFamily="2" charset="2"/>
              <a:buChar char="§"/>
            </a:pPr>
            <a:r>
              <a:rPr lang="en-US" sz="1600" dirty="0" smtClean="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Update of Open MPI and SLURM integration.</a:t>
            </a:r>
          </a:p>
          <a:p>
            <a:pPr marL="273050" lvl="1" indent="-273050" algn="just">
              <a:buFont typeface="Wingdings" pitchFamily="2" charset="2"/>
              <a:buChar char="§"/>
            </a:pPr>
            <a:r>
              <a:rPr lang="en-US" sz="1600" dirty="0" smtClean="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LSF and Moab/TORQUE support.</a:t>
            </a:r>
          </a:p>
          <a:p>
            <a:pPr marL="450850" lvl="1" indent="-177800" algn="just"/>
            <a:endParaRPr kumimoji="0" lang="en-US" sz="16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Contribute or Follow Along!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305800" cy="2362200"/>
          </a:xfrm>
        </p:spPr>
        <p:txBody>
          <a:bodyPr/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500" b="1" dirty="0" smtClean="0"/>
              <a:t>Project: </a:t>
            </a:r>
            <a:r>
              <a:rPr lang="en-US" sz="2500" b="1" dirty="0" smtClean="0">
                <a:hlinkClick r:id="rId2"/>
              </a:rPr>
              <a:t>https://www.open-mpi.org/projects/pmix/</a:t>
            </a:r>
            <a:endParaRPr lang="en-US" sz="2500" b="1" dirty="0" smtClean="0"/>
          </a:p>
          <a:p>
            <a:pPr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500" b="1" dirty="0" smtClean="0"/>
              <a:t>Code: </a:t>
            </a:r>
            <a:r>
              <a:rPr lang="en-US" sz="2500" b="1" dirty="0" smtClean="0">
                <a:hlinkClick r:id="rId3"/>
              </a:rPr>
              <a:t>https://github.com/open-mpi/pmix</a:t>
            </a:r>
            <a:endParaRPr lang="en-US" sz="2500" b="1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  <a:buNone/>
            </a:pPr>
            <a:endParaRPr lang="en-US" sz="2500" b="1" dirty="0" smtClean="0">
              <a:solidFill>
                <a:srgbClr val="C00000"/>
              </a:solidFill>
            </a:endParaRPr>
          </a:p>
          <a:p>
            <a:pPr algn="ctr">
              <a:spcBef>
                <a:spcPts val="300"/>
              </a:spcBef>
              <a:buNone/>
            </a:pPr>
            <a:r>
              <a:rPr lang="en-US" sz="2500" b="1" dirty="0" smtClean="0">
                <a:solidFill>
                  <a:srgbClr val="C00000"/>
                </a:solidFill>
              </a:rPr>
              <a:t>Contributions are welcomed!</a:t>
            </a:r>
            <a:endParaRPr lang="en-US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A3DD1-C6E6-D549-AE98-0C27BF3C45B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5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HD:Users:bbarrett:research:ompi:ompi-docs:2006:visits:04-cisco-workshop:ompi-workshop-template.pot</Template>
  <TotalTime>10814</TotalTime>
  <Words>710</Words>
  <Application>Microsoft Office PowerPoint</Application>
  <PresentationFormat>On-screen Show (4:3)</PresentationFormat>
  <Paragraphs>119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ＭＳ Ｐゴシック</vt:lpstr>
      <vt:lpstr>Arial</vt:lpstr>
      <vt:lpstr>Courier New</vt:lpstr>
      <vt:lpstr>Times</vt:lpstr>
      <vt:lpstr>Times New Roman</vt:lpstr>
      <vt:lpstr>Wingdings</vt:lpstr>
      <vt:lpstr>ompi-workshop-template</vt:lpstr>
      <vt:lpstr>PPT_Temp_Corp_4x3_BLK_2007 - Copy</vt:lpstr>
      <vt:lpstr>Exascale Process Management Interface</vt:lpstr>
      <vt:lpstr>PMIx – PMI exascale</vt:lpstr>
      <vt:lpstr>Process Management Interface – PMI</vt:lpstr>
      <vt:lpstr>PMIx – PMI exascale (What and Why)</vt:lpstr>
      <vt:lpstr>PMIx – PMI exascale (Technical Goals)</vt:lpstr>
      <vt:lpstr>PMIx implementation architecture</vt:lpstr>
      <vt:lpstr>PMIx v1.0 features</vt:lpstr>
      <vt:lpstr>PMIx v2.0 features</vt:lpstr>
      <vt:lpstr>SLURM PMIx plugin</vt:lpstr>
      <vt:lpstr>PMIx development timeline</vt:lpstr>
      <vt:lpstr>Contribute or Follow Along!</vt:lpstr>
    </vt:vector>
  </TitlesOfParts>
  <Company>Brian Barrett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 with Build Systems</dc:title>
  <dc:creator>Brian Barrett</dc:creator>
  <cp:lastModifiedBy>Artem Polyakov</cp:lastModifiedBy>
  <cp:revision>385</cp:revision>
  <dcterms:created xsi:type="dcterms:W3CDTF">2009-11-18T17:20:35Z</dcterms:created>
  <dcterms:modified xsi:type="dcterms:W3CDTF">2015-09-10T05:10:09Z</dcterms:modified>
</cp:coreProperties>
</file>