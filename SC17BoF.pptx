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8"/>
  </p:notesMasterIdLst>
  <p:sldIdLst>
    <p:sldId id="258" r:id="rId2"/>
    <p:sldId id="259" r:id="rId3"/>
    <p:sldId id="266" r:id="rId4"/>
    <p:sldId id="260" r:id="rId5"/>
    <p:sldId id="261" r:id="rId6"/>
    <p:sldId id="262" r:id="rId7"/>
    <p:sldId id="263" r:id="rId8"/>
    <p:sldId id="264" r:id="rId9"/>
    <p:sldId id="283" r:id="rId10"/>
    <p:sldId id="276" r:id="rId11"/>
    <p:sldId id="265" r:id="rId12"/>
    <p:sldId id="267" r:id="rId13"/>
    <p:sldId id="285" r:id="rId14"/>
    <p:sldId id="286" r:id="rId15"/>
    <p:sldId id="287" r:id="rId16"/>
    <p:sldId id="288" r:id="rId17"/>
    <p:sldId id="289" r:id="rId18"/>
    <p:sldId id="275" r:id="rId19"/>
    <p:sldId id="271" r:id="rId20"/>
    <p:sldId id="272" r:id="rId21"/>
    <p:sldId id="284" r:id="rId22"/>
    <p:sldId id="273" r:id="rId23"/>
    <p:sldId id="290" r:id="rId24"/>
    <p:sldId id="291" r:id="rId25"/>
    <p:sldId id="292" r:id="rId26"/>
    <p:sldId id="270" r:id="rId27"/>
  </p:sldIdLst>
  <p:sldSz cx="14630400" cy="82296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3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32"/>
    <a:srgbClr val="105567"/>
    <a:srgbClr val="FF8000"/>
    <a:srgbClr val="800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088"/>
    <p:restoredTop sz="94611"/>
  </p:normalViewPr>
  <p:slideViewPr>
    <p:cSldViewPr showGuides="1">
      <p:cViewPr varScale="1">
        <p:scale>
          <a:sx n="68" d="100"/>
          <a:sy n="68" d="100"/>
        </p:scale>
        <p:origin x="232" y="704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B2AFA4-5864-1044-9379-114D0D37BB7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 dirty="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556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623A015-8D9C-0A4E-B2F7-DA5B0282292D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1668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Motivated</a:t>
            </a:r>
            <a:r>
              <a:rPr lang="en-US" baseline="0" dirty="0" smtClean="0"/>
              <a:t> by:</a:t>
            </a:r>
          </a:p>
          <a:p>
            <a:r>
              <a:rPr lang="en-US" baseline="0" dirty="0" smtClean="0"/>
              <a:t> * an increasing number of venders providing </a:t>
            </a:r>
            <a:r>
              <a:rPr lang="en-US" baseline="0" dirty="0" err="1" smtClean="0"/>
              <a:t>PMIx</a:t>
            </a:r>
            <a:r>
              <a:rPr lang="en-US" baseline="0" dirty="0" smtClean="0"/>
              <a:t> </a:t>
            </a:r>
            <a:r>
              <a:rPr lang="mr-IN" baseline="0" dirty="0" smtClean="0"/>
              <a:t>–</a:t>
            </a:r>
            <a:r>
              <a:rPr lang="en-US" baseline="0" dirty="0" smtClean="0"/>
              <a:t> need a reference version to state compliance.</a:t>
            </a:r>
          </a:p>
          <a:p>
            <a:r>
              <a:rPr lang="en-US" dirty="0" smtClean="0"/>
              <a:t> * an increasing number</a:t>
            </a:r>
            <a:r>
              <a:rPr lang="en-US" baseline="0" dirty="0" smtClean="0"/>
              <a:t> of RFC looking for a version to request minimal compliance for new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2AFA4-5864-1044-9379-114D0D37BB70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11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44475" y="2835275"/>
            <a:ext cx="14141450" cy="1554163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097280" y="2926080"/>
            <a:ext cx="1243584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244475" y="7497763"/>
            <a:ext cx="3048000" cy="5492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000"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13125" y="7497763"/>
            <a:ext cx="7804150" cy="5492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000"/>
            </a:lvl1pPr>
          </a:lstStyle>
          <a:p>
            <a:endParaRPr lang="en-US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337925" y="7497763"/>
            <a:ext cx="3048000" cy="5492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chemeClr val="accent1"/>
                </a:solidFill>
              </a:defRPr>
            </a:lvl1pPr>
          </a:lstStyle>
          <a:p>
            <a:fld id="{8A3D4DFA-6881-CE4F-A794-7A15AC7DAD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9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2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27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94560"/>
            <a:ext cx="6522720" cy="5852160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8080" y="2194560"/>
            <a:ext cx="6522720" cy="5852160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4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2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12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102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250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4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98480" y="457200"/>
            <a:ext cx="3322320" cy="758952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457200"/>
            <a:ext cx="9723120" cy="75895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3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57200"/>
            <a:ext cx="1243584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31520" y="2194560"/>
            <a:ext cx="6522720" cy="5852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8080" y="2194560"/>
            <a:ext cx="6522720" cy="5852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9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9925" y="2133600"/>
            <a:ext cx="13290550" cy="585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7" name="Group 2"/>
          <p:cNvGrpSpPr>
            <a:grpSpLocks/>
          </p:cNvGrpSpPr>
          <p:nvPr/>
        </p:nvGrpSpPr>
        <p:grpSpPr bwMode="auto">
          <a:xfrm>
            <a:off x="244475" y="365125"/>
            <a:ext cx="14141450" cy="155575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96963" y="457200"/>
            <a:ext cx="124364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6300">
          <a:solidFill>
            <a:schemeClr val="tx2"/>
          </a:solidFill>
          <a:latin typeface="Arial" pitchFamily="-65" charset="0"/>
        </a:defRPr>
      </a:lvl9pPr>
    </p:titleStyle>
    <p:bodyStyle>
      <a:lvl1pPr marL="488950" indent="-4889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46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1060450" indent="-4079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4000">
          <a:solidFill>
            <a:schemeClr val="tx1"/>
          </a:solidFill>
          <a:latin typeface="+mn-lt"/>
          <a:ea typeface="ＭＳ Ｐゴシック" pitchFamily="-65" charset="-128"/>
        </a:defRPr>
      </a:lvl2pPr>
      <a:lvl3pPr marL="1631950" indent="-325438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3400">
          <a:solidFill>
            <a:schemeClr val="tx1"/>
          </a:solidFill>
          <a:latin typeface="+mn-lt"/>
          <a:ea typeface="ＭＳ Ｐゴシック" pitchFamily="-65" charset="-128"/>
        </a:defRPr>
      </a:lvl3pPr>
      <a:lvl4pPr marL="2284413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2900">
          <a:solidFill>
            <a:schemeClr val="tx1"/>
          </a:solidFill>
          <a:latin typeface="+mn-lt"/>
          <a:ea typeface="ＭＳ Ｐゴシック" pitchFamily="-65" charset="-128"/>
        </a:defRPr>
      </a:lvl4pPr>
      <a:lvl5pPr marL="2938463" indent="-325438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900">
          <a:solidFill>
            <a:schemeClr val="tx1"/>
          </a:solidFill>
          <a:latin typeface="+mn-lt"/>
          <a:ea typeface="ＭＳ Ｐゴシック" pitchFamily="-65" charset="-128"/>
        </a:defRPr>
      </a:lvl5pPr>
      <a:lvl6pPr marL="3592106" indent="-326555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900">
          <a:solidFill>
            <a:schemeClr val="tx1"/>
          </a:solidFill>
          <a:latin typeface="+mn-lt"/>
          <a:ea typeface="ＭＳ Ｐゴシック" pitchFamily="-65" charset="-128"/>
        </a:defRPr>
      </a:lvl6pPr>
      <a:lvl7pPr marL="4245216" indent="-326555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900">
          <a:solidFill>
            <a:schemeClr val="tx1"/>
          </a:solidFill>
          <a:latin typeface="+mn-lt"/>
          <a:ea typeface="ＭＳ Ｐゴシック" pitchFamily="-65" charset="-128"/>
        </a:defRPr>
      </a:lvl7pPr>
      <a:lvl8pPr marL="4898327" indent="-326555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900">
          <a:solidFill>
            <a:schemeClr val="tx1"/>
          </a:solidFill>
          <a:latin typeface="+mn-lt"/>
          <a:ea typeface="ＭＳ Ｐゴシック" pitchFamily="-65" charset="-128"/>
        </a:defRPr>
      </a:lvl8pPr>
      <a:lvl9pPr marL="5551437" indent="-326555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9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145/3127024.3127027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emf"/><Relationship Id="rId3" Type="http://schemas.openxmlformats.org/officeDocument/2006/relationships/image" Target="../media/image6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3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pmix/pmix-standard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s://github.com/pmix/pmix-standard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-standard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-standard" TargetMode="External"/><Relationship Id="rId3" Type="http://schemas.openxmlformats.org/officeDocument/2006/relationships/hyperlink" Target="https://groups.google.com/forum/#!forum/pmix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-standard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-standard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-standard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800" dirty="0">
                <a:latin typeface="Arial" charset="0"/>
                <a:ea typeface="ＭＳ Ｐゴシック" charset="0"/>
                <a:cs typeface="ＭＳ Ｐゴシック" charset="0"/>
              </a:rPr>
              <a:t>PMIx: Process Management for Exascale Environments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0" y="5478881"/>
            <a:ext cx="6573598" cy="247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6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 of the Community</a:t>
            </a:r>
          </a:p>
          <a:p>
            <a:pPr lvl="1"/>
            <a:r>
              <a:rPr lang="en-US" dirty="0" smtClean="0"/>
              <a:t>Ralph H. Castain (Intel)</a:t>
            </a:r>
          </a:p>
          <a:p>
            <a:r>
              <a:rPr lang="en-US" dirty="0" smtClean="0"/>
              <a:t>Scaled Performance</a:t>
            </a:r>
          </a:p>
          <a:p>
            <a:pPr lvl="1"/>
            <a:r>
              <a:rPr lang="en-US" dirty="0" smtClean="0"/>
              <a:t>Aurelien Bouteiller (UTK)</a:t>
            </a:r>
          </a:p>
          <a:p>
            <a:r>
              <a:rPr lang="en-US" dirty="0" smtClean="0"/>
              <a:t>PMIx Standards Document</a:t>
            </a:r>
          </a:p>
          <a:p>
            <a:pPr lvl="1"/>
            <a:r>
              <a:rPr lang="en-US" dirty="0" smtClean="0"/>
              <a:t>Josh Hursey (IBM)</a:t>
            </a:r>
          </a:p>
          <a:p>
            <a:r>
              <a:rPr lang="en-US" dirty="0" smtClean="0"/>
              <a:t>Q&amp;A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3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Three Distinct 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err="1" smtClean="0"/>
              <a:t>PMIx</a:t>
            </a:r>
            <a:r>
              <a:rPr lang="en-US" sz="4000" dirty="0" smtClean="0"/>
              <a:t> Standard</a:t>
            </a:r>
          </a:p>
          <a:p>
            <a:pPr lvl="1"/>
            <a:r>
              <a:rPr lang="en-US" sz="3200" dirty="0" smtClean="0"/>
              <a:t>Defined set of APIs, attribute strings</a:t>
            </a:r>
          </a:p>
          <a:p>
            <a:pPr lvl="1"/>
            <a:r>
              <a:rPr lang="en-US" sz="3200" dirty="0" smtClean="0"/>
              <a:t>Nothing about implementation</a:t>
            </a:r>
          </a:p>
          <a:p>
            <a:r>
              <a:rPr lang="en-US" sz="4000" dirty="0" err="1" smtClean="0"/>
              <a:t>PMIx</a:t>
            </a:r>
            <a:r>
              <a:rPr lang="en-US" sz="4000" dirty="0" smtClean="0"/>
              <a:t> Reference Library</a:t>
            </a:r>
          </a:p>
          <a:p>
            <a:pPr lvl="1"/>
            <a:r>
              <a:rPr lang="en-US" sz="3200" dirty="0" smtClean="0"/>
              <a:t>A full-featured implementation of the Standard</a:t>
            </a:r>
          </a:p>
          <a:p>
            <a:pPr lvl="1"/>
            <a:r>
              <a:rPr lang="en-US" sz="3200" dirty="0" smtClean="0"/>
              <a:t>Intended to ease adoption</a:t>
            </a:r>
          </a:p>
          <a:p>
            <a:r>
              <a:rPr lang="en-US" sz="4000" dirty="0" err="1" smtClean="0"/>
              <a:t>PMIx</a:t>
            </a:r>
            <a:r>
              <a:rPr lang="en-US" sz="4000" dirty="0" smtClean="0"/>
              <a:t> Reference Server</a:t>
            </a:r>
          </a:p>
          <a:p>
            <a:pPr lvl="1"/>
            <a:r>
              <a:rPr lang="en-US" sz="3200" dirty="0" smtClean="0"/>
              <a:t>Full-featured “shim” to a non-</a:t>
            </a:r>
            <a:r>
              <a:rPr lang="en-US" sz="3200" dirty="0" err="1" smtClean="0"/>
              <a:t>PMIx</a:t>
            </a:r>
            <a:r>
              <a:rPr lang="en-US" sz="3200" dirty="0" smtClean="0"/>
              <a:t> RM</a:t>
            </a:r>
          </a:p>
          <a:p>
            <a:pPr lvl="1"/>
            <a:r>
              <a:rPr lang="en-US" sz="3200" dirty="0" smtClean="0"/>
              <a:t>Provides development environment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9677400" y="2590800"/>
            <a:ext cx="2123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</a:rPr>
              <a:t>Standards Doc under development!</a:t>
            </a:r>
          </a:p>
        </p:txBody>
      </p:sp>
    </p:spTree>
    <p:extLst>
      <p:ext uri="{BB962C8B-B14F-4D97-AF65-F5344CB8AC3E}">
        <p14:creationId xmlns:p14="http://schemas.microsoft.com/office/powerpoint/2010/main" val="125209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Are We?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Launch scaling</a:t>
            </a:r>
          </a:p>
          <a:p>
            <a:pPr lvl="1"/>
            <a:r>
              <a:rPr lang="en-US" dirty="0" smtClean="0"/>
              <a:t>Wireup enhancements complete</a:t>
            </a:r>
          </a:p>
          <a:p>
            <a:pPr lvl="1"/>
            <a:r>
              <a:rPr lang="en-US" dirty="0" smtClean="0"/>
              <a:t>Fabric “instant on” enablement underway</a:t>
            </a:r>
          </a:p>
          <a:p>
            <a:r>
              <a:rPr lang="en-US" dirty="0" smtClean="0"/>
              <a:t>Results</a:t>
            </a:r>
          </a:p>
          <a:p>
            <a:pPr lvl="1"/>
            <a:r>
              <a:rPr lang="en-US" dirty="0" smtClean="0"/>
              <a:t>Tracks spawn propagation time</a:t>
            </a:r>
          </a:p>
          <a:p>
            <a:pPr lvl="1"/>
            <a:r>
              <a:rPr lang="en-US" dirty="0" smtClean="0"/>
              <a:t>Exascale in &lt; 5 seconds</a:t>
            </a:r>
          </a:p>
          <a:p>
            <a:pPr lvl="1"/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5800" y="7010400"/>
            <a:ext cx="61316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hlinkClick r:id="rId2"/>
              </a:rPr>
              <a:t> </a:t>
            </a:r>
            <a:r>
              <a:rPr lang="en-US" sz="3200" dirty="0" smtClean="0">
                <a:solidFill>
                  <a:srgbClr val="FF0000"/>
                </a:solidFill>
                <a:hlinkClick r:id="rId2"/>
              </a:rPr>
              <a:t>EuroMPI 2017 Overview Article</a:t>
            </a:r>
            <a:r>
              <a:rPr lang="en-US" sz="3200" dirty="0" smtClean="0">
                <a:solidFill>
                  <a:schemeClr val="bg2"/>
                </a:solidFill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1178" y="7620000"/>
            <a:ext cx="4046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*extended version to be published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1905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PMIx Launch Sequence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08365" y="7541623"/>
            <a:ext cx="449353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*RM daemon, mpirun-daemon, etc.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96" y="2398432"/>
            <a:ext cx="10770889" cy="47505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4227755" y="2398432"/>
            <a:ext cx="2513866" cy="46424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defTabSz="1097280"/>
            <a:endParaRPr lang="en-US" sz="288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671586" y="2398432"/>
            <a:ext cx="2020399" cy="46424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defTabSz="1097280"/>
            <a:endParaRPr lang="en-US" sz="288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363818" y="2560530"/>
            <a:ext cx="4307768" cy="4642448"/>
            <a:chOff x="3779181" y="2133774"/>
            <a:chExt cx="3589807" cy="3868707"/>
          </a:xfrm>
        </p:grpSpPr>
        <p:sp>
          <p:nvSpPr>
            <p:cNvPr id="6" name="Rectangle 5"/>
            <p:cNvSpPr/>
            <p:nvPr/>
          </p:nvSpPr>
          <p:spPr bwMode="auto">
            <a:xfrm>
              <a:off x="4094018" y="2133774"/>
              <a:ext cx="3274970" cy="386870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9728" tIns="54864" rIns="109728" bIns="54864" numCol="1" rtlCol="0" anchor="t" anchorCtr="0" compatLnSpc="1">
              <a:prstTxWarp prst="textNoShape">
                <a:avLst/>
              </a:prstTxWarp>
            </a:bodyPr>
            <a:lstStyle/>
            <a:p>
              <a:pPr defTabSz="1097280"/>
              <a:endParaRPr lang="en-US" sz="288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779181" y="2447365"/>
              <a:ext cx="792819" cy="5647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9728" tIns="54864" rIns="109728" bIns="54864" numCol="1" rtlCol="0" anchor="t" anchorCtr="0" compatLnSpc="1">
              <a:prstTxWarp prst="textNoShape">
                <a:avLst/>
              </a:prstTxWarp>
            </a:bodyPr>
            <a:lstStyle/>
            <a:p>
              <a:pPr defTabSz="1097280"/>
              <a:endParaRPr lang="en-US" sz="288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829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PMIx Launch Sequence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08365" y="7541623"/>
            <a:ext cx="449353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*RM daemon, mpirun-daemon, etc.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1945180" y="2510612"/>
            <a:ext cx="10756670" cy="513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5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Support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040" y="2194560"/>
            <a:ext cx="6522720" cy="5852160"/>
          </a:xfrm>
        </p:spPr>
        <p:txBody>
          <a:bodyPr/>
          <a:lstStyle/>
          <a:p>
            <a:r>
              <a:rPr lang="en-US" sz="3200" dirty="0"/>
              <a:t>Typical startup operations</a:t>
            </a:r>
          </a:p>
          <a:p>
            <a:pPr lvl="1"/>
            <a:r>
              <a:rPr lang="en-US" sz="2800" dirty="0"/>
              <a:t>Put, get, commit, barrier, spawn, [dis]connect, publish/lookup</a:t>
            </a:r>
          </a:p>
          <a:p>
            <a:r>
              <a:rPr lang="en-US" sz="3200" dirty="0"/>
              <a:t>Tool connections</a:t>
            </a:r>
          </a:p>
          <a:p>
            <a:pPr lvl="1"/>
            <a:r>
              <a:rPr lang="en-US" sz="2800" dirty="0"/>
              <a:t>Debugger, job submission, query</a:t>
            </a:r>
          </a:p>
          <a:p>
            <a:r>
              <a:rPr lang="en-US" sz="3200" dirty="0"/>
              <a:t>Generalized query support</a:t>
            </a:r>
          </a:p>
          <a:p>
            <a:pPr lvl="1"/>
            <a:r>
              <a:rPr lang="en-US" sz="2800" dirty="0"/>
              <a:t>Job status, layout, system data, resource availability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7600" y="2194560"/>
            <a:ext cx="6522720" cy="5852160"/>
          </a:xfrm>
        </p:spPr>
        <p:txBody>
          <a:bodyPr/>
          <a:lstStyle/>
          <a:p>
            <a:r>
              <a:rPr lang="en-US" sz="3200" dirty="0"/>
              <a:t>Event notification</a:t>
            </a:r>
          </a:p>
          <a:p>
            <a:pPr lvl="1"/>
            <a:r>
              <a:rPr lang="en-US" sz="2800" dirty="0"/>
              <a:t>App, system generated</a:t>
            </a:r>
          </a:p>
          <a:p>
            <a:pPr lvl="1"/>
            <a:r>
              <a:rPr lang="en-US" sz="2800" dirty="0"/>
              <a:t>Subscribe, chained</a:t>
            </a:r>
          </a:p>
          <a:p>
            <a:pPr lvl="1"/>
            <a:r>
              <a:rPr lang="en-US" sz="2800" dirty="0"/>
              <a:t>Preemption, failures, timeout warning, </a:t>
            </a:r>
            <a:r>
              <a:rPr lang="mr-IN" sz="2800" dirty="0"/>
              <a:t>…</a:t>
            </a:r>
            <a:endParaRPr lang="en-US" sz="2800" dirty="0"/>
          </a:p>
          <a:p>
            <a:r>
              <a:rPr lang="en-US" sz="3200" dirty="0"/>
              <a:t>Logging</a:t>
            </a:r>
          </a:p>
          <a:p>
            <a:pPr lvl="1"/>
            <a:r>
              <a:rPr lang="en-US" sz="2800" dirty="0"/>
              <a:t>Status reports, error output</a:t>
            </a:r>
          </a:p>
          <a:p>
            <a:r>
              <a:rPr lang="en-US" sz="3200" dirty="0"/>
              <a:t>Flexible allocations</a:t>
            </a:r>
          </a:p>
          <a:p>
            <a:pPr lvl="1"/>
            <a:r>
              <a:rPr lang="en-US" sz="2800" dirty="0"/>
              <a:t>Release resources, request resources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51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Current Support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Network support</a:t>
            </a:r>
          </a:p>
          <a:p>
            <a:pPr lvl="1"/>
            <a:r>
              <a:rPr lang="en-US" smtClean="0"/>
              <a:t>Security keys, pre-spawn local driver setup</a:t>
            </a:r>
          </a:p>
          <a:p>
            <a:r>
              <a:rPr lang="en-US" smtClean="0"/>
              <a:t>Obsolescence protection</a:t>
            </a:r>
          </a:p>
          <a:p>
            <a:pPr lvl="1"/>
            <a:r>
              <a:rPr lang="en-US" smtClean="0"/>
              <a:t>Automatic cross-version compatibility</a:t>
            </a:r>
          </a:p>
          <a:p>
            <a:pPr lvl="1"/>
            <a:r>
              <a:rPr lang="en-US" smtClean="0"/>
              <a:t>Container support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Job control</a:t>
            </a:r>
          </a:p>
          <a:p>
            <a:pPr lvl="1"/>
            <a:r>
              <a:rPr lang="en-US" smtClean="0"/>
              <a:t>Pause, kill, signal, heartbeat, resilience support (C/R coordination)</a:t>
            </a:r>
          </a:p>
          <a:p>
            <a:r>
              <a:rPr lang="en-US" smtClean="0"/>
              <a:t>Async definition of process groups</a:t>
            </a:r>
          </a:p>
          <a:p>
            <a:pPr lvl="1"/>
            <a:r>
              <a:rPr lang="en-US" smtClean="0"/>
              <a:t>Rolling startup/teardown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1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60"/>
            <a:ext cx="11614161" cy="8207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400" y="6553200"/>
            <a:ext cx="36471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Courtesy of:</a:t>
            </a:r>
          </a:p>
          <a:p>
            <a:r>
              <a:rPr lang="es-ES" sz="1800" dirty="0">
                <a:solidFill>
                  <a:srgbClr val="19317B"/>
                </a:solidFill>
              </a:rPr>
              <a:t>Víctor </a:t>
            </a:r>
            <a:r>
              <a:rPr lang="es-ES" sz="1800" dirty="0" err="1">
                <a:solidFill>
                  <a:srgbClr val="19317B"/>
                </a:solidFill>
              </a:rPr>
              <a:t>Sande</a:t>
            </a:r>
            <a:r>
              <a:rPr lang="es-ES" sz="1800" dirty="0">
                <a:solidFill>
                  <a:srgbClr val="19317B"/>
                </a:solidFill>
              </a:rPr>
              <a:t> </a:t>
            </a:r>
            <a:r>
              <a:rPr lang="es-ES" sz="1800" dirty="0" err="1">
                <a:solidFill>
                  <a:srgbClr val="19317B"/>
                </a:solidFill>
              </a:rPr>
              <a:t>Veiga</a:t>
            </a:r>
            <a:endParaRPr lang="en" sz="1800" dirty="0">
              <a:solidFill>
                <a:srgbClr val="19317B"/>
              </a:solidFill>
            </a:endParaRPr>
          </a:p>
          <a:p>
            <a:r>
              <a:rPr lang="es-ES" sz="1800" i="1" dirty="0" err="1">
                <a:solidFill>
                  <a:srgbClr val="19317B"/>
                </a:solidFill>
              </a:rPr>
              <a:t>Supercomputing</a:t>
            </a:r>
            <a:r>
              <a:rPr lang="es-ES" sz="1800" i="1" dirty="0">
                <a:solidFill>
                  <a:srgbClr val="19317B"/>
                </a:solidFill>
              </a:rPr>
              <a:t> Center of Galicia</a:t>
            </a:r>
            <a:endParaRPr lang="en" sz="1800" i="1" dirty="0">
              <a:solidFill>
                <a:srgbClr val="19317B"/>
              </a:solidFill>
            </a:endParaRPr>
          </a:p>
          <a:p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10736518" y="4267200"/>
            <a:ext cx="30799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solidFill>
                  <a:schemeClr val="accent5">
                    <a:lumMod val="50000"/>
                  </a:schemeClr>
                </a:solidFill>
              </a:rPr>
              <a:t>Should be all</a:t>
            </a:r>
            <a:r>
              <a:rPr lang="en-US" sz="3200" i="1" dirty="0" smtClean="0"/>
              <a:t> </a:t>
            </a:r>
            <a:r>
              <a:rPr lang="es-ES" sz="3200" dirty="0" smtClean="0">
                <a:solidFill>
                  <a:srgbClr val="00B050"/>
                </a:solidFill>
                <a:sym typeface="Wingdings"/>
              </a:rPr>
              <a:t></a:t>
            </a:r>
          </a:p>
          <a:p>
            <a:r>
              <a:rPr lang="en-US" sz="3200" i="1" dirty="0" smtClean="0">
                <a:solidFill>
                  <a:schemeClr val="accent5">
                    <a:lumMod val="50000"/>
                  </a:schemeClr>
                </a:solidFill>
              </a:rPr>
              <a:t>going forward</a:t>
            </a:r>
            <a:endParaRPr lang="en-US" sz="3200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05200" y="3257490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</a:rPr>
              <a:t>1.2.5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53000" y="3257490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</a:rPr>
              <a:t>1.2.5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8400" y="3257490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>
                <a:solidFill>
                  <a:srgbClr val="FFFF00"/>
                </a:solidFill>
              </a:rPr>
              <a:t>1.2.5</a:t>
            </a:r>
            <a:endParaRPr lang="en-US" sz="2000">
              <a:solidFill>
                <a:srgbClr val="FFFF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3276600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>
                <a:solidFill>
                  <a:srgbClr val="FFFF00"/>
                </a:solidFill>
              </a:rPr>
              <a:t>1.2.5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84467" y="327660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</a:rPr>
              <a:t>2.1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81957" y="3276600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/>
              <a:t>PMIX version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1102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charset="-128"/>
              </a:rPr>
              <a:t>Cross-Version Interoperability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 smtClean="0">
                <a:ea typeface="ＭＳ Ｐゴシック" charset="-128"/>
              </a:rPr>
              <a:t>PMIx</a:t>
            </a:r>
            <a:r>
              <a:rPr lang="en-US" altLang="en-US" dirty="0" smtClean="0">
                <a:ea typeface="ＭＳ Ｐゴシック" charset="-128"/>
              </a:rPr>
              <a:t> v1.1.5</a:t>
            </a:r>
          </a:p>
          <a:p>
            <a:r>
              <a:rPr lang="en-US" altLang="en-US" dirty="0" err="1" smtClean="0">
                <a:ea typeface="ＭＳ Ｐゴシック" charset="-128"/>
              </a:rPr>
              <a:t>PMIx</a:t>
            </a:r>
            <a:r>
              <a:rPr lang="en-US" altLang="en-US" dirty="0" smtClean="0">
                <a:ea typeface="ＭＳ Ｐゴシック" charset="-128"/>
              </a:rPr>
              <a:t> v1.2.5</a:t>
            </a:r>
            <a:r>
              <a:rPr lang="en-US" altLang="en-US" baseline="30000" dirty="0" smtClean="0">
                <a:ea typeface="ＭＳ Ｐゴシック" charset="-128"/>
              </a:rPr>
              <a:t>+</a:t>
            </a:r>
          </a:p>
          <a:p>
            <a:r>
              <a:rPr lang="en-US" altLang="en-US" dirty="0" err="1" smtClean="0">
                <a:ea typeface="ＭＳ Ｐゴシック" charset="-128"/>
              </a:rPr>
              <a:t>PMIx</a:t>
            </a:r>
            <a:r>
              <a:rPr lang="en-US" altLang="en-US" dirty="0" smtClean="0">
                <a:ea typeface="ＭＳ Ｐゴシック" charset="-128"/>
              </a:rPr>
              <a:t> v2.0.3</a:t>
            </a:r>
            <a:r>
              <a:rPr lang="en-US" altLang="en-US" baseline="30000" dirty="0" smtClean="0">
                <a:ea typeface="ＭＳ Ｐゴシック" charset="-128"/>
              </a:rPr>
              <a:t>+</a:t>
            </a:r>
            <a:endParaRPr lang="en-US" altLang="en-US" dirty="0" smtClean="0">
              <a:ea typeface="ＭＳ Ｐゴシック" charset="-128"/>
            </a:endParaRPr>
          </a:p>
          <a:p>
            <a:r>
              <a:rPr lang="en-US" altLang="en-US" dirty="0" err="1" smtClean="0">
                <a:ea typeface="ＭＳ Ｐゴシック" charset="-128"/>
              </a:rPr>
              <a:t>PMIx</a:t>
            </a:r>
            <a:r>
              <a:rPr lang="en-US" altLang="en-US" dirty="0" smtClean="0">
                <a:ea typeface="ＭＳ Ｐゴシック" charset="-128"/>
              </a:rPr>
              <a:t> v2.1.x</a:t>
            </a:r>
            <a:endParaRPr lang="en-US" altLang="en-US" baseline="30000" dirty="0" smtClean="0">
              <a:ea typeface="ＭＳ Ｐゴシック" charset="-128"/>
            </a:endParaRPr>
          </a:p>
          <a:p>
            <a:r>
              <a:rPr lang="en-US" altLang="en-US" dirty="0" err="1" smtClean="0">
                <a:ea typeface="ＭＳ Ｐゴシック" charset="-128"/>
              </a:rPr>
              <a:t>PMIx</a:t>
            </a:r>
            <a:r>
              <a:rPr lang="en-US" altLang="en-US" dirty="0" smtClean="0">
                <a:ea typeface="ＭＳ Ｐゴシック" charset="-128"/>
              </a:rPr>
              <a:t> v3.0.x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97669" y="4792256"/>
            <a:ext cx="35958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i="1" dirty="0" smtClean="0">
                <a:solidFill>
                  <a:srgbClr val="FF0000"/>
                </a:solidFill>
              </a:rPr>
              <a:t>Any client/server</a:t>
            </a:r>
          </a:p>
          <a:p>
            <a:pPr algn="ctr"/>
            <a:r>
              <a:rPr lang="en-US" sz="3600" i="1" dirty="0" smtClean="0">
                <a:solidFill>
                  <a:srgbClr val="FF0000"/>
                </a:solidFill>
              </a:rPr>
              <a:t>combination</a:t>
            </a:r>
            <a:endParaRPr lang="en-US" sz="3600" i="1" dirty="0">
              <a:solidFill>
                <a:srgbClr val="FF0000"/>
              </a:solidFill>
            </a:endParaRPr>
          </a:p>
        </p:txBody>
      </p:sp>
      <p:sp>
        <p:nvSpPr>
          <p:cNvPr id="3" name="Down Arrow 2"/>
          <p:cNvSpPr/>
          <p:nvPr/>
        </p:nvSpPr>
        <p:spPr bwMode="auto">
          <a:xfrm>
            <a:off x="4876800" y="3200400"/>
            <a:ext cx="484632" cy="28956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33400" y="4648200"/>
            <a:ext cx="111252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867400" y="3572471"/>
            <a:ext cx="345639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chemeClr val="accent5">
                    <a:lumMod val="50000"/>
                  </a:schemeClr>
                </a:solidFill>
              </a:rPr>
              <a:t>Server &gt;= Client 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accent1"/>
                </a:solidFill>
              </a:rPr>
              <a:t>Network support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Fabric topology and status, traffic reports, fabric manager interaction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MPI Sessions support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Rolling startup/teardown</a:t>
            </a:r>
          </a:p>
          <a:p>
            <a:r>
              <a:rPr lang="en-US" sz="2800" dirty="0" smtClean="0">
                <a:solidFill>
                  <a:srgbClr val="00B050"/>
                </a:solidFill>
              </a:rPr>
              <a:t>Generalized data store</a:t>
            </a:r>
          </a:p>
          <a:p>
            <a:pPr lvl="1"/>
            <a:r>
              <a:rPr lang="en-US" sz="2400" dirty="0" smtClean="0">
                <a:solidFill>
                  <a:srgbClr val="00B050"/>
                </a:solidFill>
              </a:rPr>
              <a:t>Distributed key-value storage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Security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Obtain and validate credentials for application/SMS</a:t>
            </a:r>
          </a:p>
          <a:p>
            <a:r>
              <a:rPr lang="en-US" sz="3000" dirty="0">
                <a:solidFill>
                  <a:schemeClr val="accent1"/>
                </a:solidFill>
              </a:rPr>
              <a:t>Power </a:t>
            </a:r>
            <a:r>
              <a:rPr lang="en-US" sz="3000" dirty="0" smtClean="0">
                <a:solidFill>
                  <a:schemeClr val="accent1"/>
                </a:solidFill>
              </a:rPr>
              <a:t>directives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2359" y="2194560"/>
            <a:ext cx="5253446" cy="5852160"/>
          </a:xfrm>
        </p:spPr>
        <p:txBody>
          <a:bodyPr/>
          <a:lstStyle/>
          <a:p>
            <a:r>
              <a:rPr lang="en-US" sz="2800" smtClean="0">
                <a:solidFill>
                  <a:schemeClr val="accent1"/>
                </a:solidFill>
              </a:rPr>
              <a:t>File system support</a:t>
            </a:r>
          </a:p>
          <a:p>
            <a:pPr lvl="1"/>
            <a:r>
              <a:rPr lang="en-US" sz="2400" smtClean="0">
                <a:solidFill>
                  <a:schemeClr val="accent1"/>
                </a:solidFill>
              </a:rPr>
              <a:t>Dependency detection</a:t>
            </a:r>
          </a:p>
          <a:p>
            <a:pPr lvl="1"/>
            <a:r>
              <a:rPr lang="en-US" sz="2400" smtClean="0">
                <a:solidFill>
                  <a:schemeClr val="accent1"/>
                </a:solidFill>
              </a:rPr>
              <a:t>Tiered storage caching strategies</a:t>
            </a:r>
            <a:endParaRPr lang="en-US" sz="2800" smtClean="0">
              <a:solidFill>
                <a:schemeClr val="accent1"/>
              </a:solidFill>
            </a:endParaRPr>
          </a:p>
          <a:p>
            <a:r>
              <a:rPr lang="en-US" sz="2800" smtClean="0">
                <a:solidFill>
                  <a:srgbClr val="FF0000"/>
                </a:solidFill>
              </a:rPr>
              <a:t>Debugger/tool support</a:t>
            </a:r>
            <a:r>
              <a:rPr lang="en-US" sz="2800" baseline="30000" smtClean="0">
                <a:solidFill>
                  <a:srgbClr val="FF0000"/>
                </a:solidFill>
              </a:rPr>
              <a:t>++</a:t>
            </a:r>
          </a:p>
          <a:p>
            <a:pPr lvl="1"/>
            <a:r>
              <a:rPr lang="en-US" sz="2400" smtClean="0">
                <a:solidFill>
                  <a:srgbClr val="FF0000"/>
                </a:solidFill>
              </a:rPr>
              <a:t>Automatic rendezvous</a:t>
            </a:r>
          </a:p>
          <a:p>
            <a:pPr lvl="1"/>
            <a:r>
              <a:rPr lang="en-US" sz="2400" smtClean="0">
                <a:solidFill>
                  <a:srgbClr val="FF0000"/>
                </a:solidFill>
              </a:rPr>
              <a:t>Single interface to all launchers</a:t>
            </a:r>
          </a:p>
          <a:p>
            <a:pPr lvl="1"/>
            <a:r>
              <a:rPr lang="en-US" sz="2400" smtClean="0">
                <a:solidFill>
                  <a:srgbClr val="FF0000"/>
                </a:solidFill>
              </a:rPr>
              <a:t>Co-launch daemons</a:t>
            </a:r>
          </a:p>
          <a:p>
            <a:pPr lvl="1"/>
            <a:r>
              <a:rPr lang="en-US" sz="2400" smtClean="0">
                <a:solidFill>
                  <a:schemeClr val="accent1"/>
                </a:solidFill>
              </a:rPr>
              <a:t>Access fabric info, etc.</a:t>
            </a:r>
          </a:p>
          <a:p>
            <a:r>
              <a:rPr lang="en-US" sz="2800" smtClean="0">
                <a:solidFill>
                  <a:schemeClr val="accent1"/>
                </a:solidFill>
              </a:rPr>
              <a:t>Cross-library interoperation</a:t>
            </a:r>
          </a:p>
          <a:p>
            <a:pPr lvl="1"/>
            <a:r>
              <a:rPr lang="en-US" sz="2400" smtClean="0">
                <a:solidFill>
                  <a:schemeClr val="accent1"/>
                </a:solidFill>
              </a:rPr>
              <a:t>OpenMP/MPI coordination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67080" y="7669983"/>
            <a:ext cx="155051" cy="190831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defTabSz="1097280"/>
            <a:endParaRPr lang="en-US" sz="2880" dirty="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2130" y="7543800"/>
            <a:ext cx="256833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Nearing completion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648268" y="7669983"/>
            <a:ext cx="155051" cy="19083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defTabSz="1097280"/>
            <a:endParaRPr lang="en-US" sz="2880" dirty="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3318" y="7543800"/>
            <a:ext cx="167706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Ramping up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5822239" y="7669983"/>
            <a:ext cx="172122" cy="190831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defTabSz="1097280"/>
            <a:endParaRPr lang="en-US" sz="288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3871" y="7543800"/>
            <a:ext cx="84510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/>
              <a:t>Idling</a:t>
            </a:r>
          </a:p>
        </p:txBody>
      </p:sp>
    </p:spTree>
    <p:extLst>
      <p:ext uri="{BB962C8B-B14F-4D97-AF65-F5344CB8AC3E}">
        <p14:creationId xmlns:p14="http://schemas.microsoft.com/office/powerpoint/2010/main" val="20642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RMs</a:t>
            </a:r>
          </a:p>
          <a:p>
            <a:pPr lvl="1"/>
            <a:r>
              <a:rPr lang="en-US" sz="3200" dirty="0" smtClean="0"/>
              <a:t>SLURM, IBM’s Job Step Manager (JSM) complete</a:t>
            </a:r>
          </a:p>
          <a:p>
            <a:pPr lvl="1"/>
            <a:r>
              <a:rPr lang="en-US" sz="3200" dirty="0" smtClean="0"/>
              <a:t>Fujitsu underway, Altair ramping up</a:t>
            </a:r>
          </a:p>
          <a:p>
            <a:r>
              <a:rPr lang="en-US" sz="4000" dirty="0" smtClean="0"/>
              <a:t>Libraries</a:t>
            </a:r>
          </a:p>
          <a:p>
            <a:pPr lvl="1"/>
            <a:r>
              <a:rPr lang="en-US" sz="3200" dirty="0" smtClean="0"/>
              <a:t>Open MPI, OSHMEM, SOS complete</a:t>
            </a:r>
          </a:p>
          <a:p>
            <a:pPr lvl="1"/>
            <a:r>
              <a:rPr lang="en-US" sz="3200" dirty="0" err="1" smtClean="0"/>
              <a:t>GASNet</a:t>
            </a:r>
            <a:r>
              <a:rPr lang="en-US" sz="3200" dirty="0" smtClean="0"/>
              <a:t>, </a:t>
            </a:r>
            <a:r>
              <a:rPr lang="en-US" sz="3200" dirty="0" err="1" smtClean="0"/>
              <a:t>ORNLshmem</a:t>
            </a:r>
            <a:r>
              <a:rPr lang="en-US" sz="3200" dirty="0" smtClean="0"/>
              <a:t> </a:t>
            </a:r>
            <a:r>
              <a:rPr lang="mr-IN" sz="3200" dirty="0" smtClean="0"/>
              <a:t>–</a:t>
            </a:r>
            <a:r>
              <a:rPr lang="en-US" sz="3200" dirty="0" smtClean="0"/>
              <a:t> in PR</a:t>
            </a:r>
          </a:p>
          <a:p>
            <a:pPr lvl="1"/>
            <a:r>
              <a:rPr lang="en-US" sz="3200" dirty="0" smtClean="0"/>
              <a:t>MPICH to come (1H2018?)</a:t>
            </a:r>
          </a:p>
          <a:p>
            <a:r>
              <a:rPr lang="en-US" sz="4000" dirty="0" smtClean="0"/>
              <a:t>Tools</a:t>
            </a:r>
          </a:p>
          <a:p>
            <a:pPr lvl="1"/>
            <a:r>
              <a:rPr lang="en-US" sz="3200" dirty="0" smtClean="0"/>
              <a:t>Debugger integration under development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8617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Aurelien</a:t>
            </a:r>
            <a:r>
              <a:rPr lang="en-US" dirty="0" smtClean="0"/>
              <a:t> </a:t>
            </a:r>
            <a:r>
              <a:rPr lang="en-US" dirty="0" err="1" smtClean="0"/>
              <a:t>Bouteiller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Scalable Performance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5562600"/>
            <a:ext cx="2755993" cy="17809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751" y="5820410"/>
            <a:ext cx="41529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0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Launch Early Results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0"/>
            <a:ext cx="6553200" cy="575388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Comparing launch sequence of Open MPI with </a:t>
            </a:r>
            <a:r>
              <a:rPr lang="en-US" dirty="0" err="1" smtClean="0"/>
              <a:t>pmix</a:t>
            </a:r>
            <a:r>
              <a:rPr lang="en-US" dirty="0" smtClean="0"/>
              <a:t> vs </a:t>
            </a:r>
            <a:r>
              <a:rPr lang="en-US" dirty="0" err="1" smtClean="0"/>
              <a:t>aprun</a:t>
            </a:r>
            <a:endParaRPr lang="en-US" dirty="0" smtClean="0"/>
          </a:p>
          <a:p>
            <a:r>
              <a:rPr lang="en-US" dirty="0" smtClean="0"/>
              <a:t>ORNL Titan (Cray XK)</a:t>
            </a:r>
          </a:p>
          <a:p>
            <a:r>
              <a:rPr lang="en-US" dirty="0" smtClean="0"/>
              <a:t>16 procs/node (8k ranks max)</a:t>
            </a:r>
          </a:p>
          <a:p>
            <a:r>
              <a:rPr lang="en-US" dirty="0" smtClean="0"/>
              <a:t>4x speedup vs </a:t>
            </a:r>
            <a:r>
              <a:rPr lang="en-US" dirty="0" err="1" smtClean="0"/>
              <a:t>aprun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829" y="2438400"/>
            <a:ext cx="8323571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0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Launch Early Results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84570"/>
            <a:ext cx="9220200" cy="2159230"/>
          </a:xfrm>
        </p:spPr>
        <p:txBody>
          <a:bodyPr numCol="2">
            <a:normAutofit fontScale="6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dirty="0" smtClean="0"/>
              <a:t>MPI processes startup sequence: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dirty="0" err="1" smtClean="0"/>
              <a:t>Modex</a:t>
            </a:r>
            <a:r>
              <a:rPr lang="en-US" dirty="0" smtClean="0"/>
              <a:t> Exchange (business card and NIC info)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dirty="0" smtClean="0"/>
              <a:t>Fence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dirty="0" err="1" smtClean="0"/>
              <a:t>PMIx</a:t>
            </a:r>
            <a:r>
              <a:rPr lang="en-US" dirty="0" smtClean="0"/>
              <a:t> MPI processes startup sequence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dirty="0" smtClean="0"/>
              <a:t>No </a:t>
            </a:r>
            <a:r>
              <a:rPr lang="en-US" dirty="0" err="1" smtClean="0"/>
              <a:t>Modex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PMIx</a:t>
            </a:r>
            <a:r>
              <a:rPr lang="en-US" dirty="0" smtClean="0"/>
              <a:t> provides business cards info from local RM)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dirty="0" smtClean="0"/>
              <a:t>Fence unnecessary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438400"/>
            <a:ext cx="4800600" cy="32306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304800" y="2133600"/>
            <a:ext cx="7010400" cy="3345646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 flipV="1">
            <a:off x="12801600" y="4953000"/>
            <a:ext cx="381000" cy="12192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210800" y="6096000"/>
            <a:ext cx="426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In this experiment, </a:t>
            </a:r>
          </a:p>
          <a:p>
            <a:pPr marL="995363" lvl="1" indent="-342900">
              <a:buFont typeface="Arial" charset="0"/>
              <a:buChar char="•"/>
            </a:pPr>
            <a:r>
              <a:rPr lang="en-US" sz="2000" dirty="0" err="1" smtClean="0"/>
              <a:t>MPI_Init</a:t>
            </a:r>
            <a:r>
              <a:rPr lang="en-US" sz="2000" dirty="0" smtClean="0"/>
              <a:t> fence is still present</a:t>
            </a:r>
          </a:p>
          <a:p>
            <a:pPr marL="995363" lvl="1" indent="-342900">
              <a:buFont typeface="Arial" charset="0"/>
              <a:buChar char="•"/>
            </a:pPr>
            <a:r>
              <a:rPr lang="en-US" sz="2000" dirty="0" err="1" smtClean="0"/>
              <a:t>uGNI</a:t>
            </a:r>
            <a:r>
              <a:rPr lang="en-US" sz="2000" dirty="0" smtClean="0"/>
              <a:t> driver startup adds a significant latency (not present with e.g. EDR IB)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119270" y="7534722"/>
            <a:ext cx="1036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3512" indent="0"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sz="1800" b="1" kern="0" dirty="0" err="1" smtClean="0">
                <a:latin typeface="Source Code Pro" charset="0"/>
                <a:ea typeface="Source Code Pro" charset="0"/>
                <a:cs typeface="Source Code Pro" charset="0"/>
              </a:rPr>
              <a:t>prun</a:t>
            </a:r>
            <a:r>
              <a:rPr lang="en-US" sz="1800" b="1" kern="0" dirty="0" smtClean="0">
                <a:latin typeface="Source Code Pro" charset="0"/>
                <a:ea typeface="Source Code Pro" charset="0"/>
                <a:cs typeface="Source Code Pro" charset="0"/>
              </a:rPr>
              <a:t> --</a:t>
            </a:r>
            <a:r>
              <a:rPr lang="en-US" sz="1800" b="1" kern="0" dirty="0" err="1">
                <a:latin typeface="Source Code Pro" charset="0"/>
                <a:ea typeface="Source Code Pro" charset="0"/>
                <a:cs typeface="Source Code Pro" charset="0"/>
              </a:rPr>
              <a:t>npernode</a:t>
            </a:r>
            <a:r>
              <a:rPr lang="en-US" sz="1800" b="1" kern="0" dirty="0">
                <a:latin typeface="Source Code Pro" charset="0"/>
                <a:ea typeface="Source Code Pro" charset="0"/>
                <a:cs typeface="Source Code Pro" charset="0"/>
              </a:rPr>
              <a:t> 16 -</a:t>
            </a:r>
            <a:r>
              <a:rPr lang="en-US" sz="1800" b="1" kern="0" dirty="0" err="1">
                <a:latin typeface="Source Code Pro" charset="0"/>
                <a:ea typeface="Source Code Pro" charset="0"/>
                <a:cs typeface="Source Code Pro" charset="0"/>
              </a:rPr>
              <a:t>mca</a:t>
            </a:r>
            <a:r>
              <a:rPr lang="en-US" sz="1800" b="1" kern="0" dirty="0">
                <a:latin typeface="Source Code Pro" charset="0"/>
                <a:ea typeface="Source Code Pro" charset="0"/>
                <a:cs typeface="Source Code Pro" charset="0"/>
              </a:rPr>
              <a:t> </a:t>
            </a:r>
            <a:r>
              <a:rPr lang="en-US" sz="1800" b="1" kern="0" dirty="0" err="1">
                <a:latin typeface="Source Code Pro" charset="0"/>
                <a:ea typeface="Source Code Pro" charset="0"/>
                <a:cs typeface="Source Code Pro" charset="0"/>
              </a:rPr>
              <a:t>pmix_base_async_modex</a:t>
            </a:r>
            <a:r>
              <a:rPr lang="en-US" sz="1800" b="1" kern="0" dirty="0">
                <a:latin typeface="Source Code Pro" charset="0"/>
                <a:ea typeface="Source Code Pro" charset="0"/>
                <a:cs typeface="Source Code Pro" charset="0"/>
              </a:rPr>
              <a:t> </a:t>
            </a:r>
            <a:r>
              <a:rPr lang="en-US" sz="1800" b="1" kern="0" dirty="0" smtClean="0">
                <a:latin typeface="Source Code Pro" charset="0"/>
                <a:ea typeface="Source Code Pro" charset="0"/>
                <a:cs typeface="Source Code Pro" charset="0"/>
              </a:rPr>
              <a:t>1 </a:t>
            </a:r>
            <a:r>
              <a:rPr lang="mr-IN" sz="1800" b="1" kern="0" dirty="0" smtClean="0">
                <a:latin typeface="Source Code Pro" charset="0"/>
                <a:ea typeface="Source Code Pro" charset="0"/>
                <a:cs typeface="Source Code Pro" charset="0"/>
              </a:rPr>
              <a:t>–</a:t>
            </a:r>
            <a:r>
              <a:rPr lang="en-US" sz="1800" b="1" kern="0" dirty="0" err="1" smtClean="0">
                <a:latin typeface="Source Code Pro" charset="0"/>
                <a:ea typeface="Source Code Pro" charset="0"/>
                <a:cs typeface="Source Code Pro" charset="0"/>
              </a:rPr>
              <a:t>mca</a:t>
            </a:r>
            <a:r>
              <a:rPr lang="en-US" sz="1800" b="1" kern="0" dirty="0" smtClean="0">
                <a:latin typeface="Source Code Pro" charset="0"/>
                <a:ea typeface="Source Code Pro" charset="0"/>
                <a:cs typeface="Source Code Pro" charset="0"/>
              </a:rPr>
              <a:t> </a:t>
            </a:r>
            <a:r>
              <a:rPr lang="en-US" sz="1800" b="1" kern="0" dirty="0" err="1" smtClean="0">
                <a:latin typeface="Source Code Pro" charset="0"/>
                <a:ea typeface="Source Code Pro" charset="0"/>
                <a:cs typeface="Source Code Pro" charset="0"/>
              </a:rPr>
              <a:t>pmix_base_collect_data</a:t>
            </a:r>
            <a:r>
              <a:rPr lang="en-US" sz="1800" b="1" kern="0" smtClean="0">
                <a:latin typeface="Source Code Pro" charset="0"/>
                <a:ea typeface="Source Code Pro" charset="0"/>
                <a:cs typeface="Source Code Pro" charset="0"/>
              </a:rPr>
              <a:t> 0 -n </a:t>
            </a:r>
            <a:r>
              <a:rPr lang="en-US" sz="1800" b="1" kern="0" dirty="0">
                <a:latin typeface="Source Code Pro" charset="0"/>
                <a:ea typeface="Source Code Pro" charset="0"/>
                <a:cs typeface="Source Code Pro" charset="0"/>
              </a:rPr>
              <a:t>512*16 ./</a:t>
            </a:r>
            <a:r>
              <a:rPr lang="en-US" sz="1800" b="1" kern="0" dirty="0" err="1">
                <a:latin typeface="Source Code Pro" charset="0"/>
                <a:ea typeface="Source Code Pro" charset="0"/>
                <a:cs typeface="Source Code Pro" charset="0"/>
              </a:rPr>
              <a:t>mpi_no_op</a:t>
            </a:r>
            <a:endParaRPr lang="en-US" sz="1800" b="1" kern="0" dirty="0">
              <a:latin typeface="Source Code Pro" charset="0"/>
              <a:ea typeface="Source Code Pro" charset="0"/>
              <a:cs typeface="Source Code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76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04 -0.05555 L -0.36762 -0.0462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29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Launch Early Results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2438400"/>
            <a:ext cx="4800600" cy="323064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 flipV="1">
            <a:off x="12801600" y="4953000"/>
            <a:ext cx="381000" cy="12192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210800" y="6096000"/>
            <a:ext cx="426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In this experiment, </a:t>
            </a:r>
          </a:p>
          <a:p>
            <a:pPr marL="995363" lvl="1" indent="-342900">
              <a:buFont typeface="Arial" charset="0"/>
              <a:buChar char="•"/>
            </a:pPr>
            <a:r>
              <a:rPr lang="en-US" sz="2000" dirty="0" err="1" smtClean="0"/>
              <a:t>MPI_Init</a:t>
            </a:r>
            <a:r>
              <a:rPr lang="en-US" sz="2000" dirty="0" smtClean="0"/>
              <a:t> fence is still present</a:t>
            </a:r>
          </a:p>
          <a:p>
            <a:pPr marL="995363" lvl="1" indent="-342900">
              <a:buFont typeface="Arial" charset="0"/>
              <a:buChar char="•"/>
            </a:pPr>
            <a:r>
              <a:rPr lang="en-US" sz="2000" dirty="0" err="1" smtClean="0"/>
              <a:t>uGNI</a:t>
            </a:r>
            <a:r>
              <a:rPr lang="en-US" sz="2000" dirty="0" smtClean="0"/>
              <a:t> driver startup adds a significant latency (not present with e.g. EDR IB)</a:t>
            </a:r>
            <a:endParaRPr lang="en-US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2400" y="2425148"/>
            <a:ext cx="9677400" cy="5423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  <a:normAutofit fontScale="92500"/>
          </a:bodyPr>
          <a:lstStyle>
            <a:lvl1pPr marL="488950" indent="-4889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20000"/>
              <a:buFont typeface="Arial" charset="0"/>
              <a:buChar char="•"/>
              <a:defRPr sz="4600">
                <a:solidFill>
                  <a:schemeClr val="tx1"/>
                </a:solidFill>
                <a:latin typeface="+mn-lt"/>
                <a:ea typeface="ＭＳ Ｐゴシック" pitchFamily="-110" charset="-128"/>
                <a:cs typeface="ＭＳ Ｐゴシック" pitchFamily="-110" charset="-128"/>
              </a:defRPr>
            </a:lvl1pPr>
            <a:lvl2pPr marL="1060450" indent="-4079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sz="4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631950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charset="0"/>
              <a:buChar char="•"/>
              <a:defRPr sz="3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2284413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sz="29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2938463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charset="0"/>
              <a:buChar char="•"/>
              <a:defRPr sz="29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3592106" indent="-32655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-65" charset="0"/>
              <a:buChar char="•"/>
              <a:defRPr sz="29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4245216" indent="-32655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-65" charset="0"/>
              <a:buChar char="•"/>
              <a:defRPr sz="29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4898327" indent="-32655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-65" charset="0"/>
              <a:buChar char="•"/>
              <a:defRPr sz="29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5551437" indent="-32655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Arial" pitchFamily="-65" charset="0"/>
              <a:buChar char="•"/>
              <a:defRPr sz="29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kern="0" dirty="0" smtClean="0"/>
              <a:t>Try this at home! (and report back)</a:t>
            </a:r>
            <a:endParaRPr lang="en-US" kern="0" dirty="0"/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 smtClean="0"/>
              <a:t>Run Open MPI </a:t>
            </a:r>
            <a:r>
              <a:rPr lang="en-US" b="1" kern="0" dirty="0" err="1" smtClean="0">
                <a:solidFill>
                  <a:srgbClr val="FF0000"/>
                </a:solidFill>
              </a:rPr>
              <a:t>contrib</a:t>
            </a:r>
            <a:r>
              <a:rPr lang="en-US" b="1" kern="0" dirty="0" smtClean="0">
                <a:solidFill>
                  <a:srgbClr val="FF0000"/>
                </a:solidFill>
              </a:rPr>
              <a:t>/scaling/</a:t>
            </a:r>
            <a:r>
              <a:rPr lang="en-US" b="1" kern="0" dirty="0" err="1" smtClean="0">
                <a:solidFill>
                  <a:srgbClr val="FF0000"/>
                </a:solidFill>
              </a:rPr>
              <a:t>scaling.pl</a:t>
            </a:r>
            <a:endParaRPr lang="en-US" b="1" kern="0" dirty="0" smtClean="0">
              <a:solidFill>
                <a:srgbClr val="FF0000"/>
              </a:solidFill>
            </a:endParaRP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 smtClean="0"/>
              <a:t>Will produce startup scalability data for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 smtClean="0"/>
              <a:t>Native launcher (e.g. </a:t>
            </a:r>
            <a:r>
              <a:rPr lang="en-US" kern="0" dirty="0" err="1" smtClean="0"/>
              <a:t>Slurm</a:t>
            </a:r>
            <a:r>
              <a:rPr lang="en-US" kern="0" dirty="0" smtClean="0"/>
              <a:t>, PBS, Alps)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 smtClean="0"/>
              <a:t>Open MPI `</a:t>
            </a:r>
            <a:r>
              <a:rPr lang="en-US" kern="0" dirty="0" err="1" smtClean="0"/>
              <a:t>mpirun</a:t>
            </a:r>
            <a:r>
              <a:rPr lang="en-US" kern="0" dirty="0" smtClean="0"/>
              <a:t>`</a:t>
            </a:r>
          </a:p>
          <a:p>
            <a:pPr lvl="3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/>
              <a:t>With and without </a:t>
            </a:r>
            <a:r>
              <a:rPr lang="en-US" kern="0" dirty="0" err="1"/>
              <a:t>MPI_Init</a:t>
            </a:r>
            <a:r>
              <a:rPr lang="en-US" kern="0" dirty="0"/>
              <a:t>/Finalize </a:t>
            </a:r>
            <a:r>
              <a:rPr lang="en-US" kern="0" dirty="0" smtClean="0"/>
              <a:t>fence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 err="1" smtClean="0"/>
              <a:t>PMIx</a:t>
            </a:r>
            <a:r>
              <a:rPr lang="en-US" kern="0" dirty="0" smtClean="0"/>
              <a:t> `</a:t>
            </a:r>
            <a:r>
              <a:rPr lang="en-US" kern="0" dirty="0" err="1" smtClean="0"/>
              <a:t>prun</a:t>
            </a:r>
            <a:r>
              <a:rPr lang="en-US" kern="0" dirty="0" smtClean="0"/>
              <a:t>` with persistent daemons</a:t>
            </a:r>
          </a:p>
          <a:p>
            <a:pPr lvl="3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r>
              <a:rPr lang="en-US" kern="0" dirty="0" smtClean="0"/>
              <a:t>With and without </a:t>
            </a:r>
            <a:r>
              <a:rPr lang="en-US" kern="0" dirty="0" err="1" smtClean="0"/>
              <a:t>MPI_Init</a:t>
            </a:r>
            <a:r>
              <a:rPr lang="en-US" kern="0" dirty="0" smtClean="0"/>
              <a:t>/Finalize fence</a:t>
            </a:r>
          </a:p>
          <a:p>
            <a:pPr lvl="3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endParaRPr lang="en-US" kern="0" dirty="0" smtClean="0"/>
          </a:p>
          <a:p>
            <a:pPr lvl="3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endParaRPr 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164113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smtClean="0"/>
              <a:t>Side topic: Scalable Communication</a:t>
            </a:r>
            <a:endParaRPr lang="en-US" sz="5400" dirty="0"/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2133600" y="3200400"/>
            <a:ext cx="8686800" cy="2749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/>
              <a:ea typeface=""/>
              <a:cs typeface=""/>
            </a:endParaRPr>
          </a:p>
        </p:txBody>
      </p:sp>
      <p:grpSp>
        <p:nvGrpSpPr>
          <p:cNvPr id="55" name="Group 54"/>
          <p:cNvGrpSpPr/>
          <p:nvPr/>
        </p:nvGrpSpPr>
        <p:grpSpPr>
          <a:xfrm flipH="1">
            <a:off x="7040216" y="2153965"/>
            <a:ext cx="7813267" cy="2676648"/>
            <a:chOff x="6650849" y="2877426"/>
            <a:chExt cx="7743871" cy="2676648"/>
          </a:xfrm>
        </p:grpSpPr>
        <p:sp>
          <p:nvSpPr>
            <p:cNvPr id="40" name="Slide Number Placeholder 3"/>
            <p:cNvSpPr txBox="1">
              <a:spLocks/>
            </p:cNvSpPr>
            <p:nvPr/>
          </p:nvSpPr>
          <p:spPr>
            <a:xfrm>
              <a:off x="6650849" y="5157663"/>
              <a:ext cx="82139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200" b="1" kern="1200">
                  <a:solidFill>
                    <a:srgbClr val="FFFFFF"/>
                  </a:solidFill>
                  <a:effectLst>
                    <a:outerShdw blurRad="63500" dist="12700" dir="2700000" algn="tl" rotWithShape="0">
                      <a:schemeClr val="bg1">
                        <a:alpha val="25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fld id="{3EBC8F84-5B91-E04F-BBE9-64ED679462AE}" type="slidenum">
                <a:rPr lang="en-US" smtClean="0">
                  <a:effectLst>
                    <a:outerShdw blurRad="63500" dist="12700" dir="2700000" algn="tl" rotWithShape="0">
                      <a:prstClr val="white">
                        <a:alpha val="25000"/>
                      </a:prstClr>
                    </a:outerShdw>
                  </a:effectLst>
                  <a:latin typeface="Franklin Gothic Book"/>
                </a:rPr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t>17</a:t>
              </a:fld>
              <a:endParaRPr lang="en-US" dirty="0">
                <a:effectLst>
                  <a:outerShdw blurRad="63500" dist="12700" dir="2700000" algn="tl" rotWithShape="0">
                    <a:prstClr val="white">
                      <a:alpha val="25000"/>
                    </a:prstClr>
                  </a:outerShdw>
                </a:effectLst>
                <a:latin typeface="Franklin Gothic Book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246079" y="2877426"/>
              <a:ext cx="7148641" cy="548641"/>
            </a:xfrm>
            <a:prstGeom prst="rect">
              <a:avLst/>
            </a:prstGeom>
            <a:gradFill rotWithShape="1">
              <a:gsLst>
                <a:gs pos="0">
                  <a:srgbClr val="4F81BD">
                    <a:tint val="100000"/>
                    <a:shade val="100000"/>
                    <a:satMod val="130000"/>
                  </a:srgbClr>
                </a:gs>
                <a:gs pos="100000">
                  <a:srgbClr val="4F81BD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PMIx</a:t>
              </a: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 Server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820398" y="3559212"/>
              <a:ext cx="3574322" cy="586383"/>
            </a:xfrm>
            <a:prstGeom prst="rect">
              <a:avLst/>
            </a:prstGeom>
            <a:gradFill rotWithShape="1">
              <a:gsLst>
                <a:gs pos="0">
                  <a:srgbClr val="8064A2">
                    <a:tint val="100000"/>
                    <a:shade val="100000"/>
                    <a:satMod val="130000"/>
                  </a:srgbClr>
                </a:gs>
                <a:gs pos="100000">
                  <a:srgbClr val="8064A2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Ressource</a:t>
              </a: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 Manager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820398" y="4189399"/>
              <a:ext cx="2255189" cy="375920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100000"/>
                    <a:shade val="100000"/>
                    <a:satMod val="130000"/>
                  </a:srgbClr>
                </a:gs>
                <a:gs pos="100000">
                  <a:srgbClr val="C0504D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RM SCON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246080" y="3426067"/>
              <a:ext cx="3371120" cy="418558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100000"/>
                    <a:shade val="100000"/>
                    <a:satMod val="130000"/>
                  </a:srgbClr>
                </a:gs>
                <a:gs pos="100000">
                  <a:srgbClr val="C0504D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PMIx</a:t>
              </a: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 SCON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246079" y="4300892"/>
              <a:ext cx="1543982" cy="675724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100000"/>
                    <a:shade val="100000"/>
                    <a:satMod val="130000"/>
                  </a:srgbClr>
                </a:gs>
                <a:gs pos="100000">
                  <a:srgbClr val="F79646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Vendor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Accelerated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820040" y="4300892"/>
              <a:ext cx="1797160" cy="675724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100000"/>
                    <a:shade val="100000"/>
                    <a:satMod val="130000"/>
                  </a:srgbClr>
                </a:gs>
                <a:gs pos="100000">
                  <a:srgbClr val="C0504D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REF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246079" y="3844625"/>
              <a:ext cx="1543982" cy="456267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100000"/>
                    <a:shade val="100000"/>
                    <a:satMod val="130000"/>
                  </a:srgbClr>
                </a:gs>
                <a:gs pos="100000">
                  <a:srgbClr val="C0504D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xcast</a:t>
              </a: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"/>
                <a:cs typeface="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820038" y="3861949"/>
              <a:ext cx="1797161" cy="438944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100000"/>
                    <a:shade val="100000"/>
                    <a:satMod val="130000"/>
                  </a:srgbClr>
                </a:gs>
                <a:gs pos="100000">
                  <a:srgbClr val="C0504D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Resilient </a:t>
              </a:r>
              <a:r>
                <a:rPr kumimoji="0" lang="en-US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xcast</a:t>
              </a: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"/>
                <a:cs typeface="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246079" y="5005433"/>
              <a:ext cx="7148641" cy="548641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solidFill>
                <a:srgbClr val="9BBB59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Network fabrics/drivers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0820399" y="4559960"/>
              <a:ext cx="2255188" cy="416656"/>
            </a:xfrm>
            <a:prstGeom prst="rect">
              <a:avLst/>
            </a:prstGeom>
            <a:gradFill rotWithShape="1">
              <a:gsLst>
                <a:gs pos="0">
                  <a:srgbClr val="F79646">
                    <a:tint val="100000"/>
                    <a:shade val="100000"/>
                    <a:satMod val="130000"/>
                  </a:srgbClr>
                </a:gs>
                <a:gs pos="100000">
                  <a:srgbClr val="F79646">
                    <a:tint val="50000"/>
                    <a:shade val="100000"/>
                    <a:satMod val="350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Book"/>
                  <a:ea typeface=""/>
                  <a:cs typeface=""/>
                </a:rPr>
                <a:t>SCON operations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flipH="1">
              <a:off x="14019967" y="3171233"/>
              <a:ext cx="14990" cy="19864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2" name="Straight Arrow Connector 51"/>
            <p:cNvCxnSpPr/>
            <p:nvPr/>
          </p:nvCxnSpPr>
          <p:spPr>
            <a:xfrm flipH="1">
              <a:off x="11030260" y="3240826"/>
              <a:ext cx="14990" cy="19864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3" name="Straight Arrow Connector 52"/>
            <p:cNvCxnSpPr/>
            <p:nvPr/>
          </p:nvCxnSpPr>
          <p:spPr>
            <a:xfrm flipH="1">
              <a:off x="10448619" y="3222535"/>
              <a:ext cx="14990" cy="19864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4" name="Straight Arrow Connector 53"/>
            <p:cNvCxnSpPr/>
            <p:nvPr/>
          </p:nvCxnSpPr>
          <p:spPr>
            <a:xfrm flipH="1">
              <a:off x="7407994" y="3222535"/>
              <a:ext cx="14990" cy="198643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headEnd type="triangle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sp>
        <p:nvSpPr>
          <p:cNvPr id="56" name="TextBox 55"/>
          <p:cNvSpPr txBox="1"/>
          <p:nvPr/>
        </p:nvSpPr>
        <p:spPr>
          <a:xfrm>
            <a:off x="381000" y="2189256"/>
            <a:ext cx="68171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External </a:t>
            </a:r>
            <a:r>
              <a:rPr lang="en-US" sz="2400" b="1" dirty="0" smtClean="0">
                <a:solidFill>
                  <a:srgbClr val="FF0000"/>
                </a:solidFill>
              </a:rPr>
              <a:t>projects: </a:t>
            </a:r>
            <a:r>
              <a:rPr lang="en-US" sz="2400" b="1" dirty="0">
                <a:solidFill>
                  <a:srgbClr val="FF0000"/>
                </a:solidFill>
              </a:rPr>
              <a:t>not part of the </a:t>
            </a:r>
            <a:r>
              <a:rPr lang="en-US" sz="2400" b="1" dirty="0" err="1">
                <a:solidFill>
                  <a:srgbClr val="FF0000"/>
                </a:solidFill>
              </a:rPr>
              <a:t>PMIx</a:t>
            </a:r>
            <a:r>
              <a:rPr lang="en-US" sz="2400" b="1" dirty="0">
                <a:solidFill>
                  <a:srgbClr val="FF0000"/>
                </a:solidFill>
              </a:rPr>
              <a:t> specification</a:t>
            </a:r>
          </a:p>
          <a:p>
            <a:pPr marL="457200" indent="-457200">
              <a:buFont typeface="Arial" charset="0"/>
              <a:buChar char="•"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buFont typeface="Arial" charset="0"/>
              <a:buChar char="•"/>
            </a:pPr>
            <a:r>
              <a:rPr lang="en-US" sz="2400" b="1" dirty="0" err="1" smtClean="0">
                <a:solidFill>
                  <a:srgbClr val="FF0000"/>
                </a:solidFill>
              </a:rPr>
              <a:t>Mellanox</a:t>
            </a:r>
            <a:r>
              <a:rPr lang="en-US" sz="2400" b="1" dirty="0" smtClean="0">
                <a:solidFill>
                  <a:srgbClr val="FF0000"/>
                </a:solidFill>
              </a:rPr>
              <a:t>: Hardware Accelerated Overlay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Intel/UTK: SCON</a:t>
            </a:r>
            <a:r>
              <a:rPr lang="en-US" sz="2400" dirty="0" smtClean="0"/>
              <a:t>: Scalable Communication Overlay Network</a:t>
            </a:r>
          </a:p>
          <a:p>
            <a:pPr marL="1109663" lvl="1" indent="-457200">
              <a:buFont typeface="Arial" charset="0"/>
              <a:buChar char="•"/>
            </a:pPr>
            <a:r>
              <a:rPr lang="en-US" sz="2400" b="1" dirty="0" smtClean="0"/>
              <a:t>Goals</a:t>
            </a:r>
            <a:r>
              <a:rPr lang="en-US" sz="2400" dirty="0" smtClean="0"/>
              <a:t>: scalable, generic, fault tolerant communication infrastructure for RTE systems</a:t>
            </a:r>
          </a:p>
          <a:p>
            <a:pPr marL="1109663" lvl="1" indent="-457200">
              <a:buFont typeface="Arial" charset="0"/>
              <a:buChar char="•"/>
            </a:pPr>
            <a:r>
              <a:rPr lang="en-US" sz="2400" dirty="0" smtClean="0"/>
              <a:t>New partners welcome </a:t>
            </a:r>
            <a:r>
              <a:rPr lang="en-US" sz="2400" dirty="0" smtClean="0">
                <a:sym typeface="Wingdings"/>
              </a:rPr>
              <a:t></a:t>
            </a:r>
            <a:endParaRPr lang="en-US" sz="2400" dirty="0" smtClean="0"/>
          </a:p>
        </p:txBody>
      </p:sp>
      <p:sp>
        <p:nvSpPr>
          <p:cNvPr id="59" name="Content Placeholder 2"/>
          <p:cNvSpPr>
            <a:spLocks noGrp="1"/>
          </p:cNvSpPr>
          <p:nvPr>
            <p:ph idx="1"/>
          </p:nvPr>
        </p:nvSpPr>
        <p:spPr>
          <a:xfrm>
            <a:off x="115774" y="5950263"/>
            <a:ext cx="6629399" cy="2440791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SCON supply for communication features not provided from a supplier</a:t>
            </a:r>
          </a:p>
          <a:p>
            <a:pPr lvl="1"/>
            <a:r>
              <a:rPr lang="en-US" dirty="0" err="1"/>
              <a:t>PMIx</a:t>
            </a:r>
            <a:r>
              <a:rPr lang="en-US" dirty="0"/>
              <a:t> uses RM communication features, if available</a:t>
            </a:r>
          </a:p>
          <a:p>
            <a:pPr lvl="1"/>
            <a:r>
              <a:rPr lang="en-US" dirty="0"/>
              <a:t>Similarly, RM uses internal communication features, if available</a:t>
            </a:r>
          </a:p>
          <a:p>
            <a:r>
              <a:rPr lang="en-US" dirty="0"/>
              <a:t>SCON will use vendor accelerated modules, when available</a:t>
            </a:r>
          </a:p>
          <a:p>
            <a:pPr lvl="1"/>
            <a:r>
              <a:rPr lang="en-US" dirty="0"/>
              <a:t>Fallback to reference </a:t>
            </a:r>
            <a:r>
              <a:rPr lang="en-US" dirty="0" smtClean="0"/>
              <a:t>SCON operations </a:t>
            </a:r>
            <a:r>
              <a:rPr lang="en-US" dirty="0"/>
              <a:t>when no vendor </a:t>
            </a:r>
            <a:r>
              <a:rPr lang="en-US" dirty="0" smtClean="0"/>
              <a:t>specific</a:t>
            </a:r>
            <a:endParaRPr lang="en-US" dirty="0"/>
          </a:p>
        </p:txBody>
      </p:sp>
      <p:sp>
        <p:nvSpPr>
          <p:cNvPr id="60" name="Espace réservé du contenu 2"/>
          <p:cNvSpPr txBox="1">
            <a:spLocks/>
          </p:cNvSpPr>
          <p:nvPr/>
        </p:nvSpPr>
        <p:spPr>
          <a:xfrm>
            <a:off x="7052741" y="4926560"/>
            <a:ext cx="3701402" cy="3164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Failure Detector (core function)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Reliable Broadcast (notifications)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Agreement 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allgather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/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modex</a:t>
            </a:r>
            <a:r>
              <a:rPr lang="en-US" sz="2000" noProof="0" dirty="0" smtClean="0">
                <a:solidFill>
                  <a:sysClr val="windowText" lastClr="000000"/>
                </a:solidFill>
                <a:latin typeface="Franklin Gothic Book"/>
                <a:ea typeface=""/>
                <a:cs typeface=""/>
              </a:rPr>
              <a:t>/fence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"/>
                <a:cs typeface=""/>
              </a:rPr>
              <a:t>)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/>
              <a:ea typeface=""/>
              <a:cs typeface=""/>
            </a:endParaRPr>
          </a:p>
        </p:txBody>
      </p:sp>
      <p:pic>
        <p:nvPicPr>
          <p:cNvPr id="114" name="Picture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078" y="5000782"/>
            <a:ext cx="2353247" cy="2416167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0418802" y="4868137"/>
            <a:ext cx="1627153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MPI Agreement on Darter (Cray XC30)</a:t>
            </a:r>
            <a:endParaRPr lang="en-US" sz="1050" dirty="0"/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192" y="4981828"/>
            <a:ext cx="2362719" cy="2516142"/>
          </a:xfrm>
          <a:prstGeom prst="rect">
            <a:avLst/>
          </a:prstGeom>
        </p:spPr>
      </p:pic>
      <p:grpSp>
        <p:nvGrpSpPr>
          <p:cNvPr id="117" name="Group 116"/>
          <p:cNvGrpSpPr/>
          <p:nvPr/>
        </p:nvGrpSpPr>
        <p:grpSpPr>
          <a:xfrm>
            <a:off x="7517854" y="7044780"/>
            <a:ext cx="1007058" cy="969698"/>
            <a:chOff x="506408" y="963047"/>
            <a:chExt cx="2879623" cy="2959829"/>
          </a:xfrm>
        </p:grpSpPr>
        <p:sp>
          <p:nvSpPr>
            <p:cNvPr id="118" name="Donut 117"/>
            <p:cNvSpPr/>
            <p:nvPr/>
          </p:nvSpPr>
          <p:spPr>
            <a:xfrm>
              <a:off x="640779" y="1131141"/>
              <a:ext cx="2590838" cy="2643566"/>
            </a:xfrm>
            <a:prstGeom prst="donut">
              <a:avLst>
                <a:gd name="adj" fmla="val 3452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19" name="Picture 12" descr="graph.tiff"/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rcRect/>
            <a:stretch>
              <a:fillRect/>
            </a:stretch>
          </p:blipFill>
          <p:spPr bwMode="auto">
            <a:xfrm>
              <a:off x="506408" y="963047"/>
              <a:ext cx="2879623" cy="29598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0" name="TextBox 119"/>
          <p:cNvSpPr txBox="1"/>
          <p:nvPr/>
        </p:nvSpPr>
        <p:spPr>
          <a:xfrm>
            <a:off x="9372600" y="7465689"/>
            <a:ext cx="4938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Algorithms proven at the MPI level</a:t>
            </a:r>
          </a:p>
        </p:txBody>
      </p:sp>
    </p:spTree>
    <p:extLst>
      <p:ext uri="{BB962C8B-B14F-4D97-AF65-F5344CB8AC3E}">
        <p14:creationId xmlns:p14="http://schemas.microsoft.com/office/powerpoint/2010/main" val="22542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11"/>
          <p:cNvSpPr>
            <a:spLocks noGrp="1"/>
          </p:cNvSpPr>
          <p:nvPr>
            <p:ph type="subTitle" idx="1"/>
          </p:nvPr>
        </p:nvSpPr>
        <p:spPr>
          <a:xfrm>
            <a:off x="2193925" y="4664075"/>
            <a:ext cx="10242550" cy="2101850"/>
          </a:xfrm>
        </p:spPr>
        <p:txBody>
          <a:bodyPr/>
          <a:lstStyle/>
          <a:p>
            <a:r>
              <a:rPr lang="en-US" sz="3600" dirty="0" smtClean="0">
                <a:latin typeface="+mj-lt"/>
              </a:rPr>
              <a:t>Josh Hursey</a:t>
            </a:r>
            <a:endParaRPr lang="en-US" sz="3600" dirty="0">
              <a:latin typeface="+mj-lt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96963" y="2925763"/>
            <a:ext cx="12436475" cy="1371600"/>
          </a:xfrm>
        </p:spPr>
        <p:txBody>
          <a:bodyPr/>
          <a:lstStyle/>
          <a:p>
            <a:r>
              <a:rPr lang="en-US" sz="6600" dirty="0" err="1" smtClean="0">
                <a:latin typeface="Arial" charset="0"/>
                <a:ea typeface="ＭＳ Ｐゴシック" charset="0"/>
                <a:cs typeface="ＭＳ Ｐゴシック" charset="0"/>
              </a:rPr>
              <a:t>PMIx</a:t>
            </a:r>
            <a:r>
              <a:rPr lang="en-US" sz="6600" dirty="0" smtClean="0">
                <a:latin typeface="Arial" charset="0"/>
                <a:ea typeface="ＭＳ Ｐゴシック" charset="0"/>
                <a:cs typeface="ＭＳ Ｐゴシック" charset="0"/>
              </a:rPr>
              <a:t> Standard Document</a:t>
            </a:r>
            <a:endParaRPr lang="en-US" altLang="en-US" dirty="0">
              <a:ea typeface="ＭＳ Ｐゴシック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996" y="5638800"/>
            <a:ext cx="4324408" cy="133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2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Goal:</a:t>
            </a:r>
          </a:p>
          <a:p>
            <a:pPr lvl="1"/>
            <a:r>
              <a:rPr lang="en-US" sz="3200" dirty="0" smtClean="0"/>
              <a:t>Create a document that details the </a:t>
            </a:r>
            <a:r>
              <a:rPr lang="en-US" sz="3200" dirty="0" err="1" smtClean="0"/>
              <a:t>PMIx</a:t>
            </a:r>
            <a:r>
              <a:rPr lang="en-US" sz="3200" dirty="0" smtClean="0"/>
              <a:t> project goals, architecture, interfaces and semantics, and language bindings.</a:t>
            </a:r>
          </a:p>
          <a:p>
            <a:pPr lvl="2"/>
            <a:r>
              <a:rPr lang="en-US" sz="2800" dirty="0"/>
              <a:t>S</a:t>
            </a:r>
            <a:r>
              <a:rPr lang="en-US" sz="2800" dirty="0" smtClean="0"/>
              <a:t>eparate from the </a:t>
            </a:r>
            <a:r>
              <a:rPr lang="en-US" sz="2800" dirty="0" err="1" smtClean="0"/>
              <a:t>PMIx</a:t>
            </a:r>
            <a:r>
              <a:rPr lang="en-US" sz="2800" dirty="0" smtClean="0"/>
              <a:t> Reference Implementation.</a:t>
            </a:r>
          </a:p>
          <a:p>
            <a:pPr lvl="1"/>
            <a:r>
              <a:rPr lang="en-US" sz="3200" dirty="0" smtClean="0"/>
              <a:t>Ratify that document with the </a:t>
            </a:r>
            <a:r>
              <a:rPr lang="en-US" sz="3200" dirty="0" err="1" smtClean="0"/>
              <a:t>PMIx</a:t>
            </a:r>
            <a:r>
              <a:rPr lang="en-US" sz="3200" dirty="0" smtClean="0"/>
              <a:t> community.</a:t>
            </a:r>
          </a:p>
          <a:p>
            <a:pPr lvl="2"/>
            <a:r>
              <a:rPr lang="en-US" sz="2600" dirty="0" smtClean="0"/>
              <a:t>Open process to encourage broad participation.</a:t>
            </a:r>
          </a:p>
          <a:p>
            <a:r>
              <a:rPr lang="en-US" sz="4000" dirty="0" smtClean="0"/>
              <a:t>Start with the interface from the </a:t>
            </a:r>
            <a:r>
              <a:rPr lang="en-US" sz="4000" dirty="0" err="1" smtClean="0"/>
              <a:t>PMIx</a:t>
            </a:r>
            <a:r>
              <a:rPr lang="en-US" sz="4000" dirty="0" smtClean="0"/>
              <a:t> Reference Implementation v2.0.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github.com/pmix/pmix-standard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329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40" y="1997075"/>
            <a:ext cx="7191360" cy="585152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github.com/pmix/pmix-standard</a:t>
            </a:r>
            <a:endParaRPr lang="en-US" sz="2400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152400" y="3962401"/>
            <a:ext cx="5334000" cy="3395038"/>
          </a:xfrm>
          <a:prstGeom prst="wedgeRoundRectCallout">
            <a:avLst>
              <a:gd name="adj1" fmla="val 52012"/>
              <a:gd name="adj2" fmla="val 64774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Lots of work to</a:t>
            </a:r>
            <a:r>
              <a:rPr kumimoji="0" lang="en-US" sz="2800" b="0" i="0" u="sng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do!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Requesting:</a:t>
            </a:r>
            <a:endParaRPr kumimoji="0" lang="en-US" sz="24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24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Assistance in crafting standard language,</a:t>
            </a: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Vigorous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debat</a:t>
            </a:r>
            <a:r>
              <a:rPr lang="en-US" sz="24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e on semantics, and</a:t>
            </a: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2400" dirty="0" smtClean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Participation in the ratification process.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229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 - Organization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Introduction to </a:t>
            </a:r>
            <a:r>
              <a:rPr lang="en-US" sz="2800" b="1" dirty="0" err="1" smtClean="0"/>
              <a:t>PMIx</a:t>
            </a:r>
            <a:endParaRPr lang="en-US" sz="2800" b="1" dirty="0"/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smtClean="0"/>
              <a:t>Overview, Goals, Architecture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err="1" smtClean="0"/>
              <a:t>PMIx</a:t>
            </a:r>
            <a:r>
              <a:rPr lang="en-US" sz="2800" b="1" dirty="0" smtClean="0"/>
              <a:t> Terms and Conventions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Data Structures, Types, Constants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200" dirty="0" smtClean="0"/>
              <a:t>Includes: Reserved attributes, Keys 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Initialization &amp; Finalization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smtClean="0"/>
              <a:t>Client, Server, Tool interfaces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Key/Value Management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/>
              <a:t>p</a:t>
            </a:r>
            <a:r>
              <a:rPr lang="en-US" sz="2400" dirty="0" smtClean="0"/>
              <a:t>ut, get, commit, fence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smtClean="0"/>
              <a:t>(un)publish, lookup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Process Management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/>
              <a:t>s</a:t>
            </a:r>
            <a:r>
              <a:rPr lang="en-US" sz="2400" dirty="0" smtClean="0"/>
              <a:t>pawn, (dis)connect, </a:t>
            </a:r>
            <a:r>
              <a:rPr lang="en-US" sz="2400" dirty="0" err="1" smtClean="0"/>
              <a:t>resolve_peers</a:t>
            </a:r>
            <a:endParaRPr lang="en-US" sz="2800" dirty="0" smtClean="0"/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Job Allocation Management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smtClean="0"/>
              <a:t>Allocation request, process monitor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Event Handling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smtClean="0"/>
              <a:t>(de)</a:t>
            </a:r>
            <a:r>
              <a:rPr lang="en-US" sz="2400" dirty="0" err="1" smtClean="0"/>
              <a:t>register_event</a:t>
            </a:r>
            <a:r>
              <a:rPr lang="en-US" sz="2400" dirty="0" smtClean="0"/>
              <a:t>, </a:t>
            </a:r>
            <a:r>
              <a:rPr lang="en-US" sz="2400" dirty="0" err="1" smtClean="0"/>
              <a:t>notify_event</a:t>
            </a:r>
            <a:endParaRPr lang="en-US" sz="2400" dirty="0" smtClean="0"/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smtClean="0"/>
              <a:t>Data Packing &amp; Unpacking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smtClean="0"/>
              <a:t>(un)pack, copy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800" b="1" dirty="0" err="1" smtClean="0"/>
              <a:t>PMIx</a:t>
            </a:r>
            <a:r>
              <a:rPr lang="en-US" sz="2800" b="1" dirty="0" smtClean="0"/>
              <a:t> Server Specific Interfaces</a:t>
            </a:r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err="1" smtClean="0"/>
              <a:t>setup_fork</a:t>
            </a:r>
            <a:r>
              <a:rPr lang="en-US" sz="2400" dirty="0" smtClean="0"/>
              <a:t>, (de)</a:t>
            </a:r>
            <a:r>
              <a:rPr lang="en-US" sz="2400" dirty="0" err="1" smtClean="0"/>
              <a:t>register_nspace</a:t>
            </a:r>
            <a:endParaRPr lang="en-US" sz="2400" dirty="0" smtClean="0"/>
          </a:p>
          <a:p>
            <a:pPr marL="1085850" lvl="1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rabicPeriod"/>
            </a:pPr>
            <a:r>
              <a:rPr lang="en-US" sz="2400" dirty="0" err="1" smtClean="0"/>
              <a:t>pmix_server_module_t</a:t>
            </a:r>
            <a:endParaRPr lang="en-US" sz="2400" dirty="0"/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lphaUcPeriod"/>
            </a:pPr>
            <a:r>
              <a:rPr lang="en-US" sz="2800" b="1" dirty="0" smtClean="0"/>
              <a:t>Revisions, Acknowledgements 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lphaUcPeriod"/>
            </a:pPr>
            <a:r>
              <a:rPr lang="en-US" sz="2800" b="1" dirty="0" smtClean="0"/>
              <a:t>Bibliography</a:t>
            </a:r>
          </a:p>
          <a:p>
            <a:pPr marL="514350" indent="-514350">
              <a:buClr>
                <a:schemeClr val="accent5">
                  <a:lumMod val="50000"/>
                </a:schemeClr>
              </a:buClr>
              <a:buSzPct val="95000"/>
              <a:buFont typeface="+mj-lt"/>
              <a:buAutoNum type="alphaUcPeriod"/>
            </a:pPr>
            <a:r>
              <a:rPr lang="en-US" sz="2800" b="1" dirty="0" smtClean="0"/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github.com/pmix/pmix-standard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58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Participation:</a:t>
            </a:r>
            <a:endParaRPr lang="en-US" sz="3400" dirty="0" smtClean="0"/>
          </a:p>
          <a:p>
            <a:pPr lvl="1"/>
            <a:r>
              <a:rPr lang="en-US" sz="3400" dirty="0" smtClean="0"/>
              <a:t>File PRs against the GitHub repo</a:t>
            </a:r>
          </a:p>
          <a:p>
            <a:pPr lvl="2"/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github.com/pmix/pmix-standard</a:t>
            </a:r>
            <a:r>
              <a:rPr lang="en-US" sz="2800" dirty="0" smtClean="0"/>
              <a:t> </a:t>
            </a:r>
          </a:p>
          <a:p>
            <a:pPr lvl="1"/>
            <a:r>
              <a:rPr lang="en-US" sz="3400" dirty="0" smtClean="0"/>
              <a:t>Start a discussion on the </a:t>
            </a:r>
            <a:r>
              <a:rPr lang="en-US" sz="3400" dirty="0" err="1" smtClean="0"/>
              <a:t>PMIx</a:t>
            </a:r>
            <a:r>
              <a:rPr lang="en-US" sz="3400" dirty="0" smtClean="0"/>
              <a:t> community mailing list</a:t>
            </a:r>
          </a:p>
          <a:p>
            <a:pPr lvl="2"/>
            <a:r>
              <a:rPr lang="en-US" sz="2800" dirty="0">
                <a:hlinkClick r:id="rId3"/>
              </a:rPr>
              <a:t>https://groups.google.com/forum/#!</a:t>
            </a:r>
            <a:r>
              <a:rPr lang="en-US" sz="2800" dirty="0" smtClean="0">
                <a:hlinkClick r:id="rId3"/>
              </a:rPr>
              <a:t>forum/pmix</a:t>
            </a:r>
            <a:endParaRPr lang="en-US" sz="2800" dirty="0"/>
          </a:p>
          <a:p>
            <a:pPr lvl="1"/>
            <a:r>
              <a:rPr lang="en-US" sz="3200" dirty="0" smtClean="0"/>
              <a:t>Join the weekly </a:t>
            </a:r>
            <a:r>
              <a:rPr lang="en-US" sz="3200" dirty="0" err="1" smtClean="0"/>
              <a:t>PMIx</a:t>
            </a:r>
            <a:r>
              <a:rPr lang="en-US" sz="3200" dirty="0" smtClean="0"/>
              <a:t> teleconference</a:t>
            </a:r>
          </a:p>
          <a:p>
            <a:pPr lvl="2"/>
            <a:r>
              <a:rPr lang="en-US" sz="2800" dirty="0" smtClean="0"/>
              <a:t>Thursday’s 3 pm (Eastern)</a:t>
            </a:r>
          </a:p>
          <a:p>
            <a:pPr lvl="1"/>
            <a:r>
              <a:rPr lang="en-US" sz="3200" dirty="0" smtClean="0"/>
              <a:t>The approval process is still being determined, but will likely match that of other HPC standardization bodies (e.g., MPI, </a:t>
            </a:r>
            <a:r>
              <a:rPr lang="en-US" sz="3200" dirty="0" err="1" smtClean="0"/>
              <a:t>OpenMP</a:t>
            </a:r>
            <a:r>
              <a:rPr lang="en-US" sz="3200" dirty="0" smtClean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github.com/pmix/pmix-standard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690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Questions for the community</a:t>
            </a:r>
            <a:endParaRPr lang="en-US" sz="3600" dirty="0" smtClean="0"/>
          </a:p>
          <a:p>
            <a:pPr lvl="1"/>
            <a:r>
              <a:rPr lang="en-US" sz="3200" dirty="0" smtClean="0"/>
              <a:t>Is it important to have a v1.0 version of the standard to match the interface from the </a:t>
            </a:r>
            <a:r>
              <a:rPr lang="en-US" sz="3200" dirty="0" err="1" smtClean="0"/>
              <a:t>PMIx</a:t>
            </a:r>
            <a:r>
              <a:rPr lang="en-US" sz="3200" dirty="0" smtClean="0"/>
              <a:t> Reference implementation v1.x?</a:t>
            </a:r>
            <a:endParaRPr lang="en-US" sz="2800" dirty="0" smtClean="0"/>
          </a:p>
          <a:p>
            <a:pPr lvl="1"/>
            <a:r>
              <a:rPr lang="en-US" sz="3200" dirty="0" smtClean="0"/>
              <a:t>The standard focuses on the C interface, how important are language bindings? Which additional languages should we focus on?</a:t>
            </a:r>
          </a:p>
          <a:p>
            <a:pPr lvl="1"/>
            <a:r>
              <a:rPr lang="en-US" sz="3200" dirty="0" smtClean="0"/>
              <a:t>What examples would you like to see in the standard to help illustrate how </a:t>
            </a:r>
            <a:r>
              <a:rPr lang="en-US" sz="3200" dirty="0" err="1" smtClean="0"/>
              <a:t>PMIx</a:t>
            </a:r>
            <a:r>
              <a:rPr lang="en-US" sz="3200" dirty="0" smtClean="0"/>
              <a:t> should be used?</a:t>
            </a:r>
          </a:p>
          <a:p>
            <a:pPr lvl="1"/>
            <a:r>
              <a:rPr lang="en-US" sz="3200" dirty="0" smtClean="0"/>
              <a:t>How should the standardization ratification process be structured? What determines a voting member of the community?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github.com/pmix/pmix-standard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74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New interfaces &amp; Semantic changes for discussion</a:t>
            </a:r>
            <a:endParaRPr lang="en-US" sz="3600" dirty="0" smtClean="0"/>
          </a:p>
          <a:p>
            <a:pPr lvl="1"/>
            <a:r>
              <a:rPr lang="en-US" sz="3200" dirty="0" smtClean="0"/>
              <a:t>A </a:t>
            </a:r>
            <a:r>
              <a:rPr lang="en-US" sz="3200" dirty="0" err="1" smtClean="0"/>
              <a:t>PMIx</a:t>
            </a:r>
            <a:r>
              <a:rPr lang="en-US" sz="3200" dirty="0" smtClean="0"/>
              <a:t> server can return </a:t>
            </a:r>
            <a:r>
              <a:rPr lang="en-US" sz="2800" dirty="0" smtClean="0">
                <a:solidFill>
                  <a:srgbClr val="FF0000"/>
                </a:solidFill>
                <a:latin typeface="Monaco" charset="0"/>
                <a:ea typeface="Monaco" charset="0"/>
                <a:cs typeface="Monaco" charset="0"/>
              </a:rPr>
              <a:t>PMIX_ERR_NOT_SUPPORTED</a:t>
            </a:r>
            <a:r>
              <a:rPr lang="en-US" sz="3200" dirty="0" smtClean="0"/>
              <a:t> if a given attribute to, for example, </a:t>
            </a:r>
            <a:r>
              <a:rPr lang="en-US" sz="3200" dirty="0" err="1" smtClean="0"/>
              <a:t>PMIx_Get</a:t>
            </a:r>
            <a:r>
              <a:rPr lang="en-US" sz="3200" dirty="0" smtClean="0"/>
              <a:t>() is not supported.</a:t>
            </a:r>
            <a:br>
              <a:rPr lang="en-US" sz="3200" dirty="0" smtClean="0"/>
            </a:br>
            <a:r>
              <a:rPr lang="en-US" sz="3200" dirty="0" smtClean="0"/>
              <a:t>We do not have an interface for the </a:t>
            </a:r>
            <a:r>
              <a:rPr lang="en-US" sz="3200" dirty="0" err="1" smtClean="0"/>
              <a:t>PMIx</a:t>
            </a:r>
            <a:r>
              <a:rPr lang="en-US" sz="3200" dirty="0" smtClean="0"/>
              <a:t> client to query this information so they know in advance what attribute is supported.</a:t>
            </a:r>
          </a:p>
          <a:p>
            <a:pPr lvl="2"/>
            <a:r>
              <a:rPr lang="en-US" sz="2800" dirty="0" smtClean="0"/>
              <a:t>Is this functionality that would be useful to </a:t>
            </a:r>
            <a:r>
              <a:rPr lang="en-US" sz="2800" dirty="0" err="1" smtClean="0"/>
              <a:t>PMIx</a:t>
            </a:r>
            <a:r>
              <a:rPr lang="en-US" sz="2800" dirty="0" smtClean="0"/>
              <a:t> clients/applications?</a:t>
            </a:r>
          </a:p>
          <a:p>
            <a:pPr lvl="2"/>
            <a:r>
              <a:rPr lang="en-US" sz="2800" dirty="0" smtClean="0"/>
              <a:t>In what form should we provide that query mechanism?</a:t>
            </a:r>
            <a:endParaRPr lang="en-US" sz="2800" dirty="0"/>
          </a:p>
          <a:p>
            <a:pPr marL="2416175" lvl="3" indent="-457200">
              <a:buFont typeface="+mj-lt"/>
              <a:buAutoNum type="alphaLcParenR"/>
            </a:pPr>
            <a:r>
              <a:rPr lang="en-US" sz="2400" dirty="0" err="1" smtClean="0"/>
              <a:t>PMIx_Query_supported_attributes</a:t>
            </a:r>
            <a:r>
              <a:rPr lang="en-US" sz="2400" dirty="0" smtClean="0"/>
              <a:t>(</a:t>
            </a:r>
            <a:r>
              <a:rPr lang="mr-IN" sz="2400" dirty="0" smtClean="0"/>
              <a:t>…</a:t>
            </a:r>
            <a:r>
              <a:rPr lang="en-US" sz="2400" dirty="0" smtClean="0"/>
              <a:t>)</a:t>
            </a:r>
          </a:p>
          <a:p>
            <a:pPr marL="2416175" lvl="3" indent="-457200">
              <a:buFont typeface="+mj-lt"/>
              <a:buAutoNum type="alphaLcParenR"/>
            </a:pPr>
            <a:r>
              <a:rPr lang="en-US" sz="2400" dirty="0" smtClean="0"/>
              <a:t>Special </a:t>
            </a:r>
            <a:r>
              <a:rPr lang="en-US" sz="2400" dirty="0" err="1" smtClean="0"/>
              <a:t>PMIx</a:t>
            </a:r>
            <a:r>
              <a:rPr lang="en-US" sz="2400" dirty="0" smtClean="0"/>
              <a:t> attribute PMIX_PROBE_SUPPORT passed with the attribute?</a:t>
            </a:r>
          </a:p>
          <a:p>
            <a:pPr marL="2416175" lvl="3" indent="-457200">
              <a:buFont typeface="+mj-lt"/>
              <a:buAutoNum type="alphaLcParenR"/>
            </a:pPr>
            <a:r>
              <a:rPr lang="en-US" sz="2400" dirty="0" smtClean="0"/>
              <a:t>???</a:t>
            </a:r>
            <a:endParaRPr lang="en-US" sz="21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github.com/pmix/pmix-standard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991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Standard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New interfaces &amp; Semantic changes for discussion</a:t>
            </a:r>
            <a:endParaRPr lang="en-US" sz="3600" dirty="0" smtClean="0"/>
          </a:p>
          <a:p>
            <a:pPr lvl="1"/>
            <a:r>
              <a:rPr lang="en-US" sz="3200" dirty="0" smtClean="0"/>
              <a:t>Attributes can be required or not. What should be the default?</a:t>
            </a:r>
          </a:p>
          <a:p>
            <a:pPr lvl="2"/>
            <a:r>
              <a:rPr lang="en-US" sz="2400" dirty="0" smtClean="0"/>
              <a:t>Currently we default to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not required</a:t>
            </a:r>
          </a:p>
          <a:p>
            <a:pPr lvl="1"/>
            <a:r>
              <a:rPr lang="en-US" sz="3200" dirty="0" smtClean="0"/>
              <a:t>Other suggestions?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7100" y="7767935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github.com/pmix/pmix-standard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722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 of the Community</a:t>
            </a:r>
          </a:p>
          <a:p>
            <a:pPr lvl="1"/>
            <a:r>
              <a:rPr lang="en-US" dirty="0" smtClean="0"/>
              <a:t>Ralph H. Castain (Intel)</a:t>
            </a:r>
          </a:p>
          <a:p>
            <a:r>
              <a:rPr lang="en-US" dirty="0" smtClean="0"/>
              <a:t>Scaled Performance</a:t>
            </a:r>
          </a:p>
          <a:p>
            <a:pPr lvl="1"/>
            <a:r>
              <a:rPr lang="en-US" dirty="0" smtClean="0"/>
              <a:t>Aurelien Bouteiller (UTK)</a:t>
            </a:r>
          </a:p>
          <a:p>
            <a:r>
              <a:rPr lang="en-US" dirty="0" smtClean="0"/>
              <a:t>PMIx Standards Document</a:t>
            </a:r>
          </a:p>
          <a:p>
            <a:pPr lvl="1"/>
            <a:r>
              <a:rPr lang="en-US" dirty="0" smtClean="0"/>
              <a:t>Josh Hursey (IBM)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Q&amp;A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10600" y="3276600"/>
            <a:ext cx="5825634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Reminder: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Enhanced launch scaling talk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SLURM booth @ 2pm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521919"/>
      </p:ext>
    </p:extLst>
  </p:cSld>
  <p:clrMapOvr>
    <a:masterClrMapping/>
  </p:clrMapOvr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HD:Users:bbarrett:research:ompi:ompi-docs:2006:visits:04-cisco-workshop:ompi-workshop-template.pot</Template>
  <TotalTime>6727</TotalTime>
  <Words>1245</Words>
  <Application>Microsoft Macintosh PowerPoint</Application>
  <PresentationFormat>Custom</PresentationFormat>
  <Paragraphs>263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Franklin Gothic Book</vt:lpstr>
      <vt:lpstr>Monaco</vt:lpstr>
      <vt:lpstr>ＭＳ Ｐゴシック</vt:lpstr>
      <vt:lpstr>Source Code Pro</vt:lpstr>
      <vt:lpstr>Wingdings</vt:lpstr>
      <vt:lpstr>ompi-workshop-template</vt:lpstr>
      <vt:lpstr>PMIx: Process Management for Exascale Environments</vt:lpstr>
      <vt:lpstr>Agenda</vt:lpstr>
      <vt:lpstr>Three Distinct Entities</vt:lpstr>
      <vt:lpstr>Where Are We?</vt:lpstr>
      <vt:lpstr>PMIx Launch Sequence</vt:lpstr>
      <vt:lpstr>PMIx Launch Sequence</vt:lpstr>
      <vt:lpstr>Current Support (I)</vt:lpstr>
      <vt:lpstr>Current Support (II)</vt:lpstr>
      <vt:lpstr>PowerPoint Presentation</vt:lpstr>
      <vt:lpstr>Cross-Version Interoperability</vt:lpstr>
      <vt:lpstr>In Pipeline</vt:lpstr>
      <vt:lpstr>Adoption</vt:lpstr>
      <vt:lpstr>Scalable Performance</vt:lpstr>
      <vt:lpstr>PMIx Launch Early Results </vt:lpstr>
      <vt:lpstr>PMIx Launch Early Results </vt:lpstr>
      <vt:lpstr>PMIx Launch Early Results </vt:lpstr>
      <vt:lpstr>Side topic: Scalable Communication</vt:lpstr>
      <vt:lpstr>PMIx Standard Document</vt:lpstr>
      <vt:lpstr>PMIx Standard</vt:lpstr>
      <vt:lpstr>PMIx Standard</vt:lpstr>
      <vt:lpstr>PMIx Standard - Organization</vt:lpstr>
      <vt:lpstr>PMIx Standard</vt:lpstr>
      <vt:lpstr>PMIx Standard</vt:lpstr>
      <vt:lpstr>PMIx Standard</vt:lpstr>
      <vt:lpstr>PMIx Standard</vt:lpstr>
      <vt:lpstr>Agenda</vt:lpstr>
    </vt:vector>
  </TitlesOfParts>
  <Company>Brian Barrett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 with Build Systems</dc:title>
  <dc:creator>Brian Barrett</dc:creator>
  <cp:lastModifiedBy>Ralph Castain</cp:lastModifiedBy>
  <cp:revision>120</cp:revision>
  <dcterms:created xsi:type="dcterms:W3CDTF">2008-11-13T15:30:00Z</dcterms:created>
  <dcterms:modified xsi:type="dcterms:W3CDTF">2017-11-16T15:50:49Z</dcterms:modified>
</cp:coreProperties>
</file>