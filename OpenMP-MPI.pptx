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  <p:sldMasterId id="2147483793" r:id="rId2"/>
  </p:sldMasterIdLst>
  <p:notesMasterIdLst>
    <p:notesMasterId r:id="rId16"/>
  </p:notesMasterIdLst>
  <p:sldIdLst>
    <p:sldId id="256" r:id="rId3"/>
    <p:sldId id="374" r:id="rId4"/>
    <p:sldId id="389" r:id="rId5"/>
    <p:sldId id="393" r:id="rId6"/>
    <p:sldId id="392" r:id="rId7"/>
    <p:sldId id="390" r:id="rId8"/>
    <p:sldId id="391" r:id="rId9"/>
    <p:sldId id="376" r:id="rId10"/>
    <p:sldId id="379" r:id="rId11"/>
    <p:sldId id="384" r:id="rId12"/>
    <p:sldId id="385" r:id="rId13"/>
    <p:sldId id="387" r:id="rId14"/>
    <p:sldId id="388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59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BCD"/>
    <a:srgbClr val="FFFFCC"/>
    <a:srgbClr val="F0FFFF"/>
    <a:srgbClr val="E8FFFF"/>
    <a:srgbClr val="EAFFCD"/>
    <a:srgbClr val="0000FF"/>
    <a:srgbClr val="33CC33"/>
    <a:srgbClr val="FFFF66"/>
    <a:srgbClr val="FF6699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11"/>
    <p:restoredTop sz="96380" autoAdjust="0"/>
  </p:normalViewPr>
  <p:slideViewPr>
    <p:cSldViewPr showGuides="1">
      <p:cViewPr varScale="1">
        <p:scale>
          <a:sx n="169" d="100"/>
          <a:sy n="169" d="100"/>
        </p:scale>
        <p:origin x="208" y="528"/>
      </p:cViewPr>
      <p:guideLst>
        <p:guide orient="horz" pos="259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1" d="100"/>
        <a:sy n="141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20" Type="http://schemas.openxmlformats.org/officeDocument/2006/relationships/tableStyles" Target="tableStyles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74952FFB-B93B-3541-AEF4-FEC6167C54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5511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11356A-E6C0-5244-B2D1-39192D968FD5}" type="slidenum">
              <a:rPr lang="en-US" sz="1200"/>
              <a:pPr/>
              <a:t>1</a:t>
            </a:fld>
            <a:endParaRPr lang="en-US" sz="1200"/>
          </a:p>
        </p:txBody>
      </p:sp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803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52400" y="2362200"/>
            <a:ext cx="8839200" cy="1295400"/>
            <a:chOff x="288" y="1632"/>
            <a:chExt cx="5232" cy="816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>
              <a:off x="288" y="1632"/>
              <a:ext cx="5232" cy="81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blurRad="63500" dist="117432" dir="4604261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316" y="1656"/>
              <a:ext cx="5171" cy="75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4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Arial" pitchFamily="-65" charset="0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438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524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2133600" y="6248400"/>
            <a:ext cx="4876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E0A3DD1-C6E6-D549-AE98-0C27BF3C45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83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90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2303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767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767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83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30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959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0189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380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49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381000"/>
            <a:ext cx="2076450" cy="6324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76950" cy="6324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48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40767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767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04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>
            <a:spLocks noChangeArrowheads="1"/>
          </p:cNvSpPr>
          <p:nvPr userDrawn="1"/>
        </p:nvSpPr>
        <p:spPr bwMode="auto">
          <a:xfrm>
            <a:off x="8839200" y="152400"/>
            <a:ext cx="1809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fld id="{F95A78A6-AC48-1C4C-9FB1-42EA8340B8EA}" type="slidenum">
              <a:rPr lang="fr-FR" sz="1100">
                <a:solidFill>
                  <a:srgbClr val="003980"/>
                </a:solidFill>
                <a:latin typeface="Arial" charset="0"/>
              </a:rPr>
              <a:pPr/>
              <a:t>‹#›</a:t>
            </a:fld>
            <a:endParaRPr lang="fr-FR" sz="1100">
              <a:solidFill>
                <a:schemeClr val="bg1"/>
              </a:solidFill>
              <a:latin typeface="Times" charset="0"/>
            </a:endParaRPr>
          </a:p>
        </p:txBody>
      </p:sp>
      <p:pic>
        <p:nvPicPr>
          <p:cNvPr id="4" name="Picture 24" descr="fond-masque-titre-bordeaux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16300"/>
            <a:ext cx="9144000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95325" y="252413"/>
            <a:ext cx="7202488" cy="2962275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5814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NVLogo_3D_H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738" y="5943600"/>
            <a:ext cx="2227262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81000" y="3957935"/>
            <a:ext cx="4954587" cy="11181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82587" y="5253335"/>
            <a:ext cx="4954587" cy="461665"/>
          </a:xfrm>
        </p:spPr>
        <p:txBody>
          <a:bodyPr>
            <a:sp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19876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941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60566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596160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097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6796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0240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1968288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335554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462083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60499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60499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86504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13" Type="http://schemas.openxmlformats.org/officeDocument/2006/relationships/image" Target="../media/image3.jpeg"/><Relationship Id="rId14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28800"/>
            <a:ext cx="8305800" cy="4876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grpSp>
        <p:nvGrpSpPr>
          <p:cNvPr id="1028" name="Group 2"/>
          <p:cNvGrpSpPr>
            <a:grpSpLocks/>
          </p:cNvGrpSpPr>
          <p:nvPr/>
        </p:nvGrpSpPr>
        <p:grpSpPr bwMode="auto">
          <a:xfrm>
            <a:off x="152400" y="304800"/>
            <a:ext cx="8839200" cy="1295400"/>
            <a:chOff x="288" y="1632"/>
            <a:chExt cx="5232" cy="816"/>
          </a:xfrm>
        </p:grpSpPr>
        <p:sp>
          <p:nvSpPr>
            <p:cNvPr id="3075" name="AutoShape 3"/>
            <p:cNvSpPr>
              <a:spLocks noChangeArrowheads="1"/>
            </p:cNvSpPr>
            <p:nvPr/>
          </p:nvSpPr>
          <p:spPr bwMode="auto">
            <a:xfrm>
              <a:off x="288" y="1632"/>
              <a:ext cx="5232" cy="81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blurRad="63500" dist="117432" dir="4604261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sp>
          <p:nvSpPr>
            <p:cNvPr id="1031" name="AutoShape 4"/>
            <p:cNvSpPr>
              <a:spLocks noChangeArrowheads="1"/>
            </p:cNvSpPr>
            <p:nvPr/>
          </p:nvSpPr>
          <p:spPr bwMode="auto">
            <a:xfrm>
              <a:off x="316" y="1656"/>
              <a:ext cx="5171" cy="75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545" y="6147214"/>
            <a:ext cx="1591055" cy="59800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2" r:id="rId13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120000"/>
        <a:buFont typeface="Arial" charset="0"/>
        <a:buChar char="•"/>
        <a:defRPr sz="3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sz="2800">
          <a:solidFill>
            <a:schemeClr val="tx1"/>
          </a:solidFill>
          <a:latin typeface="+mn-lt"/>
          <a:ea typeface="ＭＳ Ｐゴシック" pitchFamily="-65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charset="0"/>
        <a:buChar char="•"/>
        <a:defRPr sz="2400">
          <a:solidFill>
            <a:schemeClr val="tx1"/>
          </a:solidFill>
          <a:latin typeface="+mn-lt"/>
          <a:ea typeface="ＭＳ Ｐゴシック" pitchFamily="-65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sz="2000">
          <a:solidFill>
            <a:schemeClr val="tx1"/>
          </a:solidFill>
          <a:latin typeface="+mn-lt"/>
          <a:ea typeface="ＭＳ Ｐゴシック" pitchFamily="-65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7391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42900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000" b="1">
          <a:solidFill>
            <a:schemeClr val="tx1"/>
          </a:solidFill>
          <a:latin typeface="+mn-lt"/>
        </a:defRPr>
      </a:lvl2pPr>
      <a:lvl3pPr marL="1371600" indent="-282575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400" b="1">
          <a:solidFill>
            <a:schemeClr val="tx1"/>
          </a:solidFill>
          <a:latin typeface="+mn-lt"/>
        </a:defRPr>
      </a:lvl3pPr>
      <a:lvl4pPr marL="1774825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1177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749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30321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893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9465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pmix/pmix/wiki/2.8-Pmix-Server-Data-Requirements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emf"/><Relationship Id="rId3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eg"/><Relationship Id="rId3" Type="http://schemas.openxmlformats.org/officeDocument/2006/relationships/image" Target="../media/image18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mix/pmix/wiki/4.3-openmp" TargetMode="External"/><Relationship Id="rId4" Type="http://schemas.openxmlformats.org/officeDocument/2006/relationships/hyperlink" Target="https://github.com/open-mpi/ompi" TargetMode="External"/><Relationship Id="rId5" Type="http://schemas.openxmlformats.org/officeDocument/2006/relationships/hyperlink" Target="https://github.com/open-mpi/ompi/blob/master/orte/test/mpi/xlib.c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pmix/pmix/wiki/7.1-openm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4000" dirty="0" err="1" smtClean="0">
                <a:latin typeface="Arial" charset="0"/>
                <a:ea typeface="ＭＳ Ｐゴシック" charset="0"/>
                <a:cs typeface="ＭＳ Ｐゴシック" charset="0"/>
              </a:rPr>
              <a:t>OpenMP</a:t>
            </a:r>
            <a:r>
              <a:rPr lang="en-US" sz="4000" dirty="0" smtClean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mr-IN" sz="4000" dirty="0" smtClean="0">
                <a:latin typeface="Arial" charset="0"/>
                <a:ea typeface="ＭＳ Ｐゴシック" charset="0"/>
                <a:cs typeface="ＭＳ Ｐゴシック" charset="0"/>
              </a:rPr>
              <a:t>–</a:t>
            </a:r>
            <a:r>
              <a:rPr lang="en-US" sz="4000" dirty="0" smtClean="0">
                <a:latin typeface="Arial" charset="0"/>
                <a:ea typeface="ＭＳ Ｐゴシック" charset="0"/>
                <a:cs typeface="ＭＳ Ｐゴシック" charset="0"/>
              </a:rPr>
              <a:t> MPI</a:t>
            </a:r>
            <a:br>
              <a:rPr lang="en-US" sz="4000" dirty="0" smtClean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sz="4000" dirty="0" smtClean="0">
                <a:latin typeface="Arial" charset="0"/>
                <a:ea typeface="ＭＳ Ｐゴシック" charset="0"/>
                <a:cs typeface="ＭＳ Ｐゴシック" charset="0"/>
              </a:rPr>
              <a:t>Coordination</a:t>
            </a:r>
            <a:endParaRPr lang="en-US" sz="40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4424065"/>
            <a:ext cx="5477998" cy="20589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Issue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Hybrid applications gaining popularity</a:t>
            </a:r>
          </a:p>
          <a:p>
            <a:pPr lvl="1"/>
            <a:r>
              <a:rPr lang="en-US" sz="2400" dirty="0" smtClean="0"/>
              <a:t>Especially with many-core architectures</a:t>
            </a:r>
          </a:p>
          <a:p>
            <a:r>
              <a:rPr lang="en-US" sz="2800" dirty="0" smtClean="0"/>
              <a:t>Multiple programming libraries</a:t>
            </a:r>
          </a:p>
          <a:p>
            <a:pPr lvl="1"/>
            <a:r>
              <a:rPr lang="en-US" sz="2400" dirty="0" smtClean="0"/>
              <a:t>Operate independently</a:t>
            </a:r>
          </a:p>
          <a:p>
            <a:pPr lvl="1"/>
            <a:r>
              <a:rPr lang="en-US" sz="2400" dirty="0" smtClean="0"/>
              <a:t>No knowledge of presence of other libs or what those libs are doing</a:t>
            </a:r>
          </a:p>
          <a:p>
            <a:r>
              <a:rPr lang="en-US" sz="2800" dirty="0" smtClean="0"/>
              <a:t>Conflicts occur</a:t>
            </a:r>
          </a:p>
          <a:p>
            <a:pPr lvl="1"/>
            <a:r>
              <a:rPr lang="en-US" sz="2400" dirty="0" smtClean="0"/>
              <a:t>Binding, resource utilization, </a:t>
            </a:r>
            <a:r>
              <a:rPr lang="mr-IN" sz="2400" dirty="0" smtClean="0"/>
              <a:t>…</a:t>
            </a:r>
            <a:endParaRPr lang="en-US" sz="2400" dirty="0" smtClean="0"/>
          </a:p>
          <a:p>
            <a:r>
              <a:rPr lang="en-US" sz="2800" dirty="0" err="1" smtClean="0"/>
              <a:t>OpenMP</a:t>
            </a:r>
            <a:r>
              <a:rPr lang="en-US" sz="2800" dirty="0" smtClean="0"/>
              <a:t>/MPI WG</a:t>
            </a:r>
          </a:p>
          <a:p>
            <a:pPr lvl="1"/>
            <a:r>
              <a:rPr lang="en-US" sz="2400" dirty="0" smtClean="0"/>
              <a:t>Prototype use of PMIx for coordination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9573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Arrow Connector 24"/>
          <p:cNvCxnSpPr>
            <a:endCxn id="22" idx="0"/>
          </p:cNvCxnSpPr>
          <p:nvPr/>
        </p:nvCxnSpPr>
        <p:spPr bwMode="auto">
          <a:xfrm>
            <a:off x="1446927" y="4044554"/>
            <a:ext cx="496294" cy="125836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Rounded Rectangle 14"/>
          <p:cNvSpPr/>
          <p:nvPr/>
        </p:nvSpPr>
        <p:spPr bwMode="auto">
          <a:xfrm>
            <a:off x="1446931" y="1987154"/>
            <a:ext cx="992579" cy="917308"/>
          </a:xfrm>
          <a:prstGeom prst="roundRect">
            <a:avLst/>
          </a:prstGeom>
          <a:solidFill>
            <a:srgbClr val="FFEBC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228600" y="3358754"/>
            <a:ext cx="1752600" cy="685800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PMIx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343495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smtClean="0"/>
              <a:t>PMI-1</a:t>
            </a:r>
            <a:endParaRPr lang="en-US" sz="1800"/>
          </a:p>
        </p:txBody>
      </p:sp>
      <p:sp>
        <p:nvSpPr>
          <p:cNvPr id="5" name="TextBox 4"/>
          <p:cNvSpPr txBox="1"/>
          <p:nvPr/>
        </p:nvSpPr>
        <p:spPr>
          <a:xfrm>
            <a:off x="1180981" y="343495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PMI-2</a:t>
            </a:r>
            <a:endParaRPr lang="en-US" sz="1800" dirty="0"/>
          </a:p>
        </p:txBody>
      </p:sp>
      <p:sp>
        <p:nvSpPr>
          <p:cNvPr id="6" name="Right Arrow 5"/>
          <p:cNvSpPr/>
          <p:nvPr/>
        </p:nvSpPr>
        <p:spPr bwMode="auto">
          <a:xfrm>
            <a:off x="971610" y="3559553"/>
            <a:ext cx="228600" cy="12013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" name="Right Arrow 6"/>
          <p:cNvSpPr/>
          <p:nvPr/>
        </p:nvSpPr>
        <p:spPr bwMode="auto">
          <a:xfrm>
            <a:off x="1943220" y="3559553"/>
            <a:ext cx="1561980" cy="12013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943" y="4125792"/>
            <a:ext cx="2174533" cy="830997"/>
          </a:xfrm>
          <a:prstGeom prst="rect">
            <a:avLst/>
          </a:prstGeom>
          <a:solidFill>
            <a:schemeClr val="bg1">
              <a:alpha val="72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 smtClean="0"/>
              <a:t>wireup</a:t>
            </a:r>
            <a:r>
              <a:rPr lang="en-US" sz="1600" dirty="0" smtClean="0"/>
              <a:t> support</a:t>
            </a:r>
          </a:p>
          <a:p>
            <a:pPr algn="ctr"/>
            <a:r>
              <a:rPr lang="en-US" sz="1600" dirty="0" smtClean="0"/>
              <a:t>dynamic spawn</a:t>
            </a:r>
          </a:p>
          <a:p>
            <a:pPr algn="ctr"/>
            <a:r>
              <a:rPr lang="en-US" sz="1600" dirty="0" err="1" smtClean="0"/>
              <a:t>keyval</a:t>
            </a:r>
            <a:r>
              <a:rPr lang="en-US" sz="1600" dirty="0" smtClean="0"/>
              <a:t> publish/lookup</a:t>
            </a:r>
            <a:endParaRPr 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723224" y="3779978"/>
            <a:ext cx="7633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MPICH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98632" y="3650397"/>
            <a:ext cx="1289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/>
              <a:t>y</a:t>
            </a:r>
            <a:r>
              <a:rPr lang="en-US" sz="1400" i="1" dirty="0" smtClean="0"/>
              <a:t>ears go by</a:t>
            </a:r>
            <a:r>
              <a:rPr lang="mr-IN" sz="1400" i="1" dirty="0" smtClean="0"/>
              <a:t>…</a:t>
            </a:r>
            <a:endParaRPr lang="en-US" sz="1400" i="1" dirty="0"/>
          </a:p>
        </p:txBody>
      </p:sp>
      <p:sp>
        <p:nvSpPr>
          <p:cNvPr id="13" name="TextBox 12"/>
          <p:cNvSpPr txBox="1"/>
          <p:nvPr/>
        </p:nvSpPr>
        <p:spPr>
          <a:xfrm>
            <a:off x="1446931" y="2237600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SLURM</a:t>
            </a:r>
            <a:endParaRPr lang="en-US" sz="1800" dirty="0"/>
          </a:p>
        </p:txBody>
      </p:sp>
      <p:sp>
        <p:nvSpPr>
          <p:cNvPr id="14" name="TextBox 13"/>
          <p:cNvSpPr txBox="1"/>
          <p:nvPr/>
        </p:nvSpPr>
        <p:spPr>
          <a:xfrm>
            <a:off x="1555934" y="2535130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ALPS</a:t>
            </a:r>
            <a:endParaRPr lang="en-US" sz="1800" dirty="0"/>
          </a:p>
        </p:txBody>
      </p:sp>
      <p:sp>
        <p:nvSpPr>
          <p:cNvPr id="16" name="TextBox 15"/>
          <p:cNvSpPr txBox="1"/>
          <p:nvPr/>
        </p:nvSpPr>
        <p:spPr>
          <a:xfrm>
            <a:off x="1691387" y="1967924"/>
            <a:ext cx="5036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smtClean="0">
                <a:solidFill>
                  <a:srgbClr val="FF0000"/>
                </a:solidFill>
              </a:rPr>
              <a:t>RM</a:t>
            </a:r>
            <a:endParaRPr lang="en-US" sz="1600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/>
          <p:cNvCxnSpPr>
            <a:endCxn id="13" idx="1"/>
          </p:cNvCxnSpPr>
          <p:nvPr/>
        </p:nvCxnSpPr>
        <p:spPr bwMode="auto">
          <a:xfrm flipV="1">
            <a:off x="628709" y="2422266"/>
            <a:ext cx="818222" cy="93648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>
            <a:endCxn id="14" idx="2"/>
          </p:cNvCxnSpPr>
          <p:nvPr/>
        </p:nvCxnSpPr>
        <p:spPr bwMode="auto">
          <a:xfrm flipV="1">
            <a:off x="1581090" y="2904462"/>
            <a:ext cx="362130" cy="45429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" name="Rounded Rectangle 21"/>
          <p:cNvSpPr/>
          <p:nvPr/>
        </p:nvSpPr>
        <p:spPr bwMode="auto">
          <a:xfrm>
            <a:off x="1446931" y="5302923"/>
            <a:ext cx="992579" cy="917308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30285" y="5409809"/>
            <a:ext cx="825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chemeClr val="bg1"/>
                </a:solidFill>
              </a:rPr>
              <a:t>PGAS</a:t>
            </a:r>
          </a:p>
          <a:p>
            <a:r>
              <a:rPr lang="en-US" sz="1800" dirty="0" smtClean="0">
                <a:solidFill>
                  <a:schemeClr val="bg1"/>
                </a:solidFill>
              </a:rPr>
              <a:t>others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185240" y="1676400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2015</a:t>
            </a:r>
            <a:endParaRPr lang="en-US" sz="1600" dirty="0"/>
          </a:p>
        </p:txBody>
      </p:sp>
      <p:cxnSp>
        <p:nvCxnSpPr>
          <p:cNvPr id="30" name="Straight Connector 29"/>
          <p:cNvCxnSpPr>
            <a:endCxn id="31" idx="0"/>
          </p:cNvCxnSpPr>
          <p:nvPr/>
        </p:nvCxnSpPr>
        <p:spPr bwMode="auto">
          <a:xfrm flipH="1">
            <a:off x="3505199" y="2108845"/>
            <a:ext cx="2" cy="218804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2580907" y="4296886"/>
            <a:ext cx="18485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 smtClean="0"/>
              <a:t>Exascale</a:t>
            </a:r>
            <a:r>
              <a:rPr lang="en-US" sz="1600" dirty="0" smtClean="0"/>
              <a:t> systems</a:t>
            </a:r>
          </a:p>
          <a:p>
            <a:pPr algn="ctr"/>
            <a:r>
              <a:rPr lang="en-US" sz="1600" dirty="0" smtClean="0"/>
              <a:t>on horizon</a:t>
            </a:r>
          </a:p>
          <a:p>
            <a:pPr algn="ctr"/>
            <a:r>
              <a:rPr lang="en-US" sz="1600" dirty="0" smtClean="0"/>
              <a:t>Launch times long</a:t>
            </a:r>
          </a:p>
          <a:p>
            <a:pPr algn="ctr"/>
            <a:r>
              <a:rPr lang="en-US" sz="1600" dirty="0" smtClean="0"/>
              <a:t>New paradigms</a:t>
            </a:r>
            <a:endParaRPr lang="en-US" sz="1600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843" y="3394213"/>
            <a:ext cx="1363198" cy="51236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812085" y="1677414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2016</a:t>
            </a:r>
            <a:endParaRPr lang="en-US" sz="1600" dirty="0"/>
          </a:p>
        </p:txBody>
      </p:sp>
      <p:cxnSp>
        <p:nvCxnSpPr>
          <p:cNvPr id="34" name="Straight Connector 33"/>
          <p:cNvCxnSpPr/>
          <p:nvPr/>
        </p:nvCxnSpPr>
        <p:spPr bwMode="auto">
          <a:xfrm>
            <a:off x="5129999" y="2124199"/>
            <a:ext cx="0" cy="3100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6100023" y="5364779"/>
            <a:ext cx="16754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err="1" smtClean="0">
                <a:solidFill>
                  <a:srgbClr val="FF0000"/>
                </a:solidFill>
              </a:rPr>
              <a:t>Exascale</a:t>
            </a:r>
            <a:r>
              <a:rPr lang="en-US" sz="1600" i="1" dirty="0" smtClean="0">
                <a:solidFill>
                  <a:srgbClr val="FF0000"/>
                </a:solidFill>
              </a:rPr>
              <a:t> launch</a:t>
            </a:r>
          </a:p>
          <a:p>
            <a:pPr algn="ctr"/>
            <a:r>
              <a:rPr lang="en-US" sz="1600" i="1" dirty="0" smtClean="0">
                <a:solidFill>
                  <a:srgbClr val="FF0000"/>
                </a:solidFill>
              </a:rPr>
              <a:t>in &lt; 10s</a:t>
            </a:r>
          </a:p>
          <a:p>
            <a:pPr algn="ctr"/>
            <a:r>
              <a:rPr lang="en-US" sz="1600" i="1" dirty="0" smtClean="0">
                <a:solidFill>
                  <a:srgbClr val="FF0000"/>
                </a:solidFill>
              </a:rPr>
              <a:t>Orchestration</a:t>
            </a:r>
          </a:p>
        </p:txBody>
      </p:sp>
      <p:sp>
        <p:nvSpPr>
          <p:cNvPr id="38" name="Right Arrow 37"/>
          <p:cNvSpPr/>
          <p:nvPr/>
        </p:nvSpPr>
        <p:spPr bwMode="auto">
          <a:xfrm>
            <a:off x="5029199" y="3567873"/>
            <a:ext cx="532564" cy="16504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9" name="Rounded Rectangle 38"/>
          <p:cNvSpPr/>
          <p:nvPr/>
        </p:nvSpPr>
        <p:spPr bwMode="auto">
          <a:xfrm>
            <a:off x="5561763" y="2108845"/>
            <a:ext cx="992579" cy="917308"/>
          </a:xfrm>
          <a:prstGeom prst="roundRect">
            <a:avLst/>
          </a:prstGeom>
          <a:solidFill>
            <a:srgbClr val="FFEBC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0" name="Rounded Rectangle 39"/>
          <p:cNvSpPr/>
          <p:nvPr/>
        </p:nvSpPr>
        <p:spPr bwMode="auto">
          <a:xfrm>
            <a:off x="5567305" y="3278154"/>
            <a:ext cx="987037" cy="793692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521462" y="3465731"/>
            <a:ext cx="1098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PMIx</a:t>
            </a:r>
            <a:r>
              <a:rPr lang="en-US" sz="1600" dirty="0" smtClean="0"/>
              <a:t> v1.2</a:t>
            </a:r>
            <a:endParaRPr lang="en-US" sz="1600" dirty="0"/>
          </a:p>
        </p:txBody>
      </p:sp>
      <p:sp>
        <p:nvSpPr>
          <p:cNvPr id="43" name="TextBox 42"/>
          <p:cNvSpPr txBox="1"/>
          <p:nvPr/>
        </p:nvSpPr>
        <p:spPr>
          <a:xfrm>
            <a:off x="5554484" y="2377924"/>
            <a:ext cx="992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/>
              <a:t>SLURM</a:t>
            </a:r>
          </a:p>
          <a:p>
            <a:pPr algn="ctr"/>
            <a:r>
              <a:rPr lang="en-US" sz="1800" dirty="0" smtClean="0"/>
              <a:t>JSM</a:t>
            </a:r>
            <a:endParaRPr lang="en-US" sz="1800" dirty="0"/>
          </a:p>
        </p:txBody>
      </p:sp>
      <p:sp>
        <p:nvSpPr>
          <p:cNvPr id="44" name="TextBox 43"/>
          <p:cNvSpPr txBox="1"/>
          <p:nvPr/>
        </p:nvSpPr>
        <p:spPr>
          <a:xfrm>
            <a:off x="5795207" y="2108845"/>
            <a:ext cx="5036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smtClean="0">
                <a:solidFill>
                  <a:srgbClr val="FF0000"/>
                </a:solidFill>
              </a:rPr>
              <a:t>RM</a:t>
            </a:r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46" name="Rounded Rectangle 45"/>
          <p:cNvSpPr/>
          <p:nvPr/>
        </p:nvSpPr>
        <p:spPr bwMode="auto">
          <a:xfrm>
            <a:off x="5470051" y="4281723"/>
            <a:ext cx="1198034" cy="1128085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456690" y="4410257"/>
            <a:ext cx="12234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OMPI</a:t>
            </a:r>
          </a:p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Spectrum</a:t>
            </a:r>
          </a:p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OSHMEM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619839" y="1676400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2017</a:t>
            </a:r>
            <a:endParaRPr lang="en-US" sz="1600" dirty="0"/>
          </a:p>
        </p:txBody>
      </p:sp>
      <p:cxnSp>
        <p:nvCxnSpPr>
          <p:cNvPr id="49" name="Straight Connector 48"/>
          <p:cNvCxnSpPr/>
          <p:nvPr/>
        </p:nvCxnSpPr>
        <p:spPr bwMode="auto">
          <a:xfrm>
            <a:off x="6937753" y="2123185"/>
            <a:ext cx="1" cy="310160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4292269" y="5364779"/>
            <a:ext cx="16754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err="1" smtClean="0">
                <a:solidFill>
                  <a:srgbClr val="FF0000"/>
                </a:solidFill>
              </a:rPr>
              <a:t>Exascale</a:t>
            </a:r>
            <a:r>
              <a:rPr lang="en-US" sz="1600" i="1" dirty="0" smtClean="0">
                <a:solidFill>
                  <a:srgbClr val="FF0000"/>
                </a:solidFill>
              </a:rPr>
              <a:t> launch</a:t>
            </a:r>
          </a:p>
          <a:p>
            <a:pPr algn="ctr"/>
            <a:r>
              <a:rPr lang="en-US" sz="1600" i="1" dirty="0" smtClean="0">
                <a:solidFill>
                  <a:srgbClr val="FF0000"/>
                </a:solidFill>
              </a:rPr>
              <a:t>in &lt; 30s</a:t>
            </a:r>
            <a:endParaRPr lang="en-US" sz="1600" i="1" dirty="0">
              <a:solidFill>
                <a:srgbClr val="FF0000"/>
              </a:solidFill>
            </a:endParaRPr>
          </a:p>
        </p:txBody>
      </p:sp>
      <p:sp>
        <p:nvSpPr>
          <p:cNvPr id="53" name="Rounded Rectangle 52"/>
          <p:cNvSpPr/>
          <p:nvPr/>
        </p:nvSpPr>
        <p:spPr bwMode="auto">
          <a:xfrm>
            <a:off x="7263093" y="3278154"/>
            <a:ext cx="987037" cy="793692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207422" y="3465731"/>
            <a:ext cx="1098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PMIx</a:t>
            </a:r>
            <a:r>
              <a:rPr lang="en-US" sz="1600" dirty="0" smtClean="0"/>
              <a:t> v2.0</a:t>
            </a:r>
            <a:endParaRPr lang="en-US" sz="1600" dirty="0"/>
          </a:p>
        </p:txBody>
      </p:sp>
      <p:sp>
        <p:nvSpPr>
          <p:cNvPr id="55" name="Rounded Rectangle 54"/>
          <p:cNvSpPr/>
          <p:nvPr/>
        </p:nvSpPr>
        <p:spPr bwMode="auto">
          <a:xfrm>
            <a:off x="7254105" y="1907299"/>
            <a:ext cx="992579" cy="1268788"/>
          </a:xfrm>
          <a:prstGeom prst="roundRect">
            <a:avLst/>
          </a:prstGeom>
          <a:solidFill>
            <a:srgbClr val="FFEBC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246826" y="2176379"/>
            <a:ext cx="9925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/>
              <a:t>SLURM</a:t>
            </a:r>
          </a:p>
          <a:p>
            <a:pPr algn="ctr"/>
            <a:r>
              <a:rPr lang="en-US" sz="1800" dirty="0" smtClean="0"/>
              <a:t>JSM</a:t>
            </a:r>
          </a:p>
          <a:p>
            <a:pPr algn="ctr"/>
            <a:r>
              <a:rPr lang="en-US" sz="1800" dirty="0" smtClean="0"/>
              <a:t>others</a:t>
            </a:r>
            <a:endParaRPr lang="en-US" sz="1800" dirty="0"/>
          </a:p>
        </p:txBody>
      </p:sp>
      <p:sp>
        <p:nvSpPr>
          <p:cNvPr id="57" name="TextBox 56"/>
          <p:cNvSpPr txBox="1"/>
          <p:nvPr/>
        </p:nvSpPr>
        <p:spPr>
          <a:xfrm>
            <a:off x="7487549" y="1907300"/>
            <a:ext cx="5036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smtClean="0">
                <a:solidFill>
                  <a:srgbClr val="FF0000"/>
                </a:solidFill>
              </a:rPr>
              <a:t>RM</a:t>
            </a:r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60" name="Rounded Rectangle 59"/>
          <p:cNvSpPr/>
          <p:nvPr/>
        </p:nvSpPr>
        <p:spPr bwMode="auto">
          <a:xfrm>
            <a:off x="7177137" y="4293111"/>
            <a:ext cx="1196690" cy="1116697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163776" y="4273154"/>
            <a:ext cx="12234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OMPI</a:t>
            </a:r>
          </a:p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Spectrum</a:t>
            </a:r>
          </a:p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OSHMEM</a:t>
            </a:r>
          </a:p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others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90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 smtClean="0"/>
              <a:t>The Community</a:t>
            </a:r>
            <a:endParaRPr lang="en-US" sz="3300" dirty="0"/>
          </a:p>
        </p:txBody>
      </p:sp>
      <p:grpSp>
        <p:nvGrpSpPr>
          <p:cNvPr id="14" name="Группа 13"/>
          <p:cNvGrpSpPr/>
          <p:nvPr/>
        </p:nvGrpSpPr>
        <p:grpSpPr>
          <a:xfrm>
            <a:off x="609600" y="1861932"/>
            <a:ext cx="7924800" cy="1647315"/>
            <a:chOff x="685800" y="3048000"/>
            <a:chExt cx="7924800" cy="1647315"/>
          </a:xfrm>
        </p:grpSpPr>
        <p:pic>
          <p:nvPicPr>
            <p:cNvPr id="8" name="Picture 4" descr="X:\WORK\Mellanox\Presentations\PMIx_SLURM\images\mellanox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581400" y="3048000"/>
              <a:ext cx="2160000" cy="1647315"/>
            </a:xfrm>
            <a:prstGeom prst="rect">
              <a:avLst/>
            </a:prstGeom>
            <a:noFill/>
          </p:spPr>
        </p:pic>
        <p:pic>
          <p:nvPicPr>
            <p:cNvPr id="6" name="Picture 2" descr="X:\WORK\Mellanox\Presentations\PMIx_SLURM\images\intel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85800" y="3124200"/>
              <a:ext cx="2340000" cy="1542273"/>
            </a:xfrm>
            <a:prstGeom prst="rect">
              <a:avLst/>
            </a:prstGeom>
            <a:noFill/>
          </p:spPr>
        </p:pic>
        <p:pic>
          <p:nvPicPr>
            <p:cNvPr id="7" name="Picture 3" descr="X:\WORK\Mellanox\Presentations\PMIx_SLURM\images\ibm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270600" y="3403657"/>
              <a:ext cx="2340000" cy="936000"/>
            </a:xfrm>
            <a:prstGeom prst="rect">
              <a:avLst/>
            </a:prstGeom>
            <a:noFill/>
          </p:spPr>
        </p:pic>
      </p:grpSp>
      <p:grpSp>
        <p:nvGrpSpPr>
          <p:cNvPr id="15" name="Группа 14"/>
          <p:cNvGrpSpPr/>
          <p:nvPr/>
        </p:nvGrpSpPr>
        <p:grpSpPr>
          <a:xfrm>
            <a:off x="3409488" y="3585448"/>
            <a:ext cx="4591512" cy="1066800"/>
            <a:chOff x="1066801" y="5029200"/>
            <a:chExt cx="6378599" cy="1482015"/>
          </a:xfrm>
        </p:grpSpPr>
        <p:pic>
          <p:nvPicPr>
            <p:cNvPr id="11" name="Picture 10" descr="Adaptive Computing 2013 (288x192).png"/>
            <p:cNvPicPr>
              <a:picLocks noChangeAspect="1"/>
            </p:cNvPicPr>
            <p:nvPr/>
          </p:nvPicPr>
          <p:blipFill>
            <a:blip r:embed="rId5">
              <a:alphaModFix/>
            </a:blip>
            <a:srcRect b="4999"/>
            <a:stretch>
              <a:fillRect/>
            </a:stretch>
          </p:blipFill>
          <p:spPr>
            <a:xfrm>
              <a:off x="5105400" y="5029200"/>
              <a:ext cx="2340000" cy="1482015"/>
            </a:xfrm>
            <a:prstGeom prst="rect">
              <a:avLst/>
            </a:prstGeom>
          </p:spPr>
        </p:pic>
        <p:pic>
          <p:nvPicPr>
            <p:cNvPr id="1026" name="Picture 2" descr="X:\WORK\Mellanox\Presentations\PMIx_SLUG_2015\images\schedmd.png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066801" y="5562600"/>
              <a:ext cx="3200399" cy="733424"/>
            </a:xfrm>
            <a:prstGeom prst="rect">
              <a:avLst/>
            </a:prstGeom>
            <a:noFill/>
          </p:spPr>
        </p:pic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800" y="4079719"/>
            <a:ext cx="1422400" cy="381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5040925"/>
            <a:ext cx="952500" cy="11176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1000" y="5294925"/>
            <a:ext cx="1168400" cy="6096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8077" y="5061819"/>
            <a:ext cx="1803400" cy="901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89695" y="5990024"/>
            <a:ext cx="3743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2"/>
                </a:solidFill>
              </a:rPr>
              <a:t>https://</a:t>
            </a:r>
            <a:r>
              <a:rPr lang="en-US" dirty="0" err="1" smtClean="0">
                <a:solidFill>
                  <a:schemeClr val="bg2"/>
                </a:solidFill>
              </a:rPr>
              <a:t>pmix.github.io</a:t>
            </a:r>
            <a:r>
              <a:rPr lang="en-US" dirty="0" smtClean="0">
                <a:solidFill>
                  <a:schemeClr val="bg2"/>
                </a:solidFill>
              </a:rPr>
              <a:t>/</a:t>
            </a:r>
            <a:r>
              <a:rPr lang="en-US" dirty="0" err="1" smtClean="0">
                <a:solidFill>
                  <a:schemeClr val="bg2"/>
                </a:solidFill>
              </a:rPr>
              <a:t>pmix</a:t>
            </a:r>
            <a:endParaRPr lang="en-US" dirty="0" smtClean="0">
              <a:solidFill>
                <a:schemeClr val="bg2"/>
              </a:solidFill>
            </a:endParaRPr>
          </a:p>
          <a:p>
            <a:pPr algn="ctr"/>
            <a:r>
              <a:rPr lang="en-US" dirty="0" smtClean="0"/>
              <a:t>https://</a:t>
            </a:r>
            <a:r>
              <a:rPr lang="en-US" dirty="0" err="1" smtClean="0"/>
              <a:t>github.com</a:t>
            </a:r>
            <a:r>
              <a:rPr lang="en-US" dirty="0" smtClean="0"/>
              <a:t>/</a:t>
            </a:r>
            <a:r>
              <a:rPr lang="en-US" dirty="0" err="1" smtClean="0"/>
              <a:t>pmix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70530" y="4402288"/>
            <a:ext cx="892456" cy="111038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18502" y="4582846"/>
            <a:ext cx="887461" cy="84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74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v1.2 Features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Typical startup operations</a:t>
            </a:r>
          </a:p>
          <a:p>
            <a:pPr lvl="1"/>
            <a:r>
              <a:rPr lang="en-US" smtClean="0"/>
              <a:t>Put, get, commit, barrier, spawn, [dis]connect, publish/lookup</a:t>
            </a:r>
          </a:p>
          <a:p>
            <a:r>
              <a:rPr lang="en-US" smtClean="0"/>
              <a:t>System/job data returned upon PMIx_Init</a:t>
            </a:r>
          </a:p>
          <a:p>
            <a:pPr lvl="1"/>
            <a:r>
              <a:rPr lang="en-US" smtClean="0"/>
              <a:t>Topology, proc locations, bindings, </a:t>
            </a:r>
            <a:r>
              <a:rPr lang="mr-IN" smtClean="0"/>
              <a:t>…</a:t>
            </a:r>
            <a:endParaRPr lang="en-US" smtClean="0"/>
          </a:p>
          <a:p>
            <a:pPr lvl="1"/>
            <a:r>
              <a:rPr lang="en-US" smtClean="0"/>
              <a:t>Provided by host resource manager via PMIx</a:t>
            </a:r>
          </a:p>
          <a:p>
            <a:pPr lvl="1"/>
            <a:r>
              <a:rPr lang="en-US" smtClean="0"/>
              <a:t>Full list: </a:t>
            </a:r>
            <a:r>
              <a:rPr lang="en-US" smtClean="0">
                <a:hlinkClick r:id="rId2"/>
              </a:rPr>
              <a:t>https://github.com/pmix/pmix/wiki/2.8-Pmix-Server-Data-Requirements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476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</a:t>
            </a:r>
            <a:r>
              <a:rPr lang="en-US" dirty="0" smtClean="0"/>
              <a:t>2.0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 smtClean="0"/>
              <a:t>Tool </a:t>
            </a:r>
            <a:r>
              <a:rPr lang="en-US" sz="2400" dirty="0" smtClean="0"/>
              <a:t>connections</a:t>
            </a:r>
          </a:p>
          <a:p>
            <a:pPr lvl="1"/>
            <a:r>
              <a:rPr lang="en-US" sz="2000" dirty="0" smtClean="0"/>
              <a:t>Debugger, job submission, query</a:t>
            </a:r>
          </a:p>
          <a:p>
            <a:r>
              <a:rPr lang="en-US" sz="2400" dirty="0"/>
              <a:t>Generalized query support</a:t>
            </a:r>
          </a:p>
          <a:p>
            <a:pPr lvl="1"/>
            <a:r>
              <a:rPr lang="en-US" sz="2000" dirty="0"/>
              <a:t>Job status, layout, system data, resource </a:t>
            </a:r>
            <a:r>
              <a:rPr lang="en-US" sz="2000" dirty="0" smtClean="0"/>
              <a:t>availability</a:t>
            </a:r>
          </a:p>
          <a:p>
            <a:r>
              <a:rPr lang="en-US" sz="2400" dirty="0"/>
              <a:t>Logging</a:t>
            </a:r>
          </a:p>
          <a:p>
            <a:pPr lvl="1"/>
            <a:r>
              <a:rPr lang="en-US" sz="2000" dirty="0"/>
              <a:t>Status reports, error </a:t>
            </a:r>
            <a:r>
              <a:rPr lang="en-US" sz="2000" dirty="0" smtClean="0"/>
              <a:t>output</a:t>
            </a:r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Event notification</a:t>
            </a:r>
          </a:p>
          <a:p>
            <a:pPr lvl="1"/>
            <a:r>
              <a:rPr lang="en-US" sz="2000" dirty="0"/>
              <a:t>App, system generated</a:t>
            </a:r>
          </a:p>
          <a:p>
            <a:pPr lvl="1"/>
            <a:r>
              <a:rPr lang="en-US" sz="2000" dirty="0"/>
              <a:t>Subscribe, chained</a:t>
            </a:r>
          </a:p>
          <a:p>
            <a:pPr lvl="1"/>
            <a:r>
              <a:rPr lang="en-US" sz="2000" dirty="0"/>
              <a:t>Pre-emption, failures, timeout warning, </a:t>
            </a:r>
            <a:r>
              <a:rPr lang="mr-IN" sz="2000" dirty="0"/>
              <a:t>…</a:t>
            </a:r>
            <a:endParaRPr lang="en-US" sz="2000" dirty="0"/>
          </a:p>
          <a:p>
            <a:r>
              <a:rPr lang="en-US" sz="2400" dirty="0" smtClean="0"/>
              <a:t>Flexible </a:t>
            </a:r>
            <a:r>
              <a:rPr lang="en-US" sz="2400" dirty="0"/>
              <a:t>allocations</a:t>
            </a:r>
          </a:p>
          <a:p>
            <a:pPr lvl="1"/>
            <a:r>
              <a:rPr lang="en-US" sz="2000" dirty="0"/>
              <a:t>Release resources, request </a:t>
            </a:r>
            <a:r>
              <a:rPr lang="en-US" sz="2000" dirty="0" smtClean="0"/>
              <a:t>resources</a:t>
            </a:r>
            <a:endParaRPr lang="en-US" sz="1800" dirty="0"/>
          </a:p>
          <a:p>
            <a:r>
              <a:rPr lang="en-US" sz="2400" dirty="0">
                <a:solidFill>
                  <a:schemeClr val="bg2"/>
                </a:solidFill>
              </a:rPr>
              <a:t>Job control</a:t>
            </a:r>
          </a:p>
          <a:p>
            <a:pPr lvl="1"/>
            <a:r>
              <a:rPr lang="en-US" sz="2000" dirty="0">
                <a:solidFill>
                  <a:schemeClr val="bg2"/>
                </a:solidFill>
              </a:rPr>
              <a:t>Pause, kill, signal, heartbeat, resilience </a:t>
            </a:r>
            <a:r>
              <a:rPr lang="en-US" sz="2000" dirty="0" smtClean="0">
                <a:solidFill>
                  <a:schemeClr val="bg2"/>
                </a:solidFill>
              </a:rPr>
              <a:t>support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19843" y="6196235"/>
            <a:ext cx="1704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5">
                    <a:lumMod val="50000"/>
                  </a:schemeClr>
                </a:solidFill>
                <a:latin typeface="Lucida Handwriting" charset="0"/>
                <a:ea typeface="Lucida Handwriting" charset="0"/>
                <a:cs typeface="Lucida Handwriting" charset="0"/>
              </a:rPr>
              <a:t>2Q2017</a:t>
            </a:r>
            <a:endParaRPr lang="en-US" sz="2800" dirty="0">
              <a:solidFill>
                <a:schemeClr val="accent5">
                  <a:lumMod val="50000"/>
                </a:schemeClr>
              </a:solidFill>
              <a:latin typeface="Lucida Handwriting" charset="0"/>
              <a:ea typeface="Lucida Handwriting" charset="0"/>
              <a:cs typeface="Lucida Handwriting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30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</a:t>
            </a:r>
            <a:r>
              <a:rPr lang="en-US" dirty="0" smtClean="0"/>
              <a:t>3.0 Planned Features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Network support</a:t>
            </a:r>
          </a:p>
          <a:p>
            <a:pPr lvl="1"/>
            <a:r>
              <a:rPr lang="en-US" sz="2400" dirty="0"/>
              <a:t>Security keys, pre-spawn local driver setup, fabric topology and status, traffic reports</a:t>
            </a:r>
          </a:p>
          <a:p>
            <a:r>
              <a:rPr lang="en-US" sz="2800" dirty="0">
                <a:solidFill>
                  <a:schemeClr val="bg2"/>
                </a:solidFill>
              </a:rPr>
              <a:t>File system support</a:t>
            </a:r>
          </a:p>
          <a:p>
            <a:pPr lvl="1"/>
            <a:r>
              <a:rPr lang="en-US" sz="2400" dirty="0">
                <a:solidFill>
                  <a:schemeClr val="bg2"/>
                </a:solidFill>
              </a:rPr>
              <a:t>Dependency detection</a:t>
            </a:r>
          </a:p>
          <a:p>
            <a:pPr lvl="1"/>
            <a:r>
              <a:rPr lang="en-US" sz="2400" dirty="0">
                <a:solidFill>
                  <a:schemeClr val="bg2"/>
                </a:solidFill>
              </a:rPr>
              <a:t>Tiered storage caching strategies</a:t>
            </a:r>
            <a:endParaRPr lang="en-US" dirty="0">
              <a:solidFill>
                <a:schemeClr val="bg2"/>
              </a:solidFill>
            </a:endParaRPr>
          </a:p>
          <a:p>
            <a:r>
              <a:rPr lang="en-US" sz="2800" dirty="0" smtClean="0">
                <a:solidFill>
                  <a:srgbClr val="FF0000"/>
                </a:solidFill>
              </a:rPr>
              <a:t>Inter-library coordination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57943" y="5638800"/>
            <a:ext cx="1704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Lucida Handwriting" charset="0"/>
                <a:ea typeface="Lucida Handwriting" charset="0"/>
                <a:cs typeface="Lucida Handwriting" charset="0"/>
              </a:rPr>
              <a:t>4</a:t>
            </a:r>
            <a:r>
              <a:rPr lang="en-US" sz="2800" dirty="0" smtClean="0">
                <a:solidFill>
                  <a:schemeClr val="accent5">
                    <a:lumMod val="50000"/>
                  </a:schemeClr>
                </a:solidFill>
                <a:latin typeface="Lucida Handwriting" charset="0"/>
                <a:ea typeface="Lucida Handwriting" charset="0"/>
                <a:cs typeface="Lucida Handwriting" charset="0"/>
              </a:rPr>
              <a:t>Q2017</a:t>
            </a:r>
            <a:endParaRPr lang="en-US" sz="2800" dirty="0">
              <a:solidFill>
                <a:schemeClr val="accent5">
                  <a:lumMod val="50000"/>
                </a:schemeClr>
              </a:solidFill>
              <a:latin typeface="Lucida Handwriting" charset="0"/>
              <a:ea typeface="Lucida Handwriting" charset="0"/>
              <a:cs typeface="Lucida Handwriting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25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ounded Rectangle 57"/>
          <p:cNvSpPr/>
          <p:nvPr/>
        </p:nvSpPr>
        <p:spPr bwMode="auto">
          <a:xfrm>
            <a:off x="4859541" y="1674929"/>
            <a:ext cx="4132059" cy="3811471"/>
          </a:xfrm>
          <a:prstGeom prst="roundRect">
            <a:avLst/>
          </a:prstGeom>
          <a:solidFill>
            <a:srgbClr val="FFEBC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9" name="Rounded Rectangle 28"/>
          <p:cNvSpPr/>
          <p:nvPr/>
        </p:nvSpPr>
        <p:spPr bwMode="auto">
          <a:xfrm>
            <a:off x="304800" y="2162229"/>
            <a:ext cx="3124200" cy="3761430"/>
          </a:xfrm>
          <a:prstGeom prst="roundRect">
            <a:avLst/>
          </a:prstGeom>
          <a:solidFill>
            <a:srgbClr val="FFFF00">
              <a:alpha val="39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PMIx Integration Architecture</a:t>
            </a:r>
            <a:endParaRPr lang="en-US" dirty="0"/>
          </a:p>
        </p:txBody>
      </p:sp>
      <p:sp>
        <p:nvSpPr>
          <p:cNvPr id="5" name="Cloud 4"/>
          <p:cNvSpPr/>
          <p:nvPr/>
        </p:nvSpPr>
        <p:spPr bwMode="auto">
          <a:xfrm>
            <a:off x="420414" y="2286000"/>
            <a:ext cx="2822028" cy="1371600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" name="Cloud 5"/>
          <p:cNvSpPr/>
          <p:nvPr/>
        </p:nvSpPr>
        <p:spPr bwMode="auto">
          <a:xfrm>
            <a:off x="420414" y="4495800"/>
            <a:ext cx="2822028" cy="1371600"/>
          </a:xfrm>
          <a:prstGeom prst="clou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ctr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962000" y="3141729"/>
            <a:ext cx="1676400" cy="1676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68218" y="3180801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RM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 bwMode="auto">
          <a:xfrm>
            <a:off x="2434598" y="3687422"/>
            <a:ext cx="990600" cy="675685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PMIx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Client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6349681" y="3675129"/>
            <a:ext cx="288719" cy="618797"/>
          </a:xfrm>
          <a:prstGeom prst="ellipse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" name="Can 17"/>
          <p:cNvSpPr/>
          <p:nvPr/>
        </p:nvSpPr>
        <p:spPr bwMode="auto">
          <a:xfrm>
            <a:off x="7197983" y="2624095"/>
            <a:ext cx="643759" cy="509752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FS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9" name="Rounded Rectangle 18"/>
          <p:cNvSpPr/>
          <p:nvPr/>
        </p:nvSpPr>
        <p:spPr bwMode="auto">
          <a:xfrm>
            <a:off x="7092722" y="3588025"/>
            <a:ext cx="854281" cy="33147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Fabric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7469443" y="4176009"/>
            <a:ext cx="100838" cy="409951"/>
            <a:chOff x="8364918" y="3861562"/>
            <a:chExt cx="100838" cy="409951"/>
          </a:xfrm>
        </p:grpSpPr>
        <p:sp>
          <p:nvSpPr>
            <p:cNvPr id="20" name="Oval 19"/>
            <p:cNvSpPr/>
            <p:nvPr/>
          </p:nvSpPr>
          <p:spPr bwMode="auto">
            <a:xfrm>
              <a:off x="8364918" y="3861562"/>
              <a:ext cx="100838" cy="100838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8364918" y="4013962"/>
              <a:ext cx="100838" cy="100838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5" name="Oval 24"/>
            <p:cNvSpPr/>
            <p:nvPr/>
          </p:nvSpPr>
          <p:spPr bwMode="auto">
            <a:xfrm>
              <a:off x="8364918" y="4170675"/>
              <a:ext cx="100838" cy="100838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</p:grpSp>
      <p:sp>
        <p:nvSpPr>
          <p:cNvPr id="27" name="Rounded Rectangle 26"/>
          <p:cNvSpPr/>
          <p:nvPr/>
        </p:nvSpPr>
        <p:spPr bwMode="auto">
          <a:xfrm>
            <a:off x="7092722" y="4844011"/>
            <a:ext cx="854281" cy="33147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RAS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8" name="Left Brace 27"/>
          <p:cNvSpPr/>
          <p:nvPr/>
        </p:nvSpPr>
        <p:spPr bwMode="auto">
          <a:xfrm>
            <a:off x="6638400" y="2532129"/>
            <a:ext cx="454322" cy="28956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66790" y="374909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APP</a:t>
            </a:r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570744" y="3171362"/>
            <a:ext cx="12586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  <a:latin typeface="+mn-lt"/>
                <a:ea typeface="Lucida Handwriting" charset="0"/>
                <a:cs typeface="Lucida Handwriting" charset="0"/>
              </a:rPr>
              <a:t>Orchestration</a:t>
            </a:r>
          </a:p>
          <a:p>
            <a:pPr algn="ctr"/>
            <a:r>
              <a:rPr lang="en-US" sz="1400" dirty="0" smtClean="0">
                <a:solidFill>
                  <a:srgbClr val="FF0000"/>
                </a:solidFill>
                <a:latin typeface="+mn-lt"/>
                <a:ea typeface="Lucida Handwriting" charset="0"/>
                <a:cs typeface="Lucida Handwriting" charset="0"/>
              </a:rPr>
              <a:t>Requests</a:t>
            </a:r>
            <a:endParaRPr lang="en-US" sz="1400" dirty="0">
              <a:solidFill>
                <a:srgbClr val="FF0000"/>
              </a:solidFill>
              <a:latin typeface="+mn-lt"/>
              <a:ea typeface="Lucida Handwriting" charset="0"/>
              <a:cs typeface="Lucida Handwriting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5851" y="4321215"/>
            <a:ext cx="1080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>
                <a:solidFill>
                  <a:srgbClr val="FF0000"/>
                </a:solidFill>
                <a:latin typeface="+mn-lt"/>
                <a:ea typeface="Lucida Handwriting" charset="0"/>
                <a:cs typeface="Lucida Handwriting" charset="0"/>
              </a:rPr>
              <a:t>Responses</a:t>
            </a:r>
            <a:endParaRPr lang="en-US" sz="1400">
              <a:solidFill>
                <a:srgbClr val="FF0000"/>
              </a:solidFill>
              <a:latin typeface="+mn-lt"/>
              <a:ea typeface="Lucida Handwriting" charset="0"/>
              <a:cs typeface="Lucida Handwriting" charset="0"/>
            </a:endParaRPr>
          </a:p>
        </p:txBody>
      </p:sp>
      <p:sp>
        <p:nvSpPr>
          <p:cNvPr id="17" name="Left Arrow 16"/>
          <p:cNvSpPr/>
          <p:nvPr/>
        </p:nvSpPr>
        <p:spPr bwMode="auto">
          <a:xfrm flipH="1">
            <a:off x="3592787" y="3733800"/>
            <a:ext cx="1206874" cy="244366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1" name="Left Arrow 30"/>
          <p:cNvSpPr/>
          <p:nvPr/>
        </p:nvSpPr>
        <p:spPr bwMode="auto">
          <a:xfrm>
            <a:off x="3592788" y="4022834"/>
            <a:ext cx="1210678" cy="244366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52563" y="3919495"/>
            <a:ext cx="537327" cy="338554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NIC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113228" y="3078244"/>
            <a:ext cx="753731" cy="584775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Fabric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Mgr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36" name="Straight Connector 35"/>
          <p:cNvCxnSpPr>
            <a:endCxn id="35" idx="1"/>
          </p:cNvCxnSpPr>
          <p:nvPr/>
        </p:nvCxnSpPr>
        <p:spPr>
          <a:xfrm flipV="1">
            <a:off x="7965247" y="3370632"/>
            <a:ext cx="147981" cy="416522"/>
          </a:xfrm>
          <a:prstGeom prst="line">
            <a:avLst/>
          </a:prstGeom>
          <a:ln w="285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endCxn id="34" idx="1"/>
          </p:cNvCxnSpPr>
          <p:nvPr/>
        </p:nvCxnSpPr>
        <p:spPr>
          <a:xfrm>
            <a:off x="7965247" y="3787153"/>
            <a:ext cx="287316" cy="301619"/>
          </a:xfrm>
          <a:prstGeom prst="line">
            <a:avLst/>
          </a:prstGeom>
          <a:ln w="285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4947642" y="3640425"/>
            <a:ext cx="1133216" cy="695916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PMIx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Server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40" name="Straight Connector 39"/>
          <p:cNvCxnSpPr>
            <a:endCxn id="16" idx="2"/>
          </p:cNvCxnSpPr>
          <p:nvPr/>
        </p:nvCxnSpPr>
        <p:spPr bwMode="auto">
          <a:xfrm flipV="1">
            <a:off x="6080858" y="3984528"/>
            <a:ext cx="268823" cy="385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1501254" y="4873520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solidFill>
                  <a:schemeClr val="bg1"/>
                </a:solidFill>
              </a:rPr>
              <a:t>MPI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167028" y="2663589"/>
            <a:ext cx="1399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solidFill>
                  <a:schemeClr val="bg1"/>
                </a:solidFill>
              </a:rPr>
              <a:t>OpenMP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4" name="Straight Connector 43"/>
          <p:cNvCxnSpPr>
            <a:endCxn id="10" idx="1"/>
          </p:cNvCxnSpPr>
          <p:nvPr/>
        </p:nvCxnSpPr>
        <p:spPr bwMode="auto">
          <a:xfrm>
            <a:off x="1948279" y="3651952"/>
            <a:ext cx="486319" cy="37331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/>
          <p:cNvCxnSpPr>
            <a:endCxn id="10" idx="1"/>
          </p:cNvCxnSpPr>
          <p:nvPr/>
        </p:nvCxnSpPr>
        <p:spPr bwMode="auto">
          <a:xfrm flipV="1">
            <a:off x="2037513" y="4025265"/>
            <a:ext cx="397085" cy="49593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1" name="Picture 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786669" y="5298562"/>
            <a:ext cx="1655275" cy="1024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2" name="Oval 51"/>
          <p:cNvSpPr/>
          <p:nvPr/>
        </p:nvSpPr>
        <p:spPr bwMode="auto">
          <a:xfrm>
            <a:off x="4947642" y="5715000"/>
            <a:ext cx="205134" cy="304800"/>
          </a:xfrm>
          <a:prstGeom prst="ellipse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53" name="Freeform 52"/>
          <p:cNvSpPr/>
          <p:nvPr/>
        </p:nvSpPr>
        <p:spPr bwMode="auto">
          <a:xfrm>
            <a:off x="5131220" y="4287690"/>
            <a:ext cx="855321" cy="1470763"/>
          </a:xfrm>
          <a:custGeom>
            <a:avLst/>
            <a:gdLst>
              <a:gd name="connsiteX0" fmla="*/ 476092 w 855321"/>
              <a:gd name="connsiteY0" fmla="*/ 335 h 1428613"/>
              <a:gd name="connsiteX1" fmla="*/ 838830 w 855321"/>
              <a:gd name="connsiteY1" fmla="*/ 234603 h 1428613"/>
              <a:gd name="connsiteX2" fmla="*/ 0 w 855321"/>
              <a:gd name="connsiteY2" fmla="*/ 1428613 h 1428613"/>
              <a:gd name="connsiteX3" fmla="*/ 0 w 855321"/>
              <a:gd name="connsiteY3" fmla="*/ 1428613 h 1428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5321" h="1428613">
                <a:moveTo>
                  <a:pt x="476092" y="335"/>
                </a:moveTo>
                <a:cubicBezTo>
                  <a:pt x="697135" y="-1554"/>
                  <a:pt x="918179" y="-3443"/>
                  <a:pt x="838830" y="234603"/>
                </a:cubicBezTo>
                <a:cubicBezTo>
                  <a:pt x="759481" y="472649"/>
                  <a:pt x="0" y="1428613"/>
                  <a:pt x="0" y="1428613"/>
                </a:cubicBezTo>
                <a:lnTo>
                  <a:pt x="0" y="1428613"/>
                </a:lnTo>
              </a:path>
            </a:pathLst>
          </a:cu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203" y="5578452"/>
            <a:ext cx="787957" cy="825225"/>
          </a:xfrm>
          <a:prstGeom prst="rect">
            <a:avLst/>
          </a:prstGeom>
        </p:spPr>
      </p:pic>
      <p:sp>
        <p:nvSpPr>
          <p:cNvPr id="55" name="Freeform 54"/>
          <p:cNvSpPr/>
          <p:nvPr/>
        </p:nvSpPr>
        <p:spPr bwMode="auto">
          <a:xfrm>
            <a:off x="5720668" y="4287690"/>
            <a:ext cx="624273" cy="1373238"/>
          </a:xfrm>
          <a:custGeom>
            <a:avLst/>
            <a:gdLst>
              <a:gd name="connsiteX0" fmla="*/ 0 w 624273"/>
              <a:gd name="connsiteY0" fmla="*/ 11457 h 1386835"/>
              <a:gd name="connsiteX1" fmla="*/ 612119 w 624273"/>
              <a:gd name="connsiteY1" fmla="*/ 200383 h 1386835"/>
              <a:gd name="connsiteX2" fmla="*/ 423193 w 624273"/>
              <a:gd name="connsiteY2" fmla="*/ 1386835 h 13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4273" h="1386835">
                <a:moveTo>
                  <a:pt x="0" y="11457"/>
                </a:moveTo>
                <a:cubicBezTo>
                  <a:pt x="270793" y="-8695"/>
                  <a:pt x="541587" y="-28847"/>
                  <a:pt x="612119" y="200383"/>
                </a:cubicBezTo>
                <a:cubicBezTo>
                  <a:pt x="682651" y="429613"/>
                  <a:pt x="423193" y="1386835"/>
                  <a:pt x="423193" y="1386835"/>
                </a:cubicBezTo>
              </a:path>
            </a:pathLst>
          </a:cu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834197" y="5761709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Job</a:t>
            </a:r>
          </a:p>
          <a:p>
            <a:pPr algn="ctr"/>
            <a:r>
              <a:rPr lang="en-US" sz="1400" dirty="0" smtClean="0"/>
              <a:t>Script</a:t>
            </a:r>
            <a:endParaRPr lang="en-US" sz="1400" dirty="0"/>
          </a:p>
        </p:txBody>
      </p:sp>
      <p:sp>
        <p:nvSpPr>
          <p:cNvPr id="57" name="TextBox 56"/>
          <p:cNvSpPr txBox="1"/>
          <p:nvPr/>
        </p:nvSpPr>
        <p:spPr>
          <a:xfrm>
            <a:off x="5869189" y="1674929"/>
            <a:ext cx="2172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/>
              <a:t>System</a:t>
            </a:r>
          </a:p>
          <a:p>
            <a:pPr algn="ctr"/>
            <a:r>
              <a:rPr lang="en-US" sz="1800" dirty="0" smtClean="0"/>
              <a:t>Management Stack</a:t>
            </a:r>
            <a:endParaRPr lang="en-US" sz="1800" dirty="0"/>
          </a:p>
        </p:txBody>
      </p:sp>
      <p:sp>
        <p:nvSpPr>
          <p:cNvPr id="59" name="Oval 58"/>
          <p:cNvSpPr/>
          <p:nvPr/>
        </p:nvSpPr>
        <p:spPr bwMode="auto">
          <a:xfrm>
            <a:off x="6012285" y="5642574"/>
            <a:ext cx="286951" cy="162671"/>
          </a:xfrm>
          <a:prstGeom prst="ellipse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736596" y="6341840"/>
            <a:ext cx="11892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>
                <a:solidFill>
                  <a:srgbClr val="FF0000"/>
                </a:solidFill>
                <a:latin typeface="+mn-lt"/>
                <a:ea typeface="Lucida Handwriting" charset="0"/>
                <a:cs typeface="Lucida Handwriting" charset="0"/>
              </a:rPr>
              <a:t>Tool Support</a:t>
            </a:r>
            <a:endParaRPr lang="en-US" sz="1400" dirty="0">
              <a:solidFill>
                <a:srgbClr val="FF0000"/>
              </a:solidFill>
              <a:latin typeface="+mn-lt"/>
              <a:ea typeface="Lucida Handwriting" charset="0"/>
              <a:cs typeface="Lucida Handwriting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243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Messenger not Doer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Standardized APIs</a:t>
            </a:r>
          </a:p>
          <a:p>
            <a:pPr lvl="1"/>
            <a:r>
              <a:rPr lang="en-US" dirty="0" smtClean="0"/>
              <a:t>Four header files (client, server, common, tool)</a:t>
            </a:r>
          </a:p>
          <a:p>
            <a:pPr lvl="1"/>
            <a:r>
              <a:rPr lang="en-US" dirty="0" smtClean="0"/>
              <a:t>Enable portability across environments</a:t>
            </a:r>
          </a:p>
          <a:p>
            <a:pPr lvl="1"/>
            <a:r>
              <a:rPr lang="en-US" dirty="0" smtClean="0"/>
              <a:t>Support interactions between applications and system management stack</a:t>
            </a:r>
          </a:p>
          <a:p>
            <a:r>
              <a:rPr lang="en-US" dirty="0" smtClean="0"/>
              <a:t>Convenience library</a:t>
            </a:r>
          </a:p>
          <a:p>
            <a:pPr lvl="1"/>
            <a:r>
              <a:rPr lang="en-US" dirty="0" smtClean="0"/>
              <a:t>Facilitate adoption</a:t>
            </a:r>
          </a:p>
          <a:p>
            <a:pPr lvl="1"/>
            <a:r>
              <a:rPr lang="en-US" dirty="0" smtClean="0"/>
              <a:t>Serves as validation platform for standard</a:t>
            </a:r>
          </a:p>
          <a:p>
            <a:r>
              <a:rPr lang="en-US" dirty="0" smtClean="0"/>
              <a:t>Community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685800" y="1828799"/>
            <a:ext cx="8077200" cy="4876799"/>
          </a:xfrm>
          <a:prstGeom prst="rect">
            <a:avLst/>
          </a:prstGeom>
          <a:solidFill>
            <a:schemeClr val="bg1">
              <a:alpha val="62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2552700"/>
            <a:ext cx="4064000" cy="285750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 bwMode="auto">
          <a:xfrm>
            <a:off x="6202135" y="4800600"/>
            <a:ext cx="2514855" cy="1904999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6642100" y="2743200"/>
            <a:ext cx="1816100" cy="18161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APP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04800" y="2743200"/>
            <a:ext cx="1816100" cy="1816100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SMS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9" name="Left-Right Arrow 8"/>
          <p:cNvSpPr/>
          <p:nvPr/>
        </p:nvSpPr>
        <p:spPr bwMode="auto">
          <a:xfrm>
            <a:off x="5638800" y="3505200"/>
            <a:ext cx="965200" cy="342900"/>
          </a:xfrm>
          <a:prstGeom prst="leftRightArrow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0" name="Left-Right Arrow 9"/>
          <p:cNvSpPr/>
          <p:nvPr/>
        </p:nvSpPr>
        <p:spPr bwMode="auto">
          <a:xfrm>
            <a:off x="2159000" y="3506514"/>
            <a:ext cx="965200" cy="342900"/>
          </a:xfrm>
          <a:prstGeom prst="leftRightArrow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842" y="4930920"/>
            <a:ext cx="2056358" cy="127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3" name="Left-Right Arrow 12"/>
          <p:cNvSpPr/>
          <p:nvPr/>
        </p:nvSpPr>
        <p:spPr bwMode="auto">
          <a:xfrm rot="1842669">
            <a:off x="4600918" y="4714088"/>
            <a:ext cx="2055155" cy="342900"/>
          </a:xfrm>
          <a:prstGeom prst="leftRightArrow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84395" y="6166517"/>
            <a:ext cx="750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Tool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62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Each library</a:t>
            </a:r>
          </a:p>
          <a:p>
            <a:pPr lvl="1"/>
            <a:r>
              <a:rPr lang="en-US" sz="2400" dirty="0" smtClean="0"/>
              <a:t>Declares itself upon initialization</a:t>
            </a:r>
          </a:p>
          <a:p>
            <a:pPr lvl="2"/>
            <a:r>
              <a:rPr lang="en-US" sz="2000" dirty="0" smtClean="0"/>
              <a:t>Model, implementation, version, </a:t>
            </a:r>
            <a:r>
              <a:rPr lang="mr-IN" sz="2000" dirty="0" smtClean="0"/>
              <a:t>…</a:t>
            </a:r>
            <a:endParaRPr lang="en-US" sz="2000" dirty="0" smtClean="0"/>
          </a:p>
          <a:p>
            <a:pPr lvl="1"/>
            <a:r>
              <a:rPr lang="en-US" sz="2400" dirty="0" smtClean="0"/>
              <a:t>Registers event handler</a:t>
            </a:r>
          </a:p>
          <a:p>
            <a:pPr lvl="2"/>
            <a:r>
              <a:rPr lang="en-US" sz="2000" dirty="0" smtClean="0"/>
              <a:t>Receive </a:t>
            </a:r>
            <a:r>
              <a:rPr lang="en-US" sz="2000" dirty="0" err="1" smtClean="0"/>
              <a:t>async</a:t>
            </a:r>
            <a:r>
              <a:rPr lang="en-US" sz="2000" dirty="0" smtClean="0"/>
              <a:t> notice of other declarations</a:t>
            </a:r>
          </a:p>
          <a:p>
            <a:pPr lvl="2"/>
            <a:r>
              <a:rPr lang="en-US" sz="2000" dirty="0" err="1" smtClean="0"/>
              <a:t>Async</a:t>
            </a:r>
            <a:r>
              <a:rPr lang="en-US" sz="2000" dirty="0" smtClean="0"/>
              <a:t> updates as published by other libs</a:t>
            </a:r>
          </a:p>
          <a:p>
            <a:pPr lvl="1"/>
            <a:r>
              <a:rPr lang="en-US" dirty="0" smtClean="0"/>
              <a:t>Order is irrelevant</a:t>
            </a:r>
          </a:p>
          <a:p>
            <a:pPr lvl="2"/>
            <a:r>
              <a:rPr lang="en-US" dirty="0" smtClean="0"/>
              <a:t>Events cached and delivered upon registration</a:t>
            </a:r>
          </a:p>
          <a:p>
            <a:r>
              <a:rPr lang="en-US" sz="2800" dirty="0" smtClean="0"/>
              <a:t>Coordinate during execution via events</a:t>
            </a:r>
          </a:p>
          <a:p>
            <a:r>
              <a:rPr lang="en-US" sz="2800" dirty="0" smtClean="0"/>
              <a:t>Opportunity</a:t>
            </a:r>
          </a:p>
          <a:p>
            <a:pPr lvl="1"/>
            <a:r>
              <a:rPr lang="en-US" sz="2400" dirty="0" smtClean="0"/>
              <a:t>Utilize PMIx features for </a:t>
            </a:r>
            <a:r>
              <a:rPr lang="en-US" sz="2400" dirty="0" err="1" smtClean="0"/>
              <a:t>OpenMP</a:t>
            </a:r>
            <a:r>
              <a:rPr lang="en-US" sz="2400" dirty="0" smtClean="0"/>
              <a:t> itself</a:t>
            </a:r>
          </a:p>
        </p:txBody>
      </p:sp>
    </p:spTree>
    <p:extLst>
      <p:ext uri="{BB962C8B-B14F-4D97-AF65-F5344CB8AC3E}">
        <p14:creationId xmlns:p14="http://schemas.microsoft.com/office/powerpoint/2010/main" val="368994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4400" y="1752600"/>
            <a:ext cx="7315200" cy="45317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Initialization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657600" y="5678677"/>
            <a:ext cx="21916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FF0000"/>
                </a:solidFill>
              </a:rPr>
              <a:t>Called back when</a:t>
            </a:r>
          </a:p>
          <a:p>
            <a:pPr algn="ctr"/>
            <a:r>
              <a:rPr lang="en-US" sz="1600" dirty="0">
                <a:solidFill>
                  <a:srgbClr val="FF0000"/>
                </a:solidFill>
              </a:rPr>
              <a:t>r</a:t>
            </a:r>
            <a:r>
              <a:rPr lang="en-US" sz="1600" dirty="0" smtClean="0">
                <a:solidFill>
                  <a:srgbClr val="FF0000"/>
                </a:solidFill>
              </a:rPr>
              <a:t>egistration completes</a:t>
            </a:r>
          </a:p>
        </p:txBody>
      </p:sp>
      <p:cxnSp>
        <p:nvCxnSpPr>
          <p:cNvPr id="12" name="Straight Arrow Connector 11"/>
          <p:cNvCxnSpPr>
            <a:stCxn id="8" idx="0"/>
          </p:cNvCxnSpPr>
          <p:nvPr/>
        </p:nvCxnSpPr>
        <p:spPr bwMode="auto">
          <a:xfrm flipV="1">
            <a:off x="4753413" y="5333197"/>
            <a:ext cx="653317" cy="34548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4191000" y="4419600"/>
            <a:ext cx="35092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</a:rPr>
              <a:t>Callback when </a:t>
            </a:r>
            <a:r>
              <a:rPr lang="en-US" sz="1600" smtClean="0">
                <a:solidFill>
                  <a:srgbClr val="FF0000"/>
                </a:solidFill>
              </a:rPr>
              <a:t>declarations received</a:t>
            </a:r>
            <a:endParaRPr lang="en-US" sz="160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 bwMode="auto">
          <a:xfrm flipH="1">
            <a:off x="3814094" y="4742410"/>
            <a:ext cx="529306" cy="47116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7065290" y="5511225"/>
            <a:ext cx="19960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object returned on</a:t>
            </a:r>
          </a:p>
          <a:p>
            <a:pPr algn="ctr"/>
            <a:r>
              <a:rPr lang="en-US" sz="1600" dirty="0" smtClean="0">
                <a:solidFill>
                  <a:srgbClr val="FF0000"/>
                </a:solidFill>
              </a:rPr>
              <a:t>registration callback</a:t>
            </a:r>
            <a:endParaRPr lang="en-US" sz="1600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 bwMode="auto">
          <a:xfrm flipH="1" flipV="1">
            <a:off x="7391400" y="5348494"/>
            <a:ext cx="457200" cy="22243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748764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Callback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Receives</a:t>
            </a:r>
          </a:p>
          <a:p>
            <a:pPr lvl="1"/>
            <a:r>
              <a:rPr lang="en-US" sz="2400" dirty="0" smtClean="0"/>
              <a:t>Copy of all info provided by declarer</a:t>
            </a:r>
          </a:p>
          <a:p>
            <a:pPr lvl="1"/>
            <a:r>
              <a:rPr lang="en-US" sz="2400" dirty="0" err="1"/>
              <a:t>s</a:t>
            </a:r>
            <a:r>
              <a:rPr lang="en-US" sz="2400" dirty="0" err="1" smtClean="0"/>
              <a:t>ize_t</a:t>
            </a:r>
            <a:r>
              <a:rPr lang="en-US" sz="2400" dirty="0" smtClean="0"/>
              <a:t> identifier of the event handler</a:t>
            </a:r>
          </a:p>
          <a:p>
            <a:pPr lvl="1"/>
            <a:r>
              <a:rPr lang="en-US" sz="2400" dirty="0" smtClean="0"/>
              <a:t>Name of the event handler, if assigned</a:t>
            </a:r>
          </a:p>
          <a:p>
            <a:pPr lvl="1"/>
            <a:r>
              <a:rPr lang="en-US" sz="2400" dirty="0" smtClean="0"/>
              <a:t>Provided object, if given</a:t>
            </a:r>
          </a:p>
          <a:p>
            <a:r>
              <a:rPr lang="en-US" sz="2800" dirty="0" smtClean="0"/>
              <a:t>Multiple handlers registered for same code(s)</a:t>
            </a:r>
          </a:p>
          <a:p>
            <a:pPr lvl="1"/>
            <a:r>
              <a:rPr lang="en-US" sz="2400" dirty="0" smtClean="0"/>
              <a:t>Called in order (defined in registration)</a:t>
            </a:r>
          </a:p>
          <a:p>
            <a:pPr lvl="1"/>
            <a:r>
              <a:rPr lang="en-US" sz="2400" dirty="0" smtClean="0"/>
              <a:t>Results of each handler aggregated and provided to later handlers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72457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19100" y="4343400"/>
            <a:ext cx="8305800" cy="13716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We now have an interface library the RMs will support for application-directed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0700" y="5410200"/>
            <a:ext cx="5562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>
                <a:solidFill>
                  <a:srgbClr val="FF0000"/>
                </a:solidFill>
              </a:rPr>
              <a:t>Need to collaboratively define what we want to do with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" y="1905000"/>
            <a:ext cx="7886700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800" b="1" dirty="0" smtClean="0"/>
              <a:t>Working group:</a:t>
            </a:r>
          </a:p>
          <a:p>
            <a:pPr>
              <a:spcBef>
                <a:spcPts val="300"/>
              </a:spcBef>
            </a:pPr>
            <a:r>
              <a:rPr lang="en-US" sz="1800" b="1" dirty="0" smtClean="0"/>
              <a:t>   Wiki</a:t>
            </a:r>
            <a:r>
              <a:rPr lang="en-US" sz="1800" b="1" dirty="0"/>
              <a:t>: </a:t>
            </a:r>
            <a:r>
              <a:rPr lang="en-US" sz="1800" b="1" dirty="0">
                <a:hlinkClick r:id="rId2"/>
              </a:rPr>
              <a:t>https://</a:t>
            </a:r>
            <a:r>
              <a:rPr lang="en-US" sz="1800" b="1" dirty="0" smtClean="0">
                <a:hlinkClick r:id="rId2"/>
              </a:rPr>
              <a:t>github.com/pmix/pmix/wiki/7.1-openmp</a:t>
            </a:r>
            <a:endParaRPr lang="en-US" sz="1800" b="1" dirty="0" smtClean="0"/>
          </a:p>
          <a:p>
            <a:pPr>
              <a:spcBef>
                <a:spcPts val="300"/>
              </a:spcBef>
            </a:pPr>
            <a:r>
              <a:rPr lang="en-US" sz="1800" b="1" dirty="0" smtClean="0"/>
              <a:t>   Minutes: </a:t>
            </a:r>
            <a:r>
              <a:rPr lang="en-US" sz="1800" b="1" dirty="0">
                <a:hlinkClick r:id="rId3"/>
              </a:rPr>
              <a:t>https://</a:t>
            </a:r>
            <a:r>
              <a:rPr lang="en-US" sz="1800" b="1" dirty="0" err="1">
                <a:hlinkClick r:id="rId3"/>
              </a:rPr>
              <a:t>github.com</a:t>
            </a:r>
            <a:r>
              <a:rPr lang="en-US" sz="1800" b="1" dirty="0">
                <a:hlinkClick r:id="rId3"/>
              </a:rPr>
              <a:t>/</a:t>
            </a:r>
            <a:r>
              <a:rPr lang="en-US" sz="1800" b="1" dirty="0" err="1">
                <a:hlinkClick r:id="rId3"/>
              </a:rPr>
              <a:t>pmix</a:t>
            </a:r>
            <a:r>
              <a:rPr lang="en-US" sz="1800" b="1" dirty="0">
                <a:hlinkClick r:id="rId3"/>
              </a:rPr>
              <a:t>/</a:t>
            </a:r>
            <a:r>
              <a:rPr lang="en-US" sz="1800" b="1" dirty="0" err="1">
                <a:hlinkClick r:id="rId3"/>
              </a:rPr>
              <a:t>pmix</a:t>
            </a:r>
            <a:r>
              <a:rPr lang="en-US" sz="1800" b="1" dirty="0">
                <a:hlinkClick r:id="rId3"/>
              </a:rPr>
              <a:t>/wiki/4.3-openmp</a:t>
            </a:r>
            <a:endParaRPr lang="en-US" sz="1800" b="1" dirty="0" smtClean="0"/>
          </a:p>
          <a:p>
            <a:pPr>
              <a:spcBef>
                <a:spcPts val="300"/>
              </a:spcBef>
            </a:pPr>
            <a:r>
              <a:rPr lang="en-US" sz="1800" b="1" dirty="0" smtClean="0"/>
              <a:t>Prototype code:</a:t>
            </a:r>
            <a:endParaRPr lang="en-US" sz="1800" b="1" dirty="0">
              <a:solidFill>
                <a:srgbClr val="00B050"/>
              </a:solidFill>
            </a:endParaRPr>
          </a:p>
          <a:p>
            <a:pPr>
              <a:spcBef>
                <a:spcPts val="300"/>
              </a:spcBef>
            </a:pPr>
            <a:r>
              <a:rPr lang="en-US" sz="1800" b="1" dirty="0" smtClean="0">
                <a:solidFill>
                  <a:srgbClr val="00B050"/>
                </a:solidFill>
              </a:rPr>
              <a:t>   </a:t>
            </a:r>
            <a:r>
              <a:rPr lang="en-US" sz="1800" b="1" dirty="0" err="1" smtClean="0">
                <a:solidFill>
                  <a:schemeClr val="bg2"/>
                </a:solidFill>
              </a:rPr>
              <a:t>OpenMPI</a:t>
            </a:r>
            <a:r>
              <a:rPr lang="en-US" sz="1800" b="1" dirty="0" smtClean="0">
                <a:solidFill>
                  <a:schemeClr val="bg2"/>
                </a:solidFill>
              </a:rPr>
              <a:t> master: </a:t>
            </a:r>
            <a:r>
              <a:rPr lang="en-US" sz="1800" b="1" dirty="0" smtClean="0">
                <a:solidFill>
                  <a:schemeClr val="bg2"/>
                </a:solidFill>
                <a:hlinkClick r:id="rId4"/>
              </a:rPr>
              <a:t>https://github.com/open-mpi/ompi</a:t>
            </a:r>
            <a:endParaRPr lang="en-US" sz="1800" b="1" dirty="0" smtClean="0">
              <a:solidFill>
                <a:schemeClr val="bg2"/>
              </a:solidFill>
            </a:endParaRPr>
          </a:p>
          <a:p>
            <a:pPr>
              <a:spcBef>
                <a:spcPts val="300"/>
              </a:spcBef>
            </a:pPr>
            <a:r>
              <a:rPr lang="en-US" sz="1800" b="1" dirty="0" smtClean="0">
                <a:solidFill>
                  <a:schemeClr val="bg2"/>
                </a:solidFill>
              </a:rPr>
              <a:t>   Example app:</a:t>
            </a:r>
          </a:p>
          <a:p>
            <a:pPr>
              <a:spcBef>
                <a:spcPts val="300"/>
              </a:spcBef>
            </a:pPr>
            <a:r>
              <a:rPr lang="en-US" sz="1800" b="1" dirty="0">
                <a:solidFill>
                  <a:schemeClr val="bg2"/>
                </a:solidFill>
                <a:hlinkClick r:id="rId5"/>
              </a:rPr>
              <a:t> </a:t>
            </a:r>
            <a:r>
              <a:rPr lang="en-US" sz="1800" b="1" dirty="0" smtClean="0">
                <a:solidFill>
                  <a:schemeClr val="bg2"/>
                </a:solidFill>
                <a:hlinkClick r:id="rId5"/>
              </a:rPr>
              <a:t>      https://github.com/open-mpi/ompi/blob/master/orte/test/mpi/xlib.c</a:t>
            </a:r>
            <a:endParaRPr lang="en-US" sz="1800" b="1" dirty="0" smtClean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43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mpi-workshop-template">
  <a:themeElements>
    <a:clrScheme name="ompi-workshop-template 3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5B87F2"/>
      </a:accent1>
      <a:accent2>
        <a:srgbClr val="555555"/>
      </a:accent2>
      <a:accent3>
        <a:srgbClr val="FFFFFF"/>
      </a:accent3>
      <a:accent4>
        <a:srgbClr val="000000"/>
      </a:accent4>
      <a:accent5>
        <a:srgbClr val="B5C3F7"/>
      </a:accent5>
      <a:accent6>
        <a:srgbClr val="4C4C4C"/>
      </a:accent6>
      <a:hlink>
        <a:srgbClr val="5DA31E"/>
      </a:hlink>
      <a:folHlink>
        <a:srgbClr val="BAD41A"/>
      </a:folHlink>
    </a:clrScheme>
    <a:fontScheme name="ompi-workshop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lnDef>
  </a:objectDefaults>
  <a:extraClrSchemeLst>
    <a:extraClrScheme>
      <a:clrScheme name="ompi-workshop-template 1">
        <a:dk1>
          <a:srgbClr val="000000"/>
        </a:dk1>
        <a:lt1>
          <a:srgbClr val="FFFFFF"/>
        </a:lt1>
        <a:dk2>
          <a:srgbClr val="003366"/>
        </a:dk2>
        <a:lt2>
          <a:srgbClr val="AAAAAA"/>
        </a:lt2>
        <a:accent1>
          <a:srgbClr val="EEEEEE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F5F5F5"/>
        </a:accent5>
        <a:accent6>
          <a:srgbClr val="002D5C"/>
        </a:accent6>
        <a:hlink>
          <a:srgbClr val="5B87F2"/>
        </a:hlink>
        <a:folHlink>
          <a:srgbClr val="ED181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2">
        <a:dk1>
          <a:srgbClr val="000000"/>
        </a:dk1>
        <a:lt1>
          <a:srgbClr val="FFFFFF"/>
        </a:lt1>
        <a:dk2>
          <a:srgbClr val="FFFFFF"/>
        </a:dk2>
        <a:lt2>
          <a:srgbClr val="888888"/>
        </a:lt2>
        <a:accent1>
          <a:srgbClr val="BAD41A"/>
        </a:accent1>
        <a:accent2>
          <a:srgbClr val="8154D1"/>
        </a:accent2>
        <a:accent3>
          <a:srgbClr val="FFFFFF"/>
        </a:accent3>
        <a:accent4>
          <a:srgbClr val="000000"/>
        </a:accent4>
        <a:accent5>
          <a:srgbClr val="D9E6AB"/>
        </a:accent5>
        <a:accent6>
          <a:srgbClr val="744BBD"/>
        </a:accent6>
        <a:hlink>
          <a:srgbClr val="5DA31E"/>
        </a:hlink>
        <a:folHlink>
          <a:srgbClr val="FFCC1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3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5B87F2"/>
        </a:accent1>
        <a:accent2>
          <a:srgbClr val="555555"/>
        </a:accent2>
        <a:accent3>
          <a:srgbClr val="FFFFFF"/>
        </a:accent3>
        <a:accent4>
          <a:srgbClr val="000000"/>
        </a:accent4>
        <a:accent5>
          <a:srgbClr val="B5C3F7"/>
        </a:accent5>
        <a:accent6>
          <a:srgbClr val="4C4C4C"/>
        </a:accent6>
        <a:hlink>
          <a:srgbClr val="5DA31E"/>
        </a:hlink>
        <a:folHlink>
          <a:srgbClr val="BAD4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4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FFA8A8"/>
        </a:accent1>
        <a:accent2>
          <a:srgbClr val="FFCC18"/>
        </a:accent2>
        <a:accent3>
          <a:srgbClr val="FFFFFF"/>
        </a:accent3>
        <a:accent4>
          <a:srgbClr val="000000"/>
        </a:accent4>
        <a:accent5>
          <a:srgbClr val="FFD1D1"/>
        </a:accent5>
        <a:accent6>
          <a:srgbClr val="E7B915"/>
        </a:accent6>
        <a:hlink>
          <a:srgbClr val="6876E7"/>
        </a:hlink>
        <a:folHlink>
          <a:srgbClr val="ED181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5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E6E658"/>
        </a:accent1>
        <a:accent2>
          <a:srgbClr val="8CBC1C"/>
        </a:accent2>
        <a:accent3>
          <a:srgbClr val="FFFFFF"/>
        </a:accent3>
        <a:accent4>
          <a:srgbClr val="000000"/>
        </a:accent4>
        <a:accent5>
          <a:srgbClr val="F0F0B4"/>
        </a:accent5>
        <a:accent6>
          <a:srgbClr val="7EAA18"/>
        </a:accent6>
        <a:hlink>
          <a:srgbClr val="6876E7"/>
        </a:hlink>
        <a:folHlink>
          <a:srgbClr val="5FBD7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6">
        <a:dk1>
          <a:srgbClr val="000000"/>
        </a:dk1>
        <a:lt1>
          <a:srgbClr val="FFFFFF"/>
        </a:lt1>
        <a:dk2>
          <a:srgbClr val="EBE3F8"/>
        </a:dk2>
        <a:lt2>
          <a:srgbClr val="000000"/>
        </a:lt2>
        <a:accent1>
          <a:srgbClr val="5918BB"/>
        </a:accent1>
        <a:accent2>
          <a:srgbClr val="8154D1"/>
        </a:accent2>
        <a:accent3>
          <a:srgbClr val="FFFFFF"/>
        </a:accent3>
        <a:accent4>
          <a:srgbClr val="000000"/>
        </a:accent4>
        <a:accent5>
          <a:srgbClr val="B5ABDA"/>
        </a:accent5>
        <a:accent6>
          <a:srgbClr val="744BBD"/>
        </a:accent6>
        <a:hlink>
          <a:srgbClr val="DC54AD"/>
        </a:hlink>
        <a:folHlink>
          <a:srgbClr val="BAD4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7">
        <a:dk1>
          <a:srgbClr val="000000"/>
        </a:dk1>
        <a:lt1>
          <a:srgbClr val="FFFFFF"/>
        </a:lt1>
        <a:dk2>
          <a:srgbClr val="EBE3F8"/>
        </a:dk2>
        <a:lt2>
          <a:srgbClr val="000000"/>
        </a:lt2>
        <a:accent1>
          <a:srgbClr val="FF7518"/>
        </a:accent1>
        <a:accent2>
          <a:srgbClr val="888888"/>
        </a:accent2>
        <a:accent3>
          <a:srgbClr val="FFFFFF"/>
        </a:accent3>
        <a:accent4>
          <a:srgbClr val="000000"/>
        </a:accent4>
        <a:accent5>
          <a:srgbClr val="FFBDAB"/>
        </a:accent5>
        <a:accent6>
          <a:srgbClr val="7B7B7B"/>
        </a:accent6>
        <a:hlink>
          <a:srgbClr val="8CBC1C"/>
        </a:hlink>
        <a:folHlink>
          <a:srgbClr val="FFCC1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mpi-bof-template" id="{2CC4CF84-ED86-4C43-90A3-CA953FF9559E}" vid="{37556C59-F0C7-6645-B5AB-2707A1FED1F8}"/>
    </a:ext>
  </a:extLst>
</a:theme>
</file>

<file path=ppt/theme/theme2.xml><?xml version="1.0" encoding="utf-8"?>
<a:theme xmlns:a="http://schemas.openxmlformats.org/drawingml/2006/main" name="PPT_Temp_Corp_4x3_BLK_2007 - Copy">
  <a:themeElements>
    <a:clrScheme name="PPT_Template_Corp_4x3_rev1 1">
      <a:dk1>
        <a:srgbClr val="808080"/>
      </a:dk1>
      <a:lt1>
        <a:srgbClr val="FFFFFF"/>
      </a:lt1>
      <a:dk2>
        <a:srgbClr val="000000"/>
      </a:dk2>
      <a:lt2>
        <a:srgbClr val="B9E700"/>
      </a:lt2>
      <a:accent1>
        <a:srgbClr val="33CCCC"/>
      </a:accent1>
      <a:accent2>
        <a:srgbClr val="FF9933"/>
      </a:accent2>
      <a:accent3>
        <a:srgbClr val="AAAAAA"/>
      </a:accent3>
      <a:accent4>
        <a:srgbClr val="DADADA"/>
      </a:accent4>
      <a:accent5>
        <a:srgbClr val="ADE2E2"/>
      </a:accent5>
      <a:accent6>
        <a:srgbClr val="E78A2D"/>
      </a:accent6>
      <a:hlink>
        <a:srgbClr val="99CCFF"/>
      </a:hlink>
      <a:folHlink>
        <a:srgbClr val="0000FF"/>
      </a:folHlink>
    </a:clrScheme>
    <a:fontScheme name="PPT_Template_Corp_4x3_re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_Template_Corp_4x3_rev1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mpi-bof-template" id="{2CC4CF84-ED86-4C43-90A3-CA953FF9559E}" vid="{3098944D-4998-DA4A-B120-6A0C919751F7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pmix-bof-template</Template>
  <TotalTime>8871</TotalTime>
  <Words>508</Words>
  <Application>Microsoft Macintosh PowerPoint</Application>
  <PresentationFormat>On-screen Show (4:3)</PresentationFormat>
  <Paragraphs>161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Lucida Handwriting</vt:lpstr>
      <vt:lpstr>ＭＳ Ｐゴシック</vt:lpstr>
      <vt:lpstr>Times</vt:lpstr>
      <vt:lpstr>Wingdings</vt:lpstr>
      <vt:lpstr>Arial</vt:lpstr>
      <vt:lpstr>ompi-workshop-template</vt:lpstr>
      <vt:lpstr>PPT_Temp_Corp_4x3_BLK_2007 - Copy</vt:lpstr>
      <vt:lpstr>OpenMP – MPI Coordination</vt:lpstr>
      <vt:lpstr>Issue</vt:lpstr>
      <vt:lpstr>What is PMIx?</vt:lpstr>
      <vt:lpstr>The Community</vt:lpstr>
      <vt:lpstr>v1.2 Features</vt:lpstr>
      <vt:lpstr>v2.0 Features</vt:lpstr>
      <vt:lpstr>v3.0 Planned Features</vt:lpstr>
      <vt:lpstr>PMIx Integration Architecture</vt:lpstr>
      <vt:lpstr>Messenger not Doer</vt:lpstr>
      <vt:lpstr>Scheme</vt:lpstr>
      <vt:lpstr>Initialization</vt:lpstr>
      <vt:lpstr>Callback</vt:lpstr>
      <vt:lpstr>Summary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PMIx</dc:title>
  <dc:creator>Ralph Castain</dc:creator>
  <cp:lastModifiedBy>Ralph Castain</cp:lastModifiedBy>
  <cp:revision>276</cp:revision>
  <cp:lastPrinted>2016-05-11T19:00:02Z</cp:lastPrinted>
  <dcterms:created xsi:type="dcterms:W3CDTF">2015-11-04T14:50:44Z</dcterms:created>
  <dcterms:modified xsi:type="dcterms:W3CDTF">2017-05-08T21:55:26Z</dcterms:modified>
</cp:coreProperties>
</file>